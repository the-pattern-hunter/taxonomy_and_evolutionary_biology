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notesMasterIdLst>
    <p:notesMasterId r:id="rId3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A10"/>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C8791E"/>
          </a:solidFill>
          <a:ln w="12700">
            <a:solidFill>
              <a:srgbClr val="C8791E"/>
            </a:solidFill>
            <a:prstDash val="solid"/>
          </a:ln>
        </p:spPr>
      </p:sp>
      <p:sp>
        <p:nvSpPr>
          <p:cNvPr id="3" name="Shape 1"/>
          <p:cNvSpPr/>
          <p:nvPr/>
        </p:nvSpPr>
        <p:spPr>
          <a:xfrm>
            <a:off x="0" y="73152"/>
            <a:ext cx="54864" cy="5070348"/>
          </a:xfrm>
          <a:prstGeom prst="rect">
            <a:avLst/>
          </a:prstGeom>
          <a:solidFill>
            <a:srgbClr val="3D7A52"/>
          </a:solidFill>
          <a:ln w="12700">
            <a:solidFill>
              <a:srgbClr val="3D7A52"/>
            </a:solidFill>
            <a:prstDash val="solid"/>
          </a:ln>
        </p:spPr>
      </p:sp>
      <p:sp>
        <p:nvSpPr>
          <p:cNvPr id="4" name="Text 2"/>
          <p:cNvSpPr/>
          <p:nvPr/>
        </p:nvSpPr>
        <p:spPr>
          <a:xfrm>
            <a:off x="274320" y="164592"/>
            <a:ext cx="8595360" cy="274320"/>
          </a:xfrm>
          <a:prstGeom prst="rect">
            <a:avLst/>
          </a:prstGeom>
          <a:noFill/>
          <a:ln/>
        </p:spPr>
        <p:txBody>
          <a:bodyPr wrap="square" rtlCol="0" anchor="ctr"/>
          <a:lstStyle/>
          <a:p>
            <a:pPr algn="l" indent="0" marL="0">
              <a:buNone/>
            </a:pPr>
            <a:r>
              <a:rPr lang="en-US" sz="900" spc="200" kern="0" dirty="0">
                <a:solidFill>
                  <a:srgbClr val="8FA898"/>
                </a:solidFill>
                <a:latin typeface="Calibri" pitchFamily="34" charset="0"/>
                <a:ea typeface="Calibri" pitchFamily="34" charset="-122"/>
                <a:cs typeface="Calibri" pitchFamily="34" charset="-120"/>
              </a:rPr>
              <a:t>BSc Zoology · Core I · Paper XV · NEP 2025–28</a:t>
            </a:r>
            <a:endParaRPr lang="en-US" sz="900" dirty="0"/>
          </a:p>
        </p:txBody>
      </p:sp>
      <p:sp>
        <p:nvSpPr>
          <p:cNvPr id="5" name="Text 3"/>
          <p:cNvSpPr/>
          <p:nvPr/>
        </p:nvSpPr>
        <p:spPr>
          <a:xfrm>
            <a:off x="274320" y="640080"/>
            <a:ext cx="8595360" cy="457200"/>
          </a:xfrm>
          <a:prstGeom prst="rect">
            <a:avLst/>
          </a:prstGeom>
          <a:noFill/>
          <a:ln/>
        </p:spPr>
        <p:txBody>
          <a:bodyPr wrap="square" rtlCol="0" anchor="ctr"/>
          <a:lstStyle/>
          <a:p>
            <a:pPr algn="l" indent="0" marL="0">
              <a:buNone/>
            </a:pPr>
            <a:r>
              <a:rPr lang="en-US" sz="1400" b="1" spc="300" kern="0" dirty="0">
                <a:solidFill>
                  <a:srgbClr val="C8791E"/>
                </a:solidFill>
                <a:latin typeface="Calibri" pitchFamily="34" charset="0"/>
                <a:ea typeface="Calibri" pitchFamily="34" charset="-122"/>
                <a:cs typeface="Calibri" pitchFamily="34" charset="-120"/>
              </a:rPr>
              <a:t>Chapter 10</a:t>
            </a:r>
            <a:endParaRPr lang="en-US" sz="1400" dirty="0"/>
          </a:p>
        </p:txBody>
      </p:sp>
      <p:sp>
        <p:nvSpPr>
          <p:cNvPr id="6" name="Text 4"/>
          <p:cNvSpPr/>
          <p:nvPr/>
        </p:nvSpPr>
        <p:spPr>
          <a:xfrm>
            <a:off x="274320" y="1051560"/>
            <a:ext cx="8595360" cy="1280160"/>
          </a:xfrm>
          <a:prstGeom prst="rect">
            <a:avLst/>
          </a:prstGeom>
          <a:noFill/>
          <a:ln/>
        </p:spPr>
        <p:txBody>
          <a:bodyPr wrap="square" rtlCol="0" anchor="ctr"/>
          <a:lstStyle/>
          <a:p>
            <a:pPr algn="l" indent="0" marL="0">
              <a:buNone/>
            </a:pPr>
            <a:r>
              <a:rPr lang="en-US" sz="3600" dirty="0">
                <a:solidFill>
                  <a:srgbClr val="F4F1EC"/>
                </a:solidFill>
                <a:latin typeface="Georgia" pitchFamily="34" charset="0"/>
                <a:ea typeface="Georgia" pitchFamily="34" charset="-122"/>
                <a:cs typeface="Georgia" pitchFamily="34" charset="-120"/>
              </a:rPr>
              <a:t>Our Place in the Tree</a:t>
            </a:r>
            <a:endParaRPr lang="en-US" sz="3600" dirty="0"/>
          </a:p>
        </p:txBody>
      </p:sp>
      <p:sp>
        <p:nvSpPr>
          <p:cNvPr id="7" name="Text 5"/>
          <p:cNvSpPr/>
          <p:nvPr/>
        </p:nvSpPr>
        <p:spPr>
          <a:xfrm>
            <a:off x="274320" y="2331720"/>
            <a:ext cx="8595360" cy="457200"/>
          </a:xfrm>
          <a:prstGeom prst="rect">
            <a:avLst/>
          </a:prstGeom>
          <a:noFill/>
          <a:ln/>
        </p:spPr>
        <p:txBody>
          <a:bodyPr wrap="square" rtlCol="0" anchor="ctr"/>
          <a:lstStyle/>
          <a:p>
            <a:pPr algn="l" indent="0" marL="0">
              <a:buNone/>
            </a:pPr>
            <a:r>
              <a:rPr lang="en-US" sz="1600" i="1" dirty="0">
                <a:solidFill>
                  <a:srgbClr val="8FA898"/>
                </a:solidFill>
                <a:latin typeface="Calibri" pitchFamily="34" charset="0"/>
                <a:ea typeface="Calibri" pitchFamily="34" charset="-122"/>
                <a:cs typeface="Calibri" pitchFamily="34" charset="-120"/>
              </a:rPr>
              <a:t>Hominin Evolution, Molecular Phylogenetics, and the Origin of Homo sapiens</a:t>
            </a:r>
            <a:endParaRPr lang="en-US" sz="1600" dirty="0"/>
          </a:p>
        </p:txBody>
      </p:sp>
      <p:sp>
        <p:nvSpPr>
          <p:cNvPr id="8" name="Shape 6"/>
          <p:cNvSpPr/>
          <p:nvPr/>
        </p:nvSpPr>
        <p:spPr>
          <a:xfrm>
            <a:off x="274320" y="2880360"/>
            <a:ext cx="8595360" cy="13716"/>
          </a:xfrm>
          <a:prstGeom prst="rect">
            <a:avLst/>
          </a:prstGeom>
          <a:solidFill>
            <a:srgbClr val="2D5A3D"/>
          </a:solidFill>
          <a:ln w="12700">
            <a:solidFill>
              <a:srgbClr val="2D5A3D"/>
            </a:solidFill>
            <a:prstDash val="solid"/>
          </a:ln>
        </p:spPr>
      </p:sp>
      <p:sp>
        <p:nvSpPr>
          <p:cNvPr id="9" name="Text 7"/>
          <p:cNvSpPr/>
          <p:nvPr/>
        </p:nvSpPr>
        <p:spPr>
          <a:xfrm>
            <a:off x="274320" y="2971800"/>
            <a:ext cx="8595360" cy="274320"/>
          </a:xfrm>
          <a:prstGeom prst="rect">
            <a:avLst/>
          </a:prstGeom>
          <a:noFill/>
          <a:ln/>
        </p:spPr>
        <p:txBody>
          <a:bodyPr wrap="square" rtlCol="0" anchor="ctr"/>
          <a:lstStyle/>
          <a:p>
            <a:pPr algn="l" indent="0" marL="0">
              <a:buNone/>
            </a:pPr>
            <a:r>
              <a:rPr lang="en-US" sz="1100" dirty="0">
                <a:solidFill>
                  <a:srgbClr val="8FA898"/>
                </a:solidFill>
                <a:latin typeface="Calibri" pitchFamily="34" charset="0"/>
                <a:ea typeface="Calibri" pitchFamily="34" charset="-122"/>
                <a:cs typeface="Calibri" pitchFamily="34" charset="-120"/>
              </a:rPr>
              <a:t>Unit 4 · Products of Evolution, Species Concept, Origin and Evolution of Man</a:t>
            </a:r>
            <a:endParaRPr lang="en-US" sz="1100" dirty="0"/>
          </a:p>
        </p:txBody>
      </p:sp>
      <p:sp>
        <p:nvSpPr>
          <p:cNvPr id="10" name="Text 8"/>
          <p:cNvSpPr/>
          <p:nvPr/>
        </p:nvSpPr>
        <p:spPr>
          <a:xfrm>
            <a:off x="274320" y="3337560"/>
            <a:ext cx="8595360" cy="1005840"/>
          </a:xfrm>
          <a:prstGeom prst="rect">
            <a:avLst/>
          </a:prstGeom>
          <a:noFill/>
          <a:ln/>
        </p:spPr>
        <p:txBody>
          <a:bodyPr wrap="square" lIns="91440" tIns="91440" rIns="91440" bIns="91440" rtlCol="0" anchor="ctr"/>
          <a:lstStyle/>
          <a:p>
            <a:pPr algn="l" indent="0" marL="0">
              <a:buNone/>
            </a:pPr>
            <a:r>
              <a:rPr lang="en-US" sz="1300" i="1" dirty="0">
                <a:solidFill>
                  <a:srgbClr val="E8F0EB"/>
                </a:solidFill>
                <a:latin typeface="Georgia" pitchFamily="34" charset="0"/>
                <a:ea typeface="Georgia" pitchFamily="34" charset="-122"/>
                <a:cs typeface="Georgia" pitchFamily="34" charset="-120"/>
              </a:rPr>
              <a:t>"The human genome is an evolutionary document. Every feature that distinguishes us from other apes — bipedalism, language capacity, brain size — is readable as a series of modifications from a shared ancestor, each transition visible in the fossil record or molecular data."</a:t>
            </a:r>
            <a:endParaRPr lang="en-US" sz="1300" dirty="0"/>
          </a:p>
        </p:txBody>
      </p:sp>
      <p:sp>
        <p:nvSpPr>
          <p:cNvPr id="11" name="Shape 9"/>
          <p:cNvSpPr/>
          <p:nvPr/>
        </p:nvSpPr>
        <p:spPr>
          <a:xfrm>
            <a:off x="0" y="5070348"/>
            <a:ext cx="9144000" cy="73152"/>
          </a:xfrm>
          <a:prstGeom prst="rect">
            <a:avLst/>
          </a:prstGeom>
          <a:solidFill>
            <a:srgbClr val="3D7A52"/>
          </a:solidFill>
          <a:ln w="12700">
            <a:solidFill>
              <a:srgbClr val="3D7A52"/>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8F0EB"/>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C8791E"/>
          </a:solidFill>
          <a:ln w="12700">
            <a:solidFill>
              <a:srgbClr val="C8791E"/>
            </a:solidFill>
            <a:prstDash val="solid"/>
          </a:ln>
        </p:spPr>
      </p:sp>
      <p:sp>
        <p:nvSpPr>
          <p:cNvPr id="3" name="Text 1"/>
          <p:cNvSpPr/>
          <p:nvPr/>
        </p:nvSpPr>
        <p:spPr>
          <a:xfrm>
            <a:off x="274320" y="228600"/>
            <a:ext cx="8595360" cy="502920"/>
          </a:xfrm>
          <a:prstGeom prst="rect">
            <a:avLst/>
          </a:prstGeom>
          <a:noFill/>
          <a:ln/>
        </p:spPr>
        <p:txBody>
          <a:bodyPr wrap="square" rtlCol="0" anchor="ctr"/>
          <a:lstStyle/>
          <a:p>
            <a:pPr indent="0" marL="0">
              <a:buNone/>
            </a:pPr>
            <a:r>
              <a:rPr lang="en-US" sz="2600" b="1" dirty="0">
                <a:solidFill>
                  <a:srgbClr val="1C2B1E"/>
                </a:solidFill>
                <a:latin typeface="Georgia" pitchFamily="34" charset="0"/>
                <a:ea typeface="Georgia" pitchFamily="34" charset="-122"/>
                <a:cs typeface="Georgia" pitchFamily="34" charset="-120"/>
              </a:rPr>
              <a:t>Chapter Overview</a:t>
            </a:r>
            <a:endParaRPr lang="en-US" sz="2600" dirty="0"/>
          </a:p>
        </p:txBody>
      </p:sp>
      <p:sp>
        <p:nvSpPr>
          <p:cNvPr id="4" name="Shape 2"/>
          <p:cNvSpPr/>
          <p:nvPr/>
        </p:nvSpPr>
        <p:spPr>
          <a:xfrm>
            <a:off x="274320" y="841248"/>
            <a:ext cx="4114800" cy="475488"/>
          </a:xfrm>
          <a:prstGeom prst="rect">
            <a:avLst/>
          </a:prstGeom>
          <a:solidFill>
            <a:srgbClr val="FFFFFF"/>
          </a:solidFill>
          <a:ln w="6350">
            <a:solidFill>
              <a:srgbClr val="8FA898"/>
            </a:solidFill>
            <a:prstDash val="solid"/>
          </a:ln>
          <a:effectLst>
            <a:outerShdw sx="100000" sy="100000" kx="0" ky="0" algn="bl" rotWithShape="0" blurRad="101600" dist="38100" dir="8100000">
              <a:srgbClr val="000000">
                <a:alpha val="18000"/>
              </a:srgbClr>
            </a:outerShdw>
          </a:effectLst>
        </p:spPr>
      </p:sp>
      <p:sp>
        <p:nvSpPr>
          <p:cNvPr id="5" name="Shape 3"/>
          <p:cNvSpPr/>
          <p:nvPr/>
        </p:nvSpPr>
        <p:spPr>
          <a:xfrm>
            <a:off x="274320" y="841248"/>
            <a:ext cx="347472" cy="475488"/>
          </a:xfrm>
          <a:prstGeom prst="rect">
            <a:avLst/>
          </a:prstGeom>
          <a:solidFill>
            <a:srgbClr val="2D5A3D"/>
          </a:solidFill>
          <a:ln w="12700">
            <a:solidFill>
              <a:srgbClr val="2D5A3D"/>
            </a:solidFill>
            <a:prstDash val="solid"/>
          </a:ln>
        </p:spPr>
      </p:sp>
      <p:sp>
        <p:nvSpPr>
          <p:cNvPr id="6" name="Text 4"/>
          <p:cNvSpPr/>
          <p:nvPr/>
        </p:nvSpPr>
        <p:spPr>
          <a:xfrm>
            <a:off x="274320" y="841248"/>
            <a:ext cx="34747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p:nvPr/>
        </p:nvSpPr>
        <p:spPr>
          <a:xfrm>
            <a:off x="658368" y="841248"/>
            <a:ext cx="3694176" cy="475488"/>
          </a:xfrm>
          <a:prstGeom prst="rect">
            <a:avLst/>
          </a:prstGeom>
          <a:noFill/>
          <a:ln/>
        </p:spPr>
        <p:txBody>
          <a:bodyPr wrap="square" lIns="762" tIns="762" rIns="762" bIns="762" rtlCol="0" anchor="ctr"/>
          <a:lstStyle/>
          <a:p>
            <a:pPr algn="l" indent="0" marL="0">
              <a:buNone/>
            </a:pPr>
            <a:r>
              <a:rPr lang="en-US" sz="1150" dirty="0">
                <a:solidFill>
                  <a:srgbClr val="1C2B1E"/>
                </a:solidFill>
                <a:latin typeface="Calibri" pitchFamily="34" charset="0"/>
                <a:ea typeface="Calibri" pitchFamily="34" charset="-122"/>
                <a:cs typeface="Calibri" pitchFamily="34" charset="-120"/>
              </a:rPr>
              <a:t>10.1 Primate Classification and Unique Hominin Characters</a:t>
            </a:r>
            <a:endParaRPr lang="en-US" sz="1150" dirty="0"/>
          </a:p>
        </p:txBody>
      </p:sp>
      <p:sp>
        <p:nvSpPr>
          <p:cNvPr id="8" name="Shape 6"/>
          <p:cNvSpPr/>
          <p:nvPr/>
        </p:nvSpPr>
        <p:spPr>
          <a:xfrm>
            <a:off x="4590288" y="841248"/>
            <a:ext cx="4114800" cy="475488"/>
          </a:xfrm>
          <a:prstGeom prst="rect">
            <a:avLst/>
          </a:prstGeom>
          <a:solidFill>
            <a:srgbClr val="FFFFFF"/>
          </a:solidFill>
          <a:ln w="6350">
            <a:solidFill>
              <a:srgbClr val="8FA898"/>
            </a:solidFill>
            <a:prstDash val="solid"/>
          </a:ln>
          <a:effectLst>
            <a:outerShdw sx="100000" sy="100000" kx="0" ky="0" algn="bl" rotWithShape="0" blurRad="101600" dist="38100" dir="8100000">
              <a:srgbClr val="000000">
                <a:alpha val="18000"/>
              </a:srgbClr>
            </a:outerShdw>
          </a:effectLst>
        </p:spPr>
      </p:sp>
      <p:sp>
        <p:nvSpPr>
          <p:cNvPr id="9" name="Shape 7"/>
          <p:cNvSpPr/>
          <p:nvPr/>
        </p:nvSpPr>
        <p:spPr>
          <a:xfrm>
            <a:off x="4590288" y="841248"/>
            <a:ext cx="347472" cy="475488"/>
          </a:xfrm>
          <a:prstGeom prst="rect">
            <a:avLst/>
          </a:prstGeom>
          <a:solidFill>
            <a:srgbClr val="2D5A3D"/>
          </a:solidFill>
          <a:ln w="12700">
            <a:solidFill>
              <a:srgbClr val="2D5A3D"/>
            </a:solidFill>
            <a:prstDash val="solid"/>
          </a:ln>
        </p:spPr>
      </p:sp>
      <p:sp>
        <p:nvSpPr>
          <p:cNvPr id="10" name="Text 8"/>
          <p:cNvSpPr/>
          <p:nvPr/>
        </p:nvSpPr>
        <p:spPr>
          <a:xfrm>
            <a:off x="4590288" y="841248"/>
            <a:ext cx="34747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1" name="Text 9"/>
          <p:cNvSpPr/>
          <p:nvPr/>
        </p:nvSpPr>
        <p:spPr>
          <a:xfrm>
            <a:off x="4974336" y="841248"/>
            <a:ext cx="3694176" cy="475488"/>
          </a:xfrm>
          <a:prstGeom prst="rect">
            <a:avLst/>
          </a:prstGeom>
          <a:noFill/>
          <a:ln/>
        </p:spPr>
        <p:txBody>
          <a:bodyPr wrap="square" lIns="762" tIns="762" rIns="762" bIns="762" rtlCol="0" anchor="ctr"/>
          <a:lstStyle/>
          <a:p>
            <a:pPr algn="l" indent="0" marL="0">
              <a:buNone/>
            </a:pPr>
            <a:r>
              <a:rPr lang="en-US" sz="1150" dirty="0">
                <a:solidFill>
                  <a:srgbClr val="1C2B1E"/>
                </a:solidFill>
                <a:latin typeface="Calibri" pitchFamily="34" charset="0"/>
                <a:ea typeface="Calibri" pitchFamily="34" charset="-122"/>
                <a:cs typeface="Calibri" pitchFamily="34" charset="-120"/>
              </a:rPr>
              <a:t>10.2 The Pan-Homo Divergence and Early Hominins</a:t>
            </a:r>
            <a:endParaRPr lang="en-US" sz="1150" dirty="0"/>
          </a:p>
        </p:txBody>
      </p:sp>
      <p:sp>
        <p:nvSpPr>
          <p:cNvPr id="12" name="Shape 10"/>
          <p:cNvSpPr/>
          <p:nvPr/>
        </p:nvSpPr>
        <p:spPr>
          <a:xfrm>
            <a:off x="274320" y="1426464"/>
            <a:ext cx="4114800" cy="475488"/>
          </a:xfrm>
          <a:prstGeom prst="rect">
            <a:avLst/>
          </a:prstGeom>
          <a:solidFill>
            <a:srgbClr val="FFFFFF"/>
          </a:solidFill>
          <a:ln w="6350">
            <a:solidFill>
              <a:srgbClr val="8FA898"/>
            </a:solidFill>
            <a:prstDash val="solid"/>
          </a:ln>
          <a:effectLst>
            <a:outerShdw sx="100000" sy="100000" kx="0" ky="0" algn="bl" rotWithShape="0" blurRad="101600" dist="38100" dir="8100000">
              <a:srgbClr val="000000">
                <a:alpha val="18000"/>
              </a:srgbClr>
            </a:outerShdw>
          </a:effectLst>
        </p:spPr>
      </p:sp>
      <p:sp>
        <p:nvSpPr>
          <p:cNvPr id="13" name="Shape 11"/>
          <p:cNvSpPr/>
          <p:nvPr/>
        </p:nvSpPr>
        <p:spPr>
          <a:xfrm>
            <a:off x="274320" y="1426464"/>
            <a:ext cx="347472" cy="475488"/>
          </a:xfrm>
          <a:prstGeom prst="rect">
            <a:avLst/>
          </a:prstGeom>
          <a:solidFill>
            <a:srgbClr val="2D5A3D"/>
          </a:solidFill>
          <a:ln w="12700">
            <a:solidFill>
              <a:srgbClr val="2D5A3D"/>
            </a:solidFill>
            <a:prstDash val="solid"/>
          </a:ln>
        </p:spPr>
      </p:sp>
      <p:sp>
        <p:nvSpPr>
          <p:cNvPr id="14" name="Text 12"/>
          <p:cNvSpPr/>
          <p:nvPr/>
        </p:nvSpPr>
        <p:spPr>
          <a:xfrm>
            <a:off x="274320" y="1426464"/>
            <a:ext cx="34747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5" name="Text 13"/>
          <p:cNvSpPr/>
          <p:nvPr/>
        </p:nvSpPr>
        <p:spPr>
          <a:xfrm>
            <a:off x="658368" y="1426464"/>
            <a:ext cx="3694176" cy="475488"/>
          </a:xfrm>
          <a:prstGeom prst="rect">
            <a:avLst/>
          </a:prstGeom>
          <a:noFill/>
          <a:ln/>
        </p:spPr>
        <p:txBody>
          <a:bodyPr wrap="square" lIns="762" tIns="762" rIns="762" bIns="762" rtlCol="0" anchor="ctr"/>
          <a:lstStyle/>
          <a:p>
            <a:pPr algn="l" indent="0" marL="0">
              <a:buNone/>
            </a:pPr>
            <a:r>
              <a:rPr lang="en-US" sz="1150" dirty="0">
                <a:solidFill>
                  <a:srgbClr val="1C2B1E"/>
                </a:solidFill>
                <a:latin typeface="Calibri" pitchFamily="34" charset="0"/>
                <a:ea typeface="Calibri" pitchFamily="34" charset="-122"/>
                <a:cs typeface="Calibri" pitchFamily="34" charset="-120"/>
              </a:rPr>
              <a:t>10.3 The Hominin Fossil Record</a:t>
            </a:r>
            <a:endParaRPr lang="en-US" sz="1150" dirty="0"/>
          </a:p>
        </p:txBody>
      </p:sp>
      <p:sp>
        <p:nvSpPr>
          <p:cNvPr id="16" name="Shape 14"/>
          <p:cNvSpPr/>
          <p:nvPr/>
        </p:nvSpPr>
        <p:spPr>
          <a:xfrm>
            <a:off x="4590288" y="1426464"/>
            <a:ext cx="4114800" cy="475488"/>
          </a:xfrm>
          <a:prstGeom prst="rect">
            <a:avLst/>
          </a:prstGeom>
          <a:solidFill>
            <a:srgbClr val="FFFFFF"/>
          </a:solidFill>
          <a:ln w="6350">
            <a:solidFill>
              <a:srgbClr val="8FA898"/>
            </a:solidFill>
            <a:prstDash val="solid"/>
          </a:ln>
          <a:effectLst>
            <a:outerShdw sx="100000" sy="100000" kx="0" ky="0" algn="bl" rotWithShape="0" blurRad="101600" dist="38100" dir="8100000">
              <a:srgbClr val="000000">
                <a:alpha val="18000"/>
              </a:srgbClr>
            </a:outerShdw>
          </a:effectLst>
        </p:spPr>
      </p:sp>
      <p:sp>
        <p:nvSpPr>
          <p:cNvPr id="17" name="Shape 15"/>
          <p:cNvSpPr/>
          <p:nvPr/>
        </p:nvSpPr>
        <p:spPr>
          <a:xfrm>
            <a:off x="4590288" y="1426464"/>
            <a:ext cx="347472" cy="475488"/>
          </a:xfrm>
          <a:prstGeom prst="rect">
            <a:avLst/>
          </a:prstGeom>
          <a:solidFill>
            <a:srgbClr val="2D5A3D"/>
          </a:solidFill>
          <a:ln w="12700">
            <a:solidFill>
              <a:srgbClr val="2D5A3D"/>
            </a:solidFill>
            <a:prstDash val="solid"/>
          </a:ln>
        </p:spPr>
      </p:sp>
      <p:sp>
        <p:nvSpPr>
          <p:cNvPr id="18" name="Text 16"/>
          <p:cNvSpPr/>
          <p:nvPr/>
        </p:nvSpPr>
        <p:spPr>
          <a:xfrm>
            <a:off x="4590288" y="1426464"/>
            <a:ext cx="34747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9" name="Text 17"/>
          <p:cNvSpPr/>
          <p:nvPr/>
        </p:nvSpPr>
        <p:spPr>
          <a:xfrm>
            <a:off x="4974336" y="1426464"/>
            <a:ext cx="3694176" cy="475488"/>
          </a:xfrm>
          <a:prstGeom prst="rect">
            <a:avLst/>
          </a:prstGeom>
          <a:noFill/>
          <a:ln/>
        </p:spPr>
        <p:txBody>
          <a:bodyPr wrap="square" lIns="762" tIns="762" rIns="762" bIns="762" rtlCol="0" anchor="ctr"/>
          <a:lstStyle/>
          <a:p>
            <a:pPr algn="l" indent="0" marL="0">
              <a:buNone/>
            </a:pPr>
            <a:r>
              <a:rPr lang="en-US" sz="1150" dirty="0">
                <a:solidFill>
                  <a:srgbClr val="1C2B1E"/>
                </a:solidFill>
                <a:latin typeface="Calibri" pitchFamily="34" charset="0"/>
                <a:ea typeface="Calibri" pitchFamily="34" charset="-122"/>
                <a:cs typeface="Calibri" pitchFamily="34" charset="-120"/>
              </a:rPr>
              <a:t>10.4 Molecular Analysis of Human Origin</a:t>
            </a:r>
            <a:endParaRPr lang="en-US" sz="1150" dirty="0"/>
          </a:p>
        </p:txBody>
      </p:sp>
      <p:sp>
        <p:nvSpPr>
          <p:cNvPr id="20" name="Shape 18"/>
          <p:cNvSpPr/>
          <p:nvPr/>
        </p:nvSpPr>
        <p:spPr>
          <a:xfrm>
            <a:off x="274320" y="2011680"/>
            <a:ext cx="4114800" cy="475488"/>
          </a:xfrm>
          <a:prstGeom prst="rect">
            <a:avLst/>
          </a:prstGeom>
          <a:solidFill>
            <a:srgbClr val="FFFFFF"/>
          </a:solidFill>
          <a:ln w="6350">
            <a:solidFill>
              <a:srgbClr val="8FA898"/>
            </a:solidFill>
            <a:prstDash val="solid"/>
          </a:ln>
          <a:effectLst>
            <a:outerShdw sx="100000" sy="100000" kx="0" ky="0" algn="bl" rotWithShape="0" blurRad="101600" dist="38100" dir="8100000">
              <a:srgbClr val="000000">
                <a:alpha val="18000"/>
              </a:srgbClr>
            </a:outerShdw>
          </a:effectLst>
        </p:spPr>
      </p:sp>
      <p:sp>
        <p:nvSpPr>
          <p:cNvPr id="21" name="Shape 19"/>
          <p:cNvSpPr/>
          <p:nvPr/>
        </p:nvSpPr>
        <p:spPr>
          <a:xfrm>
            <a:off x="274320" y="2011680"/>
            <a:ext cx="347472" cy="475488"/>
          </a:xfrm>
          <a:prstGeom prst="rect">
            <a:avLst/>
          </a:prstGeom>
          <a:solidFill>
            <a:srgbClr val="2D5A3D"/>
          </a:solidFill>
          <a:ln w="12700">
            <a:solidFill>
              <a:srgbClr val="2D5A3D"/>
            </a:solidFill>
            <a:prstDash val="solid"/>
          </a:ln>
        </p:spPr>
      </p:sp>
      <p:sp>
        <p:nvSpPr>
          <p:cNvPr id="22" name="Text 20"/>
          <p:cNvSpPr/>
          <p:nvPr/>
        </p:nvSpPr>
        <p:spPr>
          <a:xfrm>
            <a:off x="274320" y="2011680"/>
            <a:ext cx="34747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3" name="Text 21"/>
          <p:cNvSpPr/>
          <p:nvPr/>
        </p:nvSpPr>
        <p:spPr>
          <a:xfrm>
            <a:off x="658368" y="2011680"/>
            <a:ext cx="3694176" cy="475488"/>
          </a:xfrm>
          <a:prstGeom prst="rect">
            <a:avLst/>
          </a:prstGeom>
          <a:noFill/>
          <a:ln/>
        </p:spPr>
        <p:txBody>
          <a:bodyPr wrap="square" lIns="762" tIns="762" rIns="762" bIns="762" rtlCol="0" anchor="ctr"/>
          <a:lstStyle/>
          <a:p>
            <a:pPr algn="l" indent="0" marL="0">
              <a:buNone/>
            </a:pPr>
            <a:r>
              <a:rPr lang="en-US" sz="1150" dirty="0">
                <a:solidFill>
                  <a:srgbClr val="1C2B1E"/>
                </a:solidFill>
                <a:latin typeface="Calibri" pitchFamily="34" charset="0"/>
                <a:ea typeface="Calibri" pitchFamily="34" charset="-122"/>
                <a:cs typeface="Calibri" pitchFamily="34" charset="-120"/>
              </a:rPr>
              <a:t>10.5 Multiple Sequence Alignment and Phylogenetic Trees</a:t>
            </a:r>
            <a:endParaRPr lang="en-US" sz="1150" dirty="0"/>
          </a:p>
        </p:txBody>
      </p:sp>
      <p:sp>
        <p:nvSpPr>
          <p:cNvPr id="24" name="Shape 22"/>
          <p:cNvSpPr/>
          <p:nvPr/>
        </p:nvSpPr>
        <p:spPr>
          <a:xfrm>
            <a:off x="4590288" y="2011680"/>
            <a:ext cx="4114800" cy="475488"/>
          </a:xfrm>
          <a:prstGeom prst="rect">
            <a:avLst/>
          </a:prstGeom>
          <a:solidFill>
            <a:srgbClr val="FFFFFF"/>
          </a:solidFill>
          <a:ln w="6350">
            <a:solidFill>
              <a:srgbClr val="8FA898"/>
            </a:solidFill>
            <a:prstDash val="solid"/>
          </a:ln>
          <a:effectLst>
            <a:outerShdw sx="100000" sy="100000" kx="0" ky="0" algn="bl" rotWithShape="0" blurRad="101600" dist="38100" dir="8100000">
              <a:srgbClr val="000000">
                <a:alpha val="18000"/>
              </a:srgbClr>
            </a:outerShdw>
          </a:effectLst>
        </p:spPr>
      </p:sp>
      <p:sp>
        <p:nvSpPr>
          <p:cNvPr id="25" name="Shape 23"/>
          <p:cNvSpPr/>
          <p:nvPr/>
        </p:nvSpPr>
        <p:spPr>
          <a:xfrm>
            <a:off x="4590288" y="2011680"/>
            <a:ext cx="347472" cy="475488"/>
          </a:xfrm>
          <a:prstGeom prst="rect">
            <a:avLst/>
          </a:prstGeom>
          <a:solidFill>
            <a:srgbClr val="2D5A3D"/>
          </a:solidFill>
          <a:ln w="12700">
            <a:solidFill>
              <a:srgbClr val="2D5A3D"/>
            </a:solidFill>
            <a:prstDash val="solid"/>
          </a:ln>
        </p:spPr>
      </p:sp>
      <p:sp>
        <p:nvSpPr>
          <p:cNvPr id="26" name="Text 24"/>
          <p:cNvSpPr/>
          <p:nvPr/>
        </p:nvSpPr>
        <p:spPr>
          <a:xfrm>
            <a:off x="4590288" y="2011680"/>
            <a:ext cx="34747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27" name="Text 25"/>
          <p:cNvSpPr/>
          <p:nvPr/>
        </p:nvSpPr>
        <p:spPr>
          <a:xfrm>
            <a:off x="4974336" y="2011680"/>
            <a:ext cx="3694176" cy="475488"/>
          </a:xfrm>
          <a:prstGeom prst="rect">
            <a:avLst/>
          </a:prstGeom>
          <a:noFill/>
          <a:ln/>
        </p:spPr>
        <p:txBody>
          <a:bodyPr wrap="square" lIns="762" tIns="762" rIns="762" bIns="762" rtlCol="0" anchor="ctr"/>
          <a:lstStyle/>
          <a:p>
            <a:pPr algn="l" indent="0" marL="0">
              <a:buNone/>
            </a:pPr>
            <a:r>
              <a:rPr lang="en-US" sz="1150" dirty="0">
                <a:solidFill>
                  <a:srgbClr val="1C2B1E"/>
                </a:solidFill>
                <a:latin typeface="Calibri" pitchFamily="34" charset="0"/>
                <a:ea typeface="Calibri" pitchFamily="34" charset="-122"/>
                <a:cs typeface="Calibri" pitchFamily="34" charset="-120"/>
              </a:rPr>
              <a:t>10.6 The Out of Africa Hypothesis</a:t>
            </a:r>
            <a:endParaRPr lang="en-US" sz="1150" dirty="0"/>
          </a:p>
        </p:txBody>
      </p:sp>
      <p:sp>
        <p:nvSpPr>
          <p:cNvPr id="28" name="Shape 26"/>
          <p:cNvSpPr/>
          <p:nvPr/>
        </p:nvSpPr>
        <p:spPr>
          <a:xfrm>
            <a:off x="274320" y="2688336"/>
            <a:ext cx="8595360" cy="566928"/>
          </a:xfrm>
          <a:prstGeom prst="rect">
            <a:avLst/>
          </a:prstGeom>
          <a:solidFill>
            <a:srgbClr val="1C2B1E"/>
          </a:solidFill>
          <a:ln w="12700">
            <a:solidFill>
              <a:srgbClr val="1C2B1E"/>
            </a:solidFill>
            <a:prstDash val="solid"/>
          </a:ln>
        </p:spPr>
      </p:sp>
      <p:sp>
        <p:nvSpPr>
          <p:cNvPr id="29" name="Text 27"/>
          <p:cNvSpPr/>
          <p:nvPr/>
        </p:nvSpPr>
        <p:spPr>
          <a:xfrm>
            <a:off x="274320" y="2688336"/>
            <a:ext cx="8595360" cy="566928"/>
          </a:xfrm>
          <a:prstGeom prst="rect">
            <a:avLst/>
          </a:prstGeom>
          <a:noFill/>
          <a:ln/>
        </p:spPr>
        <p:txBody>
          <a:bodyPr wrap="square" lIns="1524" tIns="1524" rIns="1524" bIns="1524" rtlCol="0" anchor="ctr"/>
          <a:lstStyle/>
          <a:p>
            <a:pPr indent="0" marL="0">
              <a:buNone/>
            </a:pPr>
            <a:r>
              <a:rPr lang="en-US" sz="1050" b="1" dirty="0">
                <a:solidFill>
                  <a:srgbClr val="C8791E"/>
                </a:solidFill>
                <a:latin typeface="Calibri" pitchFamily="34" charset="0"/>
                <a:ea typeface="Calibri" pitchFamily="34" charset="-122"/>
                <a:cs typeface="Calibri" pitchFamily="34" charset="-120"/>
              </a:rPr>
              <a:t>Threads carried: </a:t>
            </a:r>
            <a:pPr indent="0" marL="0">
              <a:buNone/>
            </a:pPr>
            <a:r>
              <a:rPr lang="en-US" sz="1050" dirty="0">
                <a:solidFill>
                  <a:srgbClr val="F4F1EC"/>
                </a:solidFill>
                <a:latin typeface="Calibri" pitchFamily="34" charset="0"/>
                <a:ea typeface="Calibri" pitchFamily="34" charset="-122"/>
                <a:cs typeface="Calibri" pitchFamily="34" charset="-120"/>
              </a:rPr>
              <a:t>T1 — Classification (Ch. 1) applied to our own species: Homo belongs in the great ape clade · T2 — Molecular tools from Ch. 3 now used to reconstruct our own history</a:t>
            </a:r>
            <a:endParaRPr lang="en-US" sz="1050" dirty="0"/>
          </a:p>
        </p:txBody>
      </p:sp>
      <p:sp>
        <p:nvSpPr>
          <p:cNvPr id="30" name="Text 28"/>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2 / 99</a:t>
            </a:r>
            <a:endParaRPr lang="en-US" sz="900" dirty="0"/>
          </a:p>
        </p:txBody>
      </p:sp>
      <p:sp>
        <p:nvSpPr>
          <p:cNvPr id="31" name="Text 29"/>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10 — Human Evolution</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7A52"/>
          </a:solidFill>
          <a:ln w="12700">
            <a:solidFill>
              <a:srgbClr val="3D7A52"/>
            </a:solidFill>
            <a:prstDash val="solid"/>
          </a:ln>
        </p:spPr>
      </p:sp>
      <p:sp>
        <p:nvSpPr>
          <p:cNvPr id="3" name="Text 1"/>
          <p:cNvSpPr/>
          <p:nvPr/>
        </p:nvSpPr>
        <p:spPr>
          <a:xfrm>
            <a:off x="274320" y="109728"/>
            <a:ext cx="8595360" cy="256032"/>
          </a:xfrm>
          <a:prstGeom prst="rect">
            <a:avLst/>
          </a:prstGeom>
          <a:noFill/>
          <a:ln/>
        </p:spPr>
        <p:txBody>
          <a:bodyPr wrap="square" rtlCol="0" anchor="ctr"/>
          <a:lstStyle/>
          <a:p>
            <a:pPr indent="0" marL="0">
              <a:buNone/>
            </a:pPr>
            <a:r>
              <a:rPr lang="en-US" sz="850" i="1" spc="100" kern="0" dirty="0">
                <a:solidFill>
                  <a:srgbClr val="8FA898"/>
                </a:solidFill>
                <a:latin typeface="Calibri" pitchFamily="34" charset="0"/>
                <a:ea typeface="Calibri" pitchFamily="34" charset="-122"/>
                <a:cs typeface="Calibri" pitchFamily="34" charset="-120"/>
              </a:rPr>
              <a:t>§10.1 Primate Classification</a:t>
            </a:r>
            <a:endParaRPr lang="en-US" sz="850" dirty="0"/>
          </a:p>
        </p:txBody>
      </p:sp>
      <p:sp>
        <p:nvSpPr>
          <p:cNvPr id="4" name="Text 2"/>
          <p:cNvSpPr/>
          <p:nvPr/>
        </p:nvSpPr>
        <p:spPr>
          <a:xfrm>
            <a:off x="274320" y="320040"/>
            <a:ext cx="8595360" cy="594360"/>
          </a:xfrm>
          <a:prstGeom prst="rect">
            <a:avLst/>
          </a:prstGeom>
          <a:noFill/>
          <a:ln/>
        </p:spPr>
        <p:txBody>
          <a:bodyPr wrap="square" rtlCol="0" anchor="ctr"/>
          <a:lstStyle/>
          <a:p>
            <a:pPr indent="0" marL="0">
              <a:buNone/>
            </a:pPr>
            <a:r>
              <a:rPr lang="en-US" sz="2400" b="1" dirty="0">
                <a:solidFill>
                  <a:srgbClr val="1C2B1E"/>
                </a:solidFill>
                <a:latin typeface="Georgia" pitchFamily="34" charset="0"/>
                <a:ea typeface="Georgia" pitchFamily="34" charset="-122"/>
                <a:cs typeface="Georgia" pitchFamily="34" charset="-120"/>
              </a:rPr>
              <a:t>Where Humans Sit in the Tree of Life</a:t>
            </a:r>
            <a:endParaRPr lang="en-US" sz="2400" dirty="0"/>
          </a:p>
        </p:txBody>
      </p:sp>
      <p:sp>
        <p:nvSpPr>
          <p:cNvPr id="5" name="Shape 3"/>
          <p:cNvSpPr/>
          <p:nvPr/>
        </p:nvSpPr>
        <p:spPr>
          <a:xfrm>
            <a:off x="274320" y="868680"/>
            <a:ext cx="8595360" cy="22860"/>
          </a:xfrm>
          <a:prstGeom prst="rect">
            <a:avLst/>
          </a:prstGeom>
          <a:solidFill>
            <a:srgbClr val="E8F0EB"/>
          </a:solidFill>
          <a:ln w="12700">
            <a:solidFill>
              <a:srgbClr val="E8F0EB"/>
            </a:solidFill>
            <a:prstDash val="solid"/>
          </a:ln>
        </p:spPr>
      </p:sp>
      <p:sp>
        <p:nvSpPr>
          <p:cNvPr id="6" name="Text 4"/>
          <p:cNvSpPr/>
          <p:nvPr/>
        </p:nvSpPr>
        <p:spPr>
          <a:xfrm>
            <a:off x="274320" y="960120"/>
            <a:ext cx="4663440" cy="3200400"/>
          </a:xfrm>
          <a:prstGeom prst="rect">
            <a:avLst/>
          </a:prstGeom>
          <a:noFill/>
          <a:ln/>
        </p:spPr>
        <p:txBody>
          <a:bodyPr wrap="square" rtlCol="0" anchor="t"/>
          <a:lstStyle/>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Order Primates: divided into Strepsirrhini (lemurs, lorises) and Haplorhini (tarsiers, monkeys, apes, humans)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Superfamily Hominoidea: gibbons (Hylobatidae), great apes + humans (Hominidae)</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Family Hominidae: orangutans (Pongo), gorillas (Gorilla), chimpanzees + bonobos (Pan), humans (Homo)</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Pan is the SISTER GROUP of Homo — the closest living relative of all humans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Pan-Homo divergence: ~5–7 Ma (late Miocene) — from a common ancestor whose identity is debated</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Molecular phylogenetics has clarified the tree: humans are MORE closely related to chimpanzees than chimpanzees are to gorillas</a:t>
            </a:r>
            <a:endParaRPr lang="en-US" sz="1300" dirty="0"/>
          </a:p>
        </p:txBody>
      </p:sp>
      <p:sp>
        <p:nvSpPr>
          <p:cNvPr id="7" name="Shape 5"/>
          <p:cNvSpPr/>
          <p:nvPr/>
        </p:nvSpPr>
        <p:spPr>
          <a:xfrm>
            <a:off x="5120640" y="960120"/>
            <a:ext cx="3749040" cy="3474720"/>
          </a:xfrm>
          <a:prstGeom prst="rect">
            <a:avLst/>
          </a:prstGeom>
          <a:solidFill>
            <a:srgbClr val="243228"/>
          </a:solidFill>
          <a:ln w="6350">
            <a:solidFill>
              <a:srgbClr val="2D5A3D"/>
            </a:solidFill>
            <a:prstDash val="solid"/>
          </a:ln>
        </p:spPr>
      </p:sp>
      <p:sp>
        <p:nvSpPr>
          <p:cNvPr id="8" name="Shape 6"/>
          <p:cNvSpPr/>
          <p:nvPr/>
        </p:nvSpPr>
        <p:spPr>
          <a:xfrm>
            <a:off x="6995160" y="1234440"/>
            <a:ext cx="0" cy="1463040"/>
          </a:xfrm>
          <a:prstGeom prst="line">
            <a:avLst/>
          </a:prstGeom>
          <a:noFill/>
          <a:ln w="15240">
            <a:solidFill>
              <a:srgbClr val="3D7A52"/>
            </a:solidFill>
            <a:prstDash val="solid"/>
          </a:ln>
        </p:spPr>
      </p:sp>
      <p:sp>
        <p:nvSpPr>
          <p:cNvPr id="9" name="Shape 7"/>
          <p:cNvSpPr/>
          <p:nvPr/>
        </p:nvSpPr>
        <p:spPr>
          <a:xfrm>
            <a:off x="6830568" y="1143000"/>
            <a:ext cx="329184" cy="201168"/>
          </a:xfrm>
          <a:prstGeom prst="ellipse">
            <a:avLst/>
          </a:prstGeom>
          <a:solidFill>
            <a:srgbClr val="C8791E"/>
          </a:solidFill>
          <a:ln w="12700">
            <a:solidFill>
              <a:srgbClr val="C8791E"/>
            </a:solidFill>
            <a:prstDash val="solid"/>
          </a:ln>
        </p:spPr>
      </p:sp>
      <p:sp>
        <p:nvSpPr>
          <p:cNvPr id="10" name="Text 8"/>
          <p:cNvSpPr/>
          <p:nvPr/>
        </p:nvSpPr>
        <p:spPr>
          <a:xfrm>
            <a:off x="6720840" y="941832"/>
            <a:ext cx="548640" cy="182880"/>
          </a:xfrm>
          <a:prstGeom prst="rect">
            <a:avLst/>
          </a:prstGeom>
          <a:noFill/>
          <a:ln/>
        </p:spPr>
        <p:txBody>
          <a:bodyPr wrap="square" rtlCol="0" anchor="ctr"/>
          <a:lstStyle/>
          <a:p>
            <a:pPr algn="ctr" indent="0" marL="0">
              <a:buNone/>
            </a:pPr>
            <a:r>
              <a:rPr lang="en-US" sz="800" dirty="0">
                <a:solidFill>
                  <a:srgbClr val="8FA898"/>
                </a:solidFill>
                <a:latin typeface="Calibri" pitchFamily="34" charset="0"/>
                <a:ea typeface="Calibri" pitchFamily="34" charset="-122"/>
                <a:cs typeface="Calibri" pitchFamily="34" charset="-120"/>
              </a:rPr>
              <a:t>Hominoidea</a:t>
            </a:r>
            <a:endParaRPr lang="en-US" sz="800" dirty="0"/>
          </a:p>
        </p:txBody>
      </p:sp>
      <p:sp>
        <p:nvSpPr>
          <p:cNvPr id="11" name="Shape 9"/>
          <p:cNvSpPr/>
          <p:nvPr/>
        </p:nvSpPr>
        <p:spPr>
          <a:xfrm>
            <a:off x="6170371" y="2697480"/>
            <a:ext cx="1649578" cy="0"/>
          </a:xfrm>
          <a:prstGeom prst="line">
            <a:avLst/>
          </a:prstGeom>
          <a:noFill/>
          <a:ln w="12700">
            <a:solidFill>
              <a:srgbClr val="3D7A52"/>
            </a:solidFill>
            <a:prstDash val="solid"/>
          </a:ln>
        </p:spPr>
      </p:sp>
      <p:sp>
        <p:nvSpPr>
          <p:cNvPr id="12" name="Shape 10"/>
          <p:cNvSpPr/>
          <p:nvPr/>
        </p:nvSpPr>
        <p:spPr>
          <a:xfrm>
            <a:off x="6170371" y="2697480"/>
            <a:ext cx="0" cy="1280160"/>
          </a:xfrm>
          <a:prstGeom prst="line">
            <a:avLst/>
          </a:prstGeom>
          <a:noFill/>
          <a:ln w="12700">
            <a:solidFill>
              <a:srgbClr val="3D7A52"/>
            </a:solidFill>
            <a:prstDash val="solid"/>
          </a:ln>
        </p:spPr>
      </p:sp>
      <p:sp>
        <p:nvSpPr>
          <p:cNvPr id="13" name="Shape 11"/>
          <p:cNvSpPr/>
          <p:nvPr/>
        </p:nvSpPr>
        <p:spPr>
          <a:xfrm>
            <a:off x="5804611" y="3977640"/>
            <a:ext cx="731520" cy="256032"/>
          </a:xfrm>
          <a:prstGeom prst="rect">
            <a:avLst/>
          </a:prstGeom>
          <a:solidFill>
            <a:srgbClr val="2D5A3D"/>
          </a:solidFill>
          <a:ln w="12700">
            <a:solidFill>
              <a:srgbClr val="3D7A52"/>
            </a:solidFill>
            <a:prstDash val="solid"/>
          </a:ln>
        </p:spPr>
      </p:sp>
      <p:sp>
        <p:nvSpPr>
          <p:cNvPr id="14" name="Text 12"/>
          <p:cNvSpPr/>
          <p:nvPr/>
        </p:nvSpPr>
        <p:spPr>
          <a:xfrm>
            <a:off x="5804611" y="3977640"/>
            <a:ext cx="731520"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Hylobatidae</a:t>
            </a:r>
            <a:endParaRPr lang="en-US" sz="900" dirty="0"/>
          </a:p>
          <a:p>
            <a:pPr algn="ctr" indent="0" marL="0">
              <a:buNone/>
            </a:pPr>
            <a:r>
              <a:rPr lang="en-US" sz="900" b="1" dirty="0">
                <a:solidFill>
                  <a:srgbClr val="FFFFFF"/>
                </a:solidFill>
                <a:latin typeface="Calibri" pitchFamily="34" charset="0"/>
                <a:ea typeface="Calibri" pitchFamily="34" charset="-122"/>
                <a:cs typeface="Calibri" pitchFamily="34" charset="-120"/>
              </a:rPr>
              <a:t>(gibbons)</a:t>
            </a:r>
            <a:endParaRPr lang="en-US" sz="900" dirty="0"/>
          </a:p>
        </p:txBody>
      </p:sp>
      <p:sp>
        <p:nvSpPr>
          <p:cNvPr id="15" name="Shape 13"/>
          <p:cNvSpPr/>
          <p:nvPr/>
        </p:nvSpPr>
        <p:spPr>
          <a:xfrm>
            <a:off x="7819949" y="2697480"/>
            <a:ext cx="0" cy="1280160"/>
          </a:xfrm>
          <a:prstGeom prst="line">
            <a:avLst/>
          </a:prstGeom>
          <a:noFill/>
          <a:ln w="12700">
            <a:solidFill>
              <a:srgbClr val="3D7A52"/>
            </a:solidFill>
            <a:prstDash val="solid"/>
          </a:ln>
        </p:spPr>
      </p:sp>
      <p:sp>
        <p:nvSpPr>
          <p:cNvPr id="16" name="Shape 14"/>
          <p:cNvSpPr/>
          <p:nvPr/>
        </p:nvSpPr>
        <p:spPr>
          <a:xfrm>
            <a:off x="7454189" y="3977640"/>
            <a:ext cx="731520" cy="256032"/>
          </a:xfrm>
          <a:prstGeom prst="rect">
            <a:avLst/>
          </a:prstGeom>
          <a:solidFill>
            <a:srgbClr val="2D5A3D"/>
          </a:solidFill>
          <a:ln w="12700">
            <a:solidFill>
              <a:srgbClr val="3D7A52"/>
            </a:solidFill>
            <a:prstDash val="solid"/>
          </a:ln>
        </p:spPr>
      </p:sp>
      <p:sp>
        <p:nvSpPr>
          <p:cNvPr id="17" name="Text 15"/>
          <p:cNvSpPr/>
          <p:nvPr/>
        </p:nvSpPr>
        <p:spPr>
          <a:xfrm>
            <a:off x="7454189" y="3977640"/>
            <a:ext cx="731520"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Hominidae</a:t>
            </a:r>
            <a:endParaRPr lang="en-US" sz="900" dirty="0"/>
          </a:p>
          <a:p>
            <a:pPr algn="ctr" indent="0" marL="0">
              <a:buNone/>
            </a:pPr>
            <a:r>
              <a:rPr lang="en-US" sz="900" b="1" dirty="0">
                <a:solidFill>
                  <a:srgbClr val="FFFFFF"/>
                </a:solidFill>
                <a:latin typeface="Calibri" pitchFamily="34" charset="0"/>
                <a:ea typeface="Calibri" pitchFamily="34" charset="-122"/>
                <a:cs typeface="Calibri" pitchFamily="34" charset="-120"/>
              </a:rPr>
              <a:t>(great apes)</a:t>
            </a:r>
            <a:endParaRPr lang="en-US" sz="900" dirty="0"/>
          </a:p>
        </p:txBody>
      </p:sp>
      <p:sp>
        <p:nvSpPr>
          <p:cNvPr id="18" name="Shape 16"/>
          <p:cNvSpPr/>
          <p:nvPr/>
        </p:nvSpPr>
        <p:spPr>
          <a:xfrm>
            <a:off x="7445045" y="3355848"/>
            <a:ext cx="749808" cy="0"/>
          </a:xfrm>
          <a:prstGeom prst="line">
            <a:avLst/>
          </a:prstGeom>
          <a:noFill/>
          <a:ln w="11430">
            <a:solidFill>
              <a:srgbClr val="3D8C7A"/>
            </a:solidFill>
            <a:prstDash val="solid"/>
          </a:ln>
        </p:spPr>
      </p:sp>
      <p:sp>
        <p:nvSpPr>
          <p:cNvPr id="19" name="Shape 17"/>
          <p:cNvSpPr/>
          <p:nvPr/>
        </p:nvSpPr>
        <p:spPr>
          <a:xfrm>
            <a:off x="7445045" y="3355848"/>
            <a:ext cx="0" cy="621792"/>
          </a:xfrm>
          <a:prstGeom prst="line">
            <a:avLst/>
          </a:prstGeom>
          <a:noFill/>
          <a:ln w="11430">
            <a:solidFill>
              <a:srgbClr val="3D8C7A"/>
            </a:solidFill>
            <a:prstDash val="solid"/>
          </a:ln>
        </p:spPr>
      </p:sp>
      <p:sp>
        <p:nvSpPr>
          <p:cNvPr id="20" name="Shape 18"/>
          <p:cNvSpPr/>
          <p:nvPr/>
        </p:nvSpPr>
        <p:spPr>
          <a:xfrm>
            <a:off x="7152437" y="3977640"/>
            <a:ext cx="585216" cy="228600"/>
          </a:xfrm>
          <a:prstGeom prst="rect">
            <a:avLst/>
          </a:prstGeom>
          <a:solidFill>
            <a:srgbClr val="3D8C7A"/>
          </a:solidFill>
          <a:ln w="12700">
            <a:solidFill>
              <a:srgbClr val="3D8C7A"/>
            </a:solidFill>
            <a:prstDash val="solid"/>
          </a:ln>
        </p:spPr>
      </p:sp>
      <p:sp>
        <p:nvSpPr>
          <p:cNvPr id="21" name="Text 19"/>
          <p:cNvSpPr/>
          <p:nvPr/>
        </p:nvSpPr>
        <p:spPr>
          <a:xfrm>
            <a:off x="7152437" y="3977640"/>
            <a:ext cx="585216" cy="228600"/>
          </a:xfrm>
          <a:prstGeom prst="rect">
            <a:avLst/>
          </a:prstGeom>
          <a:noFill/>
          <a:ln/>
        </p:spPr>
        <p:txBody>
          <a:bodyPr wrap="square" lIns="0" tIns="0" rIns="0" bIns="0"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Pan</a:t>
            </a:r>
            <a:endParaRPr lang="en-US" sz="800" dirty="0"/>
          </a:p>
          <a:p>
            <a:pPr algn="ctr" indent="0" marL="0">
              <a:buNone/>
            </a:pPr>
            <a:r>
              <a:rPr lang="en-US" sz="800" dirty="0">
                <a:solidFill>
                  <a:srgbClr val="FFFFFF"/>
                </a:solidFill>
                <a:latin typeface="Calibri" pitchFamily="34" charset="0"/>
                <a:ea typeface="Calibri" pitchFamily="34" charset="-122"/>
                <a:cs typeface="Calibri" pitchFamily="34" charset="-120"/>
              </a:rPr>
              <a:t>(chimp/bonobo)</a:t>
            </a:r>
            <a:endParaRPr lang="en-US" sz="800" dirty="0"/>
          </a:p>
        </p:txBody>
      </p:sp>
      <p:sp>
        <p:nvSpPr>
          <p:cNvPr id="22" name="Shape 20"/>
          <p:cNvSpPr/>
          <p:nvPr/>
        </p:nvSpPr>
        <p:spPr>
          <a:xfrm>
            <a:off x="8194853" y="3355848"/>
            <a:ext cx="0" cy="621792"/>
          </a:xfrm>
          <a:prstGeom prst="line">
            <a:avLst/>
          </a:prstGeom>
          <a:noFill/>
          <a:ln w="11430">
            <a:solidFill>
              <a:srgbClr val="3D8C7A"/>
            </a:solidFill>
            <a:prstDash val="solid"/>
          </a:ln>
        </p:spPr>
      </p:sp>
      <p:sp>
        <p:nvSpPr>
          <p:cNvPr id="23" name="Shape 21"/>
          <p:cNvSpPr/>
          <p:nvPr/>
        </p:nvSpPr>
        <p:spPr>
          <a:xfrm>
            <a:off x="7902245" y="3977640"/>
            <a:ext cx="585216" cy="228600"/>
          </a:xfrm>
          <a:prstGeom prst="rect">
            <a:avLst/>
          </a:prstGeom>
          <a:solidFill>
            <a:srgbClr val="3D8C7A"/>
          </a:solidFill>
          <a:ln w="12700">
            <a:solidFill>
              <a:srgbClr val="3D8C7A"/>
            </a:solidFill>
            <a:prstDash val="solid"/>
          </a:ln>
        </p:spPr>
      </p:sp>
      <p:sp>
        <p:nvSpPr>
          <p:cNvPr id="24" name="Text 22"/>
          <p:cNvSpPr/>
          <p:nvPr/>
        </p:nvSpPr>
        <p:spPr>
          <a:xfrm>
            <a:off x="7902245" y="3977640"/>
            <a:ext cx="585216" cy="228600"/>
          </a:xfrm>
          <a:prstGeom prst="rect">
            <a:avLst/>
          </a:prstGeom>
          <a:noFill/>
          <a:ln/>
        </p:spPr>
        <p:txBody>
          <a:bodyPr wrap="square" lIns="0" tIns="0" rIns="0" bIns="0"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Homo</a:t>
            </a:r>
            <a:endParaRPr lang="en-US" sz="800" dirty="0"/>
          </a:p>
          <a:p>
            <a:pPr algn="ctr" indent="0" marL="0">
              <a:buNone/>
            </a:pPr>
            <a:r>
              <a:rPr lang="en-US" sz="800" dirty="0">
                <a:solidFill>
                  <a:srgbClr val="FFFFFF"/>
                </a:solidFill>
                <a:latin typeface="Calibri" pitchFamily="34" charset="0"/>
                <a:ea typeface="Calibri" pitchFamily="34" charset="-122"/>
                <a:cs typeface="Calibri" pitchFamily="34" charset="-120"/>
              </a:rPr>
              <a:t>sapiens</a:t>
            </a:r>
            <a:endParaRPr lang="en-US" sz="800" dirty="0"/>
          </a:p>
        </p:txBody>
      </p:sp>
      <p:sp>
        <p:nvSpPr>
          <p:cNvPr id="25" name="Shape 23"/>
          <p:cNvSpPr/>
          <p:nvPr/>
        </p:nvSpPr>
        <p:spPr>
          <a:xfrm>
            <a:off x="274320" y="4297680"/>
            <a:ext cx="8595360" cy="621792"/>
          </a:xfrm>
          <a:prstGeom prst="rect">
            <a:avLst/>
          </a:prstGeom>
          <a:solidFill>
            <a:srgbClr val="1C2B1E"/>
          </a:solidFill>
          <a:ln w="12700">
            <a:solidFill>
              <a:srgbClr val="1C2B1E"/>
            </a:solidFill>
            <a:prstDash val="solid"/>
          </a:ln>
        </p:spPr>
      </p:sp>
      <p:sp>
        <p:nvSpPr>
          <p:cNvPr id="26" name="Text 24"/>
          <p:cNvSpPr/>
          <p:nvPr/>
        </p:nvSpPr>
        <p:spPr>
          <a:xfrm>
            <a:off x="274320" y="4297680"/>
            <a:ext cx="8595360" cy="621792"/>
          </a:xfrm>
          <a:prstGeom prst="rect">
            <a:avLst/>
          </a:prstGeom>
          <a:noFill/>
          <a:ln/>
        </p:spPr>
        <p:txBody>
          <a:bodyPr wrap="square" lIns="1524" tIns="1524" rIns="1524" bIns="1524" rtlCol="0" anchor="ctr"/>
          <a:lstStyle/>
          <a:p>
            <a:pPr indent="0" marL="0">
              <a:buNone/>
            </a:pPr>
            <a:r>
              <a:rPr lang="en-US" sz="1100" b="1" dirty="0">
                <a:solidFill>
                  <a:srgbClr val="C8791E"/>
                </a:solidFill>
                <a:latin typeface="Calibri" pitchFamily="34" charset="0"/>
                <a:ea typeface="Calibri" pitchFamily="34" charset="-122"/>
                <a:cs typeface="Calibri" pitchFamily="34" charset="-120"/>
              </a:rPr>
              <a:t>Hominidae: </a:t>
            </a:r>
            <a:pPr indent="0" marL="0">
              <a:buNone/>
            </a:pPr>
            <a:r>
              <a:rPr lang="en-US" sz="1100" dirty="0">
                <a:solidFill>
                  <a:srgbClr val="F4F1EC"/>
                </a:solidFill>
                <a:latin typeface="Calibri" pitchFamily="34" charset="0"/>
                <a:ea typeface="Calibri" pitchFamily="34" charset="-122"/>
                <a:cs typeface="Calibri" pitchFamily="34" charset="-120"/>
              </a:rPr>
              <a:t>The family containing orangutans (Pongo), gorillas (Gorilla), chimpanzees and bonobos (Pan), and humans (Homo). Pan is the living sister group of Homo — the closest living relative of all humans.</a:t>
            </a:r>
            <a:endParaRPr lang="en-US" sz="1100" dirty="0"/>
          </a:p>
        </p:txBody>
      </p:sp>
      <p:sp>
        <p:nvSpPr>
          <p:cNvPr id="27" name="Text 25"/>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3 / 99</a:t>
            </a:r>
            <a:endParaRPr lang="en-US" sz="900" dirty="0"/>
          </a:p>
        </p:txBody>
      </p:sp>
      <p:sp>
        <p:nvSpPr>
          <p:cNvPr id="28" name="Text 26"/>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10 — Human Evolution</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7A52"/>
          </a:solidFill>
          <a:ln w="12700">
            <a:solidFill>
              <a:srgbClr val="3D7A52"/>
            </a:solidFill>
            <a:prstDash val="solid"/>
          </a:ln>
        </p:spPr>
      </p:sp>
      <p:sp>
        <p:nvSpPr>
          <p:cNvPr id="3" name="Text 1"/>
          <p:cNvSpPr/>
          <p:nvPr/>
        </p:nvSpPr>
        <p:spPr>
          <a:xfrm>
            <a:off x="274320" y="109728"/>
            <a:ext cx="8595360" cy="256032"/>
          </a:xfrm>
          <a:prstGeom prst="rect">
            <a:avLst/>
          </a:prstGeom>
          <a:noFill/>
          <a:ln/>
        </p:spPr>
        <p:txBody>
          <a:bodyPr wrap="square" rtlCol="0" anchor="ctr"/>
          <a:lstStyle/>
          <a:p>
            <a:pPr indent="0" marL="0">
              <a:buNone/>
            </a:pPr>
            <a:r>
              <a:rPr lang="en-US" sz="850" i="1" spc="100" kern="0" dirty="0">
                <a:solidFill>
                  <a:srgbClr val="8FA898"/>
                </a:solidFill>
                <a:latin typeface="Calibri" pitchFamily="34" charset="0"/>
                <a:ea typeface="Calibri" pitchFamily="34" charset="-122"/>
                <a:cs typeface="Calibri" pitchFamily="34" charset="-120"/>
              </a:rPr>
              <a:t>§10.1 Unique Hominin Characters</a:t>
            </a:r>
            <a:endParaRPr lang="en-US" sz="850" dirty="0"/>
          </a:p>
        </p:txBody>
      </p:sp>
      <p:sp>
        <p:nvSpPr>
          <p:cNvPr id="4" name="Text 2"/>
          <p:cNvSpPr/>
          <p:nvPr/>
        </p:nvSpPr>
        <p:spPr>
          <a:xfrm>
            <a:off x="274320" y="320040"/>
            <a:ext cx="8595360" cy="594360"/>
          </a:xfrm>
          <a:prstGeom prst="rect">
            <a:avLst/>
          </a:prstGeom>
          <a:noFill/>
          <a:ln/>
        </p:spPr>
        <p:txBody>
          <a:bodyPr wrap="square" rtlCol="0" anchor="ctr"/>
          <a:lstStyle/>
          <a:p>
            <a:pPr indent="0" marL="0">
              <a:buNone/>
            </a:pPr>
            <a:r>
              <a:rPr lang="en-US" sz="2400" b="1" dirty="0">
                <a:solidFill>
                  <a:srgbClr val="1C2B1E"/>
                </a:solidFill>
                <a:latin typeface="Georgia" pitchFamily="34" charset="0"/>
                <a:ea typeface="Georgia" pitchFamily="34" charset="-122"/>
                <a:cs typeface="Georgia" pitchFamily="34" charset="-120"/>
              </a:rPr>
              <a:t>What Distinguishes Hominins from Other Apes</a:t>
            </a:r>
            <a:endParaRPr lang="en-US" sz="2400" dirty="0"/>
          </a:p>
        </p:txBody>
      </p:sp>
      <p:sp>
        <p:nvSpPr>
          <p:cNvPr id="5" name="Shape 3"/>
          <p:cNvSpPr/>
          <p:nvPr/>
        </p:nvSpPr>
        <p:spPr>
          <a:xfrm>
            <a:off x="274320" y="868680"/>
            <a:ext cx="8595360" cy="22860"/>
          </a:xfrm>
          <a:prstGeom prst="rect">
            <a:avLst/>
          </a:prstGeom>
          <a:solidFill>
            <a:srgbClr val="E8F0EB"/>
          </a:solidFill>
          <a:ln w="12700">
            <a:solidFill>
              <a:srgbClr val="E8F0EB"/>
            </a:solidFill>
            <a:prstDash val="solid"/>
          </a:ln>
        </p:spPr>
      </p:sp>
      <p:sp>
        <p:nvSpPr>
          <p:cNvPr id="6" name="Text 4"/>
          <p:cNvSpPr/>
          <p:nvPr/>
        </p:nvSpPr>
        <p:spPr>
          <a:xfrm>
            <a:off x="274320" y="960120"/>
            <a:ext cx="4663440" cy="3200400"/>
          </a:xfrm>
          <a:prstGeom prst="rect">
            <a:avLst/>
          </a:prstGeom>
          <a:noFill/>
          <a:ln/>
        </p:spPr>
        <p:txBody>
          <a:bodyPr wrap="square" rtlCol="0" anchor="t"/>
          <a:lstStyle/>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OBLIGATE BIPEDALISM: habitual upright walking on two legs — the defining hominin characteristic; precedes large brain</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Anatomical correlates of bipedalism: foramen magnum positioned centrally under skull (not posteriorly); S-curved spine; bowl-shaped pelvis; valgus knee (knock-kneed); non-opposable big toe; arched foot</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REDUCED CANINE DENTITION: human canines are not enlarged for combat; related to social structure change</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BRAIN SIZE: modern Homo sapiens ~1350 cc; chimpanzee ~400 cc; but note brain size expansion is LATE in hominin evolution</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LANGUAGE: anatomical basis (descended larynx, Broca's and Wernicke's areas) evolved relatively recently</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TOOL USE: associated with increase in prefrontal cortex; simple stone tools appear ~3.3 Ma (Lomekwi)</a:t>
            </a:r>
            <a:endParaRPr lang="en-US" sz="1300" dirty="0"/>
          </a:p>
        </p:txBody>
      </p:sp>
      <p:sp>
        <p:nvSpPr>
          <p:cNvPr id="7" name="Shape 5"/>
          <p:cNvSpPr/>
          <p:nvPr/>
        </p:nvSpPr>
        <p:spPr>
          <a:xfrm>
            <a:off x="5120640" y="960120"/>
            <a:ext cx="1805940" cy="3474720"/>
          </a:xfrm>
          <a:prstGeom prst="rect">
            <a:avLst/>
          </a:prstGeom>
          <a:solidFill>
            <a:srgbClr val="1C2B1E"/>
          </a:solidFill>
          <a:ln w="6350">
            <a:solidFill>
              <a:srgbClr val="2D5A3D"/>
            </a:solidFill>
            <a:prstDash val="solid"/>
          </a:ln>
        </p:spPr>
      </p:sp>
      <p:sp>
        <p:nvSpPr>
          <p:cNvPr id="8" name="Shape 6"/>
          <p:cNvSpPr/>
          <p:nvPr/>
        </p:nvSpPr>
        <p:spPr>
          <a:xfrm>
            <a:off x="5120640" y="960120"/>
            <a:ext cx="1805940" cy="411480"/>
          </a:xfrm>
          <a:prstGeom prst="rect">
            <a:avLst/>
          </a:prstGeom>
          <a:solidFill>
            <a:srgbClr val="2D5A3D"/>
          </a:solidFill>
          <a:ln w="12700">
            <a:solidFill>
              <a:srgbClr val="2D5A3D"/>
            </a:solidFill>
            <a:prstDash val="solid"/>
          </a:ln>
        </p:spPr>
      </p:sp>
      <p:sp>
        <p:nvSpPr>
          <p:cNvPr id="9" name="Text 7"/>
          <p:cNvSpPr/>
          <p:nvPr/>
        </p:nvSpPr>
        <p:spPr>
          <a:xfrm>
            <a:off x="5212080" y="960120"/>
            <a:ext cx="1714500" cy="411480"/>
          </a:xfrm>
          <a:prstGeom prst="rect">
            <a:avLst/>
          </a:prstGeom>
          <a:noFill/>
          <a:ln/>
        </p:spPr>
        <p:txBody>
          <a:bodyPr wrap="square" lIns="0" tIns="0" rIns="0" bIns="0" rtlCol="0" anchor="ctr"/>
          <a:lstStyle/>
          <a:p>
            <a:pPr indent="0" marL="0">
              <a:buNone/>
            </a:pPr>
            <a:r>
              <a:rPr lang="en-US" sz="1300" b="1" dirty="0">
                <a:solidFill>
                  <a:srgbClr val="FFFFFF"/>
                </a:solidFill>
                <a:latin typeface="Georgia" pitchFamily="34" charset="0"/>
                <a:ea typeface="Georgia" pitchFamily="34" charset="-122"/>
                <a:cs typeface="Georgia" pitchFamily="34" charset="-120"/>
              </a:rPr>
              <a:t>PRIMATE CHARACTERS</a:t>
            </a:r>
            <a:endParaRPr lang="en-US" sz="1300" dirty="0"/>
          </a:p>
          <a:p>
            <a:pPr indent="0" marL="0">
              <a:buNone/>
            </a:pPr>
            <a:r>
              <a:rPr lang="en-US" sz="1300" b="1" dirty="0">
                <a:solidFill>
                  <a:srgbClr val="FFFFFF"/>
                </a:solidFill>
                <a:latin typeface="Georgia" pitchFamily="34" charset="0"/>
                <a:ea typeface="Georgia" pitchFamily="34" charset="-122"/>
                <a:cs typeface="Georgia" pitchFamily="34" charset="-120"/>
              </a:rPr>
              <a:t>(shared with apes)</a:t>
            </a:r>
            <a:endParaRPr lang="en-US" sz="1300" dirty="0"/>
          </a:p>
        </p:txBody>
      </p:sp>
      <p:sp>
        <p:nvSpPr>
          <p:cNvPr id="10" name="Text 8"/>
          <p:cNvSpPr/>
          <p:nvPr/>
        </p:nvSpPr>
        <p:spPr>
          <a:xfrm>
            <a:off x="5212080" y="1417320"/>
            <a:ext cx="1668780" cy="2926080"/>
          </a:xfrm>
          <a:prstGeom prst="rect">
            <a:avLst/>
          </a:prstGeom>
          <a:noFill/>
          <a:ln/>
        </p:spPr>
        <p:txBody>
          <a:bodyPr wrap="square" rtlCol="0" anchor="t"/>
          <a:lstStyle/>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Grasping hands</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Forward-facing eyes</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Large relative brain size</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Generalised dentition</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Extended juvenile period</a:t>
            </a:r>
            <a:endParaRPr lang="en-US" sz="1100" dirty="0"/>
          </a:p>
        </p:txBody>
      </p:sp>
      <p:sp>
        <p:nvSpPr>
          <p:cNvPr id="11" name="Shape 9"/>
          <p:cNvSpPr/>
          <p:nvPr/>
        </p:nvSpPr>
        <p:spPr>
          <a:xfrm>
            <a:off x="7063740" y="960120"/>
            <a:ext cx="1805940" cy="3474720"/>
          </a:xfrm>
          <a:prstGeom prst="rect">
            <a:avLst/>
          </a:prstGeom>
          <a:solidFill>
            <a:srgbClr val="1C2B1E"/>
          </a:solidFill>
          <a:ln w="6350">
            <a:solidFill>
              <a:srgbClr val="C8791E"/>
            </a:solidFill>
            <a:prstDash val="solid"/>
          </a:ln>
        </p:spPr>
      </p:sp>
      <p:sp>
        <p:nvSpPr>
          <p:cNvPr id="12" name="Shape 10"/>
          <p:cNvSpPr/>
          <p:nvPr/>
        </p:nvSpPr>
        <p:spPr>
          <a:xfrm>
            <a:off x="7063740" y="960120"/>
            <a:ext cx="1805940" cy="411480"/>
          </a:xfrm>
          <a:prstGeom prst="rect">
            <a:avLst/>
          </a:prstGeom>
          <a:solidFill>
            <a:srgbClr val="C8791E"/>
          </a:solidFill>
          <a:ln w="12700">
            <a:solidFill>
              <a:srgbClr val="C8791E"/>
            </a:solidFill>
            <a:prstDash val="solid"/>
          </a:ln>
        </p:spPr>
      </p:sp>
      <p:sp>
        <p:nvSpPr>
          <p:cNvPr id="13" name="Text 11"/>
          <p:cNvSpPr/>
          <p:nvPr/>
        </p:nvSpPr>
        <p:spPr>
          <a:xfrm>
            <a:off x="7155180" y="960120"/>
            <a:ext cx="1714500" cy="411480"/>
          </a:xfrm>
          <a:prstGeom prst="rect">
            <a:avLst/>
          </a:prstGeom>
          <a:noFill/>
          <a:ln/>
        </p:spPr>
        <p:txBody>
          <a:bodyPr wrap="square" lIns="0" tIns="0" rIns="0" bIns="0" rtlCol="0" anchor="ctr"/>
          <a:lstStyle/>
          <a:p>
            <a:pPr indent="0" marL="0">
              <a:buNone/>
            </a:pPr>
            <a:r>
              <a:rPr lang="en-US" sz="1300" b="1" dirty="0">
                <a:solidFill>
                  <a:srgbClr val="FFFFFF"/>
                </a:solidFill>
                <a:latin typeface="Georgia" pitchFamily="34" charset="0"/>
                <a:ea typeface="Georgia" pitchFamily="34" charset="-122"/>
                <a:cs typeface="Georgia" pitchFamily="34" charset="-120"/>
              </a:rPr>
              <a:t>HOMININ CHARACTERS</a:t>
            </a:r>
            <a:endParaRPr lang="en-US" sz="1300" dirty="0"/>
          </a:p>
          <a:p>
            <a:pPr indent="0" marL="0">
              <a:buNone/>
            </a:pPr>
            <a:r>
              <a:rPr lang="en-US" sz="1300" b="1" dirty="0">
                <a:solidFill>
                  <a:srgbClr val="FFFFFF"/>
                </a:solidFill>
                <a:latin typeface="Georgia" pitchFamily="34" charset="0"/>
                <a:ea typeface="Georgia" pitchFamily="34" charset="-122"/>
                <a:cs typeface="Georgia" pitchFamily="34" charset="-120"/>
              </a:rPr>
              <a:t>(derived)</a:t>
            </a:r>
            <a:endParaRPr lang="en-US" sz="1300" dirty="0"/>
          </a:p>
        </p:txBody>
      </p:sp>
      <p:sp>
        <p:nvSpPr>
          <p:cNvPr id="14" name="Text 12"/>
          <p:cNvSpPr/>
          <p:nvPr/>
        </p:nvSpPr>
        <p:spPr>
          <a:xfrm>
            <a:off x="7155180" y="1417320"/>
            <a:ext cx="1668780" cy="2926080"/>
          </a:xfrm>
          <a:prstGeom prst="rect">
            <a:avLst/>
          </a:prstGeom>
          <a:noFill/>
          <a:ln/>
        </p:spPr>
        <p:txBody>
          <a:bodyPr wrap="square" rtlCol="0" anchor="t"/>
          <a:lstStyle/>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Obligate bipedalism</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Foramen magnum centred</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Reduced facial prognathism</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Small canines</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Dramatically enlarged brain (late)</a:t>
            </a:r>
            <a:endParaRPr lang="en-US" sz="1100" dirty="0"/>
          </a:p>
        </p:txBody>
      </p:sp>
      <p:sp>
        <p:nvSpPr>
          <p:cNvPr id="15" name="Shape 13"/>
          <p:cNvSpPr/>
          <p:nvPr/>
        </p:nvSpPr>
        <p:spPr>
          <a:xfrm>
            <a:off x="274320" y="4297680"/>
            <a:ext cx="8595360" cy="621792"/>
          </a:xfrm>
          <a:prstGeom prst="rect">
            <a:avLst/>
          </a:prstGeom>
          <a:solidFill>
            <a:srgbClr val="1C2B1E"/>
          </a:solidFill>
          <a:ln w="12700">
            <a:solidFill>
              <a:srgbClr val="1C2B1E"/>
            </a:solidFill>
            <a:prstDash val="solid"/>
          </a:ln>
        </p:spPr>
      </p:sp>
      <p:sp>
        <p:nvSpPr>
          <p:cNvPr id="16" name="Text 14"/>
          <p:cNvSpPr/>
          <p:nvPr/>
        </p:nvSpPr>
        <p:spPr>
          <a:xfrm>
            <a:off x="274320" y="4297680"/>
            <a:ext cx="8595360" cy="621792"/>
          </a:xfrm>
          <a:prstGeom prst="rect">
            <a:avLst/>
          </a:prstGeom>
          <a:noFill/>
          <a:ln/>
        </p:spPr>
        <p:txBody>
          <a:bodyPr wrap="square" lIns="1524" tIns="1524" rIns="1524" bIns="1524" rtlCol="0" anchor="ctr"/>
          <a:lstStyle/>
          <a:p>
            <a:pPr indent="0" marL="0">
              <a:buNone/>
            </a:pPr>
            <a:r>
              <a:rPr lang="en-US" sz="1100" b="1" dirty="0">
                <a:solidFill>
                  <a:srgbClr val="C8791E"/>
                </a:solidFill>
                <a:latin typeface="Calibri" pitchFamily="34" charset="0"/>
                <a:ea typeface="Calibri" pitchFamily="34" charset="-122"/>
                <a:cs typeface="Calibri" pitchFamily="34" charset="-120"/>
              </a:rPr>
              <a:t>Obligate Bipedalism: </a:t>
            </a:r>
            <a:pPr indent="0" marL="0">
              <a:buNone/>
            </a:pPr>
            <a:r>
              <a:rPr lang="en-US" sz="1100" dirty="0">
                <a:solidFill>
                  <a:srgbClr val="F4F1EC"/>
                </a:solidFill>
                <a:latin typeface="Calibri" pitchFamily="34" charset="0"/>
                <a:ea typeface="Calibri" pitchFamily="34" charset="-122"/>
                <a:cs typeface="Calibri" pitchFamily="34" charset="-120"/>
              </a:rPr>
              <a:t>Habitual upright walking on two legs — the defining derived character of hominins. Appears in the fossil record ~4.2 Ma (Ardipithecus) and is fully established in Australopithecus by ~3.5 Ma. Precedes brain expansion by more than 2 million years.</a:t>
            </a:r>
            <a:endParaRPr lang="en-US" sz="1100" dirty="0"/>
          </a:p>
        </p:txBody>
      </p:sp>
      <p:sp>
        <p:nvSpPr>
          <p:cNvPr id="17" name="Text 15"/>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4 / 99</a:t>
            </a:r>
            <a:endParaRPr lang="en-US" sz="900" dirty="0"/>
          </a:p>
        </p:txBody>
      </p:sp>
      <p:sp>
        <p:nvSpPr>
          <p:cNvPr id="18" name="Text 16"/>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10 — Human Evolution</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7A52"/>
          </a:solidFill>
          <a:ln w="12700">
            <a:solidFill>
              <a:srgbClr val="3D7A52"/>
            </a:solidFill>
            <a:prstDash val="solid"/>
          </a:ln>
        </p:spPr>
      </p:sp>
      <p:sp>
        <p:nvSpPr>
          <p:cNvPr id="3" name="Text 1"/>
          <p:cNvSpPr/>
          <p:nvPr/>
        </p:nvSpPr>
        <p:spPr>
          <a:xfrm>
            <a:off x="274320" y="109728"/>
            <a:ext cx="8595360" cy="256032"/>
          </a:xfrm>
          <a:prstGeom prst="rect">
            <a:avLst/>
          </a:prstGeom>
          <a:noFill/>
          <a:ln/>
        </p:spPr>
        <p:txBody>
          <a:bodyPr wrap="square" rtlCol="0" anchor="ctr"/>
          <a:lstStyle/>
          <a:p>
            <a:pPr indent="0" marL="0">
              <a:buNone/>
            </a:pPr>
            <a:r>
              <a:rPr lang="en-US" sz="850" i="1" spc="100" kern="0" dirty="0">
                <a:solidFill>
                  <a:srgbClr val="8FA898"/>
                </a:solidFill>
                <a:latin typeface="Calibri" pitchFamily="34" charset="0"/>
                <a:ea typeface="Calibri" pitchFamily="34" charset="-122"/>
                <a:cs typeface="Calibri" pitchFamily="34" charset="-120"/>
              </a:rPr>
              <a:t>§10.2 The Pan-Homo Divergence</a:t>
            </a:r>
            <a:endParaRPr lang="en-US" sz="850" dirty="0"/>
          </a:p>
        </p:txBody>
      </p:sp>
      <p:sp>
        <p:nvSpPr>
          <p:cNvPr id="4" name="Text 2"/>
          <p:cNvSpPr/>
          <p:nvPr/>
        </p:nvSpPr>
        <p:spPr>
          <a:xfrm>
            <a:off x="274320" y="320040"/>
            <a:ext cx="8595360" cy="594360"/>
          </a:xfrm>
          <a:prstGeom prst="rect">
            <a:avLst/>
          </a:prstGeom>
          <a:noFill/>
          <a:ln/>
        </p:spPr>
        <p:txBody>
          <a:bodyPr wrap="square" rtlCol="0" anchor="ctr"/>
          <a:lstStyle/>
          <a:p>
            <a:pPr indent="0" marL="0">
              <a:buNone/>
            </a:pPr>
            <a:r>
              <a:rPr lang="en-US" sz="2400" b="1" dirty="0">
                <a:solidFill>
                  <a:srgbClr val="1C2B1E"/>
                </a:solidFill>
                <a:latin typeface="Georgia" pitchFamily="34" charset="0"/>
                <a:ea typeface="Georgia" pitchFamily="34" charset="-122"/>
                <a:cs typeface="Georgia" pitchFamily="34" charset="-120"/>
              </a:rPr>
              <a:t>Dryopithecus to the Common Ancestor</a:t>
            </a:r>
            <a:endParaRPr lang="en-US" sz="2400" dirty="0"/>
          </a:p>
        </p:txBody>
      </p:sp>
      <p:sp>
        <p:nvSpPr>
          <p:cNvPr id="5" name="Shape 3"/>
          <p:cNvSpPr/>
          <p:nvPr/>
        </p:nvSpPr>
        <p:spPr>
          <a:xfrm>
            <a:off x="274320" y="868680"/>
            <a:ext cx="8595360" cy="22860"/>
          </a:xfrm>
          <a:prstGeom prst="rect">
            <a:avLst/>
          </a:prstGeom>
          <a:solidFill>
            <a:srgbClr val="E8F0EB"/>
          </a:solidFill>
          <a:ln w="12700">
            <a:solidFill>
              <a:srgbClr val="E8F0EB"/>
            </a:solidFill>
            <a:prstDash val="solid"/>
          </a:ln>
        </p:spPr>
      </p:sp>
      <p:sp>
        <p:nvSpPr>
          <p:cNvPr id="6" name="Text 4"/>
          <p:cNvSpPr/>
          <p:nvPr/>
        </p:nvSpPr>
        <p:spPr>
          <a:xfrm>
            <a:off x="274320" y="960120"/>
            <a:ext cx="4663440" cy="3200400"/>
          </a:xfrm>
          <a:prstGeom prst="rect">
            <a:avLst/>
          </a:prstGeom>
          <a:noFill/>
          <a:ln/>
        </p:spPr>
        <p:txBody>
          <a:bodyPr wrap="square" rtlCol="0" anchor="t"/>
          <a:lstStyle/>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Dryopithecus (~12–9 Ma): Miocene ape known from European and Asian fossil sites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Considered ancestral to, or related to the ancestors of, the Pan-Homo lineage</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Pan-Homo divergence: estimated ~5–7 Ma from molecular clock data using multiple independent gene datasets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The common ancestor (often referred to in the literature): probably looked somewhat like a chimpanzee — quadrupedal knuckle-walking, arboreal, similar brain size to modern chimpanzee</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No direct fossil of the last common ancestor of Pan and Homo has been definitively identified</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Sahelanthropus tchadensis (~7 Ma, Chad): a candidate near the base of the hominin lineage — shows some bipedal features but debated</a:t>
            </a:r>
            <a:endParaRPr lang="en-US" sz="1300" dirty="0"/>
          </a:p>
        </p:txBody>
      </p:sp>
      <p:sp>
        <p:nvSpPr>
          <p:cNvPr id="7" name="Shape 5"/>
          <p:cNvSpPr/>
          <p:nvPr/>
        </p:nvSpPr>
        <p:spPr>
          <a:xfrm>
            <a:off x="5120640" y="960120"/>
            <a:ext cx="3749040" cy="3474720"/>
          </a:xfrm>
          <a:prstGeom prst="rect">
            <a:avLst/>
          </a:prstGeom>
          <a:solidFill>
            <a:srgbClr val="243228"/>
          </a:solidFill>
          <a:ln w="6350">
            <a:solidFill>
              <a:srgbClr val="3D7A52"/>
            </a:solidFill>
            <a:prstDash val="solid"/>
          </a:ln>
        </p:spPr>
      </p:sp>
      <p:sp>
        <p:nvSpPr>
          <p:cNvPr id="8" name="Shape 6"/>
          <p:cNvSpPr/>
          <p:nvPr/>
        </p:nvSpPr>
        <p:spPr>
          <a:xfrm>
            <a:off x="5303520" y="2419502"/>
            <a:ext cx="3383280" cy="0"/>
          </a:xfrm>
          <a:prstGeom prst="line">
            <a:avLst/>
          </a:prstGeom>
          <a:noFill/>
          <a:ln w="19050">
            <a:solidFill>
              <a:srgbClr val="C8791E"/>
            </a:solidFill>
            <a:prstDash val="solid"/>
          </a:ln>
        </p:spPr>
      </p:sp>
      <p:sp>
        <p:nvSpPr>
          <p:cNvPr id="9" name="Shape 7"/>
          <p:cNvSpPr/>
          <p:nvPr/>
        </p:nvSpPr>
        <p:spPr>
          <a:xfrm>
            <a:off x="5193792" y="2309774"/>
            <a:ext cx="219456" cy="219456"/>
          </a:xfrm>
          <a:prstGeom prst="ellipse">
            <a:avLst/>
          </a:prstGeom>
          <a:solidFill>
            <a:srgbClr val="C8791E"/>
          </a:solidFill>
          <a:ln w="6350">
            <a:solidFill>
              <a:srgbClr val="FFFFFF"/>
            </a:solidFill>
            <a:prstDash val="solid"/>
          </a:ln>
        </p:spPr>
      </p:sp>
      <p:sp>
        <p:nvSpPr>
          <p:cNvPr id="10" name="Text 8"/>
          <p:cNvSpPr/>
          <p:nvPr/>
        </p:nvSpPr>
        <p:spPr>
          <a:xfrm>
            <a:off x="4846320" y="1944014"/>
            <a:ext cx="914400" cy="274320"/>
          </a:xfrm>
          <a:prstGeom prst="rect">
            <a:avLst/>
          </a:prstGeom>
          <a:noFill/>
          <a:ln/>
        </p:spPr>
        <p:txBody>
          <a:bodyPr wrap="square" rtlCol="0" anchor="ctr"/>
          <a:lstStyle/>
          <a:p>
            <a:pPr algn="ctr" indent="0" marL="0">
              <a:buNone/>
            </a:pPr>
            <a:r>
              <a:rPr lang="en-US" sz="900" b="1" dirty="0">
                <a:solidFill>
                  <a:srgbClr val="F4F1EC"/>
                </a:solidFill>
                <a:latin typeface="Calibri" pitchFamily="34" charset="0"/>
                <a:ea typeface="Calibri" pitchFamily="34" charset="-122"/>
                <a:cs typeface="Calibri" pitchFamily="34" charset="-120"/>
              </a:rPr>
              <a:t>Dryopithecus</a:t>
            </a:r>
            <a:endParaRPr lang="en-US" sz="900" dirty="0"/>
          </a:p>
          <a:p>
            <a:pPr algn="ctr" indent="0" marL="0">
              <a:buNone/>
            </a:pPr>
            <a:r>
              <a:rPr lang="en-US" sz="900" b="1" dirty="0">
                <a:solidFill>
                  <a:srgbClr val="F4F1EC"/>
                </a:solidFill>
                <a:latin typeface="Calibri" pitchFamily="34" charset="0"/>
                <a:ea typeface="Calibri" pitchFamily="34" charset="-122"/>
                <a:cs typeface="Calibri" pitchFamily="34" charset="-120"/>
              </a:rPr>
              <a:t>(Europe/Asia)</a:t>
            </a:r>
            <a:endParaRPr lang="en-US" sz="900" dirty="0"/>
          </a:p>
        </p:txBody>
      </p:sp>
      <p:sp>
        <p:nvSpPr>
          <p:cNvPr id="11" name="Text 9"/>
          <p:cNvSpPr/>
          <p:nvPr/>
        </p:nvSpPr>
        <p:spPr>
          <a:xfrm>
            <a:off x="4846320" y="1706270"/>
            <a:ext cx="914400" cy="228600"/>
          </a:xfrm>
          <a:prstGeom prst="rect">
            <a:avLst/>
          </a:prstGeom>
          <a:noFill/>
          <a:ln/>
        </p:spPr>
        <p:txBody>
          <a:bodyPr wrap="square" rtlCol="0" anchor="ctr"/>
          <a:lstStyle/>
          <a:p>
            <a:pPr algn="ctr" indent="0" marL="0">
              <a:buNone/>
            </a:pPr>
            <a:r>
              <a:rPr lang="en-US" sz="800" dirty="0">
                <a:solidFill>
                  <a:srgbClr val="8FA898"/>
                </a:solidFill>
                <a:latin typeface="Calibri" pitchFamily="34" charset="0"/>
                <a:ea typeface="Calibri" pitchFamily="34" charset="-122"/>
                <a:cs typeface="Calibri" pitchFamily="34" charset="-120"/>
              </a:rPr>
              <a:t>12-9 Ma</a:t>
            </a:r>
            <a:endParaRPr lang="en-US" sz="800" dirty="0"/>
          </a:p>
        </p:txBody>
      </p:sp>
      <p:sp>
        <p:nvSpPr>
          <p:cNvPr id="12" name="Shape 10"/>
          <p:cNvSpPr/>
          <p:nvPr/>
        </p:nvSpPr>
        <p:spPr>
          <a:xfrm>
            <a:off x="6039612" y="2309774"/>
            <a:ext cx="219456" cy="219456"/>
          </a:xfrm>
          <a:prstGeom prst="ellipse">
            <a:avLst/>
          </a:prstGeom>
          <a:solidFill>
            <a:srgbClr val="C8791E"/>
          </a:solidFill>
          <a:ln w="6350">
            <a:solidFill>
              <a:srgbClr val="FFFFFF"/>
            </a:solidFill>
            <a:prstDash val="solid"/>
          </a:ln>
        </p:spPr>
      </p:sp>
      <p:sp>
        <p:nvSpPr>
          <p:cNvPr id="13" name="Text 11"/>
          <p:cNvSpPr/>
          <p:nvPr/>
        </p:nvSpPr>
        <p:spPr>
          <a:xfrm>
            <a:off x="5692140" y="2620670"/>
            <a:ext cx="914400" cy="274320"/>
          </a:xfrm>
          <a:prstGeom prst="rect">
            <a:avLst/>
          </a:prstGeom>
          <a:noFill/>
          <a:ln/>
        </p:spPr>
        <p:txBody>
          <a:bodyPr wrap="square" rtlCol="0" anchor="ctr"/>
          <a:lstStyle/>
          <a:p>
            <a:pPr algn="ctr" indent="0" marL="0">
              <a:buNone/>
            </a:pPr>
            <a:r>
              <a:rPr lang="en-US" sz="900" b="1" dirty="0">
                <a:solidFill>
                  <a:srgbClr val="F4F1EC"/>
                </a:solidFill>
                <a:latin typeface="Calibri" pitchFamily="34" charset="0"/>
                <a:ea typeface="Calibri" pitchFamily="34" charset="-122"/>
                <a:cs typeface="Calibri" pitchFamily="34" charset="-120"/>
              </a:rPr>
              <a:t>Pan-Homo</a:t>
            </a:r>
            <a:endParaRPr lang="en-US" sz="900" dirty="0"/>
          </a:p>
          <a:p>
            <a:pPr algn="ctr" indent="0" marL="0">
              <a:buNone/>
            </a:pPr>
            <a:r>
              <a:rPr lang="en-US" sz="900" b="1" dirty="0">
                <a:solidFill>
                  <a:srgbClr val="F4F1EC"/>
                </a:solidFill>
                <a:latin typeface="Calibri" pitchFamily="34" charset="0"/>
                <a:ea typeface="Calibri" pitchFamily="34" charset="-122"/>
                <a:cs typeface="Calibri" pitchFamily="34" charset="-120"/>
              </a:rPr>
              <a:t>split</a:t>
            </a:r>
            <a:endParaRPr lang="en-US" sz="900" dirty="0"/>
          </a:p>
        </p:txBody>
      </p:sp>
      <p:sp>
        <p:nvSpPr>
          <p:cNvPr id="14" name="Text 12"/>
          <p:cNvSpPr/>
          <p:nvPr/>
        </p:nvSpPr>
        <p:spPr>
          <a:xfrm>
            <a:off x="5692140" y="2876702"/>
            <a:ext cx="914400" cy="228600"/>
          </a:xfrm>
          <a:prstGeom prst="rect">
            <a:avLst/>
          </a:prstGeom>
          <a:noFill/>
          <a:ln/>
        </p:spPr>
        <p:txBody>
          <a:bodyPr wrap="square" rtlCol="0" anchor="ctr"/>
          <a:lstStyle/>
          <a:p>
            <a:pPr algn="ctr" indent="0" marL="0">
              <a:buNone/>
            </a:pPr>
            <a:r>
              <a:rPr lang="en-US" sz="800" dirty="0">
                <a:solidFill>
                  <a:srgbClr val="8FA898"/>
                </a:solidFill>
                <a:latin typeface="Calibri" pitchFamily="34" charset="0"/>
                <a:ea typeface="Calibri" pitchFamily="34" charset="-122"/>
                <a:cs typeface="Calibri" pitchFamily="34" charset="-120"/>
              </a:rPr>
              <a:t>5-7 Ma</a:t>
            </a:r>
            <a:endParaRPr lang="en-US" sz="800" dirty="0"/>
          </a:p>
        </p:txBody>
      </p:sp>
      <p:sp>
        <p:nvSpPr>
          <p:cNvPr id="15" name="Shape 13"/>
          <p:cNvSpPr/>
          <p:nvPr/>
        </p:nvSpPr>
        <p:spPr>
          <a:xfrm>
            <a:off x="6885432" y="2309774"/>
            <a:ext cx="219456" cy="219456"/>
          </a:xfrm>
          <a:prstGeom prst="ellipse">
            <a:avLst/>
          </a:prstGeom>
          <a:solidFill>
            <a:srgbClr val="C8791E"/>
          </a:solidFill>
          <a:ln w="6350">
            <a:solidFill>
              <a:srgbClr val="FFFFFF"/>
            </a:solidFill>
            <a:prstDash val="solid"/>
          </a:ln>
        </p:spPr>
      </p:sp>
      <p:sp>
        <p:nvSpPr>
          <p:cNvPr id="16" name="Text 14"/>
          <p:cNvSpPr/>
          <p:nvPr/>
        </p:nvSpPr>
        <p:spPr>
          <a:xfrm>
            <a:off x="6537960" y="1944014"/>
            <a:ext cx="914400" cy="274320"/>
          </a:xfrm>
          <a:prstGeom prst="rect">
            <a:avLst/>
          </a:prstGeom>
          <a:noFill/>
          <a:ln/>
        </p:spPr>
        <p:txBody>
          <a:bodyPr wrap="square" rtlCol="0" anchor="ctr"/>
          <a:lstStyle/>
          <a:p>
            <a:pPr algn="ctr" indent="0" marL="0">
              <a:buNone/>
            </a:pPr>
            <a:r>
              <a:rPr lang="en-US" sz="900" b="1" dirty="0">
                <a:solidFill>
                  <a:srgbClr val="F4F1EC"/>
                </a:solidFill>
                <a:latin typeface="Calibri" pitchFamily="34" charset="0"/>
                <a:ea typeface="Calibri" pitchFamily="34" charset="-122"/>
                <a:cs typeface="Calibri" pitchFamily="34" charset="-120"/>
              </a:rPr>
              <a:t>Ardipithecus</a:t>
            </a:r>
            <a:endParaRPr lang="en-US" sz="900" dirty="0"/>
          </a:p>
          <a:p>
            <a:pPr algn="ctr" indent="0" marL="0">
              <a:buNone/>
            </a:pPr>
            <a:r>
              <a:rPr lang="en-US" sz="900" b="1" dirty="0">
                <a:solidFill>
                  <a:srgbClr val="F4F1EC"/>
                </a:solidFill>
                <a:latin typeface="Calibri" pitchFamily="34" charset="0"/>
                <a:ea typeface="Calibri" pitchFamily="34" charset="-122"/>
                <a:cs typeface="Calibri" pitchFamily="34" charset="-120"/>
              </a:rPr>
              <a:t>ramidus</a:t>
            </a:r>
            <a:endParaRPr lang="en-US" sz="900" dirty="0"/>
          </a:p>
        </p:txBody>
      </p:sp>
      <p:sp>
        <p:nvSpPr>
          <p:cNvPr id="17" name="Text 15"/>
          <p:cNvSpPr/>
          <p:nvPr/>
        </p:nvSpPr>
        <p:spPr>
          <a:xfrm>
            <a:off x="6537960" y="1706270"/>
            <a:ext cx="914400" cy="228600"/>
          </a:xfrm>
          <a:prstGeom prst="rect">
            <a:avLst/>
          </a:prstGeom>
          <a:noFill/>
          <a:ln/>
        </p:spPr>
        <p:txBody>
          <a:bodyPr wrap="square" rtlCol="0" anchor="ctr"/>
          <a:lstStyle/>
          <a:p>
            <a:pPr algn="ctr" indent="0" marL="0">
              <a:buNone/>
            </a:pPr>
            <a:r>
              <a:rPr lang="en-US" sz="800" dirty="0">
                <a:solidFill>
                  <a:srgbClr val="8FA898"/>
                </a:solidFill>
                <a:latin typeface="Calibri" pitchFamily="34" charset="0"/>
                <a:ea typeface="Calibri" pitchFamily="34" charset="-122"/>
                <a:cs typeface="Calibri" pitchFamily="34" charset="-120"/>
              </a:rPr>
              <a:t>4.4 Ma</a:t>
            </a:r>
            <a:endParaRPr lang="en-US" sz="800" dirty="0"/>
          </a:p>
        </p:txBody>
      </p:sp>
      <p:sp>
        <p:nvSpPr>
          <p:cNvPr id="18" name="Shape 16"/>
          <p:cNvSpPr/>
          <p:nvPr/>
        </p:nvSpPr>
        <p:spPr>
          <a:xfrm>
            <a:off x="7731252" y="2309774"/>
            <a:ext cx="219456" cy="219456"/>
          </a:xfrm>
          <a:prstGeom prst="ellipse">
            <a:avLst/>
          </a:prstGeom>
          <a:solidFill>
            <a:srgbClr val="C8791E"/>
          </a:solidFill>
          <a:ln w="6350">
            <a:solidFill>
              <a:srgbClr val="FFFFFF"/>
            </a:solidFill>
            <a:prstDash val="solid"/>
          </a:ln>
        </p:spPr>
      </p:sp>
      <p:sp>
        <p:nvSpPr>
          <p:cNvPr id="19" name="Text 17"/>
          <p:cNvSpPr/>
          <p:nvPr/>
        </p:nvSpPr>
        <p:spPr>
          <a:xfrm>
            <a:off x="7383780" y="2620670"/>
            <a:ext cx="914400" cy="274320"/>
          </a:xfrm>
          <a:prstGeom prst="rect">
            <a:avLst/>
          </a:prstGeom>
          <a:noFill/>
          <a:ln/>
        </p:spPr>
        <p:txBody>
          <a:bodyPr wrap="square" rtlCol="0" anchor="ctr"/>
          <a:lstStyle/>
          <a:p>
            <a:pPr algn="ctr" indent="0" marL="0">
              <a:buNone/>
            </a:pPr>
            <a:r>
              <a:rPr lang="en-US" sz="900" b="1" dirty="0">
                <a:solidFill>
                  <a:srgbClr val="F4F1EC"/>
                </a:solidFill>
                <a:latin typeface="Calibri" pitchFamily="34" charset="0"/>
                <a:ea typeface="Calibri" pitchFamily="34" charset="-122"/>
                <a:cs typeface="Calibri" pitchFamily="34" charset="-120"/>
              </a:rPr>
              <a:t>Australo-</a:t>
            </a:r>
            <a:endParaRPr lang="en-US" sz="900" dirty="0"/>
          </a:p>
          <a:p>
            <a:pPr algn="ctr" indent="0" marL="0">
              <a:buNone/>
            </a:pPr>
            <a:r>
              <a:rPr lang="en-US" sz="900" b="1" dirty="0">
                <a:solidFill>
                  <a:srgbClr val="F4F1EC"/>
                </a:solidFill>
                <a:latin typeface="Calibri" pitchFamily="34" charset="0"/>
                <a:ea typeface="Calibri" pitchFamily="34" charset="-122"/>
                <a:cs typeface="Calibri" pitchFamily="34" charset="-120"/>
              </a:rPr>
              <a:t>pithecus afarensis</a:t>
            </a:r>
            <a:endParaRPr lang="en-US" sz="900" dirty="0"/>
          </a:p>
        </p:txBody>
      </p:sp>
      <p:sp>
        <p:nvSpPr>
          <p:cNvPr id="20" name="Text 18"/>
          <p:cNvSpPr/>
          <p:nvPr/>
        </p:nvSpPr>
        <p:spPr>
          <a:xfrm>
            <a:off x="7383780" y="2876702"/>
            <a:ext cx="914400" cy="228600"/>
          </a:xfrm>
          <a:prstGeom prst="rect">
            <a:avLst/>
          </a:prstGeom>
          <a:noFill/>
          <a:ln/>
        </p:spPr>
        <p:txBody>
          <a:bodyPr wrap="square" rtlCol="0" anchor="ctr"/>
          <a:lstStyle/>
          <a:p>
            <a:pPr algn="ctr" indent="0" marL="0">
              <a:buNone/>
            </a:pPr>
            <a:r>
              <a:rPr lang="en-US" sz="800" dirty="0">
                <a:solidFill>
                  <a:srgbClr val="8FA898"/>
                </a:solidFill>
                <a:latin typeface="Calibri" pitchFamily="34" charset="0"/>
                <a:ea typeface="Calibri" pitchFamily="34" charset="-122"/>
                <a:cs typeface="Calibri" pitchFamily="34" charset="-120"/>
              </a:rPr>
              <a:t>3.5 Ma</a:t>
            </a:r>
            <a:endParaRPr lang="en-US" sz="800" dirty="0"/>
          </a:p>
        </p:txBody>
      </p:sp>
      <p:sp>
        <p:nvSpPr>
          <p:cNvPr id="21" name="Shape 19"/>
          <p:cNvSpPr/>
          <p:nvPr/>
        </p:nvSpPr>
        <p:spPr>
          <a:xfrm>
            <a:off x="8577072" y="2309774"/>
            <a:ext cx="219456" cy="219456"/>
          </a:xfrm>
          <a:prstGeom prst="ellipse">
            <a:avLst/>
          </a:prstGeom>
          <a:solidFill>
            <a:srgbClr val="3D8C7A"/>
          </a:solidFill>
          <a:ln w="6350">
            <a:solidFill>
              <a:srgbClr val="FFFFFF"/>
            </a:solidFill>
            <a:prstDash val="solid"/>
          </a:ln>
        </p:spPr>
      </p:sp>
      <p:sp>
        <p:nvSpPr>
          <p:cNvPr id="22" name="Text 20"/>
          <p:cNvSpPr/>
          <p:nvPr/>
        </p:nvSpPr>
        <p:spPr>
          <a:xfrm>
            <a:off x="8229600" y="1944014"/>
            <a:ext cx="914400" cy="274320"/>
          </a:xfrm>
          <a:prstGeom prst="rect">
            <a:avLst/>
          </a:prstGeom>
          <a:noFill/>
          <a:ln/>
        </p:spPr>
        <p:txBody>
          <a:bodyPr wrap="square" rtlCol="0" anchor="ctr"/>
          <a:lstStyle/>
          <a:p>
            <a:pPr algn="ctr" indent="0" marL="0">
              <a:buNone/>
            </a:pPr>
            <a:r>
              <a:rPr lang="en-US" sz="900" b="1" dirty="0">
                <a:solidFill>
                  <a:srgbClr val="F4F1EC"/>
                </a:solidFill>
                <a:latin typeface="Calibri" pitchFamily="34" charset="0"/>
                <a:ea typeface="Calibri" pitchFamily="34" charset="-122"/>
                <a:cs typeface="Calibri" pitchFamily="34" charset="-120"/>
              </a:rPr>
              <a:t>Homo habilis</a:t>
            </a:r>
            <a:endParaRPr lang="en-US" sz="900" dirty="0"/>
          </a:p>
          <a:p>
            <a:pPr algn="ctr" indent="0" marL="0">
              <a:buNone/>
            </a:pPr>
            <a:r>
              <a:rPr lang="en-US" sz="900" b="1" dirty="0">
                <a:solidFill>
                  <a:srgbClr val="F4F1EC"/>
                </a:solidFill>
                <a:latin typeface="Calibri" pitchFamily="34" charset="0"/>
                <a:ea typeface="Calibri" pitchFamily="34" charset="-122"/>
                <a:cs typeface="Calibri" pitchFamily="34" charset="-120"/>
              </a:rPr>
              <a:t>(1st Homo)</a:t>
            </a:r>
            <a:endParaRPr lang="en-US" sz="900" dirty="0"/>
          </a:p>
        </p:txBody>
      </p:sp>
      <p:sp>
        <p:nvSpPr>
          <p:cNvPr id="23" name="Text 21"/>
          <p:cNvSpPr/>
          <p:nvPr/>
        </p:nvSpPr>
        <p:spPr>
          <a:xfrm>
            <a:off x="8229600" y="1706270"/>
            <a:ext cx="914400" cy="228600"/>
          </a:xfrm>
          <a:prstGeom prst="rect">
            <a:avLst/>
          </a:prstGeom>
          <a:noFill/>
          <a:ln/>
        </p:spPr>
        <p:txBody>
          <a:bodyPr wrap="square" rtlCol="0" anchor="ctr"/>
          <a:lstStyle/>
          <a:p>
            <a:pPr algn="ctr" indent="0" marL="0">
              <a:buNone/>
            </a:pPr>
            <a:r>
              <a:rPr lang="en-US" sz="800" dirty="0">
                <a:solidFill>
                  <a:srgbClr val="8FA898"/>
                </a:solidFill>
                <a:latin typeface="Calibri" pitchFamily="34" charset="0"/>
                <a:ea typeface="Calibri" pitchFamily="34" charset="-122"/>
                <a:cs typeface="Calibri" pitchFamily="34" charset="-120"/>
              </a:rPr>
              <a:t>2.4 Ma</a:t>
            </a:r>
            <a:endParaRPr lang="en-US" sz="800" dirty="0"/>
          </a:p>
        </p:txBody>
      </p:sp>
      <p:sp>
        <p:nvSpPr>
          <p:cNvPr id="24" name="Shape 22"/>
          <p:cNvSpPr/>
          <p:nvPr/>
        </p:nvSpPr>
        <p:spPr>
          <a:xfrm>
            <a:off x="274320" y="4297680"/>
            <a:ext cx="8595360" cy="621792"/>
          </a:xfrm>
          <a:prstGeom prst="rect">
            <a:avLst/>
          </a:prstGeom>
          <a:solidFill>
            <a:srgbClr val="1C2B1E"/>
          </a:solidFill>
          <a:ln w="12700">
            <a:solidFill>
              <a:srgbClr val="1C2B1E"/>
            </a:solidFill>
            <a:prstDash val="solid"/>
          </a:ln>
        </p:spPr>
      </p:sp>
      <p:sp>
        <p:nvSpPr>
          <p:cNvPr id="25" name="Text 23"/>
          <p:cNvSpPr/>
          <p:nvPr/>
        </p:nvSpPr>
        <p:spPr>
          <a:xfrm>
            <a:off x="274320" y="4297680"/>
            <a:ext cx="8595360" cy="621792"/>
          </a:xfrm>
          <a:prstGeom prst="rect">
            <a:avLst/>
          </a:prstGeom>
          <a:noFill/>
          <a:ln/>
        </p:spPr>
        <p:txBody>
          <a:bodyPr wrap="square" lIns="1524" tIns="1524" rIns="1524" bIns="1524" rtlCol="0" anchor="ctr"/>
          <a:lstStyle/>
          <a:p>
            <a:pPr indent="0" marL="0">
              <a:buNone/>
            </a:pPr>
            <a:r>
              <a:rPr lang="en-US" sz="1100" b="1" dirty="0">
                <a:solidFill>
                  <a:srgbClr val="C8791E"/>
                </a:solidFill>
                <a:latin typeface="Calibri" pitchFamily="34" charset="0"/>
                <a:ea typeface="Calibri" pitchFamily="34" charset="-122"/>
                <a:cs typeface="Calibri" pitchFamily="34" charset="-120"/>
              </a:rPr>
              <a:t>Pan-Homo Divergence: </a:t>
            </a:r>
            <a:pPr indent="0" marL="0">
              <a:buNone/>
            </a:pPr>
            <a:r>
              <a:rPr lang="en-US" sz="1100" dirty="0">
                <a:solidFill>
                  <a:srgbClr val="F4F1EC"/>
                </a:solidFill>
                <a:latin typeface="Calibri" pitchFamily="34" charset="0"/>
                <a:ea typeface="Calibri" pitchFamily="34" charset="-122"/>
                <a:cs typeface="Calibri" pitchFamily="34" charset="-120"/>
              </a:rPr>
              <a:t>The evolutionary split between the Pan (chimpanzee/bonobo) and Homo lineages. Estimated at ~5–7 million years ago from multiple molecular datasets. Pan is the living sister group of Homo — the closest living relative of all humans.</a:t>
            </a:r>
            <a:endParaRPr lang="en-US" sz="1100" dirty="0"/>
          </a:p>
        </p:txBody>
      </p:sp>
      <p:sp>
        <p:nvSpPr>
          <p:cNvPr id="26" name="Text 24"/>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5 / 99</a:t>
            </a:r>
            <a:endParaRPr lang="en-US" sz="900" dirty="0"/>
          </a:p>
        </p:txBody>
      </p:sp>
      <p:sp>
        <p:nvSpPr>
          <p:cNvPr id="27" name="Text 25"/>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10 — Human Evolution</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7A52"/>
          </a:solidFill>
          <a:ln w="12700">
            <a:solidFill>
              <a:srgbClr val="3D7A52"/>
            </a:solidFill>
            <a:prstDash val="solid"/>
          </a:ln>
        </p:spPr>
      </p:sp>
      <p:sp>
        <p:nvSpPr>
          <p:cNvPr id="3" name="Text 1"/>
          <p:cNvSpPr/>
          <p:nvPr/>
        </p:nvSpPr>
        <p:spPr>
          <a:xfrm>
            <a:off x="274320" y="109728"/>
            <a:ext cx="8595360" cy="256032"/>
          </a:xfrm>
          <a:prstGeom prst="rect">
            <a:avLst/>
          </a:prstGeom>
          <a:noFill/>
          <a:ln/>
        </p:spPr>
        <p:txBody>
          <a:bodyPr wrap="square" rtlCol="0" anchor="ctr"/>
          <a:lstStyle/>
          <a:p>
            <a:pPr indent="0" marL="0">
              <a:buNone/>
            </a:pPr>
            <a:r>
              <a:rPr lang="en-US" sz="850" i="1" spc="100" kern="0" dirty="0">
                <a:solidFill>
                  <a:srgbClr val="8FA898"/>
                </a:solidFill>
                <a:latin typeface="Calibri" pitchFamily="34" charset="0"/>
                <a:ea typeface="Calibri" pitchFamily="34" charset="-122"/>
                <a:cs typeface="Calibri" pitchFamily="34" charset="-120"/>
              </a:rPr>
              <a:t>§10.3 Key Hominin Fossils</a:t>
            </a:r>
            <a:endParaRPr lang="en-US" sz="850" dirty="0"/>
          </a:p>
        </p:txBody>
      </p:sp>
      <p:sp>
        <p:nvSpPr>
          <p:cNvPr id="4" name="Text 2"/>
          <p:cNvSpPr/>
          <p:nvPr/>
        </p:nvSpPr>
        <p:spPr>
          <a:xfrm>
            <a:off x="274320" y="320040"/>
            <a:ext cx="8595360" cy="594360"/>
          </a:xfrm>
          <a:prstGeom prst="rect">
            <a:avLst/>
          </a:prstGeom>
          <a:noFill/>
          <a:ln/>
        </p:spPr>
        <p:txBody>
          <a:bodyPr wrap="square" rtlCol="0" anchor="ctr"/>
          <a:lstStyle/>
          <a:p>
            <a:pPr indent="0" marL="0">
              <a:buNone/>
            </a:pPr>
            <a:r>
              <a:rPr lang="en-US" sz="2400" b="1" dirty="0">
                <a:solidFill>
                  <a:srgbClr val="1C2B1E"/>
                </a:solidFill>
                <a:latin typeface="Georgia" pitchFamily="34" charset="0"/>
                <a:ea typeface="Georgia" pitchFamily="34" charset="-122"/>
                <a:cs typeface="Georgia" pitchFamily="34" charset="-120"/>
              </a:rPr>
              <a:t>From Ardipithecus to Homo sapiens</a:t>
            </a:r>
            <a:endParaRPr lang="en-US" sz="2400" dirty="0"/>
          </a:p>
        </p:txBody>
      </p:sp>
      <p:sp>
        <p:nvSpPr>
          <p:cNvPr id="5" name="Shape 3"/>
          <p:cNvSpPr/>
          <p:nvPr/>
        </p:nvSpPr>
        <p:spPr>
          <a:xfrm>
            <a:off x="274320" y="868680"/>
            <a:ext cx="8595360" cy="22860"/>
          </a:xfrm>
          <a:prstGeom prst="rect">
            <a:avLst/>
          </a:prstGeom>
          <a:solidFill>
            <a:srgbClr val="E8F0EB"/>
          </a:solidFill>
          <a:ln w="12700">
            <a:solidFill>
              <a:srgbClr val="E8F0EB"/>
            </a:solidFill>
            <a:prstDash val="solid"/>
          </a:ln>
        </p:spPr>
      </p:sp>
      <p:sp>
        <p:nvSpPr>
          <p:cNvPr id="6" name="Text 4"/>
          <p:cNvSpPr/>
          <p:nvPr/>
        </p:nvSpPr>
        <p:spPr>
          <a:xfrm>
            <a:off x="274320" y="960120"/>
            <a:ext cx="4663440" cy="3200400"/>
          </a:xfrm>
          <a:prstGeom prst="rect">
            <a:avLst/>
          </a:prstGeom>
          <a:noFill/>
          <a:ln/>
        </p:spPr>
        <p:txBody>
          <a:bodyPr wrap="square" rtlCol="0" anchor="t"/>
          <a:lstStyle/>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ARDIPITHECUS RAMIDUS (~4.4 Ma): bipedal but with grasping foot — facultative, not obligate, bipedalism; small canines; forest habitat</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AUSTRALOPITHECUS AFARENSIS (~3.2 Ma): Lucy — obligate biped (Laetoli footprints); brain 400–500 cc; face still prognathic</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HOMO HABILIS (~2.4 Ma): first Homo; stone tools (Oldowan industry); brain 600–700 cc; reduced face</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HOMO ERECTUS (~1.8 Ma): first hominin to leave Africa; fire use; Acheulean tools; brain 900–1100 cc; modern body proportions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HOMO HEIDELBERGENSIS (~600 ka): common ancestor of Neanderthals and modern humans?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HOMO SAPIENS (~300 ka): earliest in Jebel Irhoud, Morocco; modern brain size ~1350 cc; fully modern skeleton</a:t>
            </a:r>
            <a:endParaRPr lang="en-US" sz="1300" dirty="0"/>
          </a:p>
        </p:txBody>
      </p:sp>
      <p:sp>
        <p:nvSpPr>
          <p:cNvPr id="7" name="Shape 5"/>
          <p:cNvSpPr/>
          <p:nvPr/>
        </p:nvSpPr>
        <p:spPr>
          <a:xfrm>
            <a:off x="5120640" y="960120"/>
            <a:ext cx="3749040" cy="3474720"/>
          </a:xfrm>
          <a:prstGeom prst="rect">
            <a:avLst/>
          </a:prstGeom>
          <a:solidFill>
            <a:srgbClr val="243228"/>
          </a:solidFill>
          <a:ln w="6350">
            <a:solidFill>
              <a:srgbClr val="3D7A52"/>
            </a:solidFill>
            <a:prstDash val="solid"/>
          </a:ln>
        </p:spPr>
      </p:sp>
      <p:sp>
        <p:nvSpPr>
          <p:cNvPr id="8" name="Shape 6"/>
          <p:cNvSpPr/>
          <p:nvPr/>
        </p:nvSpPr>
        <p:spPr>
          <a:xfrm>
            <a:off x="5303520" y="2419502"/>
            <a:ext cx="3383280" cy="0"/>
          </a:xfrm>
          <a:prstGeom prst="line">
            <a:avLst/>
          </a:prstGeom>
          <a:noFill/>
          <a:ln w="19050">
            <a:solidFill>
              <a:srgbClr val="C8791E"/>
            </a:solidFill>
            <a:prstDash val="solid"/>
          </a:ln>
        </p:spPr>
      </p:sp>
      <p:sp>
        <p:nvSpPr>
          <p:cNvPr id="9" name="Shape 7"/>
          <p:cNvSpPr/>
          <p:nvPr/>
        </p:nvSpPr>
        <p:spPr>
          <a:xfrm>
            <a:off x="5193792" y="2309774"/>
            <a:ext cx="219456" cy="219456"/>
          </a:xfrm>
          <a:prstGeom prst="ellipse">
            <a:avLst/>
          </a:prstGeom>
          <a:solidFill>
            <a:srgbClr val="C8791E"/>
          </a:solidFill>
          <a:ln w="6350">
            <a:solidFill>
              <a:srgbClr val="FFFFFF"/>
            </a:solidFill>
            <a:prstDash val="solid"/>
          </a:ln>
        </p:spPr>
      </p:sp>
      <p:sp>
        <p:nvSpPr>
          <p:cNvPr id="10" name="Text 8"/>
          <p:cNvSpPr/>
          <p:nvPr/>
        </p:nvSpPr>
        <p:spPr>
          <a:xfrm>
            <a:off x="4846320" y="1944014"/>
            <a:ext cx="914400" cy="274320"/>
          </a:xfrm>
          <a:prstGeom prst="rect">
            <a:avLst/>
          </a:prstGeom>
          <a:noFill/>
          <a:ln/>
        </p:spPr>
        <p:txBody>
          <a:bodyPr wrap="square" rtlCol="0" anchor="ctr"/>
          <a:lstStyle/>
          <a:p>
            <a:pPr algn="ctr" indent="0" marL="0">
              <a:buNone/>
            </a:pPr>
            <a:r>
              <a:rPr lang="en-US" sz="900" b="1" dirty="0">
                <a:solidFill>
                  <a:srgbClr val="F4F1EC"/>
                </a:solidFill>
                <a:latin typeface="Calibri" pitchFamily="34" charset="0"/>
                <a:ea typeface="Calibri" pitchFamily="34" charset="-122"/>
                <a:cs typeface="Calibri" pitchFamily="34" charset="-120"/>
              </a:rPr>
              <a:t>Ardipithecus</a:t>
            </a:r>
            <a:endParaRPr lang="en-US" sz="900" dirty="0"/>
          </a:p>
          <a:p>
            <a:pPr algn="ctr" indent="0" marL="0">
              <a:buNone/>
            </a:pPr>
            <a:r>
              <a:rPr lang="en-US" sz="900" b="1" dirty="0">
                <a:solidFill>
                  <a:srgbClr val="F4F1EC"/>
                </a:solidFill>
                <a:latin typeface="Calibri" pitchFamily="34" charset="0"/>
                <a:ea typeface="Calibri" pitchFamily="34" charset="-122"/>
                <a:cs typeface="Calibri" pitchFamily="34" charset="-120"/>
              </a:rPr>
              <a:t>4.4 Ma</a:t>
            </a:r>
            <a:endParaRPr lang="en-US" sz="900" dirty="0"/>
          </a:p>
        </p:txBody>
      </p:sp>
      <p:sp>
        <p:nvSpPr>
          <p:cNvPr id="11" name="Text 9"/>
          <p:cNvSpPr/>
          <p:nvPr/>
        </p:nvSpPr>
        <p:spPr>
          <a:xfrm>
            <a:off x="4846320" y="1706270"/>
            <a:ext cx="914400" cy="228600"/>
          </a:xfrm>
          <a:prstGeom prst="rect">
            <a:avLst/>
          </a:prstGeom>
          <a:noFill/>
          <a:ln/>
        </p:spPr>
        <p:txBody>
          <a:bodyPr wrap="square" rtlCol="0" anchor="ctr"/>
          <a:lstStyle/>
          <a:p>
            <a:pPr algn="ctr" indent="0" marL="0">
              <a:buNone/>
            </a:pPr>
            <a:r>
              <a:rPr lang="en-US" sz="800" dirty="0">
                <a:solidFill>
                  <a:srgbClr val="8FA898"/>
                </a:solidFill>
                <a:latin typeface="Calibri" pitchFamily="34" charset="0"/>
                <a:ea typeface="Calibri" pitchFamily="34" charset="-122"/>
                <a:cs typeface="Calibri" pitchFamily="34" charset="-120"/>
              </a:rPr>
              <a:t>4.4 Ma</a:t>
            </a:r>
            <a:endParaRPr lang="en-US" sz="800" dirty="0"/>
          </a:p>
        </p:txBody>
      </p:sp>
      <p:sp>
        <p:nvSpPr>
          <p:cNvPr id="12" name="Shape 10"/>
          <p:cNvSpPr/>
          <p:nvPr/>
        </p:nvSpPr>
        <p:spPr>
          <a:xfrm>
            <a:off x="6039612" y="2309774"/>
            <a:ext cx="219456" cy="219456"/>
          </a:xfrm>
          <a:prstGeom prst="ellipse">
            <a:avLst/>
          </a:prstGeom>
          <a:solidFill>
            <a:srgbClr val="C8791E"/>
          </a:solidFill>
          <a:ln w="6350">
            <a:solidFill>
              <a:srgbClr val="FFFFFF"/>
            </a:solidFill>
            <a:prstDash val="solid"/>
          </a:ln>
        </p:spPr>
      </p:sp>
      <p:sp>
        <p:nvSpPr>
          <p:cNvPr id="13" name="Text 11"/>
          <p:cNvSpPr/>
          <p:nvPr/>
        </p:nvSpPr>
        <p:spPr>
          <a:xfrm>
            <a:off x="5692140" y="2620670"/>
            <a:ext cx="914400" cy="274320"/>
          </a:xfrm>
          <a:prstGeom prst="rect">
            <a:avLst/>
          </a:prstGeom>
          <a:noFill/>
          <a:ln/>
        </p:spPr>
        <p:txBody>
          <a:bodyPr wrap="square" rtlCol="0" anchor="ctr"/>
          <a:lstStyle/>
          <a:p>
            <a:pPr algn="ctr" indent="0" marL="0">
              <a:buNone/>
            </a:pPr>
            <a:r>
              <a:rPr lang="en-US" sz="900" b="1" dirty="0">
                <a:solidFill>
                  <a:srgbClr val="F4F1EC"/>
                </a:solidFill>
                <a:latin typeface="Calibri" pitchFamily="34" charset="0"/>
                <a:ea typeface="Calibri" pitchFamily="34" charset="-122"/>
                <a:cs typeface="Calibri" pitchFamily="34" charset="-120"/>
              </a:rPr>
              <a:t>A. afarensis</a:t>
            </a:r>
            <a:endParaRPr lang="en-US" sz="900" dirty="0"/>
          </a:p>
          <a:p>
            <a:pPr algn="ctr" indent="0" marL="0">
              <a:buNone/>
            </a:pPr>
            <a:r>
              <a:rPr lang="en-US" sz="900" b="1" dirty="0">
                <a:solidFill>
                  <a:srgbClr val="F4F1EC"/>
                </a:solidFill>
                <a:latin typeface="Calibri" pitchFamily="34" charset="0"/>
                <a:ea typeface="Calibri" pitchFamily="34" charset="-122"/>
                <a:cs typeface="Calibri" pitchFamily="34" charset="-120"/>
              </a:rPr>
              <a:t>(Lucy) 3.2 Ma</a:t>
            </a:r>
            <a:endParaRPr lang="en-US" sz="900" dirty="0"/>
          </a:p>
        </p:txBody>
      </p:sp>
      <p:sp>
        <p:nvSpPr>
          <p:cNvPr id="14" name="Text 12"/>
          <p:cNvSpPr/>
          <p:nvPr/>
        </p:nvSpPr>
        <p:spPr>
          <a:xfrm>
            <a:off x="5692140" y="2876702"/>
            <a:ext cx="914400" cy="228600"/>
          </a:xfrm>
          <a:prstGeom prst="rect">
            <a:avLst/>
          </a:prstGeom>
          <a:noFill/>
          <a:ln/>
        </p:spPr>
        <p:txBody>
          <a:bodyPr wrap="square" rtlCol="0" anchor="ctr"/>
          <a:lstStyle/>
          <a:p>
            <a:pPr algn="ctr" indent="0" marL="0">
              <a:buNone/>
            </a:pPr>
            <a:r>
              <a:rPr lang="en-US" sz="800" dirty="0">
                <a:solidFill>
                  <a:srgbClr val="8FA898"/>
                </a:solidFill>
                <a:latin typeface="Calibri" pitchFamily="34" charset="0"/>
                <a:ea typeface="Calibri" pitchFamily="34" charset="-122"/>
                <a:cs typeface="Calibri" pitchFamily="34" charset="-120"/>
              </a:rPr>
              <a:t>3.2 Ma</a:t>
            </a:r>
            <a:endParaRPr lang="en-US" sz="800" dirty="0"/>
          </a:p>
        </p:txBody>
      </p:sp>
      <p:sp>
        <p:nvSpPr>
          <p:cNvPr id="15" name="Shape 13"/>
          <p:cNvSpPr/>
          <p:nvPr/>
        </p:nvSpPr>
        <p:spPr>
          <a:xfrm>
            <a:off x="6885432" y="2309774"/>
            <a:ext cx="219456" cy="219456"/>
          </a:xfrm>
          <a:prstGeom prst="ellipse">
            <a:avLst/>
          </a:prstGeom>
          <a:solidFill>
            <a:srgbClr val="C8791E"/>
          </a:solidFill>
          <a:ln w="6350">
            <a:solidFill>
              <a:srgbClr val="FFFFFF"/>
            </a:solidFill>
            <a:prstDash val="solid"/>
          </a:ln>
        </p:spPr>
      </p:sp>
      <p:sp>
        <p:nvSpPr>
          <p:cNvPr id="16" name="Text 14"/>
          <p:cNvSpPr/>
          <p:nvPr/>
        </p:nvSpPr>
        <p:spPr>
          <a:xfrm>
            <a:off x="6537960" y="1944014"/>
            <a:ext cx="914400" cy="274320"/>
          </a:xfrm>
          <a:prstGeom prst="rect">
            <a:avLst/>
          </a:prstGeom>
          <a:noFill/>
          <a:ln/>
        </p:spPr>
        <p:txBody>
          <a:bodyPr wrap="square" rtlCol="0" anchor="ctr"/>
          <a:lstStyle/>
          <a:p>
            <a:pPr algn="ctr" indent="0" marL="0">
              <a:buNone/>
            </a:pPr>
            <a:r>
              <a:rPr lang="en-US" sz="900" b="1" dirty="0">
                <a:solidFill>
                  <a:srgbClr val="F4F1EC"/>
                </a:solidFill>
                <a:latin typeface="Calibri" pitchFamily="34" charset="0"/>
                <a:ea typeface="Calibri" pitchFamily="34" charset="-122"/>
                <a:cs typeface="Calibri" pitchFamily="34" charset="-120"/>
              </a:rPr>
              <a:t>H. habilis</a:t>
            </a:r>
            <a:endParaRPr lang="en-US" sz="900" dirty="0"/>
          </a:p>
          <a:p>
            <a:pPr algn="ctr" indent="0" marL="0">
              <a:buNone/>
            </a:pPr>
            <a:r>
              <a:rPr lang="en-US" sz="900" b="1" dirty="0">
                <a:solidFill>
                  <a:srgbClr val="F4F1EC"/>
                </a:solidFill>
                <a:latin typeface="Calibri" pitchFamily="34" charset="0"/>
                <a:ea typeface="Calibri" pitchFamily="34" charset="-122"/>
                <a:cs typeface="Calibri" pitchFamily="34" charset="-120"/>
              </a:rPr>
              <a:t>2.4 Ma</a:t>
            </a:r>
            <a:endParaRPr lang="en-US" sz="900" dirty="0"/>
          </a:p>
        </p:txBody>
      </p:sp>
      <p:sp>
        <p:nvSpPr>
          <p:cNvPr id="17" name="Text 15"/>
          <p:cNvSpPr/>
          <p:nvPr/>
        </p:nvSpPr>
        <p:spPr>
          <a:xfrm>
            <a:off x="6537960" y="1706270"/>
            <a:ext cx="914400" cy="228600"/>
          </a:xfrm>
          <a:prstGeom prst="rect">
            <a:avLst/>
          </a:prstGeom>
          <a:noFill/>
          <a:ln/>
        </p:spPr>
        <p:txBody>
          <a:bodyPr wrap="square" rtlCol="0" anchor="ctr"/>
          <a:lstStyle/>
          <a:p>
            <a:pPr algn="ctr" indent="0" marL="0">
              <a:buNone/>
            </a:pPr>
            <a:r>
              <a:rPr lang="en-US" sz="800" dirty="0">
                <a:solidFill>
                  <a:srgbClr val="8FA898"/>
                </a:solidFill>
                <a:latin typeface="Calibri" pitchFamily="34" charset="0"/>
                <a:ea typeface="Calibri" pitchFamily="34" charset="-122"/>
                <a:cs typeface="Calibri" pitchFamily="34" charset="-120"/>
              </a:rPr>
              <a:t>2.4 Ma</a:t>
            </a:r>
            <a:endParaRPr lang="en-US" sz="800" dirty="0"/>
          </a:p>
        </p:txBody>
      </p:sp>
      <p:sp>
        <p:nvSpPr>
          <p:cNvPr id="18" name="Shape 16"/>
          <p:cNvSpPr/>
          <p:nvPr/>
        </p:nvSpPr>
        <p:spPr>
          <a:xfrm>
            <a:off x="7731252" y="2309774"/>
            <a:ext cx="219456" cy="219456"/>
          </a:xfrm>
          <a:prstGeom prst="ellipse">
            <a:avLst/>
          </a:prstGeom>
          <a:solidFill>
            <a:srgbClr val="C8791E"/>
          </a:solidFill>
          <a:ln w="6350">
            <a:solidFill>
              <a:srgbClr val="FFFFFF"/>
            </a:solidFill>
            <a:prstDash val="solid"/>
          </a:ln>
        </p:spPr>
      </p:sp>
      <p:sp>
        <p:nvSpPr>
          <p:cNvPr id="19" name="Text 17"/>
          <p:cNvSpPr/>
          <p:nvPr/>
        </p:nvSpPr>
        <p:spPr>
          <a:xfrm>
            <a:off x="7383780" y="2620670"/>
            <a:ext cx="914400" cy="274320"/>
          </a:xfrm>
          <a:prstGeom prst="rect">
            <a:avLst/>
          </a:prstGeom>
          <a:noFill/>
          <a:ln/>
        </p:spPr>
        <p:txBody>
          <a:bodyPr wrap="square" rtlCol="0" anchor="ctr"/>
          <a:lstStyle/>
          <a:p>
            <a:pPr algn="ctr" indent="0" marL="0">
              <a:buNone/>
            </a:pPr>
            <a:r>
              <a:rPr lang="en-US" sz="900" b="1" dirty="0">
                <a:solidFill>
                  <a:srgbClr val="F4F1EC"/>
                </a:solidFill>
                <a:latin typeface="Calibri" pitchFamily="34" charset="0"/>
                <a:ea typeface="Calibri" pitchFamily="34" charset="-122"/>
                <a:cs typeface="Calibri" pitchFamily="34" charset="-120"/>
              </a:rPr>
              <a:t>H. erectus</a:t>
            </a:r>
            <a:endParaRPr lang="en-US" sz="900" dirty="0"/>
          </a:p>
          <a:p>
            <a:pPr algn="ctr" indent="0" marL="0">
              <a:buNone/>
            </a:pPr>
            <a:r>
              <a:rPr lang="en-US" sz="900" b="1" dirty="0">
                <a:solidFill>
                  <a:srgbClr val="F4F1EC"/>
                </a:solidFill>
                <a:latin typeface="Calibri" pitchFamily="34" charset="0"/>
                <a:ea typeface="Calibri" pitchFamily="34" charset="-122"/>
                <a:cs typeface="Calibri" pitchFamily="34" charset="-120"/>
              </a:rPr>
              <a:t>1.8 Ma</a:t>
            </a:r>
            <a:endParaRPr lang="en-US" sz="900" dirty="0"/>
          </a:p>
        </p:txBody>
      </p:sp>
      <p:sp>
        <p:nvSpPr>
          <p:cNvPr id="20" name="Text 18"/>
          <p:cNvSpPr/>
          <p:nvPr/>
        </p:nvSpPr>
        <p:spPr>
          <a:xfrm>
            <a:off x="7383780" y="2876702"/>
            <a:ext cx="914400" cy="228600"/>
          </a:xfrm>
          <a:prstGeom prst="rect">
            <a:avLst/>
          </a:prstGeom>
          <a:noFill/>
          <a:ln/>
        </p:spPr>
        <p:txBody>
          <a:bodyPr wrap="square" rtlCol="0" anchor="ctr"/>
          <a:lstStyle/>
          <a:p>
            <a:pPr algn="ctr" indent="0" marL="0">
              <a:buNone/>
            </a:pPr>
            <a:r>
              <a:rPr lang="en-US" sz="800" dirty="0">
                <a:solidFill>
                  <a:srgbClr val="8FA898"/>
                </a:solidFill>
                <a:latin typeface="Calibri" pitchFamily="34" charset="0"/>
                <a:ea typeface="Calibri" pitchFamily="34" charset="-122"/>
                <a:cs typeface="Calibri" pitchFamily="34" charset="-120"/>
              </a:rPr>
              <a:t>1.8 Ma</a:t>
            </a:r>
            <a:endParaRPr lang="en-US" sz="800" dirty="0"/>
          </a:p>
        </p:txBody>
      </p:sp>
      <p:sp>
        <p:nvSpPr>
          <p:cNvPr id="21" name="Shape 19"/>
          <p:cNvSpPr/>
          <p:nvPr/>
        </p:nvSpPr>
        <p:spPr>
          <a:xfrm>
            <a:off x="8577072" y="2309774"/>
            <a:ext cx="219456" cy="219456"/>
          </a:xfrm>
          <a:prstGeom prst="ellipse">
            <a:avLst/>
          </a:prstGeom>
          <a:solidFill>
            <a:srgbClr val="3D8C7A"/>
          </a:solidFill>
          <a:ln w="6350">
            <a:solidFill>
              <a:srgbClr val="FFFFFF"/>
            </a:solidFill>
            <a:prstDash val="solid"/>
          </a:ln>
        </p:spPr>
      </p:sp>
      <p:sp>
        <p:nvSpPr>
          <p:cNvPr id="22" name="Text 20"/>
          <p:cNvSpPr/>
          <p:nvPr/>
        </p:nvSpPr>
        <p:spPr>
          <a:xfrm>
            <a:off x="8229600" y="1944014"/>
            <a:ext cx="914400" cy="274320"/>
          </a:xfrm>
          <a:prstGeom prst="rect">
            <a:avLst/>
          </a:prstGeom>
          <a:noFill/>
          <a:ln/>
        </p:spPr>
        <p:txBody>
          <a:bodyPr wrap="square" rtlCol="0" anchor="ctr"/>
          <a:lstStyle/>
          <a:p>
            <a:pPr algn="ctr" indent="0" marL="0">
              <a:buNone/>
            </a:pPr>
            <a:r>
              <a:rPr lang="en-US" sz="900" b="1" dirty="0">
                <a:solidFill>
                  <a:srgbClr val="F4F1EC"/>
                </a:solidFill>
                <a:latin typeface="Calibri" pitchFamily="34" charset="0"/>
                <a:ea typeface="Calibri" pitchFamily="34" charset="-122"/>
                <a:cs typeface="Calibri" pitchFamily="34" charset="-120"/>
              </a:rPr>
              <a:t>H. sapiens</a:t>
            </a:r>
            <a:endParaRPr lang="en-US" sz="900" dirty="0"/>
          </a:p>
          <a:p>
            <a:pPr algn="ctr" indent="0" marL="0">
              <a:buNone/>
            </a:pPr>
            <a:r>
              <a:rPr lang="en-US" sz="900" b="1" dirty="0">
                <a:solidFill>
                  <a:srgbClr val="F4F1EC"/>
                </a:solidFill>
                <a:latin typeface="Calibri" pitchFamily="34" charset="0"/>
                <a:ea typeface="Calibri" pitchFamily="34" charset="-122"/>
                <a:cs typeface="Calibri" pitchFamily="34" charset="-120"/>
              </a:rPr>
              <a:t>0.3 Ma</a:t>
            </a:r>
            <a:endParaRPr lang="en-US" sz="900" dirty="0"/>
          </a:p>
        </p:txBody>
      </p:sp>
      <p:sp>
        <p:nvSpPr>
          <p:cNvPr id="23" name="Text 21"/>
          <p:cNvSpPr/>
          <p:nvPr/>
        </p:nvSpPr>
        <p:spPr>
          <a:xfrm>
            <a:off x="8229600" y="1706270"/>
            <a:ext cx="914400" cy="228600"/>
          </a:xfrm>
          <a:prstGeom prst="rect">
            <a:avLst/>
          </a:prstGeom>
          <a:noFill/>
          <a:ln/>
        </p:spPr>
        <p:txBody>
          <a:bodyPr wrap="square" rtlCol="0" anchor="ctr"/>
          <a:lstStyle/>
          <a:p>
            <a:pPr algn="ctr" indent="0" marL="0">
              <a:buNone/>
            </a:pPr>
            <a:r>
              <a:rPr lang="en-US" sz="800" dirty="0">
                <a:solidFill>
                  <a:srgbClr val="8FA898"/>
                </a:solidFill>
                <a:latin typeface="Calibri" pitchFamily="34" charset="0"/>
                <a:ea typeface="Calibri" pitchFamily="34" charset="-122"/>
                <a:cs typeface="Calibri" pitchFamily="34" charset="-120"/>
              </a:rPr>
              <a:t>0.3 Ma</a:t>
            </a:r>
            <a:endParaRPr lang="en-US" sz="800" dirty="0"/>
          </a:p>
        </p:txBody>
      </p:sp>
      <p:sp>
        <p:nvSpPr>
          <p:cNvPr id="24" name="Shape 22"/>
          <p:cNvSpPr/>
          <p:nvPr/>
        </p:nvSpPr>
        <p:spPr>
          <a:xfrm>
            <a:off x="274320" y="4297680"/>
            <a:ext cx="8595360" cy="621792"/>
          </a:xfrm>
          <a:prstGeom prst="rect">
            <a:avLst/>
          </a:prstGeom>
          <a:solidFill>
            <a:srgbClr val="1C2B1E"/>
          </a:solidFill>
          <a:ln w="12700">
            <a:solidFill>
              <a:srgbClr val="1C2B1E"/>
            </a:solidFill>
            <a:prstDash val="solid"/>
          </a:ln>
        </p:spPr>
      </p:sp>
      <p:sp>
        <p:nvSpPr>
          <p:cNvPr id="25" name="Text 23"/>
          <p:cNvSpPr/>
          <p:nvPr/>
        </p:nvSpPr>
        <p:spPr>
          <a:xfrm>
            <a:off x="274320" y="4297680"/>
            <a:ext cx="8595360" cy="621792"/>
          </a:xfrm>
          <a:prstGeom prst="rect">
            <a:avLst/>
          </a:prstGeom>
          <a:noFill/>
          <a:ln/>
        </p:spPr>
        <p:txBody>
          <a:bodyPr wrap="square" lIns="1524" tIns="1524" rIns="1524" bIns="1524" rtlCol="0" anchor="ctr"/>
          <a:lstStyle/>
          <a:p>
            <a:pPr indent="0" marL="0">
              <a:buNone/>
            </a:pPr>
            <a:r>
              <a:rPr lang="en-US" sz="1100" b="1" dirty="0">
                <a:solidFill>
                  <a:srgbClr val="C8791E"/>
                </a:solidFill>
                <a:latin typeface="Calibri" pitchFamily="34" charset="0"/>
                <a:ea typeface="Calibri" pitchFamily="34" charset="-122"/>
                <a:cs typeface="Calibri" pitchFamily="34" charset="-120"/>
              </a:rPr>
              <a:t>Australopithecus afarensis: </a:t>
            </a:r>
            <a:pPr indent="0" marL="0">
              <a:buNone/>
            </a:pPr>
            <a:r>
              <a:rPr lang="en-US" sz="1100" dirty="0">
                <a:solidFill>
                  <a:srgbClr val="F4F1EC"/>
                </a:solidFill>
                <a:latin typeface="Calibri" pitchFamily="34" charset="0"/>
                <a:ea typeface="Calibri" pitchFamily="34" charset="-122"/>
                <a:cs typeface="Calibri" pitchFamily="34" charset="-120"/>
              </a:rPr>
              <a:t>A hominin (~3.9–2.9 Ma) from East Africa, including the famous specimen Lucy (AL 288-1, 3.2 Ma). Obligate biped demonstrated by Laetoli footprints. Brain size 400–500 cc — chimpanzee-sized. Demonstrates that bipedalism preceded brain expansion by over 2 million years.</a:t>
            </a:r>
            <a:endParaRPr lang="en-US" sz="1100" dirty="0"/>
          </a:p>
        </p:txBody>
      </p:sp>
      <p:sp>
        <p:nvSpPr>
          <p:cNvPr id="26" name="Text 24"/>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6 / 99</a:t>
            </a:r>
            <a:endParaRPr lang="en-US" sz="900" dirty="0"/>
          </a:p>
        </p:txBody>
      </p:sp>
      <p:sp>
        <p:nvSpPr>
          <p:cNvPr id="27" name="Text 25"/>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10 — Human Evolution</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7A52"/>
          </a:solidFill>
          <a:ln w="12700">
            <a:solidFill>
              <a:srgbClr val="3D7A52"/>
            </a:solidFill>
            <a:prstDash val="solid"/>
          </a:ln>
        </p:spPr>
      </p:sp>
      <p:sp>
        <p:nvSpPr>
          <p:cNvPr id="3" name="Text 1"/>
          <p:cNvSpPr/>
          <p:nvPr/>
        </p:nvSpPr>
        <p:spPr>
          <a:xfrm>
            <a:off x="274320" y="109728"/>
            <a:ext cx="8595360" cy="256032"/>
          </a:xfrm>
          <a:prstGeom prst="rect">
            <a:avLst/>
          </a:prstGeom>
          <a:noFill/>
          <a:ln/>
        </p:spPr>
        <p:txBody>
          <a:bodyPr wrap="square" rtlCol="0" anchor="ctr"/>
          <a:lstStyle/>
          <a:p>
            <a:pPr indent="0" marL="0">
              <a:buNone/>
            </a:pPr>
            <a:r>
              <a:rPr lang="en-US" sz="850" i="1" spc="100" kern="0" dirty="0">
                <a:solidFill>
                  <a:srgbClr val="8FA898"/>
                </a:solidFill>
                <a:latin typeface="Calibri" pitchFamily="34" charset="0"/>
                <a:ea typeface="Calibri" pitchFamily="34" charset="-122"/>
                <a:cs typeface="Calibri" pitchFamily="34" charset="-120"/>
              </a:rPr>
              <a:t>§10.3 Bipedalism Before Brains</a:t>
            </a:r>
            <a:endParaRPr lang="en-US" sz="850" dirty="0"/>
          </a:p>
        </p:txBody>
      </p:sp>
      <p:sp>
        <p:nvSpPr>
          <p:cNvPr id="4" name="Text 2"/>
          <p:cNvSpPr/>
          <p:nvPr/>
        </p:nvSpPr>
        <p:spPr>
          <a:xfrm>
            <a:off x="274320" y="320040"/>
            <a:ext cx="8595360" cy="594360"/>
          </a:xfrm>
          <a:prstGeom prst="rect">
            <a:avLst/>
          </a:prstGeom>
          <a:noFill/>
          <a:ln/>
        </p:spPr>
        <p:txBody>
          <a:bodyPr wrap="square" rtlCol="0" anchor="ctr"/>
          <a:lstStyle/>
          <a:p>
            <a:pPr indent="0" marL="0">
              <a:buNone/>
            </a:pPr>
            <a:r>
              <a:rPr lang="en-US" sz="2400" b="1" dirty="0">
                <a:solidFill>
                  <a:srgbClr val="1C2B1E"/>
                </a:solidFill>
                <a:latin typeface="Georgia" pitchFamily="34" charset="0"/>
                <a:ea typeface="Georgia" pitchFamily="34" charset="-122"/>
                <a:cs typeface="Georgia" pitchFamily="34" charset="-120"/>
              </a:rPr>
              <a:t>The Correct Sequence in Hominin Evolution</a:t>
            </a:r>
            <a:endParaRPr lang="en-US" sz="2400" dirty="0"/>
          </a:p>
        </p:txBody>
      </p:sp>
      <p:sp>
        <p:nvSpPr>
          <p:cNvPr id="5" name="Shape 3"/>
          <p:cNvSpPr/>
          <p:nvPr/>
        </p:nvSpPr>
        <p:spPr>
          <a:xfrm>
            <a:off x="274320" y="868680"/>
            <a:ext cx="8595360" cy="22860"/>
          </a:xfrm>
          <a:prstGeom prst="rect">
            <a:avLst/>
          </a:prstGeom>
          <a:solidFill>
            <a:srgbClr val="E8F0EB"/>
          </a:solidFill>
          <a:ln w="12700">
            <a:solidFill>
              <a:srgbClr val="E8F0EB"/>
            </a:solidFill>
            <a:prstDash val="solid"/>
          </a:ln>
        </p:spPr>
      </p:sp>
      <p:sp>
        <p:nvSpPr>
          <p:cNvPr id="6" name="Text 4"/>
          <p:cNvSpPr/>
          <p:nvPr/>
        </p:nvSpPr>
        <p:spPr>
          <a:xfrm>
            <a:off x="274320" y="960120"/>
            <a:ext cx="4663440" cy="3200400"/>
          </a:xfrm>
          <a:prstGeom prst="rect">
            <a:avLst/>
          </a:prstGeom>
          <a:noFill/>
          <a:ln/>
        </p:spPr>
        <p:txBody>
          <a:bodyPr wrap="square" rtlCol="0" anchor="t"/>
          <a:lstStyle/>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COMMON MISCONCEPTION: brain expansion drove hominin evolution — a bigger brain allowed bipedalism and tool use</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CORRECT SEQUENCE: bipedalism first (~4.4 Ma) → stone tools (~3.3 Ma) → significant brain expansion (~2.4 Ma onwards)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Australopithecus had chimpanzee-sized brains (~400 cc) and obligate bipedalism — proof that brain expansion was NOT required for bipedalism</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WHY BIPEDALISM FIRST? Freed hands for carrying food in open savanna? Energy efficiency in long-distance walking? Threat display?</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Once hands freed: selective pressure for tool use appears; once tools → selection for better manual dexterity and planning → brain expansion</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The sequence is readable directly from the fossil record: brain size increase correlates with tool sophistication, not with bipedalism</a:t>
            </a:r>
            <a:endParaRPr lang="en-US" sz="1300" dirty="0"/>
          </a:p>
        </p:txBody>
      </p:sp>
      <p:sp>
        <p:nvSpPr>
          <p:cNvPr id="7" name="Shape 5"/>
          <p:cNvSpPr/>
          <p:nvPr/>
        </p:nvSpPr>
        <p:spPr>
          <a:xfrm>
            <a:off x="5120640" y="960120"/>
            <a:ext cx="3749040" cy="3474720"/>
          </a:xfrm>
          <a:prstGeom prst="rect">
            <a:avLst/>
          </a:prstGeom>
          <a:solidFill>
            <a:srgbClr val="243228"/>
          </a:solidFill>
          <a:ln w="6350">
            <a:solidFill>
              <a:srgbClr val="3D7A52"/>
            </a:solidFill>
            <a:prstDash val="solid"/>
          </a:ln>
        </p:spPr>
      </p:sp>
      <p:sp>
        <p:nvSpPr>
          <p:cNvPr id="8" name="Shape 6"/>
          <p:cNvSpPr/>
          <p:nvPr/>
        </p:nvSpPr>
        <p:spPr>
          <a:xfrm>
            <a:off x="5303520" y="2419502"/>
            <a:ext cx="3383280" cy="0"/>
          </a:xfrm>
          <a:prstGeom prst="line">
            <a:avLst/>
          </a:prstGeom>
          <a:noFill/>
          <a:ln w="19050">
            <a:solidFill>
              <a:srgbClr val="C8791E"/>
            </a:solidFill>
            <a:prstDash val="solid"/>
          </a:ln>
        </p:spPr>
      </p:sp>
      <p:sp>
        <p:nvSpPr>
          <p:cNvPr id="9" name="Shape 7"/>
          <p:cNvSpPr/>
          <p:nvPr/>
        </p:nvSpPr>
        <p:spPr>
          <a:xfrm>
            <a:off x="5193792" y="2309774"/>
            <a:ext cx="219456" cy="219456"/>
          </a:xfrm>
          <a:prstGeom prst="ellipse">
            <a:avLst/>
          </a:prstGeom>
          <a:solidFill>
            <a:srgbClr val="C8791E"/>
          </a:solidFill>
          <a:ln w="6350">
            <a:solidFill>
              <a:srgbClr val="FFFFFF"/>
            </a:solidFill>
            <a:prstDash val="solid"/>
          </a:ln>
        </p:spPr>
      </p:sp>
      <p:sp>
        <p:nvSpPr>
          <p:cNvPr id="10" name="Text 8"/>
          <p:cNvSpPr/>
          <p:nvPr/>
        </p:nvSpPr>
        <p:spPr>
          <a:xfrm>
            <a:off x="4846320" y="1944014"/>
            <a:ext cx="914400" cy="274320"/>
          </a:xfrm>
          <a:prstGeom prst="rect">
            <a:avLst/>
          </a:prstGeom>
          <a:noFill/>
          <a:ln/>
        </p:spPr>
        <p:txBody>
          <a:bodyPr wrap="square" rtlCol="0" anchor="ctr"/>
          <a:lstStyle/>
          <a:p>
            <a:pPr algn="ctr" indent="0" marL="0">
              <a:buNone/>
            </a:pPr>
            <a:r>
              <a:rPr lang="en-US" sz="900" b="1" dirty="0">
                <a:solidFill>
                  <a:srgbClr val="F4F1EC"/>
                </a:solidFill>
                <a:latin typeface="Calibri" pitchFamily="34" charset="0"/>
                <a:ea typeface="Calibri" pitchFamily="34" charset="-122"/>
                <a:cs typeface="Calibri" pitchFamily="34" charset="-120"/>
              </a:rPr>
              <a:t>Bipedalism</a:t>
            </a:r>
            <a:endParaRPr lang="en-US" sz="900" dirty="0"/>
          </a:p>
          <a:p>
            <a:pPr algn="ctr" indent="0" marL="0">
              <a:buNone/>
            </a:pPr>
            <a:r>
              <a:rPr lang="en-US" sz="900" b="1" dirty="0">
                <a:solidFill>
                  <a:srgbClr val="F4F1EC"/>
                </a:solidFill>
                <a:latin typeface="Calibri" pitchFamily="34" charset="0"/>
                <a:ea typeface="Calibri" pitchFamily="34" charset="-122"/>
                <a:cs typeface="Calibri" pitchFamily="34" charset="-120"/>
              </a:rPr>
              <a:t>(Ardipithecus)</a:t>
            </a:r>
            <a:endParaRPr lang="en-US" sz="900" dirty="0"/>
          </a:p>
        </p:txBody>
      </p:sp>
      <p:sp>
        <p:nvSpPr>
          <p:cNvPr id="11" name="Text 9"/>
          <p:cNvSpPr/>
          <p:nvPr/>
        </p:nvSpPr>
        <p:spPr>
          <a:xfrm>
            <a:off x="4846320" y="1706270"/>
            <a:ext cx="914400" cy="228600"/>
          </a:xfrm>
          <a:prstGeom prst="rect">
            <a:avLst/>
          </a:prstGeom>
          <a:noFill/>
          <a:ln/>
        </p:spPr>
        <p:txBody>
          <a:bodyPr wrap="square" rtlCol="0" anchor="ctr"/>
          <a:lstStyle/>
          <a:p>
            <a:pPr algn="ctr" indent="0" marL="0">
              <a:buNone/>
            </a:pPr>
            <a:r>
              <a:rPr lang="en-US" sz="800" dirty="0">
                <a:solidFill>
                  <a:srgbClr val="8FA898"/>
                </a:solidFill>
                <a:latin typeface="Calibri" pitchFamily="34" charset="0"/>
                <a:ea typeface="Calibri" pitchFamily="34" charset="-122"/>
                <a:cs typeface="Calibri" pitchFamily="34" charset="-120"/>
              </a:rPr>
              <a:t>4.4 Ma</a:t>
            </a:r>
            <a:endParaRPr lang="en-US" sz="800" dirty="0"/>
          </a:p>
        </p:txBody>
      </p:sp>
      <p:sp>
        <p:nvSpPr>
          <p:cNvPr id="12" name="Shape 10"/>
          <p:cNvSpPr/>
          <p:nvPr/>
        </p:nvSpPr>
        <p:spPr>
          <a:xfrm>
            <a:off x="6039612" y="2309774"/>
            <a:ext cx="219456" cy="219456"/>
          </a:xfrm>
          <a:prstGeom prst="ellipse">
            <a:avLst/>
          </a:prstGeom>
          <a:solidFill>
            <a:srgbClr val="C8791E"/>
          </a:solidFill>
          <a:ln w="6350">
            <a:solidFill>
              <a:srgbClr val="FFFFFF"/>
            </a:solidFill>
            <a:prstDash val="solid"/>
          </a:ln>
        </p:spPr>
      </p:sp>
      <p:sp>
        <p:nvSpPr>
          <p:cNvPr id="13" name="Text 11"/>
          <p:cNvSpPr/>
          <p:nvPr/>
        </p:nvSpPr>
        <p:spPr>
          <a:xfrm>
            <a:off x="5692140" y="2620670"/>
            <a:ext cx="914400" cy="274320"/>
          </a:xfrm>
          <a:prstGeom prst="rect">
            <a:avLst/>
          </a:prstGeom>
          <a:noFill/>
          <a:ln/>
        </p:spPr>
        <p:txBody>
          <a:bodyPr wrap="square" rtlCol="0" anchor="ctr"/>
          <a:lstStyle/>
          <a:p>
            <a:pPr algn="ctr" indent="0" marL="0">
              <a:buNone/>
            </a:pPr>
            <a:r>
              <a:rPr lang="en-US" sz="900" b="1" dirty="0">
                <a:solidFill>
                  <a:srgbClr val="F4F1EC"/>
                </a:solidFill>
                <a:latin typeface="Calibri" pitchFamily="34" charset="0"/>
                <a:ea typeface="Calibri" pitchFamily="34" charset="-122"/>
                <a:cs typeface="Calibri" pitchFamily="34" charset="-120"/>
              </a:rPr>
              <a:t>Obligate biped</a:t>
            </a:r>
            <a:endParaRPr lang="en-US" sz="900" dirty="0"/>
          </a:p>
          <a:p>
            <a:pPr algn="ctr" indent="0" marL="0">
              <a:buNone/>
            </a:pPr>
            <a:r>
              <a:rPr lang="en-US" sz="900" b="1" dirty="0">
                <a:solidFill>
                  <a:srgbClr val="F4F1EC"/>
                </a:solidFill>
                <a:latin typeface="Calibri" pitchFamily="34" charset="0"/>
                <a:ea typeface="Calibri" pitchFamily="34" charset="-122"/>
                <a:cs typeface="Calibri" pitchFamily="34" charset="-120"/>
              </a:rPr>
              <a:t>(Australopithecus)</a:t>
            </a:r>
            <a:endParaRPr lang="en-US" sz="900" dirty="0"/>
          </a:p>
        </p:txBody>
      </p:sp>
      <p:sp>
        <p:nvSpPr>
          <p:cNvPr id="14" name="Text 12"/>
          <p:cNvSpPr/>
          <p:nvPr/>
        </p:nvSpPr>
        <p:spPr>
          <a:xfrm>
            <a:off x="5692140" y="2876702"/>
            <a:ext cx="914400" cy="228600"/>
          </a:xfrm>
          <a:prstGeom prst="rect">
            <a:avLst/>
          </a:prstGeom>
          <a:noFill/>
          <a:ln/>
        </p:spPr>
        <p:txBody>
          <a:bodyPr wrap="square" rtlCol="0" anchor="ctr"/>
          <a:lstStyle/>
          <a:p>
            <a:pPr algn="ctr" indent="0" marL="0">
              <a:buNone/>
            </a:pPr>
            <a:r>
              <a:rPr lang="en-US" sz="800" dirty="0">
                <a:solidFill>
                  <a:srgbClr val="8FA898"/>
                </a:solidFill>
                <a:latin typeface="Calibri" pitchFamily="34" charset="0"/>
                <a:ea typeface="Calibri" pitchFamily="34" charset="-122"/>
                <a:cs typeface="Calibri" pitchFamily="34" charset="-120"/>
              </a:rPr>
              <a:t>3.5 Ma</a:t>
            </a:r>
            <a:endParaRPr lang="en-US" sz="800" dirty="0"/>
          </a:p>
        </p:txBody>
      </p:sp>
      <p:sp>
        <p:nvSpPr>
          <p:cNvPr id="15" name="Shape 13"/>
          <p:cNvSpPr/>
          <p:nvPr/>
        </p:nvSpPr>
        <p:spPr>
          <a:xfrm>
            <a:off x="6885432" y="2309774"/>
            <a:ext cx="219456" cy="219456"/>
          </a:xfrm>
          <a:prstGeom prst="ellipse">
            <a:avLst/>
          </a:prstGeom>
          <a:solidFill>
            <a:srgbClr val="C8791E"/>
          </a:solidFill>
          <a:ln w="6350">
            <a:solidFill>
              <a:srgbClr val="FFFFFF"/>
            </a:solidFill>
            <a:prstDash val="solid"/>
          </a:ln>
        </p:spPr>
      </p:sp>
      <p:sp>
        <p:nvSpPr>
          <p:cNvPr id="16" name="Text 14"/>
          <p:cNvSpPr/>
          <p:nvPr/>
        </p:nvSpPr>
        <p:spPr>
          <a:xfrm>
            <a:off x="6537960" y="1944014"/>
            <a:ext cx="914400" cy="274320"/>
          </a:xfrm>
          <a:prstGeom prst="rect">
            <a:avLst/>
          </a:prstGeom>
          <a:noFill/>
          <a:ln/>
        </p:spPr>
        <p:txBody>
          <a:bodyPr wrap="square" rtlCol="0" anchor="ctr"/>
          <a:lstStyle/>
          <a:p>
            <a:pPr algn="ctr" indent="0" marL="0">
              <a:buNone/>
            </a:pPr>
            <a:r>
              <a:rPr lang="en-US" sz="900" b="1" dirty="0">
                <a:solidFill>
                  <a:srgbClr val="F4F1EC"/>
                </a:solidFill>
                <a:latin typeface="Calibri" pitchFamily="34" charset="0"/>
                <a:ea typeface="Calibri" pitchFamily="34" charset="-122"/>
                <a:cs typeface="Calibri" pitchFamily="34" charset="-120"/>
              </a:rPr>
              <a:t>Stone tools</a:t>
            </a:r>
            <a:endParaRPr lang="en-US" sz="900" dirty="0"/>
          </a:p>
          <a:p>
            <a:pPr algn="ctr" indent="0" marL="0">
              <a:buNone/>
            </a:pPr>
            <a:r>
              <a:rPr lang="en-US" sz="900" b="1" dirty="0">
                <a:solidFill>
                  <a:srgbClr val="F4F1EC"/>
                </a:solidFill>
                <a:latin typeface="Calibri" pitchFamily="34" charset="0"/>
                <a:ea typeface="Calibri" pitchFamily="34" charset="-122"/>
                <a:cs typeface="Calibri" pitchFamily="34" charset="-120"/>
              </a:rPr>
              <a:t>(Lomekwi)</a:t>
            </a:r>
            <a:endParaRPr lang="en-US" sz="900" dirty="0"/>
          </a:p>
        </p:txBody>
      </p:sp>
      <p:sp>
        <p:nvSpPr>
          <p:cNvPr id="17" name="Text 15"/>
          <p:cNvSpPr/>
          <p:nvPr/>
        </p:nvSpPr>
        <p:spPr>
          <a:xfrm>
            <a:off x="6537960" y="1706270"/>
            <a:ext cx="914400" cy="228600"/>
          </a:xfrm>
          <a:prstGeom prst="rect">
            <a:avLst/>
          </a:prstGeom>
          <a:noFill/>
          <a:ln/>
        </p:spPr>
        <p:txBody>
          <a:bodyPr wrap="square" rtlCol="0" anchor="ctr"/>
          <a:lstStyle/>
          <a:p>
            <a:pPr algn="ctr" indent="0" marL="0">
              <a:buNone/>
            </a:pPr>
            <a:r>
              <a:rPr lang="en-US" sz="800" dirty="0">
                <a:solidFill>
                  <a:srgbClr val="8FA898"/>
                </a:solidFill>
                <a:latin typeface="Calibri" pitchFamily="34" charset="0"/>
                <a:ea typeface="Calibri" pitchFamily="34" charset="-122"/>
                <a:cs typeface="Calibri" pitchFamily="34" charset="-120"/>
              </a:rPr>
              <a:t>3.3 Ma</a:t>
            </a:r>
            <a:endParaRPr lang="en-US" sz="800" dirty="0"/>
          </a:p>
        </p:txBody>
      </p:sp>
      <p:sp>
        <p:nvSpPr>
          <p:cNvPr id="18" name="Shape 16"/>
          <p:cNvSpPr/>
          <p:nvPr/>
        </p:nvSpPr>
        <p:spPr>
          <a:xfrm>
            <a:off x="7731252" y="2309774"/>
            <a:ext cx="219456" cy="219456"/>
          </a:xfrm>
          <a:prstGeom prst="ellipse">
            <a:avLst/>
          </a:prstGeom>
          <a:solidFill>
            <a:srgbClr val="C8791E"/>
          </a:solidFill>
          <a:ln w="6350">
            <a:solidFill>
              <a:srgbClr val="FFFFFF"/>
            </a:solidFill>
            <a:prstDash val="solid"/>
          </a:ln>
        </p:spPr>
      </p:sp>
      <p:sp>
        <p:nvSpPr>
          <p:cNvPr id="19" name="Text 17"/>
          <p:cNvSpPr/>
          <p:nvPr/>
        </p:nvSpPr>
        <p:spPr>
          <a:xfrm>
            <a:off x="7383780" y="2620670"/>
            <a:ext cx="914400" cy="274320"/>
          </a:xfrm>
          <a:prstGeom prst="rect">
            <a:avLst/>
          </a:prstGeom>
          <a:noFill/>
          <a:ln/>
        </p:spPr>
        <p:txBody>
          <a:bodyPr wrap="square" rtlCol="0" anchor="ctr"/>
          <a:lstStyle/>
          <a:p>
            <a:pPr algn="ctr" indent="0" marL="0">
              <a:buNone/>
            </a:pPr>
            <a:r>
              <a:rPr lang="en-US" sz="900" b="1" dirty="0">
                <a:solidFill>
                  <a:srgbClr val="F4F1EC"/>
                </a:solidFill>
                <a:latin typeface="Calibri" pitchFamily="34" charset="0"/>
                <a:ea typeface="Calibri" pitchFamily="34" charset="-122"/>
                <a:cs typeface="Calibri" pitchFamily="34" charset="-120"/>
              </a:rPr>
              <a:t>Brain expands</a:t>
            </a:r>
            <a:endParaRPr lang="en-US" sz="900" dirty="0"/>
          </a:p>
          <a:p>
            <a:pPr algn="ctr" indent="0" marL="0">
              <a:buNone/>
            </a:pPr>
            <a:r>
              <a:rPr lang="en-US" sz="900" b="1" dirty="0">
                <a:solidFill>
                  <a:srgbClr val="F4F1EC"/>
                </a:solidFill>
                <a:latin typeface="Calibri" pitchFamily="34" charset="0"/>
                <a:ea typeface="Calibri" pitchFamily="34" charset="-122"/>
                <a:cs typeface="Calibri" pitchFamily="34" charset="-120"/>
              </a:rPr>
              <a:t>(Homo habilis)</a:t>
            </a:r>
            <a:endParaRPr lang="en-US" sz="900" dirty="0"/>
          </a:p>
        </p:txBody>
      </p:sp>
      <p:sp>
        <p:nvSpPr>
          <p:cNvPr id="20" name="Text 18"/>
          <p:cNvSpPr/>
          <p:nvPr/>
        </p:nvSpPr>
        <p:spPr>
          <a:xfrm>
            <a:off x="7383780" y="2876702"/>
            <a:ext cx="914400" cy="228600"/>
          </a:xfrm>
          <a:prstGeom prst="rect">
            <a:avLst/>
          </a:prstGeom>
          <a:noFill/>
          <a:ln/>
        </p:spPr>
        <p:txBody>
          <a:bodyPr wrap="square" rtlCol="0" anchor="ctr"/>
          <a:lstStyle/>
          <a:p>
            <a:pPr algn="ctr" indent="0" marL="0">
              <a:buNone/>
            </a:pPr>
            <a:r>
              <a:rPr lang="en-US" sz="800" dirty="0">
                <a:solidFill>
                  <a:srgbClr val="8FA898"/>
                </a:solidFill>
                <a:latin typeface="Calibri" pitchFamily="34" charset="0"/>
                <a:ea typeface="Calibri" pitchFamily="34" charset="-122"/>
                <a:cs typeface="Calibri" pitchFamily="34" charset="-120"/>
              </a:rPr>
              <a:t>2.4 Ma</a:t>
            </a:r>
            <a:endParaRPr lang="en-US" sz="800" dirty="0"/>
          </a:p>
        </p:txBody>
      </p:sp>
      <p:sp>
        <p:nvSpPr>
          <p:cNvPr id="21" name="Shape 19"/>
          <p:cNvSpPr/>
          <p:nvPr/>
        </p:nvSpPr>
        <p:spPr>
          <a:xfrm>
            <a:off x="8577072" y="2309774"/>
            <a:ext cx="219456" cy="219456"/>
          </a:xfrm>
          <a:prstGeom prst="ellipse">
            <a:avLst/>
          </a:prstGeom>
          <a:solidFill>
            <a:srgbClr val="3D8C7A"/>
          </a:solidFill>
          <a:ln w="6350">
            <a:solidFill>
              <a:srgbClr val="FFFFFF"/>
            </a:solidFill>
            <a:prstDash val="solid"/>
          </a:ln>
        </p:spPr>
      </p:sp>
      <p:sp>
        <p:nvSpPr>
          <p:cNvPr id="22" name="Text 20"/>
          <p:cNvSpPr/>
          <p:nvPr/>
        </p:nvSpPr>
        <p:spPr>
          <a:xfrm>
            <a:off x="8229600" y="1944014"/>
            <a:ext cx="914400" cy="274320"/>
          </a:xfrm>
          <a:prstGeom prst="rect">
            <a:avLst/>
          </a:prstGeom>
          <a:noFill/>
          <a:ln/>
        </p:spPr>
        <p:txBody>
          <a:bodyPr wrap="square" rtlCol="0" anchor="ctr"/>
          <a:lstStyle/>
          <a:p>
            <a:pPr algn="ctr" indent="0" marL="0">
              <a:buNone/>
            </a:pPr>
            <a:r>
              <a:rPr lang="en-US" sz="900" b="1" dirty="0">
                <a:solidFill>
                  <a:srgbClr val="F4F1EC"/>
                </a:solidFill>
                <a:latin typeface="Calibri" pitchFamily="34" charset="0"/>
                <a:ea typeface="Calibri" pitchFamily="34" charset="-122"/>
                <a:cs typeface="Calibri" pitchFamily="34" charset="-120"/>
              </a:rPr>
              <a:t>Modern brain</a:t>
            </a:r>
            <a:endParaRPr lang="en-US" sz="900" dirty="0"/>
          </a:p>
          <a:p>
            <a:pPr algn="ctr" indent="0" marL="0">
              <a:buNone/>
            </a:pPr>
            <a:r>
              <a:rPr lang="en-US" sz="900" b="1" dirty="0">
                <a:solidFill>
                  <a:srgbClr val="F4F1EC"/>
                </a:solidFill>
                <a:latin typeface="Calibri" pitchFamily="34" charset="0"/>
                <a:ea typeface="Calibri" pitchFamily="34" charset="-122"/>
                <a:cs typeface="Calibri" pitchFamily="34" charset="-120"/>
              </a:rPr>
              <a:t>(H. sapiens)</a:t>
            </a:r>
            <a:endParaRPr lang="en-US" sz="900" dirty="0"/>
          </a:p>
        </p:txBody>
      </p:sp>
      <p:sp>
        <p:nvSpPr>
          <p:cNvPr id="23" name="Text 21"/>
          <p:cNvSpPr/>
          <p:nvPr/>
        </p:nvSpPr>
        <p:spPr>
          <a:xfrm>
            <a:off x="8229600" y="1706270"/>
            <a:ext cx="914400" cy="228600"/>
          </a:xfrm>
          <a:prstGeom prst="rect">
            <a:avLst/>
          </a:prstGeom>
          <a:noFill/>
          <a:ln/>
        </p:spPr>
        <p:txBody>
          <a:bodyPr wrap="square" rtlCol="0" anchor="ctr"/>
          <a:lstStyle/>
          <a:p>
            <a:pPr algn="ctr" indent="0" marL="0">
              <a:buNone/>
            </a:pPr>
            <a:r>
              <a:rPr lang="en-US" sz="800" dirty="0">
                <a:solidFill>
                  <a:srgbClr val="8FA898"/>
                </a:solidFill>
                <a:latin typeface="Calibri" pitchFamily="34" charset="0"/>
                <a:ea typeface="Calibri" pitchFamily="34" charset="-122"/>
                <a:cs typeface="Calibri" pitchFamily="34" charset="-120"/>
              </a:rPr>
              <a:t>0.3 Ma</a:t>
            </a:r>
            <a:endParaRPr lang="en-US" sz="800" dirty="0"/>
          </a:p>
        </p:txBody>
      </p:sp>
      <p:sp>
        <p:nvSpPr>
          <p:cNvPr id="24" name="Shape 22"/>
          <p:cNvSpPr/>
          <p:nvPr/>
        </p:nvSpPr>
        <p:spPr>
          <a:xfrm>
            <a:off x="274320" y="4297680"/>
            <a:ext cx="8595360" cy="621792"/>
          </a:xfrm>
          <a:prstGeom prst="rect">
            <a:avLst/>
          </a:prstGeom>
          <a:solidFill>
            <a:srgbClr val="1C2B1E"/>
          </a:solidFill>
          <a:ln w="12700">
            <a:solidFill>
              <a:srgbClr val="1C2B1E"/>
            </a:solidFill>
            <a:prstDash val="solid"/>
          </a:ln>
        </p:spPr>
      </p:sp>
      <p:sp>
        <p:nvSpPr>
          <p:cNvPr id="25" name="Text 23"/>
          <p:cNvSpPr/>
          <p:nvPr/>
        </p:nvSpPr>
        <p:spPr>
          <a:xfrm>
            <a:off x="274320" y="4297680"/>
            <a:ext cx="8595360" cy="621792"/>
          </a:xfrm>
          <a:prstGeom prst="rect">
            <a:avLst/>
          </a:prstGeom>
          <a:noFill/>
          <a:ln/>
        </p:spPr>
        <p:txBody>
          <a:bodyPr wrap="square" lIns="1524" tIns="1524" rIns="1524" bIns="1524" rtlCol="0" anchor="ctr"/>
          <a:lstStyle/>
          <a:p>
            <a:pPr indent="0" marL="0">
              <a:buNone/>
            </a:pPr>
            <a:r>
              <a:rPr lang="en-US" sz="1100" b="1" dirty="0">
                <a:solidFill>
                  <a:srgbClr val="C8791E"/>
                </a:solidFill>
                <a:latin typeface="Calibri" pitchFamily="34" charset="0"/>
                <a:ea typeface="Calibri" pitchFamily="34" charset="-122"/>
                <a:cs typeface="Calibri" pitchFamily="34" charset="-120"/>
              </a:rPr>
              <a:t>Mosaic Evolution: </a:t>
            </a:r>
            <a:pPr indent="0" marL="0">
              <a:buNone/>
            </a:pPr>
            <a:r>
              <a:rPr lang="en-US" sz="1100" dirty="0">
                <a:solidFill>
                  <a:srgbClr val="F4F1EC"/>
                </a:solidFill>
                <a:latin typeface="Calibri" pitchFamily="34" charset="0"/>
                <a:ea typeface="Calibri" pitchFamily="34" charset="-122"/>
                <a:cs typeface="Calibri" pitchFamily="34" charset="-120"/>
              </a:rPr>
              <a:t>The evolutionary pattern in which different characters in the same lineage evolve at different rates. In hominin evolution: bipedalism evolved millions of years before significant brain expansion — different features evolved on different timescales in the same lineage.</a:t>
            </a:r>
            <a:endParaRPr lang="en-US" sz="1100" dirty="0"/>
          </a:p>
        </p:txBody>
      </p:sp>
      <p:sp>
        <p:nvSpPr>
          <p:cNvPr id="26" name="Text 24"/>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7 / 99</a:t>
            </a:r>
            <a:endParaRPr lang="en-US" sz="900" dirty="0"/>
          </a:p>
        </p:txBody>
      </p:sp>
      <p:sp>
        <p:nvSpPr>
          <p:cNvPr id="27" name="Text 25"/>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10 — Human Evolution</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7A52"/>
          </a:solidFill>
          <a:ln w="12700">
            <a:solidFill>
              <a:srgbClr val="3D7A52"/>
            </a:solidFill>
            <a:prstDash val="solid"/>
          </a:ln>
        </p:spPr>
      </p:sp>
      <p:sp>
        <p:nvSpPr>
          <p:cNvPr id="3" name="Text 1"/>
          <p:cNvSpPr/>
          <p:nvPr/>
        </p:nvSpPr>
        <p:spPr>
          <a:xfrm>
            <a:off x="274320" y="109728"/>
            <a:ext cx="8595360" cy="256032"/>
          </a:xfrm>
          <a:prstGeom prst="rect">
            <a:avLst/>
          </a:prstGeom>
          <a:noFill/>
          <a:ln/>
        </p:spPr>
        <p:txBody>
          <a:bodyPr wrap="square" rtlCol="0" anchor="ctr"/>
          <a:lstStyle/>
          <a:p>
            <a:pPr indent="0" marL="0">
              <a:buNone/>
            </a:pPr>
            <a:r>
              <a:rPr lang="en-US" sz="850" i="1" spc="100" kern="0" dirty="0">
                <a:solidFill>
                  <a:srgbClr val="8FA898"/>
                </a:solidFill>
                <a:latin typeface="Calibri" pitchFamily="34" charset="0"/>
                <a:ea typeface="Calibri" pitchFamily="34" charset="-122"/>
                <a:cs typeface="Calibri" pitchFamily="34" charset="-120"/>
              </a:rPr>
              <a:t>§10.3 Homo erectus: The First Global Hominin</a:t>
            </a:r>
            <a:endParaRPr lang="en-US" sz="850" dirty="0"/>
          </a:p>
        </p:txBody>
      </p:sp>
      <p:sp>
        <p:nvSpPr>
          <p:cNvPr id="4" name="Text 2"/>
          <p:cNvSpPr/>
          <p:nvPr/>
        </p:nvSpPr>
        <p:spPr>
          <a:xfrm>
            <a:off x="274320" y="320040"/>
            <a:ext cx="8595360" cy="594360"/>
          </a:xfrm>
          <a:prstGeom prst="rect">
            <a:avLst/>
          </a:prstGeom>
          <a:noFill/>
          <a:ln/>
        </p:spPr>
        <p:txBody>
          <a:bodyPr wrap="square" rtlCol="0" anchor="ctr"/>
          <a:lstStyle/>
          <a:p>
            <a:pPr indent="0" marL="0">
              <a:buNone/>
            </a:pPr>
            <a:r>
              <a:rPr lang="en-US" sz="2400" b="1" dirty="0">
                <a:solidFill>
                  <a:srgbClr val="1C2B1E"/>
                </a:solidFill>
                <a:latin typeface="Georgia" pitchFamily="34" charset="0"/>
                <a:ea typeface="Georgia" pitchFamily="34" charset="-122"/>
                <a:cs typeface="Georgia" pitchFamily="34" charset="-120"/>
              </a:rPr>
              <a:t>Out of Africa 1: Before H. sapiens</a:t>
            </a:r>
            <a:endParaRPr lang="en-US" sz="2400" dirty="0"/>
          </a:p>
        </p:txBody>
      </p:sp>
      <p:sp>
        <p:nvSpPr>
          <p:cNvPr id="5" name="Shape 3"/>
          <p:cNvSpPr/>
          <p:nvPr/>
        </p:nvSpPr>
        <p:spPr>
          <a:xfrm>
            <a:off x="274320" y="868680"/>
            <a:ext cx="8595360" cy="22860"/>
          </a:xfrm>
          <a:prstGeom prst="rect">
            <a:avLst/>
          </a:prstGeom>
          <a:solidFill>
            <a:srgbClr val="E8F0EB"/>
          </a:solidFill>
          <a:ln w="12700">
            <a:solidFill>
              <a:srgbClr val="E8F0EB"/>
            </a:solidFill>
            <a:prstDash val="solid"/>
          </a:ln>
        </p:spPr>
      </p:sp>
      <p:sp>
        <p:nvSpPr>
          <p:cNvPr id="6" name="Text 4"/>
          <p:cNvSpPr/>
          <p:nvPr/>
        </p:nvSpPr>
        <p:spPr>
          <a:xfrm>
            <a:off x="274320" y="960120"/>
            <a:ext cx="4663440" cy="3200400"/>
          </a:xfrm>
          <a:prstGeom prst="rect">
            <a:avLst/>
          </a:prstGeom>
          <a:noFill/>
          <a:ln/>
        </p:spPr>
        <p:txBody>
          <a:bodyPr wrap="square" rtlCol="0" anchor="t"/>
          <a:lstStyle/>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Homo erectus (~1.9 Ma–100 ka): the first hominin species to leave Africa</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Fossils found across Africa, Western Asia (Dmanisi, Georgia), East Asia (Peking Man, Java Man)</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Acheulean stone tool industry: teardrop-shaped hand axes with prepared flaking — standardised, transported</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Brain size: 900–1,100 cc — significant increase over Australopithecus and H. habilis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Evidence for fire use: Zhoukoudian, China (~600 ka); Wonderwerk Cave, South Africa (~1 Ma)</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Body proportions: essentially modern — tall, long legs, narrow hips (Nariokotome boy skeleton, 1.6 Ma)</a:t>
            </a:r>
            <a:endParaRPr lang="en-US" sz="1300" dirty="0"/>
          </a:p>
        </p:txBody>
      </p:sp>
      <p:sp>
        <p:nvSpPr>
          <p:cNvPr id="7" name="Shape 5"/>
          <p:cNvSpPr/>
          <p:nvPr/>
        </p:nvSpPr>
        <p:spPr>
          <a:xfrm>
            <a:off x="5120640" y="960120"/>
            <a:ext cx="3749040" cy="3474720"/>
          </a:xfrm>
          <a:prstGeom prst="rect">
            <a:avLst/>
          </a:prstGeom>
          <a:solidFill>
            <a:srgbClr val="243228"/>
          </a:solidFill>
          <a:ln w="6350">
            <a:solidFill>
              <a:srgbClr val="3D7A52"/>
            </a:solidFill>
            <a:prstDash val="solid"/>
          </a:ln>
        </p:spPr>
      </p:sp>
      <p:sp>
        <p:nvSpPr>
          <p:cNvPr id="8" name="Text 6"/>
          <p:cNvSpPr/>
          <p:nvPr/>
        </p:nvSpPr>
        <p:spPr>
          <a:xfrm>
            <a:off x="5257800" y="1097280"/>
            <a:ext cx="3474720" cy="457200"/>
          </a:xfrm>
          <a:prstGeom prst="rect">
            <a:avLst/>
          </a:prstGeom>
          <a:noFill/>
          <a:ln/>
        </p:spPr>
        <p:txBody>
          <a:bodyPr wrap="square" rtlCol="0" anchor="ctr"/>
          <a:lstStyle/>
          <a:p>
            <a:pPr indent="0" marL="0">
              <a:buNone/>
            </a:pPr>
            <a:r>
              <a:rPr lang="en-US" sz="1300" b="1" dirty="0">
                <a:solidFill>
                  <a:srgbClr val="C8791E"/>
                </a:solidFill>
                <a:latin typeface="Georgia" pitchFamily="34" charset="0"/>
                <a:ea typeface="Georgia" pitchFamily="34" charset="-122"/>
                <a:cs typeface="Georgia" pitchFamily="34" charset="-120"/>
              </a:rPr>
              <a:t>Homo erectus: Key Specimens</a:t>
            </a:r>
            <a:endParaRPr lang="en-US" sz="1300" dirty="0"/>
          </a:p>
        </p:txBody>
      </p:sp>
      <p:sp>
        <p:nvSpPr>
          <p:cNvPr id="9" name="Text 7"/>
          <p:cNvSpPr/>
          <p:nvPr/>
        </p:nvSpPr>
        <p:spPr>
          <a:xfrm>
            <a:off x="5257800" y="1600200"/>
            <a:ext cx="3474720" cy="2651760"/>
          </a:xfrm>
          <a:prstGeom prst="rect">
            <a:avLst/>
          </a:prstGeom>
          <a:noFill/>
          <a:ln/>
        </p:spPr>
        <p:txBody>
          <a:bodyPr wrap="square" rtlCol="0" anchor="t"/>
          <a:lstStyle/>
          <a:p>
            <a:pPr indent="0" marL="0">
              <a:buNone/>
            </a:pPr>
            <a:r>
              <a:rPr lang="en-US" sz="1200" dirty="0">
                <a:solidFill>
                  <a:srgbClr val="F4F1EC"/>
                </a:solidFill>
                <a:latin typeface="Calibri" pitchFamily="34" charset="0"/>
                <a:ea typeface="Calibri" pitchFamily="34" charset="-122"/>
                <a:cs typeface="Calibri" pitchFamily="34" charset="-120"/>
              </a:rPr>
              <a:t>DMANISI (Georgia): 1.77 Ma</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Oldest hominin outside Africa</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Small brain (600 cc) but left Africa</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Challenges: did H. erectus leave before</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brain expansion?</a:t>
            </a:r>
            <a:endParaRPr lang="en-US" sz="1200" dirty="0"/>
          </a:p>
          <a:p>
            <a:pPr indent="0" marL="0">
              <a:buNone/>
            </a:pP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NARIOKOTOME BOY (Kenya): 1.6 Ma</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Complete skeleton of 8-year-old</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Modern body proportions</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Estimated adult height: 185 cm</a:t>
            </a:r>
            <a:endParaRPr lang="en-US" sz="1200" dirty="0"/>
          </a:p>
          <a:p>
            <a:pPr indent="0" marL="0">
              <a:buNone/>
            </a:pP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PEKING MAN (China): 700-200 ka</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Zhoukoudian Cave</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Fire use at 600 ka</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Multiple individuals</a:t>
            </a:r>
            <a:endParaRPr lang="en-US" sz="1200" dirty="0"/>
          </a:p>
          <a:p>
            <a:pPr indent="0" marL="0">
              <a:buNone/>
            </a:pP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JAVA MAN (Indonesia): 1.5 Ma-100 ka</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Dubois 1891 (first hominid fossil found)</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Some late H. erectus possibly survived</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until 100 ka on Flores?</a:t>
            </a:r>
            <a:endParaRPr lang="en-US" sz="1200" dirty="0"/>
          </a:p>
        </p:txBody>
      </p:sp>
      <p:sp>
        <p:nvSpPr>
          <p:cNvPr id="10" name="Shape 8"/>
          <p:cNvSpPr/>
          <p:nvPr/>
        </p:nvSpPr>
        <p:spPr>
          <a:xfrm>
            <a:off x="274320" y="4297680"/>
            <a:ext cx="8595360" cy="621792"/>
          </a:xfrm>
          <a:prstGeom prst="rect">
            <a:avLst/>
          </a:prstGeom>
          <a:solidFill>
            <a:srgbClr val="1C2B1E"/>
          </a:solidFill>
          <a:ln w="12700">
            <a:solidFill>
              <a:srgbClr val="1C2B1E"/>
            </a:solidFill>
            <a:prstDash val="solid"/>
          </a:ln>
        </p:spPr>
      </p:sp>
      <p:sp>
        <p:nvSpPr>
          <p:cNvPr id="11" name="Text 9"/>
          <p:cNvSpPr/>
          <p:nvPr/>
        </p:nvSpPr>
        <p:spPr>
          <a:xfrm>
            <a:off x="274320" y="4297680"/>
            <a:ext cx="8595360" cy="621792"/>
          </a:xfrm>
          <a:prstGeom prst="rect">
            <a:avLst/>
          </a:prstGeom>
          <a:noFill/>
          <a:ln/>
        </p:spPr>
        <p:txBody>
          <a:bodyPr wrap="square" lIns="1524" tIns="1524" rIns="1524" bIns="1524" rtlCol="0" anchor="ctr"/>
          <a:lstStyle/>
          <a:p>
            <a:pPr indent="0" marL="0">
              <a:buNone/>
            </a:pPr>
            <a:r>
              <a:rPr lang="en-US" sz="1100" b="1" dirty="0">
                <a:solidFill>
                  <a:srgbClr val="C8791E"/>
                </a:solidFill>
                <a:latin typeface="Calibri" pitchFamily="34" charset="0"/>
                <a:ea typeface="Calibri" pitchFamily="34" charset="-122"/>
                <a:cs typeface="Calibri" pitchFamily="34" charset="-120"/>
              </a:rPr>
              <a:t>Homo erectus: </a:t>
            </a:r>
            <a:pPr indent="0" marL="0">
              <a:buNone/>
            </a:pPr>
            <a:r>
              <a:rPr lang="en-US" sz="1100" dirty="0">
                <a:solidFill>
                  <a:srgbClr val="F4F1EC"/>
                </a:solidFill>
                <a:latin typeface="Calibri" pitchFamily="34" charset="0"/>
                <a:ea typeface="Calibri" pitchFamily="34" charset="-122"/>
                <a:cs typeface="Calibri" pitchFamily="34" charset="-120"/>
              </a:rPr>
              <a:t>The first hominin species to leave Africa (~1.9 Ma). Found across Africa, western Asia, and East Asia. Acheulean tool industry, fire use, brain 900–1100 cc, modern body proportions. Persisted until ~100 ka in some regions.</a:t>
            </a:r>
            <a:endParaRPr lang="en-US" sz="1100" dirty="0"/>
          </a:p>
        </p:txBody>
      </p:sp>
      <p:sp>
        <p:nvSpPr>
          <p:cNvPr id="12" name="Text 10"/>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8 / 99</a:t>
            </a:r>
            <a:endParaRPr lang="en-US" sz="900" dirty="0"/>
          </a:p>
        </p:txBody>
      </p:sp>
      <p:sp>
        <p:nvSpPr>
          <p:cNvPr id="13" name="Text 11"/>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10 — Human Evolution</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7A52"/>
          </a:solidFill>
          <a:ln w="12700">
            <a:solidFill>
              <a:srgbClr val="3D7A52"/>
            </a:solidFill>
            <a:prstDash val="solid"/>
          </a:ln>
        </p:spPr>
      </p:sp>
      <p:sp>
        <p:nvSpPr>
          <p:cNvPr id="3" name="Text 1"/>
          <p:cNvSpPr/>
          <p:nvPr/>
        </p:nvSpPr>
        <p:spPr>
          <a:xfrm>
            <a:off x="274320" y="109728"/>
            <a:ext cx="8595360" cy="256032"/>
          </a:xfrm>
          <a:prstGeom prst="rect">
            <a:avLst/>
          </a:prstGeom>
          <a:noFill/>
          <a:ln/>
        </p:spPr>
        <p:txBody>
          <a:bodyPr wrap="square" rtlCol="0" anchor="ctr"/>
          <a:lstStyle/>
          <a:p>
            <a:pPr indent="0" marL="0">
              <a:buNone/>
            </a:pPr>
            <a:r>
              <a:rPr lang="en-US" sz="850" i="1" spc="100" kern="0" dirty="0">
                <a:solidFill>
                  <a:srgbClr val="8FA898"/>
                </a:solidFill>
                <a:latin typeface="Calibri" pitchFamily="34" charset="0"/>
                <a:ea typeface="Calibri" pitchFamily="34" charset="-122"/>
                <a:cs typeface="Calibri" pitchFamily="34" charset="-120"/>
              </a:rPr>
              <a:t>§10.4 Molecular Evidence for Human Ancestry</a:t>
            </a:r>
            <a:endParaRPr lang="en-US" sz="850" dirty="0"/>
          </a:p>
        </p:txBody>
      </p:sp>
      <p:sp>
        <p:nvSpPr>
          <p:cNvPr id="4" name="Text 2"/>
          <p:cNvSpPr/>
          <p:nvPr/>
        </p:nvSpPr>
        <p:spPr>
          <a:xfrm>
            <a:off x="274320" y="320040"/>
            <a:ext cx="8595360" cy="594360"/>
          </a:xfrm>
          <a:prstGeom prst="rect">
            <a:avLst/>
          </a:prstGeom>
          <a:noFill/>
          <a:ln/>
        </p:spPr>
        <p:txBody>
          <a:bodyPr wrap="square" rtlCol="0" anchor="ctr"/>
          <a:lstStyle/>
          <a:p>
            <a:pPr indent="0" marL="0">
              <a:buNone/>
            </a:pPr>
            <a:r>
              <a:rPr lang="en-US" sz="2400" b="1" dirty="0">
                <a:solidFill>
                  <a:srgbClr val="1C2B1E"/>
                </a:solidFill>
                <a:latin typeface="Georgia" pitchFamily="34" charset="0"/>
                <a:ea typeface="Georgia" pitchFamily="34" charset="-122"/>
                <a:cs typeface="Georgia" pitchFamily="34" charset="-120"/>
              </a:rPr>
              <a:t>Four Molecular Lines of Evidence</a:t>
            </a:r>
            <a:endParaRPr lang="en-US" sz="2400" dirty="0"/>
          </a:p>
        </p:txBody>
      </p:sp>
      <p:sp>
        <p:nvSpPr>
          <p:cNvPr id="5" name="Shape 3"/>
          <p:cNvSpPr/>
          <p:nvPr/>
        </p:nvSpPr>
        <p:spPr>
          <a:xfrm>
            <a:off x="274320" y="868680"/>
            <a:ext cx="8595360" cy="22860"/>
          </a:xfrm>
          <a:prstGeom prst="rect">
            <a:avLst/>
          </a:prstGeom>
          <a:solidFill>
            <a:srgbClr val="E8F0EB"/>
          </a:solidFill>
          <a:ln w="12700">
            <a:solidFill>
              <a:srgbClr val="E8F0EB"/>
            </a:solidFill>
            <a:prstDash val="solid"/>
          </a:ln>
        </p:spPr>
      </p:sp>
      <p:sp>
        <p:nvSpPr>
          <p:cNvPr id="6" name="Text 4"/>
          <p:cNvSpPr/>
          <p:nvPr/>
        </p:nvSpPr>
        <p:spPr>
          <a:xfrm>
            <a:off x="274320" y="960120"/>
            <a:ext cx="4663440" cy="3200400"/>
          </a:xfrm>
          <a:prstGeom prst="rect">
            <a:avLst/>
          </a:prstGeom>
          <a:noFill/>
          <a:ln/>
        </p:spPr>
        <p:txBody>
          <a:bodyPr wrap="square" rtlCol="0" anchor="t"/>
          <a:lstStyle/>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(1) PROTEIN SIMILARITY: immunological distance (serotaxonomy) — humans and chimpanzees diverge the least; established &gt;50 years ago</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(2) CHROMOSOME COMPARISON: human chromosome 2 = fusion of two ancestral ape chromosomes — confirmed by centromere remnant and orientation of gene blocks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(3) mtDNA DIVERSITY: greater mitochondrial diversity in African populations than in all non-African populations combined → African origin confirmed</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(4) NUCLEAR GENOME: humans share ~98.8% of protein-coding genes with chimpanzees; nearly all uniquely human characters in regulatory regions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Molecular clock calibration: multiple nuclear gene datasets consistently estimate Pan-Homo split at ~5–7 Ma</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None of these lines requires any fossil evidence — they converge on the same tree from completely independent data</a:t>
            </a:r>
            <a:endParaRPr lang="en-US" sz="1300" dirty="0"/>
          </a:p>
        </p:txBody>
      </p:sp>
      <p:sp>
        <p:nvSpPr>
          <p:cNvPr id="7" name="Shape 5"/>
          <p:cNvSpPr/>
          <p:nvPr/>
        </p:nvSpPr>
        <p:spPr>
          <a:xfrm>
            <a:off x="5120640" y="960120"/>
            <a:ext cx="3749040" cy="3474720"/>
          </a:xfrm>
          <a:prstGeom prst="rect">
            <a:avLst/>
          </a:prstGeom>
          <a:solidFill>
            <a:srgbClr val="243228"/>
          </a:solidFill>
          <a:ln w="6350">
            <a:solidFill>
              <a:srgbClr val="3D7A52"/>
            </a:solidFill>
            <a:prstDash val="solid"/>
          </a:ln>
        </p:spPr>
      </p:sp>
      <p:sp>
        <p:nvSpPr>
          <p:cNvPr id="8" name="Text 6"/>
          <p:cNvSpPr/>
          <p:nvPr/>
        </p:nvSpPr>
        <p:spPr>
          <a:xfrm>
            <a:off x="5257800" y="1097280"/>
            <a:ext cx="3474720" cy="457200"/>
          </a:xfrm>
          <a:prstGeom prst="rect">
            <a:avLst/>
          </a:prstGeom>
          <a:noFill/>
          <a:ln/>
        </p:spPr>
        <p:txBody>
          <a:bodyPr wrap="square" rtlCol="0" anchor="ctr"/>
          <a:lstStyle/>
          <a:p>
            <a:pPr indent="0" marL="0">
              <a:buNone/>
            </a:pPr>
            <a:r>
              <a:rPr lang="en-US" sz="1300" b="1" dirty="0">
                <a:solidFill>
                  <a:srgbClr val="C8791E"/>
                </a:solidFill>
                <a:latin typeface="Georgia" pitchFamily="34" charset="0"/>
                <a:ea typeface="Georgia" pitchFamily="34" charset="-122"/>
                <a:cs typeface="Georgia" pitchFamily="34" charset="-120"/>
              </a:rPr>
              <a:t>Chromosome 2 Fusion: Direct Molecular Evidence</a:t>
            </a:r>
            <a:endParaRPr lang="en-US" sz="1300" dirty="0"/>
          </a:p>
        </p:txBody>
      </p:sp>
      <p:sp>
        <p:nvSpPr>
          <p:cNvPr id="9" name="Text 7"/>
          <p:cNvSpPr/>
          <p:nvPr/>
        </p:nvSpPr>
        <p:spPr>
          <a:xfrm>
            <a:off x="5257800" y="1600200"/>
            <a:ext cx="3474720" cy="2651760"/>
          </a:xfrm>
          <a:prstGeom prst="rect">
            <a:avLst/>
          </a:prstGeom>
          <a:noFill/>
          <a:ln/>
        </p:spPr>
        <p:txBody>
          <a:bodyPr wrap="square" rtlCol="0" anchor="t"/>
          <a:lstStyle/>
          <a:p>
            <a:pPr indent="0" marL="0">
              <a:buNone/>
            </a:pPr>
            <a:r>
              <a:rPr lang="en-US" sz="1200" dirty="0">
                <a:solidFill>
                  <a:srgbClr val="F4F1EC"/>
                </a:solidFill>
                <a:latin typeface="Calibri" pitchFamily="34" charset="0"/>
                <a:ea typeface="Calibri" pitchFamily="34" charset="-122"/>
                <a:cs typeface="Calibri" pitchFamily="34" charset="-120"/>
              </a:rPr>
              <a:t>OBSERVATION</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Humans: 46 chromosomes (2n=46)</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Chimpanzees: 48 chromosomes (2n=48)</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Gorillas, orangutans: 48 chromosomes</a:t>
            </a:r>
            <a:endParaRPr lang="en-US" sz="1200" dirty="0"/>
          </a:p>
          <a:p>
            <a:pPr indent="0" marL="0">
              <a:buNone/>
            </a:pP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PREDICTION (if humans derived from ancestor</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with 48 chromosomes):</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One human chromosome should be a</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fusion of two ancestral chromosomes</a:t>
            </a:r>
            <a:endParaRPr lang="en-US" sz="1200" dirty="0"/>
          </a:p>
          <a:p>
            <a:pPr indent="0" marL="0">
              <a:buNone/>
            </a:pP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EVIDENCE (Ijdo et al. 1991)</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Human chromosome 2:</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Has TWO centromeres (one inactive)</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Has TWO telomere sequences facing</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INWARD (not at ends, as normal)</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Gene order matches chimp chr 2p + 2q</a:t>
            </a:r>
            <a:endParaRPr lang="en-US" sz="1200" dirty="0"/>
          </a:p>
          <a:p>
            <a:pPr indent="0" marL="0">
              <a:buNone/>
            </a:pP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CONCLUSION</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Human chr 2 is a head-to-head fusion</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of two ancestral ape chromosomes</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This is a specific, testable, and</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confirmed molecular prediction</a:t>
            </a:r>
            <a:endParaRPr lang="en-US" sz="1200" dirty="0"/>
          </a:p>
        </p:txBody>
      </p:sp>
      <p:sp>
        <p:nvSpPr>
          <p:cNvPr id="10" name="Shape 8"/>
          <p:cNvSpPr/>
          <p:nvPr/>
        </p:nvSpPr>
        <p:spPr>
          <a:xfrm>
            <a:off x="274320" y="4297680"/>
            <a:ext cx="8595360" cy="621792"/>
          </a:xfrm>
          <a:prstGeom prst="rect">
            <a:avLst/>
          </a:prstGeom>
          <a:solidFill>
            <a:srgbClr val="1C2B1E"/>
          </a:solidFill>
          <a:ln w="12700">
            <a:solidFill>
              <a:srgbClr val="1C2B1E"/>
            </a:solidFill>
            <a:prstDash val="solid"/>
          </a:ln>
        </p:spPr>
      </p:sp>
      <p:sp>
        <p:nvSpPr>
          <p:cNvPr id="11" name="Text 9"/>
          <p:cNvSpPr/>
          <p:nvPr/>
        </p:nvSpPr>
        <p:spPr>
          <a:xfrm>
            <a:off x="274320" y="4297680"/>
            <a:ext cx="8595360" cy="621792"/>
          </a:xfrm>
          <a:prstGeom prst="rect">
            <a:avLst/>
          </a:prstGeom>
          <a:noFill/>
          <a:ln/>
        </p:spPr>
        <p:txBody>
          <a:bodyPr wrap="square" lIns="1524" tIns="1524" rIns="1524" bIns="1524" rtlCol="0" anchor="ctr"/>
          <a:lstStyle/>
          <a:p>
            <a:pPr indent="0" marL="0">
              <a:buNone/>
            </a:pPr>
            <a:r>
              <a:rPr lang="en-US" sz="1100" b="1" dirty="0">
                <a:solidFill>
                  <a:srgbClr val="C8791E"/>
                </a:solidFill>
                <a:latin typeface="Calibri" pitchFamily="34" charset="0"/>
                <a:ea typeface="Calibri" pitchFamily="34" charset="-122"/>
                <a:cs typeface="Calibri" pitchFamily="34" charset="-120"/>
              </a:rPr>
              <a:t>Chromosome 2 Fusion: </a:t>
            </a:r>
            <a:pPr indent="0" marL="0">
              <a:buNone/>
            </a:pPr>
            <a:r>
              <a:rPr lang="en-US" sz="1100" dirty="0">
                <a:solidFill>
                  <a:srgbClr val="F4F1EC"/>
                </a:solidFill>
                <a:latin typeface="Calibri" pitchFamily="34" charset="0"/>
                <a:ea typeface="Calibri" pitchFamily="34" charset="-122"/>
                <a:cs typeface="Calibri" pitchFamily="34" charset="-120"/>
              </a:rPr>
              <a:t>Human chromosome 2 is a fusion of two ancestral ape chromosomes, evidenced by the presence of an internal centromere remnant and inward-facing telomere sequences. Explains why humans have 2n=46 while other great apes have 2n=48.</a:t>
            </a:r>
            <a:endParaRPr lang="en-US" sz="1100" dirty="0"/>
          </a:p>
        </p:txBody>
      </p:sp>
      <p:sp>
        <p:nvSpPr>
          <p:cNvPr id="12" name="Text 10"/>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9 / 99</a:t>
            </a:r>
            <a:endParaRPr lang="en-US" sz="900" dirty="0"/>
          </a:p>
        </p:txBody>
      </p:sp>
      <p:sp>
        <p:nvSpPr>
          <p:cNvPr id="13" name="Text 11"/>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10 — Human Evolution</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7A52"/>
          </a:solidFill>
          <a:ln w="12700">
            <a:solidFill>
              <a:srgbClr val="3D7A52"/>
            </a:solidFill>
            <a:prstDash val="solid"/>
          </a:ln>
        </p:spPr>
      </p:sp>
      <p:sp>
        <p:nvSpPr>
          <p:cNvPr id="3" name="Text 1"/>
          <p:cNvSpPr/>
          <p:nvPr/>
        </p:nvSpPr>
        <p:spPr>
          <a:xfrm>
            <a:off x="274320" y="109728"/>
            <a:ext cx="8595360" cy="256032"/>
          </a:xfrm>
          <a:prstGeom prst="rect">
            <a:avLst/>
          </a:prstGeom>
          <a:noFill/>
          <a:ln/>
        </p:spPr>
        <p:txBody>
          <a:bodyPr wrap="square" rtlCol="0" anchor="ctr"/>
          <a:lstStyle/>
          <a:p>
            <a:pPr indent="0" marL="0">
              <a:buNone/>
            </a:pPr>
            <a:r>
              <a:rPr lang="en-US" sz="850" i="1" spc="100" kern="0" dirty="0">
                <a:solidFill>
                  <a:srgbClr val="8FA898"/>
                </a:solidFill>
                <a:latin typeface="Calibri" pitchFamily="34" charset="0"/>
                <a:ea typeface="Calibri" pitchFamily="34" charset="-122"/>
                <a:cs typeface="Calibri" pitchFamily="34" charset="-120"/>
              </a:rPr>
              <a:t>§10.4 Mitochondrial Eve and Y-Chromosome Adam</a:t>
            </a:r>
            <a:endParaRPr lang="en-US" sz="850" dirty="0"/>
          </a:p>
        </p:txBody>
      </p:sp>
      <p:sp>
        <p:nvSpPr>
          <p:cNvPr id="4" name="Text 2"/>
          <p:cNvSpPr/>
          <p:nvPr/>
        </p:nvSpPr>
        <p:spPr>
          <a:xfrm>
            <a:off x="274320" y="320040"/>
            <a:ext cx="8595360" cy="594360"/>
          </a:xfrm>
          <a:prstGeom prst="rect">
            <a:avLst/>
          </a:prstGeom>
          <a:noFill/>
          <a:ln/>
        </p:spPr>
        <p:txBody>
          <a:bodyPr wrap="square" rtlCol="0" anchor="ctr"/>
          <a:lstStyle/>
          <a:p>
            <a:pPr indent="0" marL="0">
              <a:buNone/>
            </a:pPr>
            <a:r>
              <a:rPr lang="en-US" sz="2400" b="1" dirty="0">
                <a:solidFill>
                  <a:srgbClr val="1C2B1E"/>
                </a:solidFill>
                <a:latin typeface="Georgia" pitchFamily="34" charset="0"/>
                <a:ea typeface="Georgia" pitchFamily="34" charset="-122"/>
                <a:cs typeface="Georgia" pitchFamily="34" charset="-120"/>
              </a:rPr>
              <a:t>Tracing Maternal and Paternal Lineages</a:t>
            </a:r>
            <a:endParaRPr lang="en-US" sz="2400" dirty="0"/>
          </a:p>
        </p:txBody>
      </p:sp>
      <p:sp>
        <p:nvSpPr>
          <p:cNvPr id="5" name="Shape 3"/>
          <p:cNvSpPr/>
          <p:nvPr/>
        </p:nvSpPr>
        <p:spPr>
          <a:xfrm>
            <a:off x="274320" y="868680"/>
            <a:ext cx="8595360" cy="22860"/>
          </a:xfrm>
          <a:prstGeom prst="rect">
            <a:avLst/>
          </a:prstGeom>
          <a:solidFill>
            <a:srgbClr val="E8F0EB"/>
          </a:solidFill>
          <a:ln w="12700">
            <a:solidFill>
              <a:srgbClr val="E8F0EB"/>
            </a:solidFill>
            <a:prstDash val="solid"/>
          </a:ln>
        </p:spPr>
      </p:sp>
      <p:sp>
        <p:nvSpPr>
          <p:cNvPr id="6" name="Text 4"/>
          <p:cNvSpPr/>
          <p:nvPr/>
        </p:nvSpPr>
        <p:spPr>
          <a:xfrm>
            <a:off x="274320" y="960120"/>
            <a:ext cx="4663440" cy="3200400"/>
          </a:xfrm>
          <a:prstGeom prst="rect">
            <a:avLst/>
          </a:prstGeom>
          <a:noFill/>
          <a:ln/>
        </p:spPr>
        <p:txBody>
          <a:bodyPr wrap="square" rtlCol="0" anchor="t"/>
          <a:lstStyle/>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MITOCHONDRIAL DNA: maternally inherited, no recombination, mutates at relatively constant rate</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MITOCHONDRIAL EVE: the most recent common matrilineal ancestor of all living humans — located in Africa ~150–200 ka</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The term does NOT mean she was the only woman alive — all other maternal lineages went extinct by chance</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mtDNA diversity is greatest in Africa and decreases with distance from Africa — consistent with Out of Africa origin</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Y-CHROMOSOME ADAM: the most recent common patrilineal ancestor — also located in Africa, ~200–340 ka</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Both are NOT the same individual and did not necessarily live at the same time or place</a:t>
            </a:r>
            <a:endParaRPr lang="en-US" sz="1300" dirty="0"/>
          </a:p>
        </p:txBody>
      </p:sp>
      <p:sp>
        <p:nvSpPr>
          <p:cNvPr id="7" name="Shape 5"/>
          <p:cNvSpPr/>
          <p:nvPr/>
        </p:nvSpPr>
        <p:spPr>
          <a:xfrm>
            <a:off x="5120640" y="960120"/>
            <a:ext cx="1805940" cy="3474720"/>
          </a:xfrm>
          <a:prstGeom prst="rect">
            <a:avLst/>
          </a:prstGeom>
          <a:solidFill>
            <a:srgbClr val="1C2B1E"/>
          </a:solidFill>
          <a:ln w="6350">
            <a:solidFill>
              <a:srgbClr val="2D5A3D"/>
            </a:solidFill>
            <a:prstDash val="solid"/>
          </a:ln>
        </p:spPr>
      </p:sp>
      <p:sp>
        <p:nvSpPr>
          <p:cNvPr id="8" name="Shape 6"/>
          <p:cNvSpPr/>
          <p:nvPr/>
        </p:nvSpPr>
        <p:spPr>
          <a:xfrm>
            <a:off x="5120640" y="960120"/>
            <a:ext cx="1805940" cy="411480"/>
          </a:xfrm>
          <a:prstGeom prst="rect">
            <a:avLst/>
          </a:prstGeom>
          <a:solidFill>
            <a:srgbClr val="2D5A3D"/>
          </a:solidFill>
          <a:ln w="12700">
            <a:solidFill>
              <a:srgbClr val="2D5A3D"/>
            </a:solidFill>
            <a:prstDash val="solid"/>
          </a:ln>
        </p:spPr>
      </p:sp>
      <p:sp>
        <p:nvSpPr>
          <p:cNvPr id="9" name="Text 7"/>
          <p:cNvSpPr/>
          <p:nvPr/>
        </p:nvSpPr>
        <p:spPr>
          <a:xfrm>
            <a:off x="5212080" y="960120"/>
            <a:ext cx="1714500" cy="411480"/>
          </a:xfrm>
          <a:prstGeom prst="rect">
            <a:avLst/>
          </a:prstGeom>
          <a:noFill/>
          <a:ln/>
        </p:spPr>
        <p:txBody>
          <a:bodyPr wrap="square" lIns="0" tIns="0" rIns="0" bIns="0" rtlCol="0" anchor="ctr"/>
          <a:lstStyle/>
          <a:p>
            <a:pPr indent="0" marL="0">
              <a:buNone/>
            </a:pPr>
            <a:r>
              <a:rPr lang="en-US" sz="1300" b="1" dirty="0">
                <a:solidFill>
                  <a:srgbClr val="FFFFFF"/>
                </a:solidFill>
                <a:latin typeface="Georgia" pitchFamily="34" charset="0"/>
                <a:ea typeface="Georgia" pitchFamily="34" charset="-122"/>
                <a:cs typeface="Georgia" pitchFamily="34" charset="-120"/>
              </a:rPr>
              <a:t>MITOCHONDRIAL EVE</a:t>
            </a:r>
            <a:endParaRPr lang="en-US" sz="1300" dirty="0"/>
          </a:p>
        </p:txBody>
      </p:sp>
      <p:sp>
        <p:nvSpPr>
          <p:cNvPr id="10" name="Text 8"/>
          <p:cNvSpPr/>
          <p:nvPr/>
        </p:nvSpPr>
        <p:spPr>
          <a:xfrm>
            <a:off x="5212080" y="1417320"/>
            <a:ext cx="1668780" cy="2926080"/>
          </a:xfrm>
          <a:prstGeom prst="rect">
            <a:avLst/>
          </a:prstGeom>
          <a:noFill/>
          <a:ln/>
        </p:spPr>
        <p:txBody>
          <a:bodyPr wrap="square" rtlCol="0" anchor="t"/>
          <a:lstStyle/>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Most recent common matrilineal ancestor</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Located in Africa ~150-200 ka</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Traced through mtDNA (maternal)</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Does NOT mean only woman alive</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All other maternal lines went extinct by drift</a:t>
            </a:r>
            <a:endParaRPr lang="en-US" sz="1100" dirty="0"/>
          </a:p>
        </p:txBody>
      </p:sp>
      <p:sp>
        <p:nvSpPr>
          <p:cNvPr id="11" name="Shape 9"/>
          <p:cNvSpPr/>
          <p:nvPr/>
        </p:nvSpPr>
        <p:spPr>
          <a:xfrm>
            <a:off x="7063740" y="960120"/>
            <a:ext cx="1805940" cy="3474720"/>
          </a:xfrm>
          <a:prstGeom prst="rect">
            <a:avLst/>
          </a:prstGeom>
          <a:solidFill>
            <a:srgbClr val="1C2B1E"/>
          </a:solidFill>
          <a:ln w="6350">
            <a:solidFill>
              <a:srgbClr val="C8791E"/>
            </a:solidFill>
            <a:prstDash val="solid"/>
          </a:ln>
        </p:spPr>
      </p:sp>
      <p:sp>
        <p:nvSpPr>
          <p:cNvPr id="12" name="Shape 10"/>
          <p:cNvSpPr/>
          <p:nvPr/>
        </p:nvSpPr>
        <p:spPr>
          <a:xfrm>
            <a:off x="7063740" y="960120"/>
            <a:ext cx="1805940" cy="411480"/>
          </a:xfrm>
          <a:prstGeom prst="rect">
            <a:avLst/>
          </a:prstGeom>
          <a:solidFill>
            <a:srgbClr val="C8791E"/>
          </a:solidFill>
          <a:ln w="12700">
            <a:solidFill>
              <a:srgbClr val="C8791E"/>
            </a:solidFill>
            <a:prstDash val="solid"/>
          </a:ln>
        </p:spPr>
      </p:sp>
      <p:sp>
        <p:nvSpPr>
          <p:cNvPr id="13" name="Text 11"/>
          <p:cNvSpPr/>
          <p:nvPr/>
        </p:nvSpPr>
        <p:spPr>
          <a:xfrm>
            <a:off x="7155180" y="960120"/>
            <a:ext cx="1714500" cy="411480"/>
          </a:xfrm>
          <a:prstGeom prst="rect">
            <a:avLst/>
          </a:prstGeom>
          <a:noFill/>
          <a:ln/>
        </p:spPr>
        <p:txBody>
          <a:bodyPr wrap="square" lIns="0" tIns="0" rIns="0" bIns="0" rtlCol="0" anchor="ctr"/>
          <a:lstStyle/>
          <a:p>
            <a:pPr indent="0" marL="0">
              <a:buNone/>
            </a:pPr>
            <a:r>
              <a:rPr lang="en-US" sz="1300" b="1" dirty="0">
                <a:solidFill>
                  <a:srgbClr val="FFFFFF"/>
                </a:solidFill>
                <a:latin typeface="Georgia" pitchFamily="34" charset="0"/>
                <a:ea typeface="Georgia" pitchFamily="34" charset="-122"/>
                <a:cs typeface="Georgia" pitchFamily="34" charset="-120"/>
              </a:rPr>
              <a:t>Y-CHROMOSOME ADAM</a:t>
            </a:r>
            <a:endParaRPr lang="en-US" sz="1300" dirty="0"/>
          </a:p>
        </p:txBody>
      </p:sp>
      <p:sp>
        <p:nvSpPr>
          <p:cNvPr id="14" name="Text 12"/>
          <p:cNvSpPr/>
          <p:nvPr/>
        </p:nvSpPr>
        <p:spPr>
          <a:xfrm>
            <a:off x="7155180" y="1417320"/>
            <a:ext cx="1668780" cy="2926080"/>
          </a:xfrm>
          <a:prstGeom prst="rect">
            <a:avLst/>
          </a:prstGeom>
          <a:noFill/>
          <a:ln/>
        </p:spPr>
        <p:txBody>
          <a:bodyPr wrap="square" rtlCol="0" anchor="t"/>
          <a:lstStyle/>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Most recent common patrilineal ancestor</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Located in Africa ~200-340 ka</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Traced through Y chromosome (paternal)</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Does NOT mean only man alive</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Two are NOT partners or contemporaries</a:t>
            </a:r>
            <a:endParaRPr lang="en-US" sz="1100" dirty="0"/>
          </a:p>
        </p:txBody>
      </p:sp>
      <p:sp>
        <p:nvSpPr>
          <p:cNvPr id="15" name="Shape 13"/>
          <p:cNvSpPr/>
          <p:nvPr/>
        </p:nvSpPr>
        <p:spPr>
          <a:xfrm>
            <a:off x="274320" y="4297680"/>
            <a:ext cx="8595360" cy="621792"/>
          </a:xfrm>
          <a:prstGeom prst="rect">
            <a:avLst/>
          </a:prstGeom>
          <a:solidFill>
            <a:srgbClr val="1C2B1E"/>
          </a:solidFill>
          <a:ln w="12700">
            <a:solidFill>
              <a:srgbClr val="1C2B1E"/>
            </a:solidFill>
            <a:prstDash val="solid"/>
          </a:ln>
        </p:spPr>
      </p:sp>
      <p:sp>
        <p:nvSpPr>
          <p:cNvPr id="16" name="Text 14"/>
          <p:cNvSpPr/>
          <p:nvPr/>
        </p:nvSpPr>
        <p:spPr>
          <a:xfrm>
            <a:off x="274320" y="4297680"/>
            <a:ext cx="8595360" cy="621792"/>
          </a:xfrm>
          <a:prstGeom prst="rect">
            <a:avLst/>
          </a:prstGeom>
          <a:noFill/>
          <a:ln/>
        </p:spPr>
        <p:txBody>
          <a:bodyPr wrap="square" lIns="1524" tIns="1524" rIns="1524" bIns="1524" rtlCol="0" anchor="ctr"/>
          <a:lstStyle/>
          <a:p>
            <a:pPr indent="0" marL="0">
              <a:buNone/>
            </a:pPr>
            <a:r>
              <a:rPr lang="en-US" sz="1100" b="1" dirty="0">
                <a:solidFill>
                  <a:srgbClr val="C8791E"/>
                </a:solidFill>
                <a:latin typeface="Calibri" pitchFamily="34" charset="0"/>
                <a:ea typeface="Calibri" pitchFamily="34" charset="-122"/>
                <a:cs typeface="Calibri" pitchFamily="34" charset="-120"/>
              </a:rPr>
              <a:t>Mitochondrial Eve: </a:t>
            </a:r>
            <a:pPr indent="0" marL="0">
              <a:buNone/>
            </a:pPr>
            <a:r>
              <a:rPr lang="en-US" sz="1100" dirty="0">
                <a:solidFill>
                  <a:srgbClr val="F4F1EC"/>
                </a:solidFill>
                <a:latin typeface="Calibri" pitchFamily="34" charset="0"/>
                <a:ea typeface="Calibri" pitchFamily="34" charset="-122"/>
                <a:cs typeface="Calibri" pitchFamily="34" charset="-120"/>
              </a:rPr>
              <a:t>The most recent common matrilineal ancestor of all living humans, inferred from coalescence of mitochondrial lineages. Located in Africa ~150–200 ka. All other maternal lineages went extinct by random genetic drift — she was not the only woman alive at that time.</a:t>
            </a:r>
            <a:endParaRPr lang="en-US" sz="1100" dirty="0"/>
          </a:p>
        </p:txBody>
      </p:sp>
      <p:sp>
        <p:nvSpPr>
          <p:cNvPr id="17" name="Text 15"/>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10 / 99</a:t>
            </a:r>
            <a:endParaRPr lang="en-US" sz="900" dirty="0"/>
          </a:p>
        </p:txBody>
      </p:sp>
      <p:sp>
        <p:nvSpPr>
          <p:cNvPr id="18" name="Text 16"/>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10 — Human Evolution</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7A52"/>
          </a:solidFill>
          <a:ln w="12700">
            <a:solidFill>
              <a:srgbClr val="3D7A52"/>
            </a:solidFill>
            <a:prstDash val="solid"/>
          </a:ln>
        </p:spPr>
      </p:sp>
      <p:sp>
        <p:nvSpPr>
          <p:cNvPr id="3" name="Text 1"/>
          <p:cNvSpPr/>
          <p:nvPr/>
        </p:nvSpPr>
        <p:spPr>
          <a:xfrm>
            <a:off x="274320" y="109728"/>
            <a:ext cx="8595360" cy="256032"/>
          </a:xfrm>
          <a:prstGeom prst="rect">
            <a:avLst/>
          </a:prstGeom>
          <a:noFill/>
          <a:ln/>
        </p:spPr>
        <p:txBody>
          <a:bodyPr wrap="square" rtlCol="0" anchor="ctr"/>
          <a:lstStyle/>
          <a:p>
            <a:pPr indent="0" marL="0">
              <a:buNone/>
            </a:pPr>
            <a:r>
              <a:rPr lang="en-US" sz="850" i="1" spc="100" kern="0" dirty="0">
                <a:solidFill>
                  <a:srgbClr val="8FA898"/>
                </a:solidFill>
                <a:latin typeface="Calibri" pitchFamily="34" charset="0"/>
                <a:ea typeface="Calibri" pitchFamily="34" charset="-122"/>
                <a:cs typeface="Calibri" pitchFamily="34" charset="-120"/>
              </a:rPr>
              <a:t>§10.4 Neanderthals and Ancient DNA</a:t>
            </a:r>
            <a:endParaRPr lang="en-US" sz="850" dirty="0"/>
          </a:p>
        </p:txBody>
      </p:sp>
      <p:sp>
        <p:nvSpPr>
          <p:cNvPr id="4" name="Text 2"/>
          <p:cNvSpPr/>
          <p:nvPr/>
        </p:nvSpPr>
        <p:spPr>
          <a:xfrm>
            <a:off x="274320" y="320040"/>
            <a:ext cx="8595360" cy="594360"/>
          </a:xfrm>
          <a:prstGeom prst="rect">
            <a:avLst/>
          </a:prstGeom>
          <a:noFill/>
          <a:ln/>
        </p:spPr>
        <p:txBody>
          <a:bodyPr wrap="square" rtlCol="0" anchor="ctr"/>
          <a:lstStyle/>
          <a:p>
            <a:pPr indent="0" marL="0">
              <a:buNone/>
            </a:pPr>
            <a:r>
              <a:rPr lang="en-US" sz="2400" b="1" dirty="0">
                <a:solidFill>
                  <a:srgbClr val="1C2B1E"/>
                </a:solidFill>
                <a:latin typeface="Georgia" pitchFamily="34" charset="0"/>
                <a:ea typeface="Georgia" pitchFamily="34" charset="-122"/>
                <a:cs typeface="Georgia" pitchFamily="34" charset="-120"/>
              </a:rPr>
              <a:t>Interbreeding After Out of Africa</a:t>
            </a:r>
            <a:endParaRPr lang="en-US" sz="2400" dirty="0"/>
          </a:p>
        </p:txBody>
      </p:sp>
      <p:sp>
        <p:nvSpPr>
          <p:cNvPr id="5" name="Shape 3"/>
          <p:cNvSpPr/>
          <p:nvPr/>
        </p:nvSpPr>
        <p:spPr>
          <a:xfrm>
            <a:off x="274320" y="868680"/>
            <a:ext cx="8595360" cy="22860"/>
          </a:xfrm>
          <a:prstGeom prst="rect">
            <a:avLst/>
          </a:prstGeom>
          <a:solidFill>
            <a:srgbClr val="E8F0EB"/>
          </a:solidFill>
          <a:ln w="12700">
            <a:solidFill>
              <a:srgbClr val="E8F0EB"/>
            </a:solidFill>
            <a:prstDash val="solid"/>
          </a:ln>
        </p:spPr>
      </p:sp>
      <p:sp>
        <p:nvSpPr>
          <p:cNvPr id="6" name="Text 4"/>
          <p:cNvSpPr/>
          <p:nvPr/>
        </p:nvSpPr>
        <p:spPr>
          <a:xfrm>
            <a:off x="274320" y="960120"/>
            <a:ext cx="4663440" cy="3200400"/>
          </a:xfrm>
          <a:prstGeom prst="rect">
            <a:avLst/>
          </a:prstGeom>
          <a:noFill/>
          <a:ln/>
        </p:spPr>
        <p:txBody>
          <a:bodyPr wrap="square" rtlCol="0" anchor="t"/>
          <a:lstStyle/>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Neanderthals (Homo neanderthalensis): ~400–40 ka in Europe and western Asia; brain size equal to or larger than modern H. sapiens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Svante Pääbo et al. (2010): sequenced the Neanderthal nuclear genome from Croatian cave specimens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KEY FINDING: modern non-African humans carry 1–4% Neanderthal DNA — interbreeding occurred as H. sapiens dispersed out of Africa</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African populations carry no or negligible Neanderthal ancestry (they diverged before the H. sapiens dispersal)</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DENISOVANS: a separate archaic hominin known from a finger bone in Siberia — Melanesian and Australian populations carry 3–5% Denisovan DNA</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The modern human gene pool includes contributions from at least three archaic lineages: H. sapiens, Neanderthals, Denisovans</a:t>
            </a:r>
            <a:endParaRPr lang="en-US" sz="1300" dirty="0"/>
          </a:p>
        </p:txBody>
      </p:sp>
      <p:sp>
        <p:nvSpPr>
          <p:cNvPr id="7" name="Shape 5"/>
          <p:cNvSpPr/>
          <p:nvPr/>
        </p:nvSpPr>
        <p:spPr>
          <a:xfrm>
            <a:off x="5120640" y="960120"/>
            <a:ext cx="3749040" cy="3474720"/>
          </a:xfrm>
          <a:prstGeom prst="rect">
            <a:avLst/>
          </a:prstGeom>
          <a:solidFill>
            <a:srgbClr val="243228"/>
          </a:solidFill>
          <a:ln w="6350">
            <a:solidFill>
              <a:srgbClr val="3D7A52"/>
            </a:solidFill>
            <a:prstDash val="solid"/>
          </a:ln>
        </p:spPr>
      </p:sp>
      <p:sp>
        <p:nvSpPr>
          <p:cNvPr id="8" name="Text 6"/>
          <p:cNvSpPr/>
          <p:nvPr/>
        </p:nvSpPr>
        <p:spPr>
          <a:xfrm>
            <a:off x="5257800" y="1097280"/>
            <a:ext cx="3474720" cy="457200"/>
          </a:xfrm>
          <a:prstGeom prst="rect">
            <a:avLst/>
          </a:prstGeom>
          <a:noFill/>
          <a:ln/>
        </p:spPr>
        <p:txBody>
          <a:bodyPr wrap="square" rtlCol="0" anchor="ctr"/>
          <a:lstStyle/>
          <a:p>
            <a:pPr indent="0" marL="0">
              <a:buNone/>
            </a:pPr>
            <a:r>
              <a:rPr lang="en-US" sz="1300" b="1" dirty="0">
                <a:solidFill>
                  <a:srgbClr val="C8791E"/>
                </a:solidFill>
                <a:latin typeface="Georgia" pitchFamily="34" charset="0"/>
                <a:ea typeface="Georgia" pitchFamily="34" charset="-122"/>
                <a:cs typeface="Georgia" pitchFamily="34" charset="-120"/>
              </a:rPr>
              <a:t>Archaic Introgression into Modern Humans</a:t>
            </a:r>
            <a:endParaRPr lang="en-US" sz="1300" dirty="0"/>
          </a:p>
        </p:txBody>
      </p:sp>
      <p:sp>
        <p:nvSpPr>
          <p:cNvPr id="9" name="Text 7"/>
          <p:cNvSpPr/>
          <p:nvPr/>
        </p:nvSpPr>
        <p:spPr>
          <a:xfrm>
            <a:off x="5257800" y="1600200"/>
            <a:ext cx="3474720" cy="2651760"/>
          </a:xfrm>
          <a:prstGeom prst="rect">
            <a:avLst/>
          </a:prstGeom>
          <a:noFill/>
          <a:ln/>
        </p:spPr>
        <p:txBody>
          <a:bodyPr wrap="square" rtlCol="0" anchor="t"/>
          <a:lstStyle/>
          <a:p>
            <a:pPr indent="0" marL="0">
              <a:buNone/>
            </a:pPr>
            <a:r>
              <a:rPr lang="en-US" sz="1200" dirty="0">
                <a:solidFill>
                  <a:srgbClr val="F4F1EC"/>
                </a:solidFill>
                <a:latin typeface="Calibri" pitchFamily="34" charset="0"/>
                <a:ea typeface="Calibri" pitchFamily="34" charset="-122"/>
                <a:cs typeface="Calibri" pitchFamily="34" charset="-120"/>
              </a:rPr>
              <a:t>NEANDERTHAL INTROGRESSION</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Modern non-African humans: 1-4% Neanderthal</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Where: Near East / Western Asia</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(time of H. sapiens dispersal ~70 ka)</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African populations: no Neanderthal ancestry</a:t>
            </a:r>
            <a:endParaRPr lang="en-US" sz="1200" dirty="0"/>
          </a:p>
          <a:p>
            <a:pPr indent="0" marL="0">
              <a:buNone/>
            </a:pP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DENISOVAN INTROGRESSION</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Melanesians, Papuans, Aboriginal Australians:</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3-5% Denisovan ancestry</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East Asians: trace amounts (~0.2%)</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Source: Denisovans in eastern Asia</a:t>
            </a:r>
            <a:endParaRPr lang="en-US" sz="1200" dirty="0"/>
          </a:p>
          <a:p>
            <a:pPr indent="0" marL="0">
              <a:buNone/>
            </a:pP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FUNCTIONAL CONSEQUENCES</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Some introgressed sequences are adaptive:</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 EPAS1 (altitude adaptation in Tibetans)</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from Denisovans</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 Some immune system variants (HLA alleles)</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from Neanderthals</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 Some risk alleles for modern diseases</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also introduced through introgression</a:t>
            </a:r>
            <a:endParaRPr lang="en-US" sz="1200" dirty="0"/>
          </a:p>
        </p:txBody>
      </p:sp>
      <p:sp>
        <p:nvSpPr>
          <p:cNvPr id="10" name="Shape 8"/>
          <p:cNvSpPr/>
          <p:nvPr/>
        </p:nvSpPr>
        <p:spPr>
          <a:xfrm>
            <a:off x="274320" y="4297680"/>
            <a:ext cx="8595360" cy="621792"/>
          </a:xfrm>
          <a:prstGeom prst="rect">
            <a:avLst/>
          </a:prstGeom>
          <a:solidFill>
            <a:srgbClr val="1C2B1E"/>
          </a:solidFill>
          <a:ln w="12700">
            <a:solidFill>
              <a:srgbClr val="1C2B1E"/>
            </a:solidFill>
            <a:prstDash val="solid"/>
          </a:ln>
        </p:spPr>
      </p:sp>
      <p:sp>
        <p:nvSpPr>
          <p:cNvPr id="11" name="Text 9"/>
          <p:cNvSpPr/>
          <p:nvPr/>
        </p:nvSpPr>
        <p:spPr>
          <a:xfrm>
            <a:off x="274320" y="4297680"/>
            <a:ext cx="8595360" cy="621792"/>
          </a:xfrm>
          <a:prstGeom prst="rect">
            <a:avLst/>
          </a:prstGeom>
          <a:noFill/>
          <a:ln/>
        </p:spPr>
        <p:txBody>
          <a:bodyPr wrap="square" lIns="1524" tIns="1524" rIns="1524" bIns="1524" rtlCol="0" anchor="ctr"/>
          <a:lstStyle/>
          <a:p>
            <a:pPr indent="0" marL="0">
              <a:buNone/>
            </a:pPr>
            <a:r>
              <a:rPr lang="en-US" sz="1100" b="1" dirty="0">
                <a:solidFill>
                  <a:srgbClr val="C8791E"/>
                </a:solidFill>
                <a:latin typeface="Calibri" pitchFamily="34" charset="0"/>
                <a:ea typeface="Calibri" pitchFamily="34" charset="-122"/>
                <a:cs typeface="Calibri" pitchFamily="34" charset="-120"/>
              </a:rPr>
              <a:t>Archaic Introgression: </a:t>
            </a:r>
            <a:pPr indent="0" marL="0">
              <a:buNone/>
            </a:pPr>
            <a:r>
              <a:rPr lang="en-US" sz="1100" dirty="0">
                <a:solidFill>
                  <a:srgbClr val="F4F1EC"/>
                </a:solidFill>
                <a:latin typeface="Calibri" pitchFamily="34" charset="0"/>
                <a:ea typeface="Calibri" pitchFamily="34" charset="-122"/>
                <a:cs typeface="Calibri" pitchFamily="34" charset="-120"/>
              </a:rPr>
              <a:t>The transfer of genetic material from archaic hominin populations (Neanderthals, Denisovans) into anatomically modern Homo sapiens through interbreeding. Modern non-African humans carry 1–4% Neanderthal and some populations carry 3–5% Denisovan ancestry.</a:t>
            </a:r>
            <a:endParaRPr lang="en-US" sz="1100" dirty="0"/>
          </a:p>
        </p:txBody>
      </p:sp>
      <p:sp>
        <p:nvSpPr>
          <p:cNvPr id="12" name="Text 10"/>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11 / 99</a:t>
            </a:r>
            <a:endParaRPr lang="en-US" sz="900" dirty="0"/>
          </a:p>
        </p:txBody>
      </p:sp>
      <p:sp>
        <p:nvSpPr>
          <p:cNvPr id="13" name="Text 11"/>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10 — Human Evolution</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7A52"/>
          </a:solidFill>
          <a:ln w="12700">
            <a:solidFill>
              <a:srgbClr val="3D7A52"/>
            </a:solidFill>
            <a:prstDash val="solid"/>
          </a:ln>
        </p:spPr>
      </p:sp>
      <p:sp>
        <p:nvSpPr>
          <p:cNvPr id="3" name="Text 1"/>
          <p:cNvSpPr/>
          <p:nvPr/>
        </p:nvSpPr>
        <p:spPr>
          <a:xfrm>
            <a:off x="274320" y="109728"/>
            <a:ext cx="8595360" cy="256032"/>
          </a:xfrm>
          <a:prstGeom prst="rect">
            <a:avLst/>
          </a:prstGeom>
          <a:noFill/>
          <a:ln/>
        </p:spPr>
        <p:txBody>
          <a:bodyPr wrap="square" rtlCol="0" anchor="ctr"/>
          <a:lstStyle/>
          <a:p>
            <a:pPr indent="0" marL="0">
              <a:buNone/>
            </a:pPr>
            <a:r>
              <a:rPr lang="en-US" sz="850" i="1" spc="100" kern="0" dirty="0">
                <a:solidFill>
                  <a:srgbClr val="8FA898"/>
                </a:solidFill>
                <a:latin typeface="Calibri" pitchFamily="34" charset="0"/>
                <a:ea typeface="Calibri" pitchFamily="34" charset="-122"/>
                <a:cs typeface="Calibri" pitchFamily="34" charset="-120"/>
              </a:rPr>
              <a:t>§10.5 Multiple Sequence Alignment</a:t>
            </a:r>
            <a:endParaRPr lang="en-US" sz="850" dirty="0"/>
          </a:p>
        </p:txBody>
      </p:sp>
      <p:sp>
        <p:nvSpPr>
          <p:cNvPr id="4" name="Text 2"/>
          <p:cNvSpPr/>
          <p:nvPr/>
        </p:nvSpPr>
        <p:spPr>
          <a:xfrm>
            <a:off x="274320" y="320040"/>
            <a:ext cx="8595360" cy="594360"/>
          </a:xfrm>
          <a:prstGeom prst="rect">
            <a:avLst/>
          </a:prstGeom>
          <a:noFill/>
          <a:ln/>
        </p:spPr>
        <p:txBody>
          <a:bodyPr wrap="square" rtlCol="0" anchor="ctr"/>
          <a:lstStyle/>
          <a:p>
            <a:pPr indent="0" marL="0">
              <a:buNone/>
            </a:pPr>
            <a:r>
              <a:rPr lang="en-US" sz="2400" b="1" dirty="0">
                <a:solidFill>
                  <a:srgbClr val="1C2B1E"/>
                </a:solidFill>
                <a:latin typeface="Georgia" pitchFamily="34" charset="0"/>
                <a:ea typeface="Georgia" pitchFamily="34" charset="-122"/>
                <a:cs typeface="Georgia" pitchFamily="34" charset="-120"/>
              </a:rPr>
              <a:t>Step 1: Aligning Homologous Positions</a:t>
            </a:r>
            <a:endParaRPr lang="en-US" sz="2400" dirty="0"/>
          </a:p>
        </p:txBody>
      </p:sp>
      <p:sp>
        <p:nvSpPr>
          <p:cNvPr id="5" name="Shape 3"/>
          <p:cNvSpPr/>
          <p:nvPr/>
        </p:nvSpPr>
        <p:spPr>
          <a:xfrm>
            <a:off x="274320" y="868680"/>
            <a:ext cx="8595360" cy="22860"/>
          </a:xfrm>
          <a:prstGeom prst="rect">
            <a:avLst/>
          </a:prstGeom>
          <a:solidFill>
            <a:srgbClr val="E8F0EB"/>
          </a:solidFill>
          <a:ln w="12700">
            <a:solidFill>
              <a:srgbClr val="E8F0EB"/>
            </a:solidFill>
            <a:prstDash val="solid"/>
          </a:ln>
        </p:spPr>
      </p:sp>
      <p:sp>
        <p:nvSpPr>
          <p:cNvPr id="6" name="Text 4"/>
          <p:cNvSpPr/>
          <p:nvPr/>
        </p:nvSpPr>
        <p:spPr>
          <a:xfrm>
            <a:off x="274320" y="960120"/>
            <a:ext cx="4663440" cy="3200400"/>
          </a:xfrm>
          <a:prstGeom prst="rect">
            <a:avLst/>
          </a:prstGeom>
          <a:noFill/>
          <a:ln/>
        </p:spPr>
        <p:txBody>
          <a:bodyPr wrap="square" rtlCol="0" anchor="t"/>
          <a:lstStyle/>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Before building a phylogenetic tree, gene sequences from different organisms must be ALIGNED</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Alignment assumption: sequences in the same column are homologous — descended from the same position in the ancestor</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Gaps (—) are inserted to account for insertions and deletions (indels) during evolution</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ClustalX (ClustalW): progressive pairwise alignment algorithm — most commonly used for teaching and moderate numbers of sequences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MUSCLE, MAFFT: more accurate for large datasets or sequences with extensive indels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CRITICAL: a poor alignment produces a poor tree regardless of how sophisticated the tree-building method is — "garbage in, garbage out"</a:t>
            </a:r>
            <a:endParaRPr lang="en-US" sz="1300" dirty="0"/>
          </a:p>
        </p:txBody>
      </p:sp>
      <p:sp>
        <p:nvSpPr>
          <p:cNvPr id="7" name="Shape 5"/>
          <p:cNvSpPr/>
          <p:nvPr/>
        </p:nvSpPr>
        <p:spPr>
          <a:xfrm>
            <a:off x="5120640" y="960120"/>
            <a:ext cx="3749040" cy="3474720"/>
          </a:xfrm>
          <a:prstGeom prst="rect">
            <a:avLst/>
          </a:prstGeom>
          <a:solidFill>
            <a:srgbClr val="243228"/>
          </a:solidFill>
          <a:ln w="6350">
            <a:solidFill>
              <a:srgbClr val="3D7A52"/>
            </a:solidFill>
            <a:prstDash val="solid"/>
          </a:ln>
        </p:spPr>
      </p:sp>
      <p:sp>
        <p:nvSpPr>
          <p:cNvPr id="8" name="Text 6"/>
          <p:cNvSpPr/>
          <p:nvPr/>
        </p:nvSpPr>
        <p:spPr>
          <a:xfrm>
            <a:off x="5257800" y="1097280"/>
            <a:ext cx="3474720" cy="457200"/>
          </a:xfrm>
          <a:prstGeom prst="rect">
            <a:avLst/>
          </a:prstGeom>
          <a:noFill/>
          <a:ln/>
        </p:spPr>
        <p:txBody>
          <a:bodyPr wrap="square" rtlCol="0" anchor="ctr"/>
          <a:lstStyle/>
          <a:p>
            <a:pPr indent="0" marL="0">
              <a:buNone/>
            </a:pPr>
            <a:r>
              <a:rPr lang="en-US" sz="1300" b="1" dirty="0">
                <a:solidFill>
                  <a:srgbClr val="C8791E"/>
                </a:solidFill>
                <a:latin typeface="Georgia" pitchFamily="34" charset="0"/>
                <a:ea typeface="Georgia" pitchFamily="34" charset="-122"/>
                <a:cs typeface="Georgia" pitchFamily="34" charset="-120"/>
              </a:rPr>
              <a:t>What Alignment Achieves</a:t>
            </a:r>
            <a:endParaRPr lang="en-US" sz="1300" dirty="0"/>
          </a:p>
        </p:txBody>
      </p:sp>
      <p:sp>
        <p:nvSpPr>
          <p:cNvPr id="9" name="Text 7"/>
          <p:cNvSpPr/>
          <p:nvPr/>
        </p:nvSpPr>
        <p:spPr>
          <a:xfrm>
            <a:off x="5257800" y="1600200"/>
            <a:ext cx="3474720" cy="2651760"/>
          </a:xfrm>
          <a:prstGeom prst="rect">
            <a:avLst/>
          </a:prstGeom>
          <a:noFill/>
          <a:ln/>
        </p:spPr>
        <p:txBody>
          <a:bodyPr wrap="square" rtlCol="0" anchor="t"/>
          <a:lstStyle/>
          <a:p>
            <a:pPr indent="0" marL="0">
              <a:buNone/>
            </a:pPr>
            <a:r>
              <a:rPr lang="en-US" sz="1200" dirty="0">
                <a:solidFill>
                  <a:srgbClr val="F4F1EC"/>
                </a:solidFill>
                <a:latin typeface="Calibri" pitchFamily="34" charset="0"/>
                <a:ea typeface="Calibri" pitchFamily="34" charset="-122"/>
                <a:cs typeface="Calibri" pitchFamily="34" charset="-120"/>
              </a:rPr>
              <a:t>BEFORE ALIGNMENT (raw sequences)</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Human:  ATGCAACTG--GCTA</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Chimp:  ATGCAACTGGAGCTA</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Gorilla: ATGCAAC-GGAGCTA</a:t>
            </a:r>
            <a:endParaRPr lang="en-US" sz="1200" dirty="0"/>
          </a:p>
          <a:p>
            <a:pPr indent="0" marL="0">
              <a:buNone/>
            </a:pP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AFTER ALIGNMENT (ClustalX)</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Human:  ATGCAACTG--GCTA</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Chimp:  ATGCAACTGGAGCTA</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Gorilla: ATGCAAC-GGAGCTA</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This column is homologous:</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each base is descendant</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of the same ancestral position</a:t>
            </a:r>
            <a:endParaRPr lang="en-US" sz="1200" dirty="0"/>
          </a:p>
          <a:p>
            <a:pPr indent="0" marL="0">
              <a:buNone/>
            </a:pP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GAPS (--) inserted to align</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homologous positions</a:t>
            </a:r>
            <a:endParaRPr lang="en-US" sz="1200" dirty="0"/>
          </a:p>
          <a:p>
            <a:pPr indent="0" marL="0">
              <a:buNone/>
            </a:pP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CRITICAL</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Wrong alignment → wrong tree</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Quality check: conserved regions</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should align without gaps</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MUSCLE/MAFFT more accurate for</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divergent sequences</a:t>
            </a:r>
            <a:endParaRPr lang="en-US" sz="1200" dirty="0"/>
          </a:p>
        </p:txBody>
      </p:sp>
      <p:sp>
        <p:nvSpPr>
          <p:cNvPr id="10" name="Shape 8"/>
          <p:cNvSpPr/>
          <p:nvPr/>
        </p:nvSpPr>
        <p:spPr>
          <a:xfrm>
            <a:off x="274320" y="4297680"/>
            <a:ext cx="8595360" cy="621792"/>
          </a:xfrm>
          <a:prstGeom prst="rect">
            <a:avLst/>
          </a:prstGeom>
          <a:solidFill>
            <a:srgbClr val="1C2B1E"/>
          </a:solidFill>
          <a:ln w="12700">
            <a:solidFill>
              <a:srgbClr val="1C2B1E"/>
            </a:solidFill>
            <a:prstDash val="solid"/>
          </a:ln>
        </p:spPr>
      </p:sp>
      <p:sp>
        <p:nvSpPr>
          <p:cNvPr id="11" name="Text 9"/>
          <p:cNvSpPr/>
          <p:nvPr/>
        </p:nvSpPr>
        <p:spPr>
          <a:xfrm>
            <a:off x="274320" y="4297680"/>
            <a:ext cx="8595360" cy="621792"/>
          </a:xfrm>
          <a:prstGeom prst="rect">
            <a:avLst/>
          </a:prstGeom>
          <a:noFill/>
          <a:ln/>
        </p:spPr>
        <p:txBody>
          <a:bodyPr wrap="square" lIns="1524" tIns="1524" rIns="1524" bIns="1524" rtlCol="0" anchor="ctr"/>
          <a:lstStyle/>
          <a:p>
            <a:pPr indent="0" marL="0">
              <a:buNone/>
            </a:pPr>
            <a:r>
              <a:rPr lang="en-US" sz="1100" b="1" dirty="0">
                <a:solidFill>
                  <a:srgbClr val="C8791E"/>
                </a:solidFill>
                <a:latin typeface="Calibri" pitchFamily="34" charset="0"/>
                <a:ea typeface="Calibri" pitchFamily="34" charset="-122"/>
                <a:cs typeface="Calibri" pitchFamily="34" charset="-120"/>
              </a:rPr>
              <a:t>Multiple Sequence Alignment: </a:t>
            </a:r>
            <a:pPr indent="0" marL="0">
              <a:buNone/>
            </a:pPr>
            <a:r>
              <a:rPr lang="en-US" sz="1100" dirty="0">
                <a:solidFill>
                  <a:srgbClr val="F4F1EC"/>
                </a:solidFill>
                <a:latin typeface="Calibri" pitchFamily="34" charset="0"/>
                <a:ea typeface="Calibri" pitchFamily="34" charset="-122"/>
                <a:cs typeface="Calibri" pitchFamily="34" charset="-120"/>
              </a:rPr>
              <a:t>The computational arrangement of homologous gene sequences so that evolutionarily corresponding positions occupy the same column. Gaps inserted to account for insertions/deletions. The single most important determinant of phylogenetic tree quality.</a:t>
            </a:r>
            <a:endParaRPr lang="en-US" sz="1100" dirty="0"/>
          </a:p>
        </p:txBody>
      </p:sp>
      <p:sp>
        <p:nvSpPr>
          <p:cNvPr id="12" name="Text 10"/>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12 / 99</a:t>
            </a:r>
            <a:endParaRPr lang="en-US" sz="900" dirty="0"/>
          </a:p>
        </p:txBody>
      </p:sp>
      <p:sp>
        <p:nvSpPr>
          <p:cNvPr id="13" name="Text 11"/>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10 — Human Evolution</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7A52"/>
          </a:solidFill>
          <a:ln w="12700">
            <a:solidFill>
              <a:srgbClr val="3D7A52"/>
            </a:solidFill>
            <a:prstDash val="solid"/>
          </a:ln>
        </p:spPr>
      </p:sp>
      <p:sp>
        <p:nvSpPr>
          <p:cNvPr id="3" name="Text 1"/>
          <p:cNvSpPr/>
          <p:nvPr/>
        </p:nvSpPr>
        <p:spPr>
          <a:xfrm>
            <a:off x="274320" y="109728"/>
            <a:ext cx="8595360" cy="256032"/>
          </a:xfrm>
          <a:prstGeom prst="rect">
            <a:avLst/>
          </a:prstGeom>
          <a:noFill/>
          <a:ln/>
        </p:spPr>
        <p:txBody>
          <a:bodyPr wrap="square" rtlCol="0" anchor="ctr"/>
          <a:lstStyle/>
          <a:p>
            <a:pPr indent="0" marL="0">
              <a:buNone/>
            </a:pPr>
            <a:r>
              <a:rPr lang="en-US" sz="850" i="1" spc="100" kern="0" dirty="0">
                <a:solidFill>
                  <a:srgbClr val="8FA898"/>
                </a:solidFill>
                <a:latin typeface="Calibri" pitchFamily="34" charset="0"/>
                <a:ea typeface="Calibri" pitchFamily="34" charset="-122"/>
                <a:cs typeface="Calibri" pitchFamily="34" charset="-120"/>
              </a:rPr>
              <a:t>§10.5 Neighbour-Joining Tree Construction</a:t>
            </a:r>
            <a:endParaRPr lang="en-US" sz="850" dirty="0"/>
          </a:p>
        </p:txBody>
      </p:sp>
      <p:sp>
        <p:nvSpPr>
          <p:cNvPr id="4" name="Text 2"/>
          <p:cNvSpPr/>
          <p:nvPr/>
        </p:nvSpPr>
        <p:spPr>
          <a:xfrm>
            <a:off x="274320" y="320040"/>
            <a:ext cx="8595360" cy="594360"/>
          </a:xfrm>
          <a:prstGeom prst="rect">
            <a:avLst/>
          </a:prstGeom>
          <a:noFill/>
          <a:ln/>
        </p:spPr>
        <p:txBody>
          <a:bodyPr wrap="square" rtlCol="0" anchor="ctr"/>
          <a:lstStyle/>
          <a:p>
            <a:pPr indent="0" marL="0">
              <a:buNone/>
            </a:pPr>
            <a:r>
              <a:rPr lang="en-US" sz="2400" b="1" dirty="0">
                <a:solidFill>
                  <a:srgbClr val="1C2B1E"/>
                </a:solidFill>
                <a:latin typeface="Georgia" pitchFamily="34" charset="0"/>
                <a:ea typeface="Georgia" pitchFamily="34" charset="-122"/>
                <a:cs typeface="Georgia" pitchFamily="34" charset="-120"/>
              </a:rPr>
              <a:t>From Distance Matrix to Phylogenetic Tree</a:t>
            </a:r>
            <a:endParaRPr lang="en-US" sz="2400" dirty="0"/>
          </a:p>
        </p:txBody>
      </p:sp>
      <p:sp>
        <p:nvSpPr>
          <p:cNvPr id="5" name="Shape 3"/>
          <p:cNvSpPr/>
          <p:nvPr/>
        </p:nvSpPr>
        <p:spPr>
          <a:xfrm>
            <a:off x="274320" y="868680"/>
            <a:ext cx="8595360" cy="22860"/>
          </a:xfrm>
          <a:prstGeom prst="rect">
            <a:avLst/>
          </a:prstGeom>
          <a:solidFill>
            <a:srgbClr val="E8F0EB"/>
          </a:solidFill>
          <a:ln w="12700">
            <a:solidFill>
              <a:srgbClr val="E8F0EB"/>
            </a:solidFill>
            <a:prstDash val="solid"/>
          </a:ln>
        </p:spPr>
      </p:sp>
      <p:sp>
        <p:nvSpPr>
          <p:cNvPr id="6" name="Text 4"/>
          <p:cNvSpPr/>
          <p:nvPr/>
        </p:nvSpPr>
        <p:spPr>
          <a:xfrm>
            <a:off x="274320" y="960120"/>
            <a:ext cx="4663440" cy="3200400"/>
          </a:xfrm>
          <a:prstGeom prst="rect">
            <a:avLst/>
          </a:prstGeom>
          <a:noFill/>
          <a:ln/>
        </p:spPr>
        <p:txBody>
          <a:bodyPr wrap="square" rtlCol="0" anchor="t"/>
          <a:lstStyle/>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Neighbour-Joining (NJ): Saitou &amp; Nei (1987) — distance-based method, most commonly used for teaching</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Algorithm: calculate pairwise distances between all sequences → join the pair with shortest corrected distance → update matrix → repeat</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Q-transformation: NJ corrects raw distances for overall rate variation before joining — prevents long-branch attraction</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Output: unrooted tree with branch lengths proportional to estimated substitutions per site</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Bootstrap support: each node tested by 1000 replicates — values ≥70 indicate adequate support</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Tools: PHYLIP NEIGHBOR (command-line); MEGA (graphical interface) — both used in Practical 9</a:t>
            </a:r>
            <a:endParaRPr lang="en-US" sz="1300" dirty="0"/>
          </a:p>
        </p:txBody>
      </p:sp>
      <p:sp>
        <p:nvSpPr>
          <p:cNvPr id="7" name="Shape 5"/>
          <p:cNvSpPr/>
          <p:nvPr/>
        </p:nvSpPr>
        <p:spPr>
          <a:xfrm>
            <a:off x="5120640" y="960120"/>
            <a:ext cx="3749040" cy="576072"/>
          </a:xfrm>
          <a:prstGeom prst="rect">
            <a:avLst/>
          </a:prstGeom>
          <a:solidFill>
            <a:srgbClr val="2D5A3D"/>
          </a:solidFill>
          <a:ln w="12700">
            <a:solidFill>
              <a:srgbClr val="3D7A52"/>
            </a:solidFill>
            <a:prstDash val="solid"/>
          </a:ln>
        </p:spPr>
      </p:sp>
      <p:sp>
        <p:nvSpPr>
          <p:cNvPr id="8" name="Shape 6"/>
          <p:cNvSpPr/>
          <p:nvPr/>
        </p:nvSpPr>
        <p:spPr>
          <a:xfrm>
            <a:off x="5120640" y="960120"/>
            <a:ext cx="347472" cy="576072"/>
          </a:xfrm>
          <a:prstGeom prst="rect">
            <a:avLst/>
          </a:prstGeom>
          <a:solidFill>
            <a:srgbClr val="1C2B1E"/>
          </a:solidFill>
          <a:ln w="12700">
            <a:solidFill>
              <a:srgbClr val="1C2B1E"/>
            </a:solidFill>
            <a:prstDash val="solid"/>
          </a:ln>
        </p:spPr>
      </p:sp>
      <p:sp>
        <p:nvSpPr>
          <p:cNvPr id="9" name="Text 7"/>
          <p:cNvSpPr/>
          <p:nvPr/>
        </p:nvSpPr>
        <p:spPr>
          <a:xfrm>
            <a:off x="5120640" y="960120"/>
            <a:ext cx="347472" cy="576072"/>
          </a:xfrm>
          <a:prstGeom prst="rect">
            <a:avLst/>
          </a:prstGeom>
          <a:noFill/>
          <a:ln/>
        </p:spPr>
        <p:txBody>
          <a:bodyPr wrap="square" lIns="0" tIns="0" rIns="0" bIns="0" rtlCol="0" anchor="ctr"/>
          <a:lstStyle/>
          <a:p>
            <a:pPr algn="ctr" indent="0" marL="0">
              <a:buNone/>
            </a:pPr>
            <a:r>
              <a:rPr lang="en-US" sz="1300" b="1" dirty="0">
                <a:solidFill>
                  <a:srgbClr val="C8791E"/>
                </a:solidFill>
                <a:latin typeface="Calibri" pitchFamily="34" charset="0"/>
                <a:ea typeface="Calibri" pitchFamily="34" charset="-122"/>
                <a:cs typeface="Calibri" pitchFamily="34" charset="-120"/>
              </a:rPr>
              <a:t>1</a:t>
            </a:r>
            <a:endParaRPr lang="en-US" sz="1300" dirty="0"/>
          </a:p>
        </p:txBody>
      </p:sp>
      <p:sp>
        <p:nvSpPr>
          <p:cNvPr id="10" name="Text 8"/>
          <p:cNvSpPr/>
          <p:nvPr/>
        </p:nvSpPr>
        <p:spPr>
          <a:xfrm>
            <a:off x="5541264" y="996696"/>
            <a:ext cx="3291840" cy="502920"/>
          </a:xfrm>
          <a:prstGeom prst="rect">
            <a:avLst/>
          </a:prstGeom>
          <a:noFill/>
          <a:ln/>
        </p:spPr>
        <p:txBody>
          <a:bodyPr wrap="square" rtlCol="0" anchor="ctr"/>
          <a:lstStyle/>
          <a:p>
            <a:pPr algn="l" indent="0" marL="0">
              <a:buNone/>
            </a:pPr>
            <a:r>
              <a:rPr lang="en-US" sz="1050" dirty="0">
                <a:solidFill>
                  <a:srgbClr val="FFFFFF"/>
                </a:solidFill>
                <a:latin typeface="Calibri" pitchFamily="34" charset="0"/>
                <a:ea typeface="Calibri" pitchFamily="34" charset="-122"/>
                <a:cs typeface="Calibri" pitchFamily="34" charset="-120"/>
              </a:rPr>
              <a:t>Aligned sequences (ClustalX)</a:t>
            </a:r>
            <a:endParaRPr lang="en-US" sz="1050" dirty="0"/>
          </a:p>
        </p:txBody>
      </p:sp>
      <p:sp>
        <p:nvSpPr>
          <p:cNvPr id="11" name="Shape 9"/>
          <p:cNvSpPr/>
          <p:nvPr/>
        </p:nvSpPr>
        <p:spPr>
          <a:xfrm>
            <a:off x="6995160" y="1536192"/>
            <a:ext cx="0" cy="91440"/>
          </a:xfrm>
          <a:prstGeom prst="line">
            <a:avLst/>
          </a:prstGeom>
          <a:noFill/>
          <a:ln w="19050">
            <a:solidFill>
              <a:srgbClr val="C8791E"/>
            </a:solidFill>
            <a:prstDash val="solid"/>
          </a:ln>
        </p:spPr>
      </p:sp>
      <p:sp>
        <p:nvSpPr>
          <p:cNvPr id="12" name="Shape 10"/>
          <p:cNvSpPr/>
          <p:nvPr/>
        </p:nvSpPr>
        <p:spPr>
          <a:xfrm>
            <a:off x="5120640" y="1627632"/>
            <a:ext cx="3749040" cy="576072"/>
          </a:xfrm>
          <a:prstGeom prst="rect">
            <a:avLst/>
          </a:prstGeom>
          <a:solidFill>
            <a:srgbClr val="2D5A3D"/>
          </a:solidFill>
          <a:ln w="12700">
            <a:solidFill>
              <a:srgbClr val="3D7A52"/>
            </a:solidFill>
            <a:prstDash val="solid"/>
          </a:ln>
        </p:spPr>
      </p:sp>
      <p:sp>
        <p:nvSpPr>
          <p:cNvPr id="13" name="Shape 11"/>
          <p:cNvSpPr/>
          <p:nvPr/>
        </p:nvSpPr>
        <p:spPr>
          <a:xfrm>
            <a:off x="5120640" y="1627632"/>
            <a:ext cx="347472" cy="576072"/>
          </a:xfrm>
          <a:prstGeom prst="rect">
            <a:avLst/>
          </a:prstGeom>
          <a:solidFill>
            <a:srgbClr val="1C2B1E"/>
          </a:solidFill>
          <a:ln w="12700">
            <a:solidFill>
              <a:srgbClr val="1C2B1E"/>
            </a:solidFill>
            <a:prstDash val="solid"/>
          </a:ln>
        </p:spPr>
      </p:sp>
      <p:sp>
        <p:nvSpPr>
          <p:cNvPr id="14" name="Text 12"/>
          <p:cNvSpPr/>
          <p:nvPr/>
        </p:nvSpPr>
        <p:spPr>
          <a:xfrm>
            <a:off x="5120640" y="1627632"/>
            <a:ext cx="347472" cy="576072"/>
          </a:xfrm>
          <a:prstGeom prst="rect">
            <a:avLst/>
          </a:prstGeom>
          <a:noFill/>
          <a:ln/>
        </p:spPr>
        <p:txBody>
          <a:bodyPr wrap="square" lIns="0" tIns="0" rIns="0" bIns="0" rtlCol="0" anchor="ctr"/>
          <a:lstStyle/>
          <a:p>
            <a:pPr algn="ctr" indent="0" marL="0">
              <a:buNone/>
            </a:pPr>
            <a:r>
              <a:rPr lang="en-US" sz="1300" b="1" dirty="0">
                <a:solidFill>
                  <a:srgbClr val="C8791E"/>
                </a:solidFill>
                <a:latin typeface="Calibri" pitchFamily="34" charset="0"/>
                <a:ea typeface="Calibri" pitchFamily="34" charset="-122"/>
                <a:cs typeface="Calibri" pitchFamily="34" charset="-120"/>
              </a:rPr>
              <a:t>2</a:t>
            </a:r>
            <a:endParaRPr lang="en-US" sz="1300" dirty="0"/>
          </a:p>
        </p:txBody>
      </p:sp>
      <p:sp>
        <p:nvSpPr>
          <p:cNvPr id="15" name="Text 13"/>
          <p:cNvSpPr/>
          <p:nvPr/>
        </p:nvSpPr>
        <p:spPr>
          <a:xfrm>
            <a:off x="5541264" y="1664208"/>
            <a:ext cx="3291840" cy="502920"/>
          </a:xfrm>
          <a:prstGeom prst="rect">
            <a:avLst/>
          </a:prstGeom>
          <a:noFill/>
          <a:ln/>
        </p:spPr>
        <p:txBody>
          <a:bodyPr wrap="square" rtlCol="0" anchor="ctr"/>
          <a:lstStyle/>
          <a:p>
            <a:pPr algn="l" indent="0" marL="0">
              <a:buNone/>
            </a:pPr>
            <a:r>
              <a:rPr lang="en-US" sz="1050" dirty="0">
                <a:solidFill>
                  <a:srgbClr val="FFFFFF"/>
                </a:solidFill>
                <a:latin typeface="Calibri" pitchFamily="34" charset="0"/>
                <a:ea typeface="Calibri" pitchFamily="34" charset="-122"/>
                <a:cs typeface="Calibri" pitchFamily="34" charset="-120"/>
              </a:rPr>
              <a:t>Distance matrix (pairwise % divergence)</a:t>
            </a:r>
            <a:endParaRPr lang="en-US" sz="1050" dirty="0"/>
          </a:p>
        </p:txBody>
      </p:sp>
      <p:sp>
        <p:nvSpPr>
          <p:cNvPr id="16" name="Shape 14"/>
          <p:cNvSpPr/>
          <p:nvPr/>
        </p:nvSpPr>
        <p:spPr>
          <a:xfrm>
            <a:off x="6995160" y="2203704"/>
            <a:ext cx="0" cy="91440"/>
          </a:xfrm>
          <a:prstGeom prst="line">
            <a:avLst/>
          </a:prstGeom>
          <a:noFill/>
          <a:ln w="19050">
            <a:solidFill>
              <a:srgbClr val="C8791E"/>
            </a:solidFill>
            <a:prstDash val="solid"/>
          </a:ln>
        </p:spPr>
      </p:sp>
      <p:sp>
        <p:nvSpPr>
          <p:cNvPr id="17" name="Shape 15"/>
          <p:cNvSpPr/>
          <p:nvPr/>
        </p:nvSpPr>
        <p:spPr>
          <a:xfrm>
            <a:off x="5120640" y="2295144"/>
            <a:ext cx="3749040" cy="576072"/>
          </a:xfrm>
          <a:prstGeom prst="rect">
            <a:avLst/>
          </a:prstGeom>
          <a:solidFill>
            <a:srgbClr val="2D5A3D"/>
          </a:solidFill>
          <a:ln w="12700">
            <a:solidFill>
              <a:srgbClr val="3D7A52"/>
            </a:solidFill>
            <a:prstDash val="solid"/>
          </a:ln>
        </p:spPr>
      </p:sp>
      <p:sp>
        <p:nvSpPr>
          <p:cNvPr id="18" name="Shape 16"/>
          <p:cNvSpPr/>
          <p:nvPr/>
        </p:nvSpPr>
        <p:spPr>
          <a:xfrm>
            <a:off x="5120640" y="2295144"/>
            <a:ext cx="347472" cy="576072"/>
          </a:xfrm>
          <a:prstGeom prst="rect">
            <a:avLst/>
          </a:prstGeom>
          <a:solidFill>
            <a:srgbClr val="1C2B1E"/>
          </a:solidFill>
          <a:ln w="12700">
            <a:solidFill>
              <a:srgbClr val="1C2B1E"/>
            </a:solidFill>
            <a:prstDash val="solid"/>
          </a:ln>
        </p:spPr>
      </p:sp>
      <p:sp>
        <p:nvSpPr>
          <p:cNvPr id="19" name="Text 17"/>
          <p:cNvSpPr/>
          <p:nvPr/>
        </p:nvSpPr>
        <p:spPr>
          <a:xfrm>
            <a:off x="5120640" y="2295144"/>
            <a:ext cx="347472" cy="576072"/>
          </a:xfrm>
          <a:prstGeom prst="rect">
            <a:avLst/>
          </a:prstGeom>
          <a:noFill/>
          <a:ln/>
        </p:spPr>
        <p:txBody>
          <a:bodyPr wrap="square" lIns="0" tIns="0" rIns="0" bIns="0" rtlCol="0" anchor="ctr"/>
          <a:lstStyle/>
          <a:p>
            <a:pPr algn="ctr" indent="0" marL="0">
              <a:buNone/>
            </a:pPr>
            <a:r>
              <a:rPr lang="en-US" sz="1300" b="1" dirty="0">
                <a:solidFill>
                  <a:srgbClr val="C8791E"/>
                </a:solidFill>
                <a:latin typeface="Calibri" pitchFamily="34" charset="0"/>
                <a:ea typeface="Calibri" pitchFamily="34" charset="-122"/>
                <a:cs typeface="Calibri" pitchFamily="34" charset="-120"/>
              </a:rPr>
              <a:t>3</a:t>
            </a:r>
            <a:endParaRPr lang="en-US" sz="1300" dirty="0"/>
          </a:p>
        </p:txBody>
      </p:sp>
      <p:sp>
        <p:nvSpPr>
          <p:cNvPr id="20" name="Text 18"/>
          <p:cNvSpPr/>
          <p:nvPr/>
        </p:nvSpPr>
        <p:spPr>
          <a:xfrm>
            <a:off x="5541264" y="2331720"/>
            <a:ext cx="3291840" cy="502920"/>
          </a:xfrm>
          <a:prstGeom prst="rect">
            <a:avLst/>
          </a:prstGeom>
          <a:noFill/>
          <a:ln/>
        </p:spPr>
        <p:txBody>
          <a:bodyPr wrap="square" rtlCol="0" anchor="ctr"/>
          <a:lstStyle/>
          <a:p>
            <a:pPr algn="l" indent="0" marL="0">
              <a:buNone/>
            </a:pPr>
            <a:r>
              <a:rPr lang="en-US" sz="1050" dirty="0">
                <a:solidFill>
                  <a:srgbClr val="FFFFFF"/>
                </a:solidFill>
                <a:latin typeface="Calibri" pitchFamily="34" charset="0"/>
                <a:ea typeface="Calibri" pitchFamily="34" charset="-122"/>
                <a:cs typeface="Calibri" pitchFamily="34" charset="-120"/>
              </a:rPr>
              <a:t>Q-matrix (NJ rate correction)</a:t>
            </a:r>
            <a:endParaRPr lang="en-US" sz="1050" dirty="0"/>
          </a:p>
        </p:txBody>
      </p:sp>
      <p:sp>
        <p:nvSpPr>
          <p:cNvPr id="21" name="Shape 19"/>
          <p:cNvSpPr/>
          <p:nvPr/>
        </p:nvSpPr>
        <p:spPr>
          <a:xfrm>
            <a:off x="6995160" y="2871216"/>
            <a:ext cx="0" cy="91440"/>
          </a:xfrm>
          <a:prstGeom prst="line">
            <a:avLst/>
          </a:prstGeom>
          <a:noFill/>
          <a:ln w="19050">
            <a:solidFill>
              <a:srgbClr val="C8791E"/>
            </a:solidFill>
            <a:prstDash val="solid"/>
          </a:ln>
        </p:spPr>
      </p:sp>
      <p:sp>
        <p:nvSpPr>
          <p:cNvPr id="22" name="Shape 20"/>
          <p:cNvSpPr/>
          <p:nvPr/>
        </p:nvSpPr>
        <p:spPr>
          <a:xfrm>
            <a:off x="5120640" y="2962656"/>
            <a:ext cx="3749040" cy="576072"/>
          </a:xfrm>
          <a:prstGeom prst="rect">
            <a:avLst/>
          </a:prstGeom>
          <a:solidFill>
            <a:srgbClr val="2D5A3D"/>
          </a:solidFill>
          <a:ln w="12700">
            <a:solidFill>
              <a:srgbClr val="3D7A52"/>
            </a:solidFill>
            <a:prstDash val="solid"/>
          </a:ln>
        </p:spPr>
      </p:sp>
      <p:sp>
        <p:nvSpPr>
          <p:cNvPr id="23" name="Shape 21"/>
          <p:cNvSpPr/>
          <p:nvPr/>
        </p:nvSpPr>
        <p:spPr>
          <a:xfrm>
            <a:off x="5120640" y="2962656"/>
            <a:ext cx="347472" cy="576072"/>
          </a:xfrm>
          <a:prstGeom prst="rect">
            <a:avLst/>
          </a:prstGeom>
          <a:solidFill>
            <a:srgbClr val="1C2B1E"/>
          </a:solidFill>
          <a:ln w="12700">
            <a:solidFill>
              <a:srgbClr val="1C2B1E"/>
            </a:solidFill>
            <a:prstDash val="solid"/>
          </a:ln>
        </p:spPr>
      </p:sp>
      <p:sp>
        <p:nvSpPr>
          <p:cNvPr id="24" name="Text 22"/>
          <p:cNvSpPr/>
          <p:nvPr/>
        </p:nvSpPr>
        <p:spPr>
          <a:xfrm>
            <a:off x="5120640" y="2962656"/>
            <a:ext cx="347472" cy="576072"/>
          </a:xfrm>
          <a:prstGeom prst="rect">
            <a:avLst/>
          </a:prstGeom>
          <a:noFill/>
          <a:ln/>
        </p:spPr>
        <p:txBody>
          <a:bodyPr wrap="square" lIns="0" tIns="0" rIns="0" bIns="0" rtlCol="0" anchor="ctr"/>
          <a:lstStyle/>
          <a:p>
            <a:pPr algn="ctr" indent="0" marL="0">
              <a:buNone/>
            </a:pPr>
            <a:r>
              <a:rPr lang="en-US" sz="1300" b="1" dirty="0">
                <a:solidFill>
                  <a:srgbClr val="C8791E"/>
                </a:solidFill>
                <a:latin typeface="Calibri" pitchFamily="34" charset="0"/>
                <a:ea typeface="Calibri" pitchFamily="34" charset="-122"/>
                <a:cs typeface="Calibri" pitchFamily="34" charset="-120"/>
              </a:rPr>
              <a:t>4</a:t>
            </a:r>
            <a:endParaRPr lang="en-US" sz="1300" dirty="0"/>
          </a:p>
        </p:txBody>
      </p:sp>
      <p:sp>
        <p:nvSpPr>
          <p:cNvPr id="25" name="Text 23"/>
          <p:cNvSpPr/>
          <p:nvPr/>
        </p:nvSpPr>
        <p:spPr>
          <a:xfrm>
            <a:off x="5541264" y="2999232"/>
            <a:ext cx="3291840" cy="502920"/>
          </a:xfrm>
          <a:prstGeom prst="rect">
            <a:avLst/>
          </a:prstGeom>
          <a:noFill/>
          <a:ln/>
        </p:spPr>
        <p:txBody>
          <a:bodyPr wrap="square" rtlCol="0" anchor="ctr"/>
          <a:lstStyle/>
          <a:p>
            <a:pPr algn="l" indent="0" marL="0">
              <a:buNone/>
            </a:pPr>
            <a:r>
              <a:rPr lang="en-US" sz="1050" dirty="0">
                <a:solidFill>
                  <a:srgbClr val="FFFFFF"/>
                </a:solidFill>
                <a:latin typeface="Calibri" pitchFamily="34" charset="0"/>
                <a:ea typeface="Calibri" pitchFamily="34" charset="-122"/>
                <a:cs typeface="Calibri" pitchFamily="34" charset="-120"/>
              </a:rPr>
              <a:t>NJ algorithm (join nearest pairs)</a:t>
            </a:r>
            <a:endParaRPr lang="en-US" sz="1050" dirty="0"/>
          </a:p>
        </p:txBody>
      </p:sp>
      <p:sp>
        <p:nvSpPr>
          <p:cNvPr id="26" name="Shape 24"/>
          <p:cNvSpPr/>
          <p:nvPr/>
        </p:nvSpPr>
        <p:spPr>
          <a:xfrm>
            <a:off x="6995160" y="3538728"/>
            <a:ext cx="0" cy="91440"/>
          </a:xfrm>
          <a:prstGeom prst="line">
            <a:avLst/>
          </a:prstGeom>
          <a:noFill/>
          <a:ln w="19050">
            <a:solidFill>
              <a:srgbClr val="C8791E"/>
            </a:solidFill>
            <a:prstDash val="solid"/>
          </a:ln>
        </p:spPr>
      </p:sp>
      <p:sp>
        <p:nvSpPr>
          <p:cNvPr id="27" name="Shape 25"/>
          <p:cNvSpPr/>
          <p:nvPr/>
        </p:nvSpPr>
        <p:spPr>
          <a:xfrm>
            <a:off x="5120640" y="3630168"/>
            <a:ext cx="3749040" cy="576072"/>
          </a:xfrm>
          <a:prstGeom prst="rect">
            <a:avLst/>
          </a:prstGeom>
          <a:solidFill>
            <a:srgbClr val="2D5A3D"/>
          </a:solidFill>
          <a:ln w="12700">
            <a:solidFill>
              <a:srgbClr val="3D7A52"/>
            </a:solidFill>
            <a:prstDash val="solid"/>
          </a:ln>
        </p:spPr>
      </p:sp>
      <p:sp>
        <p:nvSpPr>
          <p:cNvPr id="28" name="Shape 26"/>
          <p:cNvSpPr/>
          <p:nvPr/>
        </p:nvSpPr>
        <p:spPr>
          <a:xfrm>
            <a:off x="5120640" y="3630168"/>
            <a:ext cx="347472" cy="576072"/>
          </a:xfrm>
          <a:prstGeom prst="rect">
            <a:avLst/>
          </a:prstGeom>
          <a:solidFill>
            <a:srgbClr val="1C2B1E"/>
          </a:solidFill>
          <a:ln w="12700">
            <a:solidFill>
              <a:srgbClr val="1C2B1E"/>
            </a:solidFill>
            <a:prstDash val="solid"/>
          </a:ln>
        </p:spPr>
      </p:sp>
      <p:sp>
        <p:nvSpPr>
          <p:cNvPr id="29" name="Text 27"/>
          <p:cNvSpPr/>
          <p:nvPr/>
        </p:nvSpPr>
        <p:spPr>
          <a:xfrm>
            <a:off x="5120640" y="3630168"/>
            <a:ext cx="347472" cy="576072"/>
          </a:xfrm>
          <a:prstGeom prst="rect">
            <a:avLst/>
          </a:prstGeom>
          <a:noFill/>
          <a:ln/>
        </p:spPr>
        <p:txBody>
          <a:bodyPr wrap="square" lIns="0" tIns="0" rIns="0" bIns="0" rtlCol="0" anchor="ctr"/>
          <a:lstStyle/>
          <a:p>
            <a:pPr algn="ctr" indent="0" marL="0">
              <a:buNone/>
            </a:pPr>
            <a:r>
              <a:rPr lang="en-US" sz="1300" b="1" dirty="0">
                <a:solidFill>
                  <a:srgbClr val="C8791E"/>
                </a:solidFill>
                <a:latin typeface="Calibri" pitchFamily="34" charset="0"/>
                <a:ea typeface="Calibri" pitchFamily="34" charset="-122"/>
                <a:cs typeface="Calibri" pitchFamily="34" charset="-120"/>
              </a:rPr>
              <a:t>5</a:t>
            </a:r>
            <a:endParaRPr lang="en-US" sz="1300" dirty="0"/>
          </a:p>
        </p:txBody>
      </p:sp>
      <p:sp>
        <p:nvSpPr>
          <p:cNvPr id="30" name="Text 28"/>
          <p:cNvSpPr/>
          <p:nvPr/>
        </p:nvSpPr>
        <p:spPr>
          <a:xfrm>
            <a:off x="5541264" y="3666744"/>
            <a:ext cx="3291840" cy="502920"/>
          </a:xfrm>
          <a:prstGeom prst="rect">
            <a:avLst/>
          </a:prstGeom>
          <a:noFill/>
          <a:ln/>
        </p:spPr>
        <p:txBody>
          <a:bodyPr wrap="square" rtlCol="0" anchor="ctr"/>
          <a:lstStyle/>
          <a:p>
            <a:pPr algn="l" indent="0" marL="0">
              <a:buNone/>
            </a:pPr>
            <a:r>
              <a:rPr lang="en-US" sz="1050" dirty="0">
                <a:solidFill>
                  <a:srgbClr val="FFFFFF"/>
                </a:solidFill>
                <a:latin typeface="Calibri" pitchFamily="34" charset="0"/>
                <a:ea typeface="Calibri" pitchFamily="34" charset="-122"/>
                <a:cs typeface="Calibri" pitchFamily="34" charset="-120"/>
              </a:rPr>
              <a:t>Bootstrapped tree (1000 reps)</a:t>
            </a:r>
            <a:endParaRPr lang="en-US" sz="1050" dirty="0"/>
          </a:p>
        </p:txBody>
      </p:sp>
      <p:sp>
        <p:nvSpPr>
          <p:cNvPr id="31" name="Shape 29"/>
          <p:cNvSpPr/>
          <p:nvPr/>
        </p:nvSpPr>
        <p:spPr>
          <a:xfrm>
            <a:off x="274320" y="4297680"/>
            <a:ext cx="8595360" cy="621792"/>
          </a:xfrm>
          <a:prstGeom prst="rect">
            <a:avLst/>
          </a:prstGeom>
          <a:solidFill>
            <a:srgbClr val="1C2B1E"/>
          </a:solidFill>
          <a:ln w="12700">
            <a:solidFill>
              <a:srgbClr val="1C2B1E"/>
            </a:solidFill>
            <a:prstDash val="solid"/>
          </a:ln>
        </p:spPr>
      </p:sp>
      <p:sp>
        <p:nvSpPr>
          <p:cNvPr id="32" name="Text 30"/>
          <p:cNvSpPr/>
          <p:nvPr/>
        </p:nvSpPr>
        <p:spPr>
          <a:xfrm>
            <a:off x="274320" y="4297680"/>
            <a:ext cx="8595360" cy="621792"/>
          </a:xfrm>
          <a:prstGeom prst="rect">
            <a:avLst/>
          </a:prstGeom>
          <a:noFill/>
          <a:ln/>
        </p:spPr>
        <p:txBody>
          <a:bodyPr wrap="square" lIns="1524" tIns="1524" rIns="1524" bIns="1524" rtlCol="0" anchor="ctr"/>
          <a:lstStyle/>
          <a:p>
            <a:pPr indent="0" marL="0">
              <a:buNone/>
            </a:pPr>
            <a:r>
              <a:rPr lang="en-US" sz="1100" b="1" dirty="0">
                <a:solidFill>
                  <a:srgbClr val="C8791E"/>
                </a:solidFill>
                <a:latin typeface="Calibri" pitchFamily="34" charset="0"/>
                <a:ea typeface="Calibri" pitchFamily="34" charset="-122"/>
                <a:cs typeface="Calibri" pitchFamily="34" charset="-120"/>
              </a:rPr>
              <a:t>Neighbour-Joining Method: </a:t>
            </a:r>
            <a:pPr indent="0" marL="0">
              <a:buNone/>
            </a:pPr>
            <a:r>
              <a:rPr lang="en-US" sz="1100" dirty="0">
                <a:solidFill>
                  <a:srgbClr val="F4F1EC"/>
                </a:solidFill>
                <a:latin typeface="Calibri" pitchFamily="34" charset="0"/>
                <a:ea typeface="Calibri" pitchFamily="34" charset="-122"/>
                <a:cs typeface="Calibri" pitchFamily="34" charset="-120"/>
              </a:rPr>
              <a:t>A distance-based phylogenetic tree construction algorithm (Saitou &amp; Nei, 1987). Progressively joins the nearest pair after rate correction (Q-transformation). Branch lengths = estimated substitutions per site. Implemented in PHYLIP NEIGHBOR.</a:t>
            </a:r>
            <a:endParaRPr lang="en-US" sz="1100" dirty="0"/>
          </a:p>
        </p:txBody>
      </p:sp>
      <p:sp>
        <p:nvSpPr>
          <p:cNvPr id="33" name="Text 31"/>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13 / 99</a:t>
            </a:r>
            <a:endParaRPr lang="en-US" sz="900" dirty="0"/>
          </a:p>
        </p:txBody>
      </p:sp>
      <p:sp>
        <p:nvSpPr>
          <p:cNvPr id="34" name="Text 32"/>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10 — Human Evolution</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7A52"/>
          </a:solidFill>
          <a:ln w="12700">
            <a:solidFill>
              <a:srgbClr val="3D7A52"/>
            </a:solidFill>
            <a:prstDash val="solid"/>
          </a:ln>
        </p:spPr>
      </p:sp>
      <p:sp>
        <p:nvSpPr>
          <p:cNvPr id="3" name="Text 1"/>
          <p:cNvSpPr/>
          <p:nvPr/>
        </p:nvSpPr>
        <p:spPr>
          <a:xfrm>
            <a:off x="274320" y="109728"/>
            <a:ext cx="8595360" cy="256032"/>
          </a:xfrm>
          <a:prstGeom prst="rect">
            <a:avLst/>
          </a:prstGeom>
          <a:noFill/>
          <a:ln/>
        </p:spPr>
        <p:txBody>
          <a:bodyPr wrap="square" rtlCol="0" anchor="ctr"/>
          <a:lstStyle/>
          <a:p>
            <a:pPr indent="0" marL="0">
              <a:buNone/>
            </a:pPr>
            <a:r>
              <a:rPr lang="en-US" sz="850" i="1" spc="100" kern="0" dirty="0">
                <a:solidFill>
                  <a:srgbClr val="8FA898"/>
                </a:solidFill>
                <a:latin typeface="Calibri" pitchFamily="34" charset="0"/>
                <a:ea typeface="Calibri" pitchFamily="34" charset="-122"/>
                <a:cs typeface="Calibri" pitchFamily="34" charset="-120"/>
              </a:rPr>
              <a:t>§10.5 Interpreting a Phylogenetic Tree</a:t>
            </a:r>
            <a:endParaRPr lang="en-US" sz="850" dirty="0"/>
          </a:p>
        </p:txBody>
      </p:sp>
      <p:sp>
        <p:nvSpPr>
          <p:cNvPr id="4" name="Text 2"/>
          <p:cNvSpPr/>
          <p:nvPr/>
        </p:nvSpPr>
        <p:spPr>
          <a:xfrm>
            <a:off x="274320" y="320040"/>
            <a:ext cx="8595360" cy="594360"/>
          </a:xfrm>
          <a:prstGeom prst="rect">
            <a:avLst/>
          </a:prstGeom>
          <a:noFill/>
          <a:ln/>
        </p:spPr>
        <p:txBody>
          <a:bodyPr wrap="square" rtlCol="0" anchor="ctr"/>
          <a:lstStyle/>
          <a:p>
            <a:pPr indent="0" marL="0">
              <a:buNone/>
            </a:pPr>
            <a:r>
              <a:rPr lang="en-US" sz="2400" b="1" dirty="0">
                <a:solidFill>
                  <a:srgbClr val="1C2B1E"/>
                </a:solidFill>
                <a:latin typeface="Georgia" pitchFamily="34" charset="0"/>
                <a:ea typeface="Georgia" pitchFamily="34" charset="-122"/>
                <a:cs typeface="Georgia" pitchFamily="34" charset="-120"/>
              </a:rPr>
              <a:t>Reading Clade Relationships and Support Values</a:t>
            </a:r>
            <a:endParaRPr lang="en-US" sz="2400" dirty="0"/>
          </a:p>
        </p:txBody>
      </p:sp>
      <p:sp>
        <p:nvSpPr>
          <p:cNvPr id="5" name="Shape 3"/>
          <p:cNvSpPr/>
          <p:nvPr/>
        </p:nvSpPr>
        <p:spPr>
          <a:xfrm>
            <a:off x="274320" y="868680"/>
            <a:ext cx="8595360" cy="22860"/>
          </a:xfrm>
          <a:prstGeom prst="rect">
            <a:avLst/>
          </a:prstGeom>
          <a:solidFill>
            <a:srgbClr val="E8F0EB"/>
          </a:solidFill>
          <a:ln w="12700">
            <a:solidFill>
              <a:srgbClr val="E8F0EB"/>
            </a:solidFill>
            <a:prstDash val="solid"/>
          </a:ln>
        </p:spPr>
      </p:sp>
      <p:sp>
        <p:nvSpPr>
          <p:cNvPr id="6" name="Text 4"/>
          <p:cNvSpPr/>
          <p:nvPr/>
        </p:nvSpPr>
        <p:spPr>
          <a:xfrm>
            <a:off x="274320" y="960120"/>
            <a:ext cx="4663440" cy="3200400"/>
          </a:xfrm>
          <a:prstGeom prst="rect">
            <a:avLst/>
          </a:prstGeom>
          <a:noFill/>
          <a:ln/>
        </p:spPr>
        <p:txBody>
          <a:bodyPr wrap="square" rtlCol="0" anchor="t"/>
          <a:lstStyle/>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The tree is a HYPOTHESIS about evolutionary history — not a fact; revised as evidence accumulates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Terminal nodes (tips): the sampled taxa — modern species, or sequenced specimens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Internal nodes: hypothetical common ancestors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Branch lengths (in phylograms): proportional to evolutionary distance; short = little divergence; long = much divergence</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Bootstrap values at nodes: 95–100 = strong support; 70–94 = moderate; &lt;70 = weak (node unreliable)</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Outgroup: used to root the tree — establishes which characters are ancestral and which are derived</a:t>
            </a:r>
            <a:endParaRPr lang="en-US" sz="1300" dirty="0"/>
          </a:p>
        </p:txBody>
      </p:sp>
      <p:sp>
        <p:nvSpPr>
          <p:cNvPr id="7" name="Shape 5"/>
          <p:cNvSpPr/>
          <p:nvPr/>
        </p:nvSpPr>
        <p:spPr>
          <a:xfrm>
            <a:off x="5120640" y="960120"/>
            <a:ext cx="3749040" cy="3474720"/>
          </a:xfrm>
          <a:prstGeom prst="rect">
            <a:avLst/>
          </a:prstGeom>
          <a:solidFill>
            <a:srgbClr val="243228"/>
          </a:solidFill>
          <a:ln w="6350">
            <a:solidFill>
              <a:srgbClr val="3D7A52"/>
            </a:solidFill>
            <a:prstDash val="solid"/>
          </a:ln>
        </p:spPr>
      </p:sp>
      <p:sp>
        <p:nvSpPr>
          <p:cNvPr id="8" name="Text 6"/>
          <p:cNvSpPr/>
          <p:nvPr/>
        </p:nvSpPr>
        <p:spPr>
          <a:xfrm>
            <a:off x="5257800" y="1097280"/>
            <a:ext cx="3474720" cy="457200"/>
          </a:xfrm>
          <a:prstGeom prst="rect">
            <a:avLst/>
          </a:prstGeom>
          <a:noFill/>
          <a:ln/>
        </p:spPr>
        <p:txBody>
          <a:bodyPr wrap="square" rtlCol="0" anchor="ctr"/>
          <a:lstStyle/>
          <a:p>
            <a:pPr indent="0" marL="0">
              <a:buNone/>
            </a:pPr>
            <a:r>
              <a:rPr lang="en-US" sz="1300" b="1" dirty="0">
                <a:solidFill>
                  <a:srgbClr val="C8791E"/>
                </a:solidFill>
                <a:latin typeface="Georgia" pitchFamily="34" charset="0"/>
                <a:ea typeface="Georgia" pitchFamily="34" charset="-122"/>
                <a:cs typeface="Georgia" pitchFamily="34" charset="-120"/>
              </a:rPr>
              <a:t>Tree Terminology: Key Concepts</a:t>
            </a:r>
            <a:endParaRPr lang="en-US" sz="1300" dirty="0"/>
          </a:p>
        </p:txBody>
      </p:sp>
      <p:sp>
        <p:nvSpPr>
          <p:cNvPr id="9" name="Text 7"/>
          <p:cNvSpPr/>
          <p:nvPr/>
        </p:nvSpPr>
        <p:spPr>
          <a:xfrm>
            <a:off x="5257800" y="1600200"/>
            <a:ext cx="3474720" cy="2651760"/>
          </a:xfrm>
          <a:prstGeom prst="rect">
            <a:avLst/>
          </a:prstGeom>
          <a:noFill/>
          <a:ln/>
        </p:spPr>
        <p:txBody>
          <a:bodyPr wrap="square" rtlCol="0" anchor="t"/>
          <a:lstStyle/>
          <a:p>
            <a:pPr indent="0" marL="0">
              <a:buNone/>
            </a:pPr>
            <a:r>
              <a:rPr lang="en-US" sz="1200" dirty="0">
                <a:solidFill>
                  <a:srgbClr val="F4F1EC"/>
                </a:solidFill>
                <a:latin typeface="Calibri" pitchFamily="34" charset="0"/>
                <a:ea typeface="Calibri" pitchFamily="34" charset="-122"/>
                <a:cs typeface="Calibri" pitchFamily="34" charset="-120"/>
              </a:rPr>
              <a:t>TERMINAL NODES (tips)</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Named taxa (sequences)</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Your sample: modern organisms</a:t>
            </a:r>
            <a:endParaRPr lang="en-US" sz="1200" dirty="0"/>
          </a:p>
          <a:p>
            <a:pPr indent="0" marL="0">
              <a:buNone/>
            </a:pP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INTERNAL NODES</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Hypothetical common ancestors</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Not real organisms we can observe</a:t>
            </a:r>
            <a:endParaRPr lang="en-US" sz="1200" dirty="0"/>
          </a:p>
          <a:p>
            <a:pPr indent="0" marL="0">
              <a:buNone/>
            </a:pP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BRANCH LENGTHS (in phylograms)</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Proportional to evolutionary change</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Short = closely related</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Long = much divergence / fast evolution</a:t>
            </a:r>
            <a:endParaRPr lang="en-US" sz="1200" dirty="0"/>
          </a:p>
          <a:p>
            <a:pPr indent="0" marL="0">
              <a:buNone/>
            </a:pP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BOOTSTRAP VALUES</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95-100: strong support → trust the node</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70-94:  moderate support</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&lt;70:    weak → treat with caution</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Based on 1000 tree reconstructions from</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resampled alignment columns</a:t>
            </a:r>
            <a:endParaRPr lang="en-US" sz="1200" dirty="0"/>
          </a:p>
          <a:p>
            <a:pPr indent="0" marL="0">
              <a:buNone/>
            </a:pP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OUTGROUP</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Known to be more distantly related</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than any ingroup member</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Roots the tree: shows what is</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ancestral vs derived</a:t>
            </a:r>
            <a:endParaRPr lang="en-US" sz="1200" dirty="0"/>
          </a:p>
          <a:p>
            <a:pPr indent="0" marL="0">
              <a:buNone/>
            </a:pP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CAUTION</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Long branches may attract each</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other (long-branch attraction artefact)</a:t>
            </a:r>
            <a:endParaRPr lang="en-US" sz="1200" dirty="0"/>
          </a:p>
        </p:txBody>
      </p:sp>
      <p:sp>
        <p:nvSpPr>
          <p:cNvPr id="10" name="Shape 8"/>
          <p:cNvSpPr/>
          <p:nvPr/>
        </p:nvSpPr>
        <p:spPr>
          <a:xfrm>
            <a:off x="274320" y="4297680"/>
            <a:ext cx="8595360" cy="621792"/>
          </a:xfrm>
          <a:prstGeom prst="rect">
            <a:avLst/>
          </a:prstGeom>
          <a:solidFill>
            <a:srgbClr val="1C2B1E"/>
          </a:solidFill>
          <a:ln w="12700">
            <a:solidFill>
              <a:srgbClr val="1C2B1E"/>
            </a:solidFill>
            <a:prstDash val="solid"/>
          </a:ln>
        </p:spPr>
      </p:sp>
      <p:sp>
        <p:nvSpPr>
          <p:cNvPr id="11" name="Text 9"/>
          <p:cNvSpPr/>
          <p:nvPr/>
        </p:nvSpPr>
        <p:spPr>
          <a:xfrm>
            <a:off x="274320" y="4297680"/>
            <a:ext cx="8595360" cy="621792"/>
          </a:xfrm>
          <a:prstGeom prst="rect">
            <a:avLst/>
          </a:prstGeom>
          <a:noFill/>
          <a:ln/>
        </p:spPr>
        <p:txBody>
          <a:bodyPr wrap="square" lIns="1524" tIns="1524" rIns="1524" bIns="1524" rtlCol="0" anchor="ctr"/>
          <a:lstStyle/>
          <a:p>
            <a:pPr indent="0" marL="0">
              <a:buNone/>
            </a:pPr>
            <a:r>
              <a:rPr lang="en-US" sz="1100" b="1" dirty="0">
                <a:solidFill>
                  <a:srgbClr val="C8791E"/>
                </a:solidFill>
                <a:latin typeface="Calibri" pitchFamily="34" charset="0"/>
                <a:ea typeface="Calibri" pitchFamily="34" charset="-122"/>
                <a:cs typeface="Calibri" pitchFamily="34" charset="-120"/>
              </a:rPr>
              <a:t>Bootstrap Value: </a:t>
            </a:r>
            <a:pPr indent="0" marL="0">
              <a:buNone/>
            </a:pPr>
            <a:r>
              <a:rPr lang="en-US" sz="1100" dirty="0">
                <a:solidFill>
                  <a:srgbClr val="F4F1EC"/>
                </a:solidFill>
                <a:latin typeface="Calibri" pitchFamily="34" charset="0"/>
                <a:ea typeface="Calibri" pitchFamily="34" charset="-122"/>
                <a:cs typeface="Calibri" pitchFamily="34" charset="-120"/>
              </a:rPr>
              <a:t>A statistical support measure for phylogenetic tree nodes, expressed as the percentage of bootstrap replicates (typically 1000) recovering the same clade. Values ≥95 indicate strong support; ≥70 moderate; &lt;70 weak.</a:t>
            </a:r>
            <a:endParaRPr lang="en-US" sz="1100" dirty="0"/>
          </a:p>
        </p:txBody>
      </p:sp>
      <p:sp>
        <p:nvSpPr>
          <p:cNvPr id="12" name="Text 10"/>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14 / 99</a:t>
            </a:r>
            <a:endParaRPr lang="en-US" sz="900" dirty="0"/>
          </a:p>
        </p:txBody>
      </p:sp>
      <p:sp>
        <p:nvSpPr>
          <p:cNvPr id="13" name="Text 11"/>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10 — Human Evolution</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7A52"/>
          </a:solidFill>
          <a:ln w="12700">
            <a:solidFill>
              <a:srgbClr val="3D7A52"/>
            </a:solidFill>
            <a:prstDash val="solid"/>
          </a:ln>
        </p:spPr>
      </p:sp>
      <p:sp>
        <p:nvSpPr>
          <p:cNvPr id="3" name="Text 1"/>
          <p:cNvSpPr/>
          <p:nvPr/>
        </p:nvSpPr>
        <p:spPr>
          <a:xfrm>
            <a:off x="274320" y="109728"/>
            <a:ext cx="8595360" cy="256032"/>
          </a:xfrm>
          <a:prstGeom prst="rect">
            <a:avLst/>
          </a:prstGeom>
          <a:noFill/>
          <a:ln/>
        </p:spPr>
        <p:txBody>
          <a:bodyPr wrap="square" rtlCol="0" anchor="ctr"/>
          <a:lstStyle/>
          <a:p>
            <a:pPr indent="0" marL="0">
              <a:buNone/>
            </a:pPr>
            <a:r>
              <a:rPr lang="en-US" sz="850" i="1" spc="100" kern="0" dirty="0">
                <a:solidFill>
                  <a:srgbClr val="8FA898"/>
                </a:solidFill>
                <a:latin typeface="Calibri" pitchFamily="34" charset="0"/>
                <a:ea typeface="Calibri" pitchFamily="34" charset="-122"/>
                <a:cs typeface="Calibri" pitchFamily="34" charset="-120"/>
              </a:rPr>
              <a:t>§10.6 The Out of Africa Hypothesis</a:t>
            </a:r>
            <a:endParaRPr lang="en-US" sz="850" dirty="0"/>
          </a:p>
        </p:txBody>
      </p:sp>
      <p:sp>
        <p:nvSpPr>
          <p:cNvPr id="4" name="Text 2"/>
          <p:cNvSpPr/>
          <p:nvPr/>
        </p:nvSpPr>
        <p:spPr>
          <a:xfrm>
            <a:off x="274320" y="320040"/>
            <a:ext cx="8595360" cy="594360"/>
          </a:xfrm>
          <a:prstGeom prst="rect">
            <a:avLst/>
          </a:prstGeom>
          <a:noFill/>
          <a:ln/>
        </p:spPr>
        <p:txBody>
          <a:bodyPr wrap="square" rtlCol="0" anchor="ctr"/>
          <a:lstStyle/>
          <a:p>
            <a:pPr indent="0" marL="0">
              <a:buNone/>
            </a:pPr>
            <a:r>
              <a:rPr lang="en-US" sz="2400" b="1" dirty="0">
                <a:solidFill>
                  <a:srgbClr val="1C2B1E"/>
                </a:solidFill>
                <a:latin typeface="Georgia" pitchFamily="34" charset="0"/>
                <a:ea typeface="Georgia" pitchFamily="34" charset="-122"/>
                <a:cs typeface="Georgia" pitchFamily="34" charset="-120"/>
              </a:rPr>
              <a:t>Modern H. sapiens Originated in Africa</a:t>
            </a:r>
            <a:endParaRPr lang="en-US" sz="2400" dirty="0"/>
          </a:p>
        </p:txBody>
      </p:sp>
      <p:sp>
        <p:nvSpPr>
          <p:cNvPr id="5" name="Shape 3"/>
          <p:cNvSpPr/>
          <p:nvPr/>
        </p:nvSpPr>
        <p:spPr>
          <a:xfrm>
            <a:off x="274320" y="868680"/>
            <a:ext cx="8595360" cy="22860"/>
          </a:xfrm>
          <a:prstGeom prst="rect">
            <a:avLst/>
          </a:prstGeom>
          <a:solidFill>
            <a:srgbClr val="E8F0EB"/>
          </a:solidFill>
          <a:ln w="12700">
            <a:solidFill>
              <a:srgbClr val="E8F0EB"/>
            </a:solidFill>
            <a:prstDash val="solid"/>
          </a:ln>
        </p:spPr>
      </p:sp>
      <p:sp>
        <p:nvSpPr>
          <p:cNvPr id="6" name="Text 4"/>
          <p:cNvSpPr/>
          <p:nvPr/>
        </p:nvSpPr>
        <p:spPr>
          <a:xfrm>
            <a:off x="274320" y="960120"/>
            <a:ext cx="4663440" cy="3200400"/>
          </a:xfrm>
          <a:prstGeom prst="rect">
            <a:avLst/>
          </a:prstGeom>
          <a:noFill/>
          <a:ln/>
        </p:spPr>
        <p:txBody>
          <a:bodyPr wrap="square" rtlCol="0" anchor="t"/>
          <a:lstStyle/>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OUT OF AFRICA HYPOTHESIS: anatomically modern Homo sapiens evolved in Africa (~300 ka) and dispersed globally beginning ~60–70 ka</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Evidence 1: GREATEST GENETIC DIVERSITY in African populations — consistent with longer time for variation to accumulate</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Evidence 2: African populations contain haplotype variants not found outside Africa — non-African populations are subsets of African diversity</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Evidence 3: ISOLATION BY DISTANCE — genetic diversity decreases with geographic distance from Africa; bottleneck during dispersal</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Evidence 4: Oldest H. sapiens fossils from Africa: Jebel Irhoud (Morocco, ~315 ka), Omo Kibish (Ethiopia, ~195 ka)</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Contrast with Multiregional Evolution: modern humans evolved simultaneously from H. erectus across the Old World — contradicted by genetic data showing most Neanderthal and Denisovan ancestry was overwritten by African H. sapiens</a:t>
            </a:r>
            <a:endParaRPr lang="en-US" sz="1300" dirty="0"/>
          </a:p>
        </p:txBody>
      </p:sp>
      <p:sp>
        <p:nvSpPr>
          <p:cNvPr id="7" name="Shape 5"/>
          <p:cNvSpPr/>
          <p:nvPr/>
        </p:nvSpPr>
        <p:spPr>
          <a:xfrm>
            <a:off x="5120640" y="960120"/>
            <a:ext cx="1805940" cy="3474720"/>
          </a:xfrm>
          <a:prstGeom prst="rect">
            <a:avLst/>
          </a:prstGeom>
          <a:solidFill>
            <a:srgbClr val="1C2B1E"/>
          </a:solidFill>
          <a:ln w="6350">
            <a:solidFill>
              <a:srgbClr val="2D5A3D"/>
            </a:solidFill>
            <a:prstDash val="solid"/>
          </a:ln>
        </p:spPr>
      </p:sp>
      <p:sp>
        <p:nvSpPr>
          <p:cNvPr id="8" name="Shape 6"/>
          <p:cNvSpPr/>
          <p:nvPr/>
        </p:nvSpPr>
        <p:spPr>
          <a:xfrm>
            <a:off x="5120640" y="960120"/>
            <a:ext cx="1805940" cy="411480"/>
          </a:xfrm>
          <a:prstGeom prst="rect">
            <a:avLst/>
          </a:prstGeom>
          <a:solidFill>
            <a:srgbClr val="2D5A3D"/>
          </a:solidFill>
          <a:ln w="12700">
            <a:solidFill>
              <a:srgbClr val="2D5A3D"/>
            </a:solidFill>
            <a:prstDash val="solid"/>
          </a:ln>
        </p:spPr>
      </p:sp>
      <p:sp>
        <p:nvSpPr>
          <p:cNvPr id="9" name="Text 7"/>
          <p:cNvSpPr/>
          <p:nvPr/>
        </p:nvSpPr>
        <p:spPr>
          <a:xfrm>
            <a:off x="5212080" y="960120"/>
            <a:ext cx="1714500" cy="411480"/>
          </a:xfrm>
          <a:prstGeom prst="rect">
            <a:avLst/>
          </a:prstGeom>
          <a:noFill/>
          <a:ln/>
        </p:spPr>
        <p:txBody>
          <a:bodyPr wrap="square" lIns="0" tIns="0" rIns="0" bIns="0" rtlCol="0" anchor="ctr"/>
          <a:lstStyle/>
          <a:p>
            <a:pPr indent="0" marL="0">
              <a:buNone/>
            </a:pPr>
            <a:r>
              <a:rPr lang="en-US" sz="1300" b="1" dirty="0">
                <a:solidFill>
                  <a:srgbClr val="FFFFFF"/>
                </a:solidFill>
                <a:latin typeface="Georgia" pitchFamily="34" charset="0"/>
                <a:ea typeface="Georgia" pitchFamily="34" charset="-122"/>
                <a:cs typeface="Georgia" pitchFamily="34" charset="-120"/>
              </a:rPr>
              <a:t>OUT OF AFRICA</a:t>
            </a:r>
            <a:endParaRPr lang="en-US" sz="1300" dirty="0"/>
          </a:p>
        </p:txBody>
      </p:sp>
      <p:sp>
        <p:nvSpPr>
          <p:cNvPr id="10" name="Text 8"/>
          <p:cNvSpPr/>
          <p:nvPr/>
        </p:nvSpPr>
        <p:spPr>
          <a:xfrm>
            <a:off x="5212080" y="1417320"/>
            <a:ext cx="1668780" cy="2926080"/>
          </a:xfrm>
          <a:prstGeom prst="rect">
            <a:avLst/>
          </a:prstGeom>
          <a:noFill/>
          <a:ln/>
        </p:spPr>
        <p:txBody>
          <a:bodyPr wrap="square" rtlCol="0" anchor="t"/>
          <a:lstStyle/>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H. sapiens evolved in Africa ~300 ka</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Single dispersal ~60-70 ka</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African populations most diverse</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Non-Africans are genetically subset</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Supported by mtDNA, Y-chr, autosomal data</a:t>
            </a:r>
            <a:endParaRPr lang="en-US" sz="1100" dirty="0"/>
          </a:p>
        </p:txBody>
      </p:sp>
      <p:sp>
        <p:nvSpPr>
          <p:cNvPr id="11" name="Shape 9"/>
          <p:cNvSpPr/>
          <p:nvPr/>
        </p:nvSpPr>
        <p:spPr>
          <a:xfrm>
            <a:off x="7063740" y="960120"/>
            <a:ext cx="1805940" cy="3474720"/>
          </a:xfrm>
          <a:prstGeom prst="rect">
            <a:avLst/>
          </a:prstGeom>
          <a:solidFill>
            <a:srgbClr val="1C2B1E"/>
          </a:solidFill>
          <a:ln w="6350">
            <a:solidFill>
              <a:srgbClr val="C8791E"/>
            </a:solidFill>
            <a:prstDash val="solid"/>
          </a:ln>
        </p:spPr>
      </p:sp>
      <p:sp>
        <p:nvSpPr>
          <p:cNvPr id="12" name="Shape 10"/>
          <p:cNvSpPr/>
          <p:nvPr/>
        </p:nvSpPr>
        <p:spPr>
          <a:xfrm>
            <a:off x="7063740" y="960120"/>
            <a:ext cx="1805940" cy="411480"/>
          </a:xfrm>
          <a:prstGeom prst="rect">
            <a:avLst/>
          </a:prstGeom>
          <a:solidFill>
            <a:srgbClr val="C8791E"/>
          </a:solidFill>
          <a:ln w="12700">
            <a:solidFill>
              <a:srgbClr val="C8791E"/>
            </a:solidFill>
            <a:prstDash val="solid"/>
          </a:ln>
        </p:spPr>
      </p:sp>
      <p:sp>
        <p:nvSpPr>
          <p:cNvPr id="13" name="Text 11"/>
          <p:cNvSpPr/>
          <p:nvPr/>
        </p:nvSpPr>
        <p:spPr>
          <a:xfrm>
            <a:off x="7155180" y="960120"/>
            <a:ext cx="1714500" cy="411480"/>
          </a:xfrm>
          <a:prstGeom prst="rect">
            <a:avLst/>
          </a:prstGeom>
          <a:noFill/>
          <a:ln/>
        </p:spPr>
        <p:txBody>
          <a:bodyPr wrap="square" lIns="0" tIns="0" rIns="0" bIns="0" rtlCol="0" anchor="ctr"/>
          <a:lstStyle/>
          <a:p>
            <a:pPr indent="0" marL="0">
              <a:buNone/>
            </a:pPr>
            <a:r>
              <a:rPr lang="en-US" sz="1300" b="1" dirty="0">
                <a:solidFill>
                  <a:srgbClr val="FFFFFF"/>
                </a:solidFill>
                <a:latin typeface="Georgia" pitchFamily="34" charset="0"/>
                <a:ea typeface="Georgia" pitchFamily="34" charset="-122"/>
                <a:cs typeface="Georgia" pitchFamily="34" charset="-120"/>
              </a:rPr>
              <a:t>MULTIREGIONAL</a:t>
            </a:r>
            <a:endParaRPr lang="en-US" sz="1300" dirty="0"/>
          </a:p>
        </p:txBody>
      </p:sp>
      <p:sp>
        <p:nvSpPr>
          <p:cNvPr id="14" name="Text 12"/>
          <p:cNvSpPr/>
          <p:nvPr/>
        </p:nvSpPr>
        <p:spPr>
          <a:xfrm>
            <a:off x="7155180" y="1417320"/>
            <a:ext cx="1668780" cy="2926080"/>
          </a:xfrm>
          <a:prstGeom prst="rect">
            <a:avLst/>
          </a:prstGeom>
          <a:noFill/>
          <a:ln/>
        </p:spPr>
        <p:txBody>
          <a:bodyPr wrap="square" rtlCol="0" anchor="t"/>
          <a:lstStyle/>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H. sapiens evolved from H. erectus simultaneously</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Parallel evolution across Old World</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Requires gene flow to maintain one species</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Predicts regional continuity of fossils</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Contradicted by genomic data</a:t>
            </a:r>
            <a:endParaRPr lang="en-US" sz="1100" dirty="0"/>
          </a:p>
        </p:txBody>
      </p:sp>
      <p:sp>
        <p:nvSpPr>
          <p:cNvPr id="15" name="Shape 13"/>
          <p:cNvSpPr/>
          <p:nvPr/>
        </p:nvSpPr>
        <p:spPr>
          <a:xfrm>
            <a:off x="274320" y="4297680"/>
            <a:ext cx="8595360" cy="621792"/>
          </a:xfrm>
          <a:prstGeom prst="rect">
            <a:avLst/>
          </a:prstGeom>
          <a:solidFill>
            <a:srgbClr val="1C2B1E"/>
          </a:solidFill>
          <a:ln w="12700">
            <a:solidFill>
              <a:srgbClr val="1C2B1E"/>
            </a:solidFill>
            <a:prstDash val="solid"/>
          </a:ln>
        </p:spPr>
      </p:sp>
      <p:sp>
        <p:nvSpPr>
          <p:cNvPr id="16" name="Text 14"/>
          <p:cNvSpPr/>
          <p:nvPr/>
        </p:nvSpPr>
        <p:spPr>
          <a:xfrm>
            <a:off x="274320" y="4297680"/>
            <a:ext cx="8595360" cy="621792"/>
          </a:xfrm>
          <a:prstGeom prst="rect">
            <a:avLst/>
          </a:prstGeom>
          <a:noFill/>
          <a:ln/>
        </p:spPr>
        <p:txBody>
          <a:bodyPr wrap="square" lIns="1524" tIns="1524" rIns="1524" bIns="1524" rtlCol="0" anchor="ctr"/>
          <a:lstStyle/>
          <a:p>
            <a:pPr indent="0" marL="0">
              <a:buNone/>
            </a:pPr>
            <a:r>
              <a:rPr lang="en-US" sz="1100" b="1" dirty="0">
                <a:solidFill>
                  <a:srgbClr val="C8791E"/>
                </a:solidFill>
                <a:latin typeface="Calibri" pitchFamily="34" charset="0"/>
                <a:ea typeface="Calibri" pitchFamily="34" charset="-122"/>
                <a:cs typeface="Calibri" pitchFamily="34" charset="-120"/>
              </a:rPr>
              <a:t>Out of Africa Hypothesis: </a:t>
            </a:r>
            <a:pPr indent="0" marL="0">
              <a:buNone/>
            </a:pPr>
            <a:r>
              <a:rPr lang="en-US" sz="1100" dirty="0">
                <a:solidFill>
                  <a:srgbClr val="F4F1EC"/>
                </a:solidFill>
                <a:latin typeface="Calibri" pitchFamily="34" charset="0"/>
                <a:ea typeface="Calibri" pitchFamily="34" charset="-122"/>
                <a:cs typeface="Calibri" pitchFamily="34" charset="-120"/>
              </a:rPr>
              <a:t>The hypothesis that anatomically modern Homo sapiens evolved in Africa (~300 ka) and dispersed globally ~60–70 ka, largely replacing archaic Homo populations with limited interbreeding. Supported by greater African genetic diversity and oldest H. sapiens fossils.</a:t>
            </a:r>
            <a:endParaRPr lang="en-US" sz="1100" dirty="0"/>
          </a:p>
        </p:txBody>
      </p:sp>
      <p:sp>
        <p:nvSpPr>
          <p:cNvPr id="17" name="Text 15"/>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15 / 99</a:t>
            </a:r>
            <a:endParaRPr lang="en-US" sz="900" dirty="0"/>
          </a:p>
        </p:txBody>
      </p:sp>
      <p:sp>
        <p:nvSpPr>
          <p:cNvPr id="18" name="Text 16"/>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10 — Human Evolution</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7A52"/>
          </a:solidFill>
          <a:ln w="12700">
            <a:solidFill>
              <a:srgbClr val="3D7A52"/>
            </a:solidFill>
            <a:prstDash val="solid"/>
          </a:ln>
        </p:spPr>
      </p:sp>
      <p:sp>
        <p:nvSpPr>
          <p:cNvPr id="3" name="Text 1"/>
          <p:cNvSpPr/>
          <p:nvPr/>
        </p:nvSpPr>
        <p:spPr>
          <a:xfrm>
            <a:off x="274320" y="109728"/>
            <a:ext cx="8595360" cy="256032"/>
          </a:xfrm>
          <a:prstGeom prst="rect">
            <a:avLst/>
          </a:prstGeom>
          <a:noFill/>
          <a:ln/>
        </p:spPr>
        <p:txBody>
          <a:bodyPr wrap="square" rtlCol="0" anchor="ctr"/>
          <a:lstStyle/>
          <a:p>
            <a:pPr indent="0" marL="0">
              <a:buNone/>
            </a:pPr>
            <a:r>
              <a:rPr lang="en-US" sz="850" i="1" spc="100" kern="0" dirty="0">
                <a:solidFill>
                  <a:srgbClr val="8FA898"/>
                </a:solidFill>
                <a:latin typeface="Calibri" pitchFamily="34" charset="0"/>
                <a:ea typeface="Calibri" pitchFamily="34" charset="-122"/>
                <a:cs typeface="Calibri" pitchFamily="34" charset="-120"/>
              </a:rPr>
              <a:t>§10.6 The Serial Founder Effect</a:t>
            </a:r>
            <a:endParaRPr lang="en-US" sz="850" dirty="0"/>
          </a:p>
        </p:txBody>
      </p:sp>
      <p:sp>
        <p:nvSpPr>
          <p:cNvPr id="4" name="Text 2"/>
          <p:cNvSpPr/>
          <p:nvPr/>
        </p:nvSpPr>
        <p:spPr>
          <a:xfrm>
            <a:off x="274320" y="320040"/>
            <a:ext cx="8595360" cy="594360"/>
          </a:xfrm>
          <a:prstGeom prst="rect">
            <a:avLst/>
          </a:prstGeom>
          <a:noFill/>
          <a:ln/>
        </p:spPr>
        <p:txBody>
          <a:bodyPr wrap="square" rtlCol="0" anchor="ctr"/>
          <a:lstStyle/>
          <a:p>
            <a:pPr indent="0" marL="0">
              <a:buNone/>
            </a:pPr>
            <a:r>
              <a:rPr lang="en-US" sz="2400" b="1" dirty="0">
                <a:solidFill>
                  <a:srgbClr val="1C2B1E"/>
                </a:solidFill>
                <a:latin typeface="Georgia" pitchFamily="34" charset="0"/>
                <a:ea typeface="Georgia" pitchFamily="34" charset="-122"/>
                <a:cs typeface="Georgia" pitchFamily="34" charset="-120"/>
              </a:rPr>
              <a:t>Why Genetic Diversity Decreases Away from Africa</a:t>
            </a:r>
            <a:endParaRPr lang="en-US" sz="2400" dirty="0"/>
          </a:p>
        </p:txBody>
      </p:sp>
      <p:sp>
        <p:nvSpPr>
          <p:cNvPr id="5" name="Shape 3"/>
          <p:cNvSpPr/>
          <p:nvPr/>
        </p:nvSpPr>
        <p:spPr>
          <a:xfrm>
            <a:off x="274320" y="868680"/>
            <a:ext cx="8595360" cy="22860"/>
          </a:xfrm>
          <a:prstGeom prst="rect">
            <a:avLst/>
          </a:prstGeom>
          <a:solidFill>
            <a:srgbClr val="E8F0EB"/>
          </a:solidFill>
          <a:ln w="12700">
            <a:solidFill>
              <a:srgbClr val="E8F0EB"/>
            </a:solidFill>
            <a:prstDash val="solid"/>
          </a:ln>
        </p:spPr>
      </p:sp>
      <p:sp>
        <p:nvSpPr>
          <p:cNvPr id="6" name="Text 4"/>
          <p:cNvSpPr/>
          <p:nvPr/>
        </p:nvSpPr>
        <p:spPr>
          <a:xfrm>
            <a:off x="274320" y="960120"/>
            <a:ext cx="4663440" cy="3200400"/>
          </a:xfrm>
          <a:prstGeom prst="rect">
            <a:avLst/>
          </a:prstGeom>
          <a:noFill/>
          <a:ln/>
        </p:spPr>
        <p:txBody>
          <a:bodyPr wrap="square" rtlCol="0" anchor="t"/>
          <a:lstStyle/>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When H. sapiens dispersed from Africa, each founding population was a subset of the population that preceded it</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SERIAL FOUNDER EFFECT: each successive colonisation involved a small subset of the source population → progressive genetic diversity loss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Pattern: heterozygosity, number of alleles, haplotype diversity all DECREASE with distance from sub-Saharan Africa</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African populations have the highest number of unique haplotypes not found elsewhere</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Effective population sizes were small during dispersal — each bottleneck event removed rare alleles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This pattern is one of the strongest genetic supports for the Out of Africa hypothesis — a multiregional model would predict highest diversity near the geographic centre of the species range, not specifically in Africa</a:t>
            </a:r>
            <a:endParaRPr lang="en-US" sz="1300" dirty="0"/>
          </a:p>
        </p:txBody>
      </p:sp>
      <p:sp>
        <p:nvSpPr>
          <p:cNvPr id="7" name="Shape 5"/>
          <p:cNvSpPr/>
          <p:nvPr/>
        </p:nvSpPr>
        <p:spPr>
          <a:xfrm>
            <a:off x="5120640" y="960120"/>
            <a:ext cx="3749040" cy="576072"/>
          </a:xfrm>
          <a:prstGeom prst="rect">
            <a:avLst/>
          </a:prstGeom>
          <a:solidFill>
            <a:srgbClr val="2D5A3D"/>
          </a:solidFill>
          <a:ln w="12700">
            <a:solidFill>
              <a:srgbClr val="3D7A52"/>
            </a:solidFill>
            <a:prstDash val="solid"/>
          </a:ln>
        </p:spPr>
      </p:sp>
      <p:sp>
        <p:nvSpPr>
          <p:cNvPr id="8" name="Shape 6"/>
          <p:cNvSpPr/>
          <p:nvPr/>
        </p:nvSpPr>
        <p:spPr>
          <a:xfrm>
            <a:off x="5120640" y="960120"/>
            <a:ext cx="347472" cy="576072"/>
          </a:xfrm>
          <a:prstGeom prst="rect">
            <a:avLst/>
          </a:prstGeom>
          <a:solidFill>
            <a:srgbClr val="1C2B1E"/>
          </a:solidFill>
          <a:ln w="12700">
            <a:solidFill>
              <a:srgbClr val="1C2B1E"/>
            </a:solidFill>
            <a:prstDash val="solid"/>
          </a:ln>
        </p:spPr>
      </p:sp>
      <p:sp>
        <p:nvSpPr>
          <p:cNvPr id="9" name="Text 7"/>
          <p:cNvSpPr/>
          <p:nvPr/>
        </p:nvSpPr>
        <p:spPr>
          <a:xfrm>
            <a:off x="5120640" y="960120"/>
            <a:ext cx="347472" cy="576072"/>
          </a:xfrm>
          <a:prstGeom prst="rect">
            <a:avLst/>
          </a:prstGeom>
          <a:noFill/>
          <a:ln/>
        </p:spPr>
        <p:txBody>
          <a:bodyPr wrap="square" lIns="0" tIns="0" rIns="0" bIns="0" rtlCol="0" anchor="ctr"/>
          <a:lstStyle/>
          <a:p>
            <a:pPr algn="ctr" indent="0" marL="0">
              <a:buNone/>
            </a:pPr>
            <a:r>
              <a:rPr lang="en-US" sz="1300" b="1" dirty="0">
                <a:solidFill>
                  <a:srgbClr val="C8791E"/>
                </a:solidFill>
                <a:latin typeface="Calibri" pitchFamily="34" charset="0"/>
                <a:ea typeface="Calibri" pitchFamily="34" charset="-122"/>
                <a:cs typeface="Calibri" pitchFamily="34" charset="-120"/>
              </a:rPr>
              <a:t>1</a:t>
            </a:r>
            <a:endParaRPr lang="en-US" sz="1300" dirty="0"/>
          </a:p>
        </p:txBody>
      </p:sp>
      <p:sp>
        <p:nvSpPr>
          <p:cNvPr id="10" name="Text 8"/>
          <p:cNvSpPr/>
          <p:nvPr/>
        </p:nvSpPr>
        <p:spPr>
          <a:xfrm>
            <a:off x="5541264" y="996696"/>
            <a:ext cx="3291840" cy="502920"/>
          </a:xfrm>
          <a:prstGeom prst="rect">
            <a:avLst/>
          </a:prstGeom>
          <a:noFill/>
          <a:ln/>
        </p:spPr>
        <p:txBody>
          <a:bodyPr wrap="square" rtlCol="0" anchor="ctr"/>
          <a:lstStyle/>
          <a:p>
            <a:pPr algn="l" indent="0" marL="0">
              <a:buNone/>
            </a:pPr>
            <a:r>
              <a:rPr lang="en-US" sz="1050" dirty="0">
                <a:solidFill>
                  <a:srgbClr val="FFFFFF"/>
                </a:solidFill>
                <a:latin typeface="Calibri" pitchFamily="34" charset="0"/>
                <a:ea typeface="Calibri" pitchFamily="34" charset="-122"/>
                <a:cs typeface="Calibri" pitchFamily="34" charset="-120"/>
              </a:rPr>
              <a:t>Africa (maximum diversity ~300 ka)</a:t>
            </a:r>
            <a:endParaRPr lang="en-US" sz="1050" dirty="0"/>
          </a:p>
        </p:txBody>
      </p:sp>
      <p:sp>
        <p:nvSpPr>
          <p:cNvPr id="11" name="Shape 9"/>
          <p:cNvSpPr/>
          <p:nvPr/>
        </p:nvSpPr>
        <p:spPr>
          <a:xfrm>
            <a:off x="6995160" y="1536192"/>
            <a:ext cx="0" cy="91440"/>
          </a:xfrm>
          <a:prstGeom prst="line">
            <a:avLst/>
          </a:prstGeom>
          <a:noFill/>
          <a:ln w="19050">
            <a:solidFill>
              <a:srgbClr val="C8791E"/>
            </a:solidFill>
            <a:prstDash val="solid"/>
          </a:ln>
        </p:spPr>
      </p:sp>
      <p:sp>
        <p:nvSpPr>
          <p:cNvPr id="12" name="Shape 10"/>
          <p:cNvSpPr/>
          <p:nvPr/>
        </p:nvSpPr>
        <p:spPr>
          <a:xfrm>
            <a:off x="5120640" y="1627632"/>
            <a:ext cx="3749040" cy="576072"/>
          </a:xfrm>
          <a:prstGeom prst="rect">
            <a:avLst/>
          </a:prstGeom>
          <a:solidFill>
            <a:srgbClr val="2D5A3D"/>
          </a:solidFill>
          <a:ln w="12700">
            <a:solidFill>
              <a:srgbClr val="3D7A52"/>
            </a:solidFill>
            <a:prstDash val="solid"/>
          </a:ln>
        </p:spPr>
      </p:sp>
      <p:sp>
        <p:nvSpPr>
          <p:cNvPr id="13" name="Shape 11"/>
          <p:cNvSpPr/>
          <p:nvPr/>
        </p:nvSpPr>
        <p:spPr>
          <a:xfrm>
            <a:off x="5120640" y="1627632"/>
            <a:ext cx="347472" cy="576072"/>
          </a:xfrm>
          <a:prstGeom prst="rect">
            <a:avLst/>
          </a:prstGeom>
          <a:solidFill>
            <a:srgbClr val="1C2B1E"/>
          </a:solidFill>
          <a:ln w="12700">
            <a:solidFill>
              <a:srgbClr val="1C2B1E"/>
            </a:solidFill>
            <a:prstDash val="solid"/>
          </a:ln>
        </p:spPr>
      </p:sp>
      <p:sp>
        <p:nvSpPr>
          <p:cNvPr id="14" name="Text 12"/>
          <p:cNvSpPr/>
          <p:nvPr/>
        </p:nvSpPr>
        <p:spPr>
          <a:xfrm>
            <a:off x="5120640" y="1627632"/>
            <a:ext cx="347472" cy="576072"/>
          </a:xfrm>
          <a:prstGeom prst="rect">
            <a:avLst/>
          </a:prstGeom>
          <a:noFill/>
          <a:ln/>
        </p:spPr>
        <p:txBody>
          <a:bodyPr wrap="square" lIns="0" tIns="0" rIns="0" bIns="0" rtlCol="0" anchor="ctr"/>
          <a:lstStyle/>
          <a:p>
            <a:pPr algn="ctr" indent="0" marL="0">
              <a:buNone/>
            </a:pPr>
            <a:r>
              <a:rPr lang="en-US" sz="1300" b="1" dirty="0">
                <a:solidFill>
                  <a:srgbClr val="C8791E"/>
                </a:solidFill>
                <a:latin typeface="Calibri" pitchFamily="34" charset="0"/>
                <a:ea typeface="Calibri" pitchFamily="34" charset="-122"/>
                <a:cs typeface="Calibri" pitchFamily="34" charset="-120"/>
              </a:rPr>
              <a:t>2</a:t>
            </a:r>
            <a:endParaRPr lang="en-US" sz="1300" dirty="0"/>
          </a:p>
        </p:txBody>
      </p:sp>
      <p:sp>
        <p:nvSpPr>
          <p:cNvPr id="15" name="Text 13"/>
          <p:cNvSpPr/>
          <p:nvPr/>
        </p:nvSpPr>
        <p:spPr>
          <a:xfrm>
            <a:off x="5541264" y="1664208"/>
            <a:ext cx="3291840" cy="502920"/>
          </a:xfrm>
          <a:prstGeom prst="rect">
            <a:avLst/>
          </a:prstGeom>
          <a:noFill/>
          <a:ln/>
        </p:spPr>
        <p:txBody>
          <a:bodyPr wrap="square" rtlCol="0" anchor="ctr"/>
          <a:lstStyle/>
          <a:p>
            <a:pPr algn="l" indent="0" marL="0">
              <a:buNone/>
            </a:pPr>
            <a:r>
              <a:rPr lang="en-US" sz="1050" dirty="0">
                <a:solidFill>
                  <a:srgbClr val="FFFFFF"/>
                </a:solidFill>
                <a:latin typeface="Calibri" pitchFamily="34" charset="0"/>
                <a:ea typeface="Calibri" pitchFamily="34" charset="-122"/>
                <a:cs typeface="Calibri" pitchFamily="34" charset="-120"/>
              </a:rPr>
              <a:t>Near East (subset of African diversity)</a:t>
            </a:r>
            <a:endParaRPr lang="en-US" sz="1050" dirty="0"/>
          </a:p>
        </p:txBody>
      </p:sp>
      <p:sp>
        <p:nvSpPr>
          <p:cNvPr id="16" name="Shape 14"/>
          <p:cNvSpPr/>
          <p:nvPr/>
        </p:nvSpPr>
        <p:spPr>
          <a:xfrm>
            <a:off x="6995160" y="2203704"/>
            <a:ext cx="0" cy="91440"/>
          </a:xfrm>
          <a:prstGeom prst="line">
            <a:avLst/>
          </a:prstGeom>
          <a:noFill/>
          <a:ln w="19050">
            <a:solidFill>
              <a:srgbClr val="C8791E"/>
            </a:solidFill>
            <a:prstDash val="solid"/>
          </a:ln>
        </p:spPr>
      </p:sp>
      <p:sp>
        <p:nvSpPr>
          <p:cNvPr id="17" name="Shape 15"/>
          <p:cNvSpPr/>
          <p:nvPr/>
        </p:nvSpPr>
        <p:spPr>
          <a:xfrm>
            <a:off x="5120640" y="2295144"/>
            <a:ext cx="3749040" cy="576072"/>
          </a:xfrm>
          <a:prstGeom prst="rect">
            <a:avLst/>
          </a:prstGeom>
          <a:solidFill>
            <a:srgbClr val="2D5A3D"/>
          </a:solidFill>
          <a:ln w="12700">
            <a:solidFill>
              <a:srgbClr val="3D7A52"/>
            </a:solidFill>
            <a:prstDash val="solid"/>
          </a:ln>
        </p:spPr>
      </p:sp>
      <p:sp>
        <p:nvSpPr>
          <p:cNvPr id="18" name="Shape 16"/>
          <p:cNvSpPr/>
          <p:nvPr/>
        </p:nvSpPr>
        <p:spPr>
          <a:xfrm>
            <a:off x="5120640" y="2295144"/>
            <a:ext cx="347472" cy="576072"/>
          </a:xfrm>
          <a:prstGeom prst="rect">
            <a:avLst/>
          </a:prstGeom>
          <a:solidFill>
            <a:srgbClr val="1C2B1E"/>
          </a:solidFill>
          <a:ln w="12700">
            <a:solidFill>
              <a:srgbClr val="1C2B1E"/>
            </a:solidFill>
            <a:prstDash val="solid"/>
          </a:ln>
        </p:spPr>
      </p:sp>
      <p:sp>
        <p:nvSpPr>
          <p:cNvPr id="19" name="Text 17"/>
          <p:cNvSpPr/>
          <p:nvPr/>
        </p:nvSpPr>
        <p:spPr>
          <a:xfrm>
            <a:off x="5120640" y="2295144"/>
            <a:ext cx="347472" cy="576072"/>
          </a:xfrm>
          <a:prstGeom prst="rect">
            <a:avLst/>
          </a:prstGeom>
          <a:noFill/>
          <a:ln/>
        </p:spPr>
        <p:txBody>
          <a:bodyPr wrap="square" lIns="0" tIns="0" rIns="0" bIns="0" rtlCol="0" anchor="ctr"/>
          <a:lstStyle/>
          <a:p>
            <a:pPr algn="ctr" indent="0" marL="0">
              <a:buNone/>
            </a:pPr>
            <a:r>
              <a:rPr lang="en-US" sz="1300" b="1" dirty="0">
                <a:solidFill>
                  <a:srgbClr val="C8791E"/>
                </a:solidFill>
                <a:latin typeface="Calibri" pitchFamily="34" charset="0"/>
                <a:ea typeface="Calibri" pitchFamily="34" charset="-122"/>
                <a:cs typeface="Calibri" pitchFamily="34" charset="-120"/>
              </a:rPr>
              <a:t>3</a:t>
            </a:r>
            <a:endParaRPr lang="en-US" sz="1300" dirty="0"/>
          </a:p>
        </p:txBody>
      </p:sp>
      <p:sp>
        <p:nvSpPr>
          <p:cNvPr id="20" name="Text 18"/>
          <p:cNvSpPr/>
          <p:nvPr/>
        </p:nvSpPr>
        <p:spPr>
          <a:xfrm>
            <a:off x="5541264" y="2331720"/>
            <a:ext cx="3291840" cy="502920"/>
          </a:xfrm>
          <a:prstGeom prst="rect">
            <a:avLst/>
          </a:prstGeom>
          <a:noFill/>
          <a:ln/>
        </p:spPr>
        <p:txBody>
          <a:bodyPr wrap="square" rtlCol="0" anchor="ctr"/>
          <a:lstStyle/>
          <a:p>
            <a:pPr algn="l" indent="0" marL="0">
              <a:buNone/>
            </a:pPr>
            <a:r>
              <a:rPr lang="en-US" sz="1050" dirty="0">
                <a:solidFill>
                  <a:srgbClr val="FFFFFF"/>
                </a:solidFill>
                <a:latin typeface="Calibri" pitchFamily="34" charset="0"/>
                <a:ea typeface="Calibri" pitchFamily="34" charset="-122"/>
                <a:cs typeface="Calibri" pitchFamily="34" charset="-120"/>
              </a:rPr>
              <a:t>Central Asia (subset of Near East diversity)</a:t>
            </a:r>
            <a:endParaRPr lang="en-US" sz="1050" dirty="0"/>
          </a:p>
        </p:txBody>
      </p:sp>
      <p:sp>
        <p:nvSpPr>
          <p:cNvPr id="21" name="Shape 19"/>
          <p:cNvSpPr/>
          <p:nvPr/>
        </p:nvSpPr>
        <p:spPr>
          <a:xfrm>
            <a:off x="6995160" y="2871216"/>
            <a:ext cx="0" cy="91440"/>
          </a:xfrm>
          <a:prstGeom prst="line">
            <a:avLst/>
          </a:prstGeom>
          <a:noFill/>
          <a:ln w="19050">
            <a:solidFill>
              <a:srgbClr val="C8791E"/>
            </a:solidFill>
            <a:prstDash val="solid"/>
          </a:ln>
        </p:spPr>
      </p:sp>
      <p:sp>
        <p:nvSpPr>
          <p:cNvPr id="22" name="Shape 20"/>
          <p:cNvSpPr/>
          <p:nvPr/>
        </p:nvSpPr>
        <p:spPr>
          <a:xfrm>
            <a:off x="5120640" y="2962656"/>
            <a:ext cx="3749040" cy="576072"/>
          </a:xfrm>
          <a:prstGeom prst="rect">
            <a:avLst/>
          </a:prstGeom>
          <a:solidFill>
            <a:srgbClr val="2D5A3D"/>
          </a:solidFill>
          <a:ln w="12700">
            <a:solidFill>
              <a:srgbClr val="3D7A52"/>
            </a:solidFill>
            <a:prstDash val="solid"/>
          </a:ln>
        </p:spPr>
      </p:sp>
      <p:sp>
        <p:nvSpPr>
          <p:cNvPr id="23" name="Shape 21"/>
          <p:cNvSpPr/>
          <p:nvPr/>
        </p:nvSpPr>
        <p:spPr>
          <a:xfrm>
            <a:off x="5120640" y="2962656"/>
            <a:ext cx="347472" cy="576072"/>
          </a:xfrm>
          <a:prstGeom prst="rect">
            <a:avLst/>
          </a:prstGeom>
          <a:solidFill>
            <a:srgbClr val="1C2B1E"/>
          </a:solidFill>
          <a:ln w="12700">
            <a:solidFill>
              <a:srgbClr val="1C2B1E"/>
            </a:solidFill>
            <a:prstDash val="solid"/>
          </a:ln>
        </p:spPr>
      </p:sp>
      <p:sp>
        <p:nvSpPr>
          <p:cNvPr id="24" name="Text 22"/>
          <p:cNvSpPr/>
          <p:nvPr/>
        </p:nvSpPr>
        <p:spPr>
          <a:xfrm>
            <a:off x="5120640" y="2962656"/>
            <a:ext cx="347472" cy="576072"/>
          </a:xfrm>
          <a:prstGeom prst="rect">
            <a:avLst/>
          </a:prstGeom>
          <a:noFill/>
          <a:ln/>
        </p:spPr>
        <p:txBody>
          <a:bodyPr wrap="square" lIns="0" tIns="0" rIns="0" bIns="0" rtlCol="0" anchor="ctr"/>
          <a:lstStyle/>
          <a:p>
            <a:pPr algn="ctr" indent="0" marL="0">
              <a:buNone/>
            </a:pPr>
            <a:r>
              <a:rPr lang="en-US" sz="1300" b="1" dirty="0">
                <a:solidFill>
                  <a:srgbClr val="C8791E"/>
                </a:solidFill>
                <a:latin typeface="Calibri" pitchFamily="34" charset="0"/>
                <a:ea typeface="Calibri" pitchFamily="34" charset="-122"/>
                <a:cs typeface="Calibri" pitchFamily="34" charset="-120"/>
              </a:rPr>
              <a:t>4</a:t>
            </a:r>
            <a:endParaRPr lang="en-US" sz="1300" dirty="0"/>
          </a:p>
        </p:txBody>
      </p:sp>
      <p:sp>
        <p:nvSpPr>
          <p:cNvPr id="25" name="Text 23"/>
          <p:cNvSpPr/>
          <p:nvPr/>
        </p:nvSpPr>
        <p:spPr>
          <a:xfrm>
            <a:off x="5541264" y="2999232"/>
            <a:ext cx="3291840" cy="502920"/>
          </a:xfrm>
          <a:prstGeom prst="rect">
            <a:avLst/>
          </a:prstGeom>
          <a:noFill/>
          <a:ln/>
        </p:spPr>
        <p:txBody>
          <a:bodyPr wrap="square" rtlCol="0" anchor="ctr"/>
          <a:lstStyle/>
          <a:p>
            <a:pPr algn="l" indent="0" marL="0">
              <a:buNone/>
            </a:pPr>
            <a:r>
              <a:rPr lang="en-US" sz="1050" dirty="0">
                <a:solidFill>
                  <a:srgbClr val="FFFFFF"/>
                </a:solidFill>
                <a:latin typeface="Calibri" pitchFamily="34" charset="0"/>
                <a:ea typeface="Calibri" pitchFamily="34" charset="-122"/>
                <a:cs typeface="Calibri" pitchFamily="34" charset="-120"/>
              </a:rPr>
              <a:t>East Asia Europe (further reduction)</a:t>
            </a:r>
            <a:endParaRPr lang="en-US" sz="1050" dirty="0"/>
          </a:p>
        </p:txBody>
      </p:sp>
      <p:sp>
        <p:nvSpPr>
          <p:cNvPr id="26" name="Shape 24"/>
          <p:cNvSpPr/>
          <p:nvPr/>
        </p:nvSpPr>
        <p:spPr>
          <a:xfrm>
            <a:off x="6995160" y="3538728"/>
            <a:ext cx="0" cy="91440"/>
          </a:xfrm>
          <a:prstGeom prst="line">
            <a:avLst/>
          </a:prstGeom>
          <a:noFill/>
          <a:ln w="19050">
            <a:solidFill>
              <a:srgbClr val="C8791E"/>
            </a:solidFill>
            <a:prstDash val="solid"/>
          </a:ln>
        </p:spPr>
      </p:sp>
      <p:sp>
        <p:nvSpPr>
          <p:cNvPr id="27" name="Shape 25"/>
          <p:cNvSpPr/>
          <p:nvPr/>
        </p:nvSpPr>
        <p:spPr>
          <a:xfrm>
            <a:off x="5120640" y="3630168"/>
            <a:ext cx="3749040" cy="576072"/>
          </a:xfrm>
          <a:prstGeom prst="rect">
            <a:avLst/>
          </a:prstGeom>
          <a:solidFill>
            <a:srgbClr val="2D5A3D"/>
          </a:solidFill>
          <a:ln w="12700">
            <a:solidFill>
              <a:srgbClr val="3D7A52"/>
            </a:solidFill>
            <a:prstDash val="solid"/>
          </a:ln>
        </p:spPr>
      </p:sp>
      <p:sp>
        <p:nvSpPr>
          <p:cNvPr id="28" name="Shape 26"/>
          <p:cNvSpPr/>
          <p:nvPr/>
        </p:nvSpPr>
        <p:spPr>
          <a:xfrm>
            <a:off x="5120640" y="3630168"/>
            <a:ext cx="347472" cy="576072"/>
          </a:xfrm>
          <a:prstGeom prst="rect">
            <a:avLst/>
          </a:prstGeom>
          <a:solidFill>
            <a:srgbClr val="1C2B1E"/>
          </a:solidFill>
          <a:ln w="12700">
            <a:solidFill>
              <a:srgbClr val="1C2B1E"/>
            </a:solidFill>
            <a:prstDash val="solid"/>
          </a:ln>
        </p:spPr>
      </p:sp>
      <p:sp>
        <p:nvSpPr>
          <p:cNvPr id="29" name="Text 27"/>
          <p:cNvSpPr/>
          <p:nvPr/>
        </p:nvSpPr>
        <p:spPr>
          <a:xfrm>
            <a:off x="5120640" y="3630168"/>
            <a:ext cx="347472" cy="576072"/>
          </a:xfrm>
          <a:prstGeom prst="rect">
            <a:avLst/>
          </a:prstGeom>
          <a:noFill/>
          <a:ln/>
        </p:spPr>
        <p:txBody>
          <a:bodyPr wrap="square" lIns="0" tIns="0" rIns="0" bIns="0" rtlCol="0" anchor="ctr"/>
          <a:lstStyle/>
          <a:p>
            <a:pPr algn="ctr" indent="0" marL="0">
              <a:buNone/>
            </a:pPr>
            <a:r>
              <a:rPr lang="en-US" sz="1300" b="1" dirty="0">
                <a:solidFill>
                  <a:srgbClr val="C8791E"/>
                </a:solidFill>
                <a:latin typeface="Calibri" pitchFamily="34" charset="0"/>
                <a:ea typeface="Calibri" pitchFamily="34" charset="-122"/>
                <a:cs typeface="Calibri" pitchFamily="34" charset="-120"/>
              </a:rPr>
              <a:t>5</a:t>
            </a:r>
            <a:endParaRPr lang="en-US" sz="1300" dirty="0"/>
          </a:p>
        </p:txBody>
      </p:sp>
      <p:sp>
        <p:nvSpPr>
          <p:cNvPr id="30" name="Text 28"/>
          <p:cNvSpPr/>
          <p:nvPr/>
        </p:nvSpPr>
        <p:spPr>
          <a:xfrm>
            <a:off x="5541264" y="3666744"/>
            <a:ext cx="3291840" cy="502920"/>
          </a:xfrm>
          <a:prstGeom prst="rect">
            <a:avLst/>
          </a:prstGeom>
          <a:noFill/>
          <a:ln/>
        </p:spPr>
        <p:txBody>
          <a:bodyPr wrap="square" rtlCol="0" anchor="ctr"/>
          <a:lstStyle/>
          <a:p>
            <a:pPr algn="l" indent="0" marL="0">
              <a:buNone/>
            </a:pPr>
            <a:r>
              <a:rPr lang="en-US" sz="1050" dirty="0">
                <a:solidFill>
                  <a:srgbClr val="FFFFFF"/>
                </a:solidFill>
                <a:latin typeface="Calibri" pitchFamily="34" charset="0"/>
                <a:ea typeface="Calibri" pitchFamily="34" charset="-122"/>
                <a:cs typeface="Calibri" pitchFamily="34" charset="-120"/>
              </a:rPr>
              <a:t>Americas (minimum diversity)</a:t>
            </a:r>
            <a:endParaRPr lang="en-US" sz="1050" dirty="0"/>
          </a:p>
        </p:txBody>
      </p:sp>
      <p:sp>
        <p:nvSpPr>
          <p:cNvPr id="31" name="Shape 29"/>
          <p:cNvSpPr/>
          <p:nvPr/>
        </p:nvSpPr>
        <p:spPr>
          <a:xfrm>
            <a:off x="274320" y="4297680"/>
            <a:ext cx="8595360" cy="621792"/>
          </a:xfrm>
          <a:prstGeom prst="rect">
            <a:avLst/>
          </a:prstGeom>
          <a:solidFill>
            <a:srgbClr val="1C2B1E"/>
          </a:solidFill>
          <a:ln w="12700">
            <a:solidFill>
              <a:srgbClr val="1C2B1E"/>
            </a:solidFill>
            <a:prstDash val="solid"/>
          </a:ln>
        </p:spPr>
      </p:sp>
      <p:sp>
        <p:nvSpPr>
          <p:cNvPr id="32" name="Text 30"/>
          <p:cNvSpPr/>
          <p:nvPr/>
        </p:nvSpPr>
        <p:spPr>
          <a:xfrm>
            <a:off x="274320" y="4297680"/>
            <a:ext cx="8595360" cy="621792"/>
          </a:xfrm>
          <a:prstGeom prst="rect">
            <a:avLst/>
          </a:prstGeom>
          <a:noFill/>
          <a:ln/>
        </p:spPr>
        <p:txBody>
          <a:bodyPr wrap="square" lIns="1524" tIns="1524" rIns="1524" bIns="1524" rtlCol="0" anchor="ctr"/>
          <a:lstStyle/>
          <a:p>
            <a:pPr indent="0" marL="0">
              <a:buNone/>
            </a:pPr>
            <a:r>
              <a:rPr lang="en-US" sz="1100" b="1" dirty="0">
                <a:solidFill>
                  <a:srgbClr val="C8791E"/>
                </a:solidFill>
                <a:latin typeface="Calibri" pitchFamily="34" charset="0"/>
                <a:ea typeface="Calibri" pitchFamily="34" charset="-122"/>
                <a:cs typeface="Calibri" pitchFamily="34" charset="-120"/>
              </a:rPr>
              <a:t>Serial Founder Effect: </a:t>
            </a:r>
            <a:pPr indent="0" marL="0">
              <a:buNone/>
            </a:pPr>
            <a:r>
              <a:rPr lang="en-US" sz="1100" dirty="0">
                <a:solidFill>
                  <a:srgbClr val="F4F1EC"/>
                </a:solidFill>
                <a:latin typeface="Calibri" pitchFamily="34" charset="0"/>
                <a:ea typeface="Calibri" pitchFamily="34" charset="-122"/>
                <a:cs typeface="Calibri" pitchFamily="34" charset="-120"/>
              </a:rPr>
              <a:t>The progressive loss of genetic diversity as successive small founder populations colonised new geographic regions during the out-of-Africa dispersal. Explains why human genetic diversity decreases with geographic distance from sub-Saharan Africa.</a:t>
            </a:r>
            <a:endParaRPr lang="en-US" sz="1100" dirty="0"/>
          </a:p>
        </p:txBody>
      </p:sp>
      <p:sp>
        <p:nvSpPr>
          <p:cNvPr id="33" name="Text 31"/>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16 / 99</a:t>
            </a:r>
            <a:endParaRPr lang="en-US" sz="900" dirty="0"/>
          </a:p>
        </p:txBody>
      </p:sp>
      <p:sp>
        <p:nvSpPr>
          <p:cNvPr id="34" name="Text 32"/>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10 — Human Evolution</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7A52"/>
          </a:solidFill>
          <a:ln w="12700">
            <a:solidFill>
              <a:srgbClr val="3D7A52"/>
            </a:solidFill>
            <a:prstDash val="solid"/>
          </a:ln>
        </p:spPr>
      </p:sp>
      <p:sp>
        <p:nvSpPr>
          <p:cNvPr id="3" name="Text 1"/>
          <p:cNvSpPr/>
          <p:nvPr/>
        </p:nvSpPr>
        <p:spPr>
          <a:xfrm>
            <a:off x="274320" y="109728"/>
            <a:ext cx="8595360" cy="256032"/>
          </a:xfrm>
          <a:prstGeom prst="rect">
            <a:avLst/>
          </a:prstGeom>
          <a:noFill/>
          <a:ln/>
        </p:spPr>
        <p:txBody>
          <a:bodyPr wrap="square" rtlCol="0" anchor="ctr"/>
          <a:lstStyle/>
          <a:p>
            <a:pPr indent="0" marL="0">
              <a:buNone/>
            </a:pPr>
            <a:r>
              <a:rPr lang="en-US" sz="850" i="1" spc="100" kern="0" dirty="0">
                <a:solidFill>
                  <a:srgbClr val="8FA898"/>
                </a:solidFill>
                <a:latin typeface="Calibri" pitchFamily="34" charset="0"/>
                <a:ea typeface="Calibri" pitchFamily="34" charset="-122"/>
                <a:cs typeface="Calibri" pitchFamily="34" charset="-120"/>
              </a:rPr>
              <a:t>§10.1–10.6 Unique Hominin Evolutionary Themes</a:t>
            </a:r>
            <a:endParaRPr lang="en-US" sz="850" dirty="0"/>
          </a:p>
        </p:txBody>
      </p:sp>
      <p:sp>
        <p:nvSpPr>
          <p:cNvPr id="4" name="Text 2"/>
          <p:cNvSpPr/>
          <p:nvPr/>
        </p:nvSpPr>
        <p:spPr>
          <a:xfrm>
            <a:off x="274320" y="320040"/>
            <a:ext cx="8595360" cy="594360"/>
          </a:xfrm>
          <a:prstGeom prst="rect">
            <a:avLst/>
          </a:prstGeom>
          <a:noFill/>
          <a:ln/>
        </p:spPr>
        <p:txBody>
          <a:bodyPr wrap="square" rtlCol="0" anchor="ctr"/>
          <a:lstStyle/>
          <a:p>
            <a:pPr indent="0" marL="0">
              <a:buNone/>
            </a:pPr>
            <a:r>
              <a:rPr lang="en-US" sz="2400" b="1" dirty="0">
                <a:solidFill>
                  <a:srgbClr val="1C2B1E"/>
                </a:solidFill>
                <a:latin typeface="Georgia" pitchFamily="34" charset="0"/>
                <a:ea typeface="Georgia" pitchFamily="34" charset="-122"/>
                <a:cs typeface="Georgia" pitchFamily="34" charset="-120"/>
              </a:rPr>
              <a:t>What Makes the Hominin Story Distinctive</a:t>
            </a:r>
            <a:endParaRPr lang="en-US" sz="2400" dirty="0"/>
          </a:p>
        </p:txBody>
      </p:sp>
      <p:sp>
        <p:nvSpPr>
          <p:cNvPr id="5" name="Shape 3"/>
          <p:cNvSpPr/>
          <p:nvPr/>
        </p:nvSpPr>
        <p:spPr>
          <a:xfrm>
            <a:off x="274320" y="868680"/>
            <a:ext cx="8595360" cy="22860"/>
          </a:xfrm>
          <a:prstGeom prst="rect">
            <a:avLst/>
          </a:prstGeom>
          <a:solidFill>
            <a:srgbClr val="E8F0EB"/>
          </a:solidFill>
          <a:ln w="12700">
            <a:solidFill>
              <a:srgbClr val="E8F0EB"/>
            </a:solidFill>
            <a:prstDash val="solid"/>
          </a:ln>
        </p:spPr>
      </p:sp>
      <p:sp>
        <p:nvSpPr>
          <p:cNvPr id="6" name="Text 4"/>
          <p:cNvSpPr/>
          <p:nvPr/>
        </p:nvSpPr>
        <p:spPr>
          <a:xfrm>
            <a:off x="274320" y="960120"/>
            <a:ext cx="4663440" cy="3200400"/>
          </a:xfrm>
          <a:prstGeom prst="rect">
            <a:avLst/>
          </a:prstGeom>
          <a:noFill/>
          <a:ln/>
        </p:spPr>
        <p:txBody>
          <a:bodyPr wrap="square" rtlCol="0" anchor="t"/>
          <a:lstStyle/>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TEMPORAL MOSAIC: different hominin characters evolved at very different rates — bipedalism before brains; tool use before language</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MULTIPLE CONTEMPORANEOUS SPECIES: Homo sapiens coexisted with Neanderthals, Denisovans, and possibly H. floresiensis — we are not the culmination of a single lineage</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GENE FLOW AND HYBRIDISATION: our genome contains contributions from archaic lineages we drove to extinction — the history is not one of simple replacement</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CULTURAL EVOLUTION: unique to our lineage in its scope — culture evolves 10⁶× faster than genetic evolution; the last 10,000 years are driven by culture not biology</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THE LAST SURVIVOR: all other members of genus Homo went extinct — why did H. sapiens survive? Cognitive flexibility, language, social networks, or contingent geographic luck?</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Human evolution is not a story of inevitable progress — it is a story of contingency, hybridisation, and a very close call</a:t>
            </a:r>
            <a:endParaRPr lang="en-US" sz="1300" dirty="0"/>
          </a:p>
        </p:txBody>
      </p:sp>
      <p:sp>
        <p:nvSpPr>
          <p:cNvPr id="7" name="Shape 5"/>
          <p:cNvSpPr/>
          <p:nvPr/>
        </p:nvSpPr>
        <p:spPr>
          <a:xfrm>
            <a:off x="5120640" y="960120"/>
            <a:ext cx="3749040" cy="3474720"/>
          </a:xfrm>
          <a:prstGeom prst="rect">
            <a:avLst/>
          </a:prstGeom>
          <a:solidFill>
            <a:srgbClr val="243228"/>
          </a:solidFill>
          <a:ln w="6350">
            <a:solidFill>
              <a:srgbClr val="3D7A52"/>
            </a:solidFill>
            <a:prstDash val="solid"/>
          </a:ln>
        </p:spPr>
      </p:sp>
      <p:sp>
        <p:nvSpPr>
          <p:cNvPr id="8" name="Text 6"/>
          <p:cNvSpPr/>
          <p:nvPr/>
        </p:nvSpPr>
        <p:spPr>
          <a:xfrm>
            <a:off x="5257800" y="1097280"/>
            <a:ext cx="3474720" cy="457200"/>
          </a:xfrm>
          <a:prstGeom prst="rect">
            <a:avLst/>
          </a:prstGeom>
          <a:noFill/>
          <a:ln/>
        </p:spPr>
        <p:txBody>
          <a:bodyPr wrap="square" rtlCol="0" anchor="ctr"/>
          <a:lstStyle/>
          <a:p>
            <a:pPr indent="0" marL="0">
              <a:buNone/>
            </a:pPr>
            <a:r>
              <a:rPr lang="en-US" sz="1300" b="1" dirty="0">
                <a:solidFill>
                  <a:srgbClr val="C8791E"/>
                </a:solidFill>
                <a:latin typeface="Georgia" pitchFamily="34" charset="0"/>
                <a:ea typeface="Georgia" pitchFamily="34" charset="-122"/>
                <a:cs typeface="Georgia" pitchFamily="34" charset="-120"/>
              </a:rPr>
              <a:t>Homo sapiens: One Survivor of Many</a:t>
            </a:r>
            <a:endParaRPr lang="en-US" sz="1300" dirty="0"/>
          </a:p>
        </p:txBody>
      </p:sp>
      <p:sp>
        <p:nvSpPr>
          <p:cNvPr id="9" name="Text 7"/>
          <p:cNvSpPr/>
          <p:nvPr/>
        </p:nvSpPr>
        <p:spPr>
          <a:xfrm>
            <a:off x="5257800" y="1600200"/>
            <a:ext cx="3474720" cy="2651760"/>
          </a:xfrm>
          <a:prstGeom prst="rect">
            <a:avLst/>
          </a:prstGeom>
          <a:noFill/>
          <a:ln/>
        </p:spPr>
        <p:txBody>
          <a:bodyPr wrap="square" rtlCol="0" anchor="t"/>
          <a:lstStyle/>
          <a:p>
            <a:pPr indent="0" marL="0">
              <a:buNone/>
            </a:pPr>
            <a:r>
              <a:rPr lang="en-US" sz="1200" dirty="0">
                <a:solidFill>
                  <a:srgbClr val="F4F1EC"/>
                </a:solidFill>
                <a:latin typeface="Calibri" pitchFamily="34" charset="0"/>
                <a:ea typeface="Calibri" pitchFamily="34" charset="-122"/>
                <a:cs typeface="Calibri" pitchFamily="34" charset="-120"/>
              </a:rPr>
              <a:t>HOMO SPECIES THAT EXISTED SIMULTANEOUSLY</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~100-70 ka, all coexisting:</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H. sapiens (Africa, moving outward)</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H. neanderthalensis (Europe/W. Asia)</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Denisovans (Siberia/Central Asia)</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H. floresiensis? (Flores, Indonesia)</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H. luzonensis? (Philippines)</a:t>
            </a:r>
            <a:endParaRPr lang="en-US" sz="1200" dirty="0"/>
          </a:p>
          <a:p>
            <a:pPr indent="0" marL="0">
              <a:buNone/>
            </a:pP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All went extinct; H. sapiens survived</a:t>
            </a:r>
            <a:endParaRPr lang="en-US" sz="1200" dirty="0"/>
          </a:p>
          <a:p>
            <a:pPr indent="0" marL="0">
              <a:buNone/>
            </a:pP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WHY H. SAPIENS SURVIVED:</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Multiple hypotheses, no consensus:</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1. Superior cognitive flexibility</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2. Extended social networks</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3. More complex language enabling</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abstract planning</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4. Geographic luck — was in the</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right place during climate changes</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5. Disease immunity from African</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pathogen diversity</a:t>
            </a:r>
            <a:endParaRPr lang="en-US" sz="1200" dirty="0"/>
          </a:p>
          <a:p>
            <a:pPr indent="0" marL="0">
              <a:buNone/>
            </a:pP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"We should be humble: Neanderthal</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brain size was equal or larger"</a:t>
            </a:r>
            <a:endParaRPr lang="en-US" sz="1200" dirty="0"/>
          </a:p>
        </p:txBody>
      </p:sp>
      <p:sp>
        <p:nvSpPr>
          <p:cNvPr id="10" name="Shape 8"/>
          <p:cNvSpPr/>
          <p:nvPr/>
        </p:nvSpPr>
        <p:spPr>
          <a:xfrm>
            <a:off x="274320" y="4297680"/>
            <a:ext cx="8595360" cy="621792"/>
          </a:xfrm>
          <a:prstGeom prst="rect">
            <a:avLst/>
          </a:prstGeom>
          <a:solidFill>
            <a:srgbClr val="1C2B1E"/>
          </a:solidFill>
          <a:ln w="12700">
            <a:solidFill>
              <a:srgbClr val="1C2B1E"/>
            </a:solidFill>
            <a:prstDash val="solid"/>
          </a:ln>
        </p:spPr>
      </p:sp>
      <p:sp>
        <p:nvSpPr>
          <p:cNvPr id="11" name="Text 9"/>
          <p:cNvSpPr/>
          <p:nvPr/>
        </p:nvSpPr>
        <p:spPr>
          <a:xfrm>
            <a:off x="274320" y="4297680"/>
            <a:ext cx="8595360" cy="621792"/>
          </a:xfrm>
          <a:prstGeom prst="rect">
            <a:avLst/>
          </a:prstGeom>
          <a:noFill/>
          <a:ln/>
        </p:spPr>
        <p:txBody>
          <a:bodyPr wrap="square" lIns="1524" tIns="1524" rIns="1524" bIns="1524" rtlCol="0" anchor="ctr"/>
          <a:lstStyle/>
          <a:p>
            <a:pPr indent="0" marL="0">
              <a:buNone/>
            </a:pPr>
            <a:r>
              <a:rPr lang="en-US" sz="1100" b="1" dirty="0">
                <a:solidFill>
                  <a:srgbClr val="C8791E"/>
                </a:solidFill>
                <a:latin typeface="Calibri" pitchFamily="34" charset="0"/>
                <a:ea typeface="Calibri" pitchFamily="34" charset="-122"/>
                <a:cs typeface="Calibri" pitchFamily="34" charset="-120"/>
              </a:rPr>
              <a:t>Homo sapiens: </a:t>
            </a:r>
            <a:pPr indent="0" marL="0">
              <a:buNone/>
            </a:pPr>
            <a:r>
              <a:rPr lang="en-US" sz="1100" dirty="0">
                <a:solidFill>
                  <a:srgbClr val="F4F1EC"/>
                </a:solidFill>
                <a:latin typeface="Calibri" pitchFamily="34" charset="0"/>
                <a:ea typeface="Calibri" pitchFamily="34" charset="-122"/>
                <a:cs typeface="Calibri" pitchFamily="34" charset="-120"/>
              </a:rPr>
              <a:t>The only surviving member of genus Homo, appearing ~300 ka in Africa. Anatomically and behaviourally modern. Our genome contains 1–4% Neanderthal and up to 5% Denisovan ancestry from interbreeding during the out-of-Africa dispersal.</a:t>
            </a:r>
            <a:endParaRPr lang="en-US" sz="1100" dirty="0"/>
          </a:p>
        </p:txBody>
      </p:sp>
      <p:sp>
        <p:nvSpPr>
          <p:cNvPr id="12" name="Text 10"/>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17 / 99</a:t>
            </a:r>
            <a:endParaRPr lang="en-US" sz="900" dirty="0"/>
          </a:p>
        </p:txBody>
      </p:sp>
      <p:sp>
        <p:nvSpPr>
          <p:cNvPr id="13" name="Text 11"/>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10 — Human Evolution</a:t>
            </a:r>
            <a:endParaRPr 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E1A10"/>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3D8C7A"/>
          </a:solidFill>
          <a:ln w="12700">
            <a:solidFill>
              <a:srgbClr val="3D8C7A"/>
            </a:solidFill>
            <a:prstDash val="solid"/>
          </a:ln>
        </p:spPr>
      </p:sp>
      <p:sp>
        <p:nvSpPr>
          <p:cNvPr id="3" name="Text 1"/>
          <p:cNvSpPr/>
          <p:nvPr/>
        </p:nvSpPr>
        <p:spPr>
          <a:xfrm>
            <a:off x="457200" y="1645920"/>
            <a:ext cx="8229600" cy="1371600"/>
          </a:xfrm>
          <a:prstGeom prst="rect">
            <a:avLst/>
          </a:prstGeom>
          <a:noFill/>
          <a:ln/>
        </p:spPr>
        <p:txBody>
          <a:bodyPr wrap="square" rtlCol="0" anchor="ctr"/>
          <a:lstStyle/>
          <a:p>
            <a:pPr algn="ctr" indent="0" marL="0">
              <a:buNone/>
            </a:pPr>
            <a:r>
              <a:rPr lang="en-US" sz="4400" b="1" dirty="0">
                <a:solidFill>
                  <a:srgbClr val="F4F1EC"/>
                </a:solidFill>
                <a:latin typeface="Georgia" pitchFamily="34" charset="0"/>
                <a:ea typeface="Georgia" pitchFamily="34" charset="-122"/>
                <a:cs typeface="Georgia" pitchFamily="34" charset="-120"/>
              </a:rPr>
              <a:t>Questions &amp; Answers</a:t>
            </a:r>
            <a:endParaRPr lang="en-US" sz="4400" dirty="0"/>
          </a:p>
        </p:txBody>
      </p:sp>
      <p:sp>
        <p:nvSpPr>
          <p:cNvPr id="4" name="Text 2"/>
          <p:cNvSpPr/>
          <p:nvPr/>
        </p:nvSpPr>
        <p:spPr>
          <a:xfrm>
            <a:off x="457200" y="3017520"/>
            <a:ext cx="8229600" cy="457200"/>
          </a:xfrm>
          <a:prstGeom prst="rect">
            <a:avLst/>
          </a:prstGeom>
          <a:noFill/>
          <a:ln/>
        </p:spPr>
        <p:txBody>
          <a:bodyPr wrap="square" rtlCol="0" anchor="ctr"/>
          <a:lstStyle/>
          <a:p>
            <a:pPr algn="ctr" indent="0" marL="0">
              <a:buNone/>
            </a:pPr>
            <a:r>
              <a:rPr lang="en-US" sz="1600" i="1" dirty="0">
                <a:solidFill>
                  <a:srgbClr val="8FA898"/>
                </a:solidFill>
                <a:latin typeface="Calibri" pitchFamily="34" charset="0"/>
                <a:ea typeface="Calibri" pitchFamily="34" charset="-122"/>
                <a:cs typeface="Calibri" pitchFamily="34" charset="-120"/>
              </a:rPr>
              <a:t>Thinking-type questions — discuss before turning to the answer slide</a:t>
            </a:r>
            <a:endParaRPr lang="en-US" sz="1600" dirty="0"/>
          </a:p>
        </p:txBody>
      </p:sp>
      <p:sp>
        <p:nvSpPr>
          <p:cNvPr id="5" name="Text 3"/>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10 — Human Evolution</a:t>
            </a:r>
            <a:endParaRPr lang="en-US" sz="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E1A10"/>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C8791E"/>
          </a:solidFill>
          <a:ln w="12700">
            <a:solidFill>
              <a:srgbClr val="C8791E"/>
            </a:solidFill>
            <a:prstDash val="solid"/>
          </a:ln>
        </p:spPr>
      </p:sp>
      <p:sp>
        <p:nvSpPr>
          <p:cNvPr id="3" name="Shape 1"/>
          <p:cNvSpPr/>
          <p:nvPr/>
        </p:nvSpPr>
        <p:spPr>
          <a:xfrm>
            <a:off x="0" y="64008"/>
            <a:ext cx="9144000" cy="475488"/>
          </a:xfrm>
          <a:prstGeom prst="rect">
            <a:avLst/>
          </a:prstGeom>
          <a:solidFill>
            <a:srgbClr val="243228"/>
          </a:solidFill>
          <a:ln w="12700">
            <a:solidFill>
              <a:srgbClr val="243228"/>
            </a:solidFill>
            <a:prstDash val="solid"/>
          </a:ln>
        </p:spPr>
      </p:sp>
      <p:sp>
        <p:nvSpPr>
          <p:cNvPr id="4" name="Text 2"/>
          <p:cNvSpPr/>
          <p:nvPr/>
        </p:nvSpPr>
        <p:spPr>
          <a:xfrm>
            <a:off x="320040" y="91440"/>
            <a:ext cx="4572000" cy="274320"/>
          </a:xfrm>
          <a:prstGeom prst="rect">
            <a:avLst/>
          </a:prstGeom>
          <a:noFill/>
          <a:ln/>
        </p:spPr>
        <p:txBody>
          <a:bodyPr wrap="square" rtlCol="0" anchor="ctr"/>
          <a:lstStyle/>
          <a:p>
            <a:pPr indent="0" marL="0">
              <a:buNone/>
            </a:pPr>
            <a:r>
              <a:rPr lang="en-US" sz="1100" b="1" spc="200" kern="0" dirty="0">
                <a:solidFill>
                  <a:srgbClr val="C8791E"/>
                </a:solidFill>
                <a:latin typeface="Calibri" pitchFamily="34" charset="0"/>
                <a:ea typeface="Calibri" pitchFamily="34" charset="-122"/>
                <a:cs typeface="Calibri" pitchFamily="34" charset="-120"/>
              </a:rPr>
              <a:t>Question 1 of 5</a:t>
            </a:r>
            <a:endParaRPr lang="en-US" sz="1100" dirty="0"/>
          </a:p>
        </p:txBody>
      </p:sp>
      <p:sp>
        <p:nvSpPr>
          <p:cNvPr id="5" name="Text 3"/>
          <p:cNvSpPr/>
          <p:nvPr/>
        </p:nvSpPr>
        <p:spPr>
          <a:xfrm>
            <a:off x="320040" y="329184"/>
            <a:ext cx="6400800" cy="201168"/>
          </a:xfrm>
          <a:prstGeom prst="rect">
            <a:avLst/>
          </a:prstGeom>
          <a:noFill/>
          <a:ln/>
        </p:spPr>
        <p:txBody>
          <a:bodyPr wrap="square" rtlCol="0" anchor="ctr"/>
          <a:lstStyle/>
          <a:p>
            <a:pPr indent="0" marL="0">
              <a:buNone/>
            </a:pPr>
            <a:r>
              <a:rPr lang="en-US" sz="900" spc="100" kern="0" dirty="0">
                <a:solidFill>
                  <a:srgbClr val="8FA898"/>
                </a:solidFill>
                <a:latin typeface="Calibri" pitchFamily="34" charset="0"/>
                <a:ea typeface="Calibri" pitchFamily="34" charset="-122"/>
                <a:cs typeface="Calibri" pitchFamily="34" charset="-120"/>
              </a:rPr>
              <a:t>Analysis — Bloom's L4</a:t>
            </a:r>
            <a:endParaRPr lang="en-US" sz="900" dirty="0"/>
          </a:p>
        </p:txBody>
      </p:sp>
      <p:sp>
        <p:nvSpPr>
          <p:cNvPr id="6" name="Shape 4"/>
          <p:cNvSpPr/>
          <p:nvPr/>
        </p:nvSpPr>
        <p:spPr>
          <a:xfrm>
            <a:off x="7589520" y="109728"/>
            <a:ext cx="1280160" cy="347472"/>
          </a:xfrm>
          <a:prstGeom prst="rect">
            <a:avLst/>
          </a:prstGeom>
          <a:solidFill>
            <a:srgbClr val="C8791E"/>
          </a:solidFill>
          <a:ln w="12700">
            <a:solidFill>
              <a:srgbClr val="C8791E"/>
            </a:solidFill>
            <a:prstDash val="solid"/>
          </a:ln>
        </p:spPr>
      </p:sp>
      <p:sp>
        <p:nvSpPr>
          <p:cNvPr id="7" name="Text 5"/>
          <p:cNvSpPr/>
          <p:nvPr/>
        </p:nvSpPr>
        <p:spPr>
          <a:xfrm>
            <a:off x="7589520" y="109728"/>
            <a:ext cx="128016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5 marks</a:t>
            </a:r>
            <a:endParaRPr lang="en-US" sz="1000" dirty="0"/>
          </a:p>
        </p:txBody>
      </p:sp>
      <p:sp>
        <p:nvSpPr>
          <p:cNvPr id="8" name="Shape 6"/>
          <p:cNvSpPr/>
          <p:nvPr/>
        </p:nvSpPr>
        <p:spPr>
          <a:xfrm>
            <a:off x="320040" y="713232"/>
            <a:ext cx="502920" cy="502920"/>
          </a:xfrm>
          <a:prstGeom prst="rect">
            <a:avLst/>
          </a:prstGeom>
          <a:solidFill>
            <a:srgbClr val="2D5A3D"/>
          </a:solidFill>
          <a:ln w="12700">
            <a:solidFill>
              <a:srgbClr val="3D7A52"/>
            </a:solidFill>
            <a:prstDash val="solid"/>
          </a:ln>
        </p:spPr>
      </p:sp>
      <p:sp>
        <p:nvSpPr>
          <p:cNvPr id="9" name="Text 7"/>
          <p:cNvSpPr/>
          <p:nvPr/>
        </p:nvSpPr>
        <p:spPr>
          <a:xfrm>
            <a:off x="320040" y="713232"/>
            <a:ext cx="502920" cy="502920"/>
          </a:xfrm>
          <a:prstGeom prst="rect">
            <a:avLst/>
          </a:prstGeom>
          <a:noFill/>
          <a:ln/>
        </p:spPr>
        <p:txBody>
          <a:bodyPr wrap="square" lIns="0" tIns="0" rIns="0" bIns="0" rtlCol="0" anchor="ctr"/>
          <a:lstStyle/>
          <a:p>
            <a:pPr algn="ctr" indent="0" marL="0">
              <a:buNone/>
            </a:pPr>
            <a:r>
              <a:rPr lang="en-US" sz="2200" b="1" dirty="0">
                <a:solidFill>
                  <a:srgbClr val="F4F1EC"/>
                </a:solidFill>
                <a:latin typeface="Georgia" pitchFamily="34" charset="0"/>
                <a:ea typeface="Georgia" pitchFamily="34" charset="-122"/>
                <a:cs typeface="Georgia" pitchFamily="34" charset="-120"/>
              </a:rPr>
              <a:t>Q</a:t>
            </a:r>
            <a:endParaRPr lang="en-US" sz="2200" dirty="0"/>
          </a:p>
        </p:txBody>
      </p:sp>
      <p:sp>
        <p:nvSpPr>
          <p:cNvPr id="10" name="Text 8"/>
          <p:cNvSpPr/>
          <p:nvPr/>
        </p:nvSpPr>
        <p:spPr>
          <a:xfrm>
            <a:off x="960120" y="658368"/>
            <a:ext cx="7863840" cy="2651760"/>
          </a:xfrm>
          <a:prstGeom prst="rect">
            <a:avLst/>
          </a:prstGeom>
          <a:noFill/>
          <a:ln/>
        </p:spPr>
        <p:txBody>
          <a:bodyPr wrap="square" rtlCol="0" anchor="t"/>
          <a:lstStyle/>
          <a:p>
            <a:pPr indent="0" marL="0">
              <a:buNone/>
            </a:pPr>
            <a:r>
              <a:rPr lang="en-US" sz="1500" dirty="0">
                <a:solidFill>
                  <a:srgbClr val="F4F1EC"/>
                </a:solidFill>
                <a:latin typeface="Georgia" pitchFamily="34" charset="0"/>
                <a:ea typeface="Georgia" pitchFamily="34" charset="-122"/>
                <a:cs typeface="Georgia" pitchFamily="34" charset="-120"/>
              </a:rPr>
              <a:t>A common claim in popular science is that "humans are 98% chimpanzee" (or 98.8% similar to chimpanzees at the protein-coding level). (a) What does this figure actually measure and what does it not measure? (b) Why does the ~1.2% protein-coding difference fail to capture the extent of biological difference between humans and chimpanzees? (c) What aspects of the genome are most different between humans and chimpanzees, and why are these differences biologically more important than the protein-coding comparison suggests?</a:t>
            </a:r>
            <a:endParaRPr lang="en-US" sz="1500" dirty="0"/>
          </a:p>
        </p:txBody>
      </p:sp>
      <p:sp>
        <p:nvSpPr>
          <p:cNvPr id="11" name="Shape 9"/>
          <p:cNvSpPr/>
          <p:nvPr/>
        </p:nvSpPr>
        <p:spPr>
          <a:xfrm>
            <a:off x="320040" y="3474720"/>
            <a:ext cx="8503920" cy="914400"/>
          </a:xfrm>
          <a:prstGeom prst="rect">
            <a:avLst/>
          </a:prstGeom>
          <a:solidFill>
            <a:srgbClr val="2D5A3D"/>
          </a:solidFill>
          <a:ln w="12700">
            <a:solidFill>
              <a:srgbClr val="3D7A52"/>
            </a:solidFill>
            <a:prstDash val="solid"/>
          </a:ln>
        </p:spPr>
      </p:sp>
      <p:sp>
        <p:nvSpPr>
          <p:cNvPr id="12" name="Text 10"/>
          <p:cNvSpPr/>
          <p:nvPr/>
        </p:nvSpPr>
        <p:spPr>
          <a:xfrm>
            <a:off x="320040" y="3474720"/>
            <a:ext cx="8503920" cy="914400"/>
          </a:xfrm>
          <a:prstGeom prst="rect">
            <a:avLst/>
          </a:prstGeom>
          <a:noFill/>
          <a:ln/>
        </p:spPr>
        <p:txBody>
          <a:bodyPr wrap="square" lIns="2286" tIns="2286" rIns="2286" bIns="2286" rtlCol="0" anchor="ctr"/>
          <a:lstStyle/>
          <a:p>
            <a:pPr indent="0" marL="0">
              <a:buNone/>
            </a:pPr>
            <a:r>
              <a:rPr lang="en-US" sz="1300" b="1" dirty="0">
                <a:solidFill>
                  <a:srgbClr val="C8791E"/>
                </a:solidFill>
                <a:latin typeface="Calibri" pitchFamily="34" charset="0"/>
                <a:ea typeface="Calibri" pitchFamily="34" charset="-122"/>
                <a:cs typeface="Calibri" pitchFamily="34" charset="-120"/>
              </a:rPr>
              <a:t>Think:  </a:t>
            </a:r>
            <a:pPr indent="0" marL="0">
              <a:buNone/>
            </a:pPr>
            <a:r>
              <a:rPr lang="en-US" sz="1200" dirty="0">
                <a:solidFill>
                  <a:srgbClr val="F4F1EC"/>
                </a:solidFill>
                <a:latin typeface="Calibri" pitchFamily="34" charset="0"/>
                <a:ea typeface="Calibri" pitchFamily="34" charset="-122"/>
                <a:cs typeface="Calibri" pitchFamily="34" charset="-120"/>
              </a:rPr>
              <a:t>What fraction of the genome actually codes for proteins? If protein-coding genes are nearly identical, where does the biological difference come from? What is the difference between a protein sequence and a regulatory region?</a:t>
            </a:r>
            <a:endParaRPr lang="en-US" sz="1300" dirty="0"/>
          </a:p>
        </p:txBody>
      </p:sp>
      <p:sp>
        <p:nvSpPr>
          <p:cNvPr id="13" name="Text 11"/>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19 / 99</a:t>
            </a:r>
            <a:endParaRPr lang="en-US" sz="900" dirty="0"/>
          </a:p>
        </p:txBody>
      </p:sp>
      <p:sp>
        <p:nvSpPr>
          <p:cNvPr id="14" name="Text 12"/>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10 — Human Evolution</a:t>
            </a:r>
            <a:endParaRPr lang="en-US" sz="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8C7A"/>
          </a:solidFill>
          <a:ln w="12700">
            <a:solidFill>
              <a:srgbClr val="3D8C7A"/>
            </a:solidFill>
            <a:prstDash val="solid"/>
          </a:ln>
        </p:spPr>
      </p:sp>
      <p:sp>
        <p:nvSpPr>
          <p:cNvPr id="3" name="Text 1"/>
          <p:cNvSpPr/>
          <p:nvPr/>
        </p:nvSpPr>
        <p:spPr>
          <a:xfrm>
            <a:off x="228600" y="91440"/>
            <a:ext cx="7772400" cy="292608"/>
          </a:xfrm>
          <a:prstGeom prst="rect">
            <a:avLst/>
          </a:prstGeom>
          <a:noFill/>
          <a:ln/>
        </p:spPr>
        <p:txBody>
          <a:bodyPr wrap="square" rtlCol="0" anchor="ctr"/>
          <a:lstStyle/>
          <a:p>
            <a:pPr indent="0" marL="0">
              <a:buNone/>
            </a:pPr>
            <a:r>
              <a:rPr lang="en-US" sz="1000" spc="100" kern="0" dirty="0">
                <a:solidFill>
                  <a:srgbClr val="8FA898"/>
                </a:solidFill>
                <a:latin typeface="Calibri" pitchFamily="34" charset="0"/>
                <a:ea typeface="Calibri" pitchFamily="34" charset="-122"/>
                <a:cs typeface="Calibri" pitchFamily="34" charset="-120"/>
              </a:rPr>
              <a:t>Q1  |  Model Answer</a:t>
            </a:r>
            <a:endParaRPr lang="en-US" sz="1000" dirty="0"/>
          </a:p>
        </p:txBody>
      </p:sp>
      <p:sp>
        <p:nvSpPr>
          <p:cNvPr id="4" name="Shape 2"/>
          <p:cNvSpPr/>
          <p:nvPr/>
        </p:nvSpPr>
        <p:spPr>
          <a:xfrm>
            <a:off x="7589520" y="91440"/>
            <a:ext cx="1280160" cy="292608"/>
          </a:xfrm>
          <a:prstGeom prst="rect">
            <a:avLst/>
          </a:prstGeom>
          <a:solidFill>
            <a:srgbClr val="3D8C7A"/>
          </a:solidFill>
          <a:ln w="12700">
            <a:solidFill>
              <a:srgbClr val="3D8C7A"/>
            </a:solidFill>
            <a:prstDash val="solid"/>
          </a:ln>
        </p:spPr>
      </p:sp>
      <p:sp>
        <p:nvSpPr>
          <p:cNvPr id="5" name="Text 3"/>
          <p:cNvSpPr/>
          <p:nvPr/>
        </p:nvSpPr>
        <p:spPr>
          <a:xfrm>
            <a:off x="7589520" y="91440"/>
            <a:ext cx="128016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 marks</a:t>
            </a:r>
            <a:endParaRPr lang="en-US" sz="900" dirty="0"/>
          </a:p>
        </p:txBody>
      </p:sp>
      <p:sp>
        <p:nvSpPr>
          <p:cNvPr id="6" name="Shape 4"/>
          <p:cNvSpPr/>
          <p:nvPr/>
        </p:nvSpPr>
        <p:spPr>
          <a:xfrm>
            <a:off x="228600" y="438912"/>
            <a:ext cx="8686800" cy="566928"/>
          </a:xfrm>
          <a:prstGeom prst="rect">
            <a:avLst/>
          </a:prstGeom>
          <a:solidFill>
            <a:srgbClr val="E8F0EB"/>
          </a:solidFill>
          <a:ln w="12700">
            <a:solidFill>
              <a:srgbClr val="E8F0EB"/>
            </a:solidFill>
            <a:prstDash val="solid"/>
          </a:ln>
        </p:spPr>
      </p:sp>
      <p:sp>
        <p:nvSpPr>
          <p:cNvPr id="7" name="Text 5"/>
          <p:cNvSpPr/>
          <p:nvPr/>
        </p:nvSpPr>
        <p:spPr>
          <a:xfrm>
            <a:off x="320040" y="438912"/>
            <a:ext cx="8503920" cy="566928"/>
          </a:xfrm>
          <a:prstGeom prst="rect">
            <a:avLst/>
          </a:prstGeom>
          <a:noFill/>
          <a:ln/>
        </p:spPr>
        <p:txBody>
          <a:bodyPr wrap="square" rtlCol="0" anchor="ctr"/>
          <a:lstStyle/>
          <a:p>
            <a:pPr indent="0" marL="0">
              <a:buNone/>
            </a:pPr>
            <a:r>
              <a:rPr lang="en-US" sz="1100" i="1" dirty="0">
                <a:solidFill>
                  <a:srgbClr val="444444"/>
                </a:solidFill>
                <a:latin typeface="Calibri" pitchFamily="34" charset="0"/>
                <a:ea typeface="Calibri" pitchFamily="34" charset="-122"/>
                <a:cs typeface="Calibri" pitchFamily="34" charset="-120"/>
              </a:rPr>
              <a:t>A common claim in popular science is that "humans are 98% chimpanzee" (or 98.8% similar to chimpanzees at the protein-coding level). (a) What does this figure actually measure and what does it not measure? (b) Why does the ~1.2% protein-coding difference fail to capture the extent of biological difference between humans and chimpanzees? (c) What aspects of the genome are most different between humans and chimpanzees, and why are these differences biologically more important than the protein-coding comparison suggests?</a:t>
            </a:r>
            <a:endParaRPr lang="en-US" sz="1100" dirty="0"/>
          </a:p>
        </p:txBody>
      </p:sp>
      <p:sp>
        <p:nvSpPr>
          <p:cNvPr id="8" name="Shape 6"/>
          <p:cNvSpPr/>
          <p:nvPr/>
        </p:nvSpPr>
        <p:spPr>
          <a:xfrm>
            <a:off x="228600" y="1060704"/>
            <a:ext cx="8686800" cy="22860"/>
          </a:xfrm>
          <a:prstGeom prst="rect">
            <a:avLst/>
          </a:prstGeom>
          <a:solidFill>
            <a:srgbClr val="3D8C7A"/>
          </a:solidFill>
          <a:ln w="12700">
            <a:solidFill>
              <a:srgbClr val="3D8C7A"/>
            </a:solidFill>
            <a:prstDash val="solid"/>
          </a:ln>
        </p:spPr>
      </p:sp>
      <p:sp>
        <p:nvSpPr>
          <p:cNvPr id="9" name="Shape 7"/>
          <p:cNvSpPr/>
          <p:nvPr/>
        </p:nvSpPr>
        <p:spPr>
          <a:xfrm>
            <a:off x="228600" y="1143000"/>
            <a:ext cx="411480" cy="411480"/>
          </a:xfrm>
          <a:prstGeom prst="rect">
            <a:avLst/>
          </a:prstGeom>
          <a:solidFill>
            <a:srgbClr val="3D8C7A"/>
          </a:solidFill>
          <a:ln w="12700">
            <a:solidFill>
              <a:srgbClr val="3D8C7A"/>
            </a:solidFill>
            <a:prstDash val="solid"/>
          </a:ln>
        </p:spPr>
      </p:sp>
      <p:sp>
        <p:nvSpPr>
          <p:cNvPr id="10" name="Text 8"/>
          <p:cNvSpPr/>
          <p:nvPr/>
        </p:nvSpPr>
        <p:spPr>
          <a:xfrm>
            <a:off x="228600" y="1143000"/>
            <a:ext cx="411480" cy="411480"/>
          </a:xfrm>
          <a:prstGeom prst="rect">
            <a:avLst/>
          </a:prstGeom>
          <a:noFill/>
          <a:ln/>
        </p:spPr>
        <p:txBody>
          <a:bodyPr wrap="square" lIns="0" tIns="0" rIns="0" bIns="0" rtlCol="0" anchor="ctr"/>
          <a:lstStyle/>
          <a:p>
            <a:pPr algn="ctr" indent="0" marL="0">
              <a:buNone/>
            </a:pPr>
            <a:r>
              <a:rPr lang="en-US" sz="2000" b="1" dirty="0">
                <a:solidFill>
                  <a:srgbClr val="FFFFFF"/>
                </a:solidFill>
                <a:latin typeface="Georgia" pitchFamily="34" charset="0"/>
                <a:ea typeface="Georgia" pitchFamily="34" charset="-122"/>
                <a:cs typeface="Georgia" pitchFamily="34" charset="-120"/>
              </a:rPr>
              <a:t>A</a:t>
            </a:r>
            <a:endParaRPr lang="en-US" sz="2000" dirty="0"/>
          </a:p>
        </p:txBody>
      </p:sp>
      <p:sp>
        <p:nvSpPr>
          <p:cNvPr id="11" name="Text 9"/>
          <p:cNvSpPr/>
          <p:nvPr/>
        </p:nvSpPr>
        <p:spPr>
          <a:xfrm>
            <a:off x="749808" y="1124712"/>
            <a:ext cx="8165592" cy="3794760"/>
          </a:xfrm>
          <a:prstGeom prst="rect">
            <a:avLst/>
          </a:prstGeom>
          <a:noFill/>
          <a:ln/>
        </p:spPr>
        <p:txBody>
          <a:bodyPr wrap="square" rtlCol="0" anchor="t"/>
          <a:lstStyle/>
          <a:p>
            <a:pPr indent="0" marL="0">
              <a:buNone/>
            </a:pPr>
            <a:r>
              <a:rPr lang="en-US" sz="1200" dirty="0">
                <a:solidFill>
                  <a:srgbClr val="111111"/>
                </a:solidFill>
                <a:latin typeface="Calibri" pitchFamily="34" charset="0"/>
                <a:ea typeface="Calibri" pitchFamily="34" charset="-122"/>
                <a:cs typeface="Calibri" pitchFamily="34" charset="-120"/>
              </a:rPr>
              <a:t>(a) What the figure measures and does not measure: The ~98.8% figure refers specifically to the percentage of protein-coding nucleotides that are identical between human and chimpanzee genomes. It measures point substitutions in exons (protein-coding regions). It does not measure: (i) insertions and deletions (indels) in protein-coding regions — if these are included, the similarity drops to approximately 95%; (ii) copy number variations — differences in how many copies of specific genes each species has; (iii) regulatory regions (promoters, enhancers, silencers, non-coding RNAs) that control when, where, and how much each gene is expressed; (iv) chromosomal rearrangements, transposable element insertions, or differences in centromere and telomere structure. (b) Why the 1.2% difference understates the biological difference: Protein-coding genes make up only about 1.5% of the human genome. The vast majority of the genome consists of regulatory elements, non-coding RNAs, and structural sequences. If ~98.8% of that 1.5% is identical, then the meaningful question for understanding biological differences is: what differs in the other 98.5% of the genome? The proteins that chimpanzees and humans make are nearly identical — but the EXPRESSION of those proteins (where, when, how much, in response to what signals) differs substantially. (c) The most important differences: (i) Regulatory regions: The HAR (Human Accelerated Region) sequences — regions that are highly conserved in all other mammals but differ significantly in humans — are primarily regulatory sequences, not protein-coding sequences. HACNS1, for example, is an enhancer active in developing human limbs and brain that differs from the chimpanzee version at multiple positions; (ii) Gene copy number variation: humans have more copies of the AMY1 gene (salivary amylase — for starch digestion) than chimpanzees; SRGAP2 (involved in brain neuronal density) has been duplicated in humans relative to apes; (iii) Non-coding RNA expression: the expression profiles of non-coding RNAs differ substantially between human and chimpanzee brains even when the protein-coding transcriptome is similar; (iv) FOXP2: a protein-coding gene involved in speech and language production — two amino acid substitutions in humans relative to the chimpanzee version change its regulatory target binding. This is a case where small protein-coding difference has large functional consequence. The lesson: the "98.8% similar" figure is a useful entry point but biologically misleading. The difference between human and chimpanzee phenotypes is not mainly encoded in protein sequence but in the elaborate regulatory architecture that governs expression of those near-identical proteins.</a:t>
            </a:r>
            <a:endParaRPr lang="en-US" sz="1200" dirty="0"/>
          </a:p>
        </p:txBody>
      </p:sp>
      <p:sp>
        <p:nvSpPr>
          <p:cNvPr id="12" name="Text 10"/>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20 / 99</a:t>
            </a:r>
            <a:endParaRPr lang="en-US" sz="900" dirty="0"/>
          </a:p>
        </p:txBody>
      </p:sp>
      <p:sp>
        <p:nvSpPr>
          <p:cNvPr id="13" name="Text 11"/>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10 — Human Evolution</a:t>
            </a:r>
            <a:endParaRPr lang="en-US" sz="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E1A10"/>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C8791E"/>
          </a:solidFill>
          <a:ln w="12700">
            <a:solidFill>
              <a:srgbClr val="C8791E"/>
            </a:solidFill>
            <a:prstDash val="solid"/>
          </a:ln>
        </p:spPr>
      </p:sp>
      <p:sp>
        <p:nvSpPr>
          <p:cNvPr id="3" name="Shape 1"/>
          <p:cNvSpPr/>
          <p:nvPr/>
        </p:nvSpPr>
        <p:spPr>
          <a:xfrm>
            <a:off x="0" y="64008"/>
            <a:ext cx="9144000" cy="475488"/>
          </a:xfrm>
          <a:prstGeom prst="rect">
            <a:avLst/>
          </a:prstGeom>
          <a:solidFill>
            <a:srgbClr val="243228"/>
          </a:solidFill>
          <a:ln w="12700">
            <a:solidFill>
              <a:srgbClr val="243228"/>
            </a:solidFill>
            <a:prstDash val="solid"/>
          </a:ln>
        </p:spPr>
      </p:sp>
      <p:sp>
        <p:nvSpPr>
          <p:cNvPr id="4" name="Text 2"/>
          <p:cNvSpPr/>
          <p:nvPr/>
        </p:nvSpPr>
        <p:spPr>
          <a:xfrm>
            <a:off x="320040" y="91440"/>
            <a:ext cx="4572000" cy="274320"/>
          </a:xfrm>
          <a:prstGeom prst="rect">
            <a:avLst/>
          </a:prstGeom>
          <a:noFill/>
          <a:ln/>
        </p:spPr>
        <p:txBody>
          <a:bodyPr wrap="square" rtlCol="0" anchor="ctr"/>
          <a:lstStyle/>
          <a:p>
            <a:pPr indent="0" marL="0">
              <a:buNone/>
            </a:pPr>
            <a:r>
              <a:rPr lang="en-US" sz="1100" b="1" spc="200" kern="0" dirty="0">
                <a:solidFill>
                  <a:srgbClr val="C8791E"/>
                </a:solidFill>
                <a:latin typeface="Calibri" pitchFamily="34" charset="0"/>
                <a:ea typeface="Calibri" pitchFamily="34" charset="-122"/>
                <a:cs typeface="Calibri" pitchFamily="34" charset="-120"/>
              </a:rPr>
              <a:t>Question 2 of 5</a:t>
            </a:r>
            <a:endParaRPr lang="en-US" sz="1100" dirty="0"/>
          </a:p>
        </p:txBody>
      </p:sp>
      <p:sp>
        <p:nvSpPr>
          <p:cNvPr id="5" name="Text 3"/>
          <p:cNvSpPr/>
          <p:nvPr/>
        </p:nvSpPr>
        <p:spPr>
          <a:xfrm>
            <a:off x="320040" y="329184"/>
            <a:ext cx="6400800" cy="201168"/>
          </a:xfrm>
          <a:prstGeom prst="rect">
            <a:avLst/>
          </a:prstGeom>
          <a:noFill/>
          <a:ln/>
        </p:spPr>
        <p:txBody>
          <a:bodyPr wrap="square" rtlCol="0" anchor="ctr"/>
          <a:lstStyle/>
          <a:p>
            <a:pPr indent="0" marL="0">
              <a:buNone/>
            </a:pPr>
            <a:r>
              <a:rPr lang="en-US" sz="900" spc="100" kern="0" dirty="0">
                <a:solidFill>
                  <a:srgbClr val="8FA898"/>
                </a:solidFill>
                <a:latin typeface="Calibri" pitchFamily="34" charset="0"/>
                <a:ea typeface="Calibri" pitchFamily="34" charset="-122"/>
                <a:cs typeface="Calibri" pitchFamily="34" charset="-120"/>
              </a:rPr>
              <a:t>Application — Bloom's L3</a:t>
            </a:r>
            <a:endParaRPr lang="en-US" sz="900" dirty="0"/>
          </a:p>
        </p:txBody>
      </p:sp>
      <p:sp>
        <p:nvSpPr>
          <p:cNvPr id="6" name="Shape 4"/>
          <p:cNvSpPr/>
          <p:nvPr/>
        </p:nvSpPr>
        <p:spPr>
          <a:xfrm>
            <a:off x="7589520" y="109728"/>
            <a:ext cx="1280160" cy="347472"/>
          </a:xfrm>
          <a:prstGeom prst="rect">
            <a:avLst/>
          </a:prstGeom>
          <a:solidFill>
            <a:srgbClr val="C8791E"/>
          </a:solidFill>
          <a:ln w="12700">
            <a:solidFill>
              <a:srgbClr val="C8791E"/>
            </a:solidFill>
            <a:prstDash val="solid"/>
          </a:ln>
        </p:spPr>
      </p:sp>
      <p:sp>
        <p:nvSpPr>
          <p:cNvPr id="7" name="Text 5"/>
          <p:cNvSpPr/>
          <p:nvPr/>
        </p:nvSpPr>
        <p:spPr>
          <a:xfrm>
            <a:off x="7589520" y="109728"/>
            <a:ext cx="128016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5 marks</a:t>
            </a:r>
            <a:endParaRPr lang="en-US" sz="1000" dirty="0"/>
          </a:p>
        </p:txBody>
      </p:sp>
      <p:sp>
        <p:nvSpPr>
          <p:cNvPr id="8" name="Shape 6"/>
          <p:cNvSpPr/>
          <p:nvPr/>
        </p:nvSpPr>
        <p:spPr>
          <a:xfrm>
            <a:off x="320040" y="713232"/>
            <a:ext cx="502920" cy="502920"/>
          </a:xfrm>
          <a:prstGeom prst="rect">
            <a:avLst/>
          </a:prstGeom>
          <a:solidFill>
            <a:srgbClr val="2D5A3D"/>
          </a:solidFill>
          <a:ln w="12700">
            <a:solidFill>
              <a:srgbClr val="3D7A52"/>
            </a:solidFill>
            <a:prstDash val="solid"/>
          </a:ln>
        </p:spPr>
      </p:sp>
      <p:sp>
        <p:nvSpPr>
          <p:cNvPr id="9" name="Text 7"/>
          <p:cNvSpPr/>
          <p:nvPr/>
        </p:nvSpPr>
        <p:spPr>
          <a:xfrm>
            <a:off x="320040" y="713232"/>
            <a:ext cx="502920" cy="502920"/>
          </a:xfrm>
          <a:prstGeom prst="rect">
            <a:avLst/>
          </a:prstGeom>
          <a:noFill/>
          <a:ln/>
        </p:spPr>
        <p:txBody>
          <a:bodyPr wrap="square" lIns="0" tIns="0" rIns="0" bIns="0" rtlCol="0" anchor="ctr"/>
          <a:lstStyle/>
          <a:p>
            <a:pPr algn="ctr" indent="0" marL="0">
              <a:buNone/>
            </a:pPr>
            <a:r>
              <a:rPr lang="en-US" sz="2200" b="1" dirty="0">
                <a:solidFill>
                  <a:srgbClr val="F4F1EC"/>
                </a:solidFill>
                <a:latin typeface="Georgia" pitchFamily="34" charset="0"/>
                <a:ea typeface="Georgia" pitchFamily="34" charset="-122"/>
                <a:cs typeface="Georgia" pitchFamily="34" charset="-120"/>
              </a:rPr>
              <a:t>Q</a:t>
            </a:r>
            <a:endParaRPr lang="en-US" sz="2200" dirty="0"/>
          </a:p>
        </p:txBody>
      </p:sp>
      <p:sp>
        <p:nvSpPr>
          <p:cNvPr id="10" name="Text 8"/>
          <p:cNvSpPr/>
          <p:nvPr/>
        </p:nvSpPr>
        <p:spPr>
          <a:xfrm>
            <a:off x="960120" y="658368"/>
            <a:ext cx="7863840" cy="2651760"/>
          </a:xfrm>
          <a:prstGeom prst="rect">
            <a:avLst/>
          </a:prstGeom>
          <a:noFill/>
          <a:ln/>
        </p:spPr>
        <p:txBody>
          <a:bodyPr wrap="square" rtlCol="0" anchor="t"/>
          <a:lstStyle/>
          <a:p>
            <a:pPr indent="0" marL="0">
              <a:buNone/>
            </a:pPr>
            <a:r>
              <a:rPr lang="en-US" sz="1500" dirty="0">
                <a:solidFill>
                  <a:srgbClr val="F4F1EC"/>
                </a:solidFill>
                <a:latin typeface="Georgia" pitchFamily="34" charset="0"/>
                <a:ea typeface="Georgia" pitchFamily="34" charset="-122"/>
                <a:cs typeface="Georgia" pitchFamily="34" charset="-120"/>
              </a:rPr>
              <a:t>You are constructing a phylogenetic tree of great apes and humans using a 648-bp segment of cytochrome b (a mitochondrial gene). You have sequences from: Pan troglodytes (chimpanzee), Pan paniscus (bonobo), Gorilla gorilla (western gorilla), Pongo pygmaeus (Sumatran orangutan), and Homo sapiens. (a) Which species should you use as the outgroup and why? (b) Describe the expected tree topology based on the known biology — which species should cluster together and which should be most distant from humans? (c) If your constructed tree groups gorillas closer to humans than chimpanzees, what are the three most likely explanations and how would you investigate each?</a:t>
            </a:r>
            <a:endParaRPr lang="en-US" sz="1500" dirty="0"/>
          </a:p>
        </p:txBody>
      </p:sp>
      <p:sp>
        <p:nvSpPr>
          <p:cNvPr id="11" name="Shape 9"/>
          <p:cNvSpPr/>
          <p:nvPr/>
        </p:nvSpPr>
        <p:spPr>
          <a:xfrm>
            <a:off x="320040" y="3474720"/>
            <a:ext cx="8503920" cy="914400"/>
          </a:xfrm>
          <a:prstGeom prst="rect">
            <a:avLst/>
          </a:prstGeom>
          <a:solidFill>
            <a:srgbClr val="2D5A3D"/>
          </a:solidFill>
          <a:ln w="12700">
            <a:solidFill>
              <a:srgbClr val="3D7A52"/>
            </a:solidFill>
            <a:prstDash val="solid"/>
          </a:ln>
        </p:spPr>
      </p:sp>
      <p:sp>
        <p:nvSpPr>
          <p:cNvPr id="12" name="Text 10"/>
          <p:cNvSpPr/>
          <p:nvPr/>
        </p:nvSpPr>
        <p:spPr>
          <a:xfrm>
            <a:off x="320040" y="3474720"/>
            <a:ext cx="8503920" cy="914400"/>
          </a:xfrm>
          <a:prstGeom prst="rect">
            <a:avLst/>
          </a:prstGeom>
          <a:noFill/>
          <a:ln/>
        </p:spPr>
        <p:txBody>
          <a:bodyPr wrap="square" lIns="2286" tIns="2286" rIns="2286" bIns="2286" rtlCol="0" anchor="ctr"/>
          <a:lstStyle/>
          <a:p>
            <a:pPr indent="0" marL="0">
              <a:buNone/>
            </a:pPr>
            <a:r>
              <a:rPr lang="en-US" sz="1300" b="1" dirty="0">
                <a:solidFill>
                  <a:srgbClr val="C8791E"/>
                </a:solidFill>
                <a:latin typeface="Calibri" pitchFamily="34" charset="0"/>
                <a:ea typeface="Calibri" pitchFamily="34" charset="-122"/>
                <a:cs typeface="Calibri" pitchFamily="34" charset="-120"/>
              </a:rPr>
              <a:t>Think:  </a:t>
            </a:r>
            <a:pPr indent="0" marL="0">
              <a:buNone/>
            </a:pPr>
            <a:r>
              <a:rPr lang="en-US" sz="1200" dirty="0">
                <a:solidFill>
                  <a:srgbClr val="F4F1EC"/>
                </a:solidFill>
                <a:latin typeface="Calibri" pitchFamily="34" charset="0"/>
                <a:ea typeface="Calibri" pitchFamily="34" charset="-122"/>
                <a:cs typeface="Calibri" pitchFamily="34" charset="-120"/>
              </a:rPr>
              <a:t>Which species is the most distantly related to humans among these five? What does that make it useful for? What is the established sister-group of Homo? What would grouping gorillas with humans instead of chimpanzees indicate?</a:t>
            </a:r>
            <a:endParaRPr lang="en-US" sz="1300" dirty="0"/>
          </a:p>
        </p:txBody>
      </p:sp>
      <p:sp>
        <p:nvSpPr>
          <p:cNvPr id="13" name="Text 11"/>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21 / 99</a:t>
            </a:r>
            <a:endParaRPr lang="en-US" sz="900" dirty="0"/>
          </a:p>
        </p:txBody>
      </p:sp>
      <p:sp>
        <p:nvSpPr>
          <p:cNvPr id="14" name="Text 12"/>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10 — Human Evolution</a:t>
            </a:r>
            <a:endParaRPr lang="en-US" sz="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8C7A"/>
          </a:solidFill>
          <a:ln w="12700">
            <a:solidFill>
              <a:srgbClr val="3D8C7A"/>
            </a:solidFill>
            <a:prstDash val="solid"/>
          </a:ln>
        </p:spPr>
      </p:sp>
      <p:sp>
        <p:nvSpPr>
          <p:cNvPr id="3" name="Text 1"/>
          <p:cNvSpPr/>
          <p:nvPr/>
        </p:nvSpPr>
        <p:spPr>
          <a:xfrm>
            <a:off x="228600" y="91440"/>
            <a:ext cx="7772400" cy="292608"/>
          </a:xfrm>
          <a:prstGeom prst="rect">
            <a:avLst/>
          </a:prstGeom>
          <a:noFill/>
          <a:ln/>
        </p:spPr>
        <p:txBody>
          <a:bodyPr wrap="square" rtlCol="0" anchor="ctr"/>
          <a:lstStyle/>
          <a:p>
            <a:pPr indent="0" marL="0">
              <a:buNone/>
            </a:pPr>
            <a:r>
              <a:rPr lang="en-US" sz="1000" spc="100" kern="0" dirty="0">
                <a:solidFill>
                  <a:srgbClr val="8FA898"/>
                </a:solidFill>
                <a:latin typeface="Calibri" pitchFamily="34" charset="0"/>
                <a:ea typeface="Calibri" pitchFamily="34" charset="-122"/>
                <a:cs typeface="Calibri" pitchFamily="34" charset="-120"/>
              </a:rPr>
              <a:t>Q2  |  Model Answer</a:t>
            </a:r>
            <a:endParaRPr lang="en-US" sz="1000" dirty="0"/>
          </a:p>
        </p:txBody>
      </p:sp>
      <p:sp>
        <p:nvSpPr>
          <p:cNvPr id="4" name="Shape 2"/>
          <p:cNvSpPr/>
          <p:nvPr/>
        </p:nvSpPr>
        <p:spPr>
          <a:xfrm>
            <a:off x="7589520" y="91440"/>
            <a:ext cx="1280160" cy="292608"/>
          </a:xfrm>
          <a:prstGeom prst="rect">
            <a:avLst/>
          </a:prstGeom>
          <a:solidFill>
            <a:srgbClr val="3D8C7A"/>
          </a:solidFill>
          <a:ln w="12700">
            <a:solidFill>
              <a:srgbClr val="3D8C7A"/>
            </a:solidFill>
            <a:prstDash val="solid"/>
          </a:ln>
        </p:spPr>
      </p:sp>
      <p:sp>
        <p:nvSpPr>
          <p:cNvPr id="5" name="Text 3"/>
          <p:cNvSpPr/>
          <p:nvPr/>
        </p:nvSpPr>
        <p:spPr>
          <a:xfrm>
            <a:off x="7589520" y="91440"/>
            <a:ext cx="128016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 marks</a:t>
            </a:r>
            <a:endParaRPr lang="en-US" sz="900" dirty="0"/>
          </a:p>
        </p:txBody>
      </p:sp>
      <p:sp>
        <p:nvSpPr>
          <p:cNvPr id="6" name="Shape 4"/>
          <p:cNvSpPr/>
          <p:nvPr/>
        </p:nvSpPr>
        <p:spPr>
          <a:xfrm>
            <a:off x="228600" y="438912"/>
            <a:ext cx="8686800" cy="566928"/>
          </a:xfrm>
          <a:prstGeom prst="rect">
            <a:avLst/>
          </a:prstGeom>
          <a:solidFill>
            <a:srgbClr val="E8F0EB"/>
          </a:solidFill>
          <a:ln w="12700">
            <a:solidFill>
              <a:srgbClr val="E8F0EB"/>
            </a:solidFill>
            <a:prstDash val="solid"/>
          </a:ln>
        </p:spPr>
      </p:sp>
      <p:sp>
        <p:nvSpPr>
          <p:cNvPr id="7" name="Text 5"/>
          <p:cNvSpPr/>
          <p:nvPr/>
        </p:nvSpPr>
        <p:spPr>
          <a:xfrm>
            <a:off x="320040" y="438912"/>
            <a:ext cx="8503920" cy="566928"/>
          </a:xfrm>
          <a:prstGeom prst="rect">
            <a:avLst/>
          </a:prstGeom>
          <a:noFill/>
          <a:ln/>
        </p:spPr>
        <p:txBody>
          <a:bodyPr wrap="square" rtlCol="0" anchor="ctr"/>
          <a:lstStyle/>
          <a:p>
            <a:pPr indent="0" marL="0">
              <a:buNone/>
            </a:pPr>
            <a:r>
              <a:rPr lang="en-US" sz="1100" i="1" dirty="0">
                <a:solidFill>
                  <a:srgbClr val="444444"/>
                </a:solidFill>
                <a:latin typeface="Calibri" pitchFamily="34" charset="0"/>
                <a:ea typeface="Calibri" pitchFamily="34" charset="-122"/>
                <a:cs typeface="Calibri" pitchFamily="34" charset="-120"/>
              </a:rPr>
              <a:t>You are constructing a phylogenetic tree of great apes and humans using a 648-bp segment of cytochrome b (a mitochondrial gene). You have sequences from: Pan troglodytes (chimpanzee), Pan paniscus (bonobo), Gorilla gorilla (western gorilla), Pongo pygmaeus (Sumatran orangutan), and Homo sapiens. (a) Which species should you use as the outgroup and why? (b) Describe the expected tree topology based on the known biology — which species should cluster together and which should be most distant from humans? (c) If your constructed tree groups gorillas closer to humans than chimpanzees, what are the three most likely explanations and how would you investigate each?</a:t>
            </a:r>
            <a:endParaRPr lang="en-US" sz="1100" dirty="0"/>
          </a:p>
        </p:txBody>
      </p:sp>
      <p:sp>
        <p:nvSpPr>
          <p:cNvPr id="8" name="Shape 6"/>
          <p:cNvSpPr/>
          <p:nvPr/>
        </p:nvSpPr>
        <p:spPr>
          <a:xfrm>
            <a:off x="228600" y="1060704"/>
            <a:ext cx="8686800" cy="22860"/>
          </a:xfrm>
          <a:prstGeom prst="rect">
            <a:avLst/>
          </a:prstGeom>
          <a:solidFill>
            <a:srgbClr val="3D8C7A"/>
          </a:solidFill>
          <a:ln w="12700">
            <a:solidFill>
              <a:srgbClr val="3D8C7A"/>
            </a:solidFill>
            <a:prstDash val="solid"/>
          </a:ln>
        </p:spPr>
      </p:sp>
      <p:sp>
        <p:nvSpPr>
          <p:cNvPr id="9" name="Shape 7"/>
          <p:cNvSpPr/>
          <p:nvPr/>
        </p:nvSpPr>
        <p:spPr>
          <a:xfrm>
            <a:off x="228600" y="1143000"/>
            <a:ext cx="411480" cy="411480"/>
          </a:xfrm>
          <a:prstGeom prst="rect">
            <a:avLst/>
          </a:prstGeom>
          <a:solidFill>
            <a:srgbClr val="3D8C7A"/>
          </a:solidFill>
          <a:ln w="12700">
            <a:solidFill>
              <a:srgbClr val="3D8C7A"/>
            </a:solidFill>
            <a:prstDash val="solid"/>
          </a:ln>
        </p:spPr>
      </p:sp>
      <p:sp>
        <p:nvSpPr>
          <p:cNvPr id="10" name="Text 8"/>
          <p:cNvSpPr/>
          <p:nvPr/>
        </p:nvSpPr>
        <p:spPr>
          <a:xfrm>
            <a:off x="228600" y="1143000"/>
            <a:ext cx="411480" cy="411480"/>
          </a:xfrm>
          <a:prstGeom prst="rect">
            <a:avLst/>
          </a:prstGeom>
          <a:noFill/>
          <a:ln/>
        </p:spPr>
        <p:txBody>
          <a:bodyPr wrap="square" lIns="0" tIns="0" rIns="0" bIns="0" rtlCol="0" anchor="ctr"/>
          <a:lstStyle/>
          <a:p>
            <a:pPr algn="ctr" indent="0" marL="0">
              <a:buNone/>
            </a:pPr>
            <a:r>
              <a:rPr lang="en-US" sz="2000" b="1" dirty="0">
                <a:solidFill>
                  <a:srgbClr val="FFFFFF"/>
                </a:solidFill>
                <a:latin typeface="Georgia" pitchFamily="34" charset="0"/>
                <a:ea typeface="Georgia" pitchFamily="34" charset="-122"/>
                <a:cs typeface="Georgia" pitchFamily="34" charset="-120"/>
              </a:rPr>
              <a:t>A</a:t>
            </a:r>
            <a:endParaRPr lang="en-US" sz="2000" dirty="0"/>
          </a:p>
        </p:txBody>
      </p:sp>
      <p:sp>
        <p:nvSpPr>
          <p:cNvPr id="11" name="Text 9"/>
          <p:cNvSpPr/>
          <p:nvPr/>
        </p:nvSpPr>
        <p:spPr>
          <a:xfrm>
            <a:off x="749808" y="1124712"/>
            <a:ext cx="8165592" cy="3794760"/>
          </a:xfrm>
          <a:prstGeom prst="rect">
            <a:avLst/>
          </a:prstGeom>
          <a:noFill/>
          <a:ln/>
        </p:spPr>
        <p:txBody>
          <a:bodyPr wrap="square" rtlCol="0" anchor="t"/>
          <a:lstStyle/>
          <a:p>
            <a:pPr indent="0" marL="0">
              <a:buNone/>
            </a:pPr>
            <a:r>
              <a:rPr lang="en-US" sz="1200" dirty="0">
                <a:solidFill>
                  <a:srgbClr val="111111"/>
                </a:solidFill>
                <a:latin typeface="Calibri" pitchFamily="34" charset="0"/>
                <a:ea typeface="Calibri" pitchFamily="34" charset="-122"/>
                <a:cs typeface="Calibri" pitchFamily="34" charset="-120"/>
              </a:rPr>
              <a:t>(a) Outgroup choice: Pongo pygmaeus (Sumatran orangutan) should be used as the outgroup. The outgroup must be more distantly related to all ingroup taxa than any ingroup member is to any other. Among the five species listed, the orangutan (Pongo) is the most basal hominid — it diverged from the gorilla-chimp-human lineage earlier (~12–14 Ma) than gorillas diverged from the chimp-human lineage (~8 Ma). Using an orangutan outgroup roots the tree and establishes which character states are ancestral (shared with the outgroup) and which are derived (unique to the ingroup or subsets of it). Using a chimpanzee as the outgroup would be inappropriate because it is actually part of the ingroup (sister group of Homo). (b) Expected tree topology: Rooted with Pongo: (i) Pongo (orangutan) branches first — the most distant from all other taxa. (ii) Gorilla gorilla branches next — diverged from the Pan-Homo lineage ~8 Ma. (iii) Pan paniscus (bonobo) and Pan troglodytes (chimpanzee) cluster together — they diverged from each other only ~2 Ma, more recently than either diverged from Homo. (iv) Homo sapiens is sister to the Pan clade — chimpanzees and bonobos are the closest relatives of humans. Expected: (Pongo (Gorilla (Pan troglodytes (Pan paniscus, Homo))). Note: cytochrome b is maternally inherited (mitochondrial) and might give a slightly different topology than nuclear genes in some analyses due to incomplete lineage sorting. (c) Three explanations for unexpected (Gorilla + Homo) grouping: (1) Alignment error: If the cytochrome b sequences were not correctly aligned — particularly if gorilla and human sequences have indels that were incorrectly aligned to look more similar — the distance calculation would be wrong. Investigation: manually inspect the alignment in the gorilla and human columns; compare with a published alignment; use MUSCLE or MAFFT for more accurate alignment. (2) Long-branch attraction: If the gorilla and human lineages independently underwent high substitution rates, distance-based methods may incorrectly group them together even if they are not closely related. Investigation: check branch lengths — unusually long branches for both gorilla and human would suggest this artefact; use maximum likelihood methods which are more robust to rate variation. (3) Mitochondrial incomplete lineage sorting or introgression: The mitochondrial tree may not reflect the species tree if ancient mitochondrial lineages were retained through multiple speciation events or if ancient hybridisation occurred. Investigation: repeat the analysis with multiple nuclear gene sequences; nuclear and mitochondrial trees should agree if incomplete lineage sorting is not the issue; any discordance between mitochondrial and nuclear trees suggests the mitochondrial tree is the outlier.</a:t>
            </a:r>
            <a:endParaRPr lang="en-US" sz="1200" dirty="0"/>
          </a:p>
        </p:txBody>
      </p:sp>
      <p:sp>
        <p:nvSpPr>
          <p:cNvPr id="12" name="Text 10"/>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22 / 99</a:t>
            </a:r>
            <a:endParaRPr lang="en-US" sz="900" dirty="0"/>
          </a:p>
        </p:txBody>
      </p:sp>
      <p:sp>
        <p:nvSpPr>
          <p:cNvPr id="13" name="Text 11"/>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10 — Human Evolution</a:t>
            </a:r>
            <a:endParaRPr lang="en-US" sz="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E1A10"/>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C8791E"/>
          </a:solidFill>
          <a:ln w="12700">
            <a:solidFill>
              <a:srgbClr val="C8791E"/>
            </a:solidFill>
            <a:prstDash val="solid"/>
          </a:ln>
        </p:spPr>
      </p:sp>
      <p:sp>
        <p:nvSpPr>
          <p:cNvPr id="3" name="Shape 1"/>
          <p:cNvSpPr/>
          <p:nvPr/>
        </p:nvSpPr>
        <p:spPr>
          <a:xfrm>
            <a:off x="0" y="64008"/>
            <a:ext cx="9144000" cy="475488"/>
          </a:xfrm>
          <a:prstGeom prst="rect">
            <a:avLst/>
          </a:prstGeom>
          <a:solidFill>
            <a:srgbClr val="243228"/>
          </a:solidFill>
          <a:ln w="12700">
            <a:solidFill>
              <a:srgbClr val="243228"/>
            </a:solidFill>
            <a:prstDash val="solid"/>
          </a:ln>
        </p:spPr>
      </p:sp>
      <p:sp>
        <p:nvSpPr>
          <p:cNvPr id="4" name="Text 2"/>
          <p:cNvSpPr/>
          <p:nvPr/>
        </p:nvSpPr>
        <p:spPr>
          <a:xfrm>
            <a:off x="320040" y="91440"/>
            <a:ext cx="4572000" cy="274320"/>
          </a:xfrm>
          <a:prstGeom prst="rect">
            <a:avLst/>
          </a:prstGeom>
          <a:noFill/>
          <a:ln/>
        </p:spPr>
        <p:txBody>
          <a:bodyPr wrap="square" rtlCol="0" anchor="ctr"/>
          <a:lstStyle/>
          <a:p>
            <a:pPr indent="0" marL="0">
              <a:buNone/>
            </a:pPr>
            <a:r>
              <a:rPr lang="en-US" sz="1100" b="1" spc="200" kern="0" dirty="0">
                <a:solidFill>
                  <a:srgbClr val="C8791E"/>
                </a:solidFill>
                <a:latin typeface="Calibri" pitchFamily="34" charset="0"/>
                <a:ea typeface="Calibri" pitchFamily="34" charset="-122"/>
                <a:cs typeface="Calibri" pitchFamily="34" charset="-120"/>
              </a:rPr>
              <a:t>Question 3 of 5</a:t>
            </a:r>
            <a:endParaRPr lang="en-US" sz="1100" dirty="0"/>
          </a:p>
        </p:txBody>
      </p:sp>
      <p:sp>
        <p:nvSpPr>
          <p:cNvPr id="5" name="Text 3"/>
          <p:cNvSpPr/>
          <p:nvPr/>
        </p:nvSpPr>
        <p:spPr>
          <a:xfrm>
            <a:off x="320040" y="329184"/>
            <a:ext cx="6400800" cy="201168"/>
          </a:xfrm>
          <a:prstGeom prst="rect">
            <a:avLst/>
          </a:prstGeom>
          <a:noFill/>
          <a:ln/>
        </p:spPr>
        <p:txBody>
          <a:bodyPr wrap="square" rtlCol="0" anchor="ctr"/>
          <a:lstStyle/>
          <a:p>
            <a:pPr indent="0" marL="0">
              <a:buNone/>
            </a:pPr>
            <a:r>
              <a:rPr lang="en-US" sz="900" spc="100" kern="0" dirty="0">
                <a:solidFill>
                  <a:srgbClr val="8FA898"/>
                </a:solidFill>
                <a:latin typeface="Calibri" pitchFamily="34" charset="0"/>
                <a:ea typeface="Calibri" pitchFamily="34" charset="-122"/>
                <a:cs typeface="Calibri" pitchFamily="34" charset="-120"/>
              </a:rPr>
              <a:t>Analysis — Bloom's L4</a:t>
            </a:r>
            <a:endParaRPr lang="en-US" sz="900" dirty="0"/>
          </a:p>
        </p:txBody>
      </p:sp>
      <p:sp>
        <p:nvSpPr>
          <p:cNvPr id="6" name="Shape 4"/>
          <p:cNvSpPr/>
          <p:nvPr/>
        </p:nvSpPr>
        <p:spPr>
          <a:xfrm>
            <a:off x="7589520" y="109728"/>
            <a:ext cx="1280160" cy="347472"/>
          </a:xfrm>
          <a:prstGeom prst="rect">
            <a:avLst/>
          </a:prstGeom>
          <a:solidFill>
            <a:srgbClr val="C8791E"/>
          </a:solidFill>
          <a:ln w="12700">
            <a:solidFill>
              <a:srgbClr val="C8791E"/>
            </a:solidFill>
            <a:prstDash val="solid"/>
          </a:ln>
        </p:spPr>
      </p:sp>
      <p:sp>
        <p:nvSpPr>
          <p:cNvPr id="7" name="Text 5"/>
          <p:cNvSpPr/>
          <p:nvPr/>
        </p:nvSpPr>
        <p:spPr>
          <a:xfrm>
            <a:off x="7589520" y="109728"/>
            <a:ext cx="128016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5 marks</a:t>
            </a:r>
            <a:endParaRPr lang="en-US" sz="1000" dirty="0"/>
          </a:p>
        </p:txBody>
      </p:sp>
      <p:sp>
        <p:nvSpPr>
          <p:cNvPr id="8" name="Shape 6"/>
          <p:cNvSpPr/>
          <p:nvPr/>
        </p:nvSpPr>
        <p:spPr>
          <a:xfrm>
            <a:off x="320040" y="713232"/>
            <a:ext cx="502920" cy="502920"/>
          </a:xfrm>
          <a:prstGeom prst="rect">
            <a:avLst/>
          </a:prstGeom>
          <a:solidFill>
            <a:srgbClr val="2D5A3D"/>
          </a:solidFill>
          <a:ln w="12700">
            <a:solidFill>
              <a:srgbClr val="3D7A52"/>
            </a:solidFill>
            <a:prstDash val="solid"/>
          </a:ln>
        </p:spPr>
      </p:sp>
      <p:sp>
        <p:nvSpPr>
          <p:cNvPr id="9" name="Text 7"/>
          <p:cNvSpPr/>
          <p:nvPr/>
        </p:nvSpPr>
        <p:spPr>
          <a:xfrm>
            <a:off x="320040" y="713232"/>
            <a:ext cx="502920" cy="502920"/>
          </a:xfrm>
          <a:prstGeom prst="rect">
            <a:avLst/>
          </a:prstGeom>
          <a:noFill/>
          <a:ln/>
        </p:spPr>
        <p:txBody>
          <a:bodyPr wrap="square" lIns="0" tIns="0" rIns="0" bIns="0" rtlCol="0" anchor="ctr"/>
          <a:lstStyle/>
          <a:p>
            <a:pPr algn="ctr" indent="0" marL="0">
              <a:buNone/>
            </a:pPr>
            <a:r>
              <a:rPr lang="en-US" sz="2200" b="1" dirty="0">
                <a:solidFill>
                  <a:srgbClr val="F4F1EC"/>
                </a:solidFill>
                <a:latin typeface="Georgia" pitchFamily="34" charset="0"/>
                <a:ea typeface="Georgia" pitchFamily="34" charset="-122"/>
                <a:cs typeface="Georgia" pitchFamily="34" charset="-120"/>
              </a:rPr>
              <a:t>Q</a:t>
            </a:r>
            <a:endParaRPr lang="en-US" sz="2200" dirty="0"/>
          </a:p>
        </p:txBody>
      </p:sp>
      <p:sp>
        <p:nvSpPr>
          <p:cNvPr id="10" name="Text 8"/>
          <p:cNvSpPr/>
          <p:nvPr/>
        </p:nvSpPr>
        <p:spPr>
          <a:xfrm>
            <a:off x="960120" y="658368"/>
            <a:ext cx="7863840" cy="2651760"/>
          </a:xfrm>
          <a:prstGeom prst="rect">
            <a:avLst/>
          </a:prstGeom>
          <a:noFill/>
          <a:ln/>
        </p:spPr>
        <p:txBody>
          <a:bodyPr wrap="square" rtlCol="0" anchor="t"/>
          <a:lstStyle/>
          <a:p>
            <a:pPr indent="0" marL="0">
              <a:buNone/>
            </a:pPr>
            <a:r>
              <a:rPr lang="en-US" sz="1500" dirty="0">
                <a:solidFill>
                  <a:srgbClr val="F4F1EC"/>
                </a:solidFill>
                <a:latin typeface="Georgia" pitchFamily="34" charset="0"/>
                <a:ea typeface="Georgia" pitchFamily="34" charset="-122"/>
                <a:cs typeface="Georgia" pitchFamily="34" charset="-120"/>
              </a:rPr>
              <a:t>The discovery that modern non-African humans carry 1–4% Neanderthal DNA in their genomes was described as "one of the most surprising findings in human genetics in decades." (a) Why was it surprising given the prevailing Out of Africa model? (b) What specifically does it tell us about the nature of the interaction between H. sapiens and Neanderthals? (c) Some researchers argue this finding partially supports the Multiregional Evolution hypothesis. Evaluate this argument. Does archaic introgression constitute meaningful support for multiregionalism? (d) What do we now know about the functional effects of retained Neanderthal sequences in modern humans?</a:t>
            </a:r>
            <a:endParaRPr lang="en-US" sz="1500" dirty="0"/>
          </a:p>
        </p:txBody>
      </p:sp>
      <p:sp>
        <p:nvSpPr>
          <p:cNvPr id="11" name="Shape 9"/>
          <p:cNvSpPr/>
          <p:nvPr/>
        </p:nvSpPr>
        <p:spPr>
          <a:xfrm>
            <a:off x="320040" y="3474720"/>
            <a:ext cx="8503920" cy="914400"/>
          </a:xfrm>
          <a:prstGeom prst="rect">
            <a:avLst/>
          </a:prstGeom>
          <a:solidFill>
            <a:srgbClr val="2D5A3D"/>
          </a:solidFill>
          <a:ln w="12700">
            <a:solidFill>
              <a:srgbClr val="3D7A52"/>
            </a:solidFill>
            <a:prstDash val="solid"/>
          </a:ln>
        </p:spPr>
      </p:sp>
      <p:sp>
        <p:nvSpPr>
          <p:cNvPr id="12" name="Text 10"/>
          <p:cNvSpPr/>
          <p:nvPr/>
        </p:nvSpPr>
        <p:spPr>
          <a:xfrm>
            <a:off x="320040" y="3474720"/>
            <a:ext cx="8503920" cy="914400"/>
          </a:xfrm>
          <a:prstGeom prst="rect">
            <a:avLst/>
          </a:prstGeom>
          <a:noFill/>
          <a:ln/>
        </p:spPr>
        <p:txBody>
          <a:bodyPr wrap="square" lIns="2286" tIns="2286" rIns="2286" bIns="2286" rtlCol="0" anchor="ctr"/>
          <a:lstStyle/>
          <a:p>
            <a:pPr indent="0" marL="0">
              <a:buNone/>
            </a:pPr>
            <a:r>
              <a:rPr lang="en-US" sz="1300" b="1" dirty="0">
                <a:solidFill>
                  <a:srgbClr val="C8791E"/>
                </a:solidFill>
                <a:latin typeface="Calibri" pitchFamily="34" charset="0"/>
                <a:ea typeface="Calibri" pitchFamily="34" charset="-122"/>
                <a:cs typeface="Calibri" pitchFamily="34" charset="-120"/>
              </a:rPr>
              <a:t>Think:  </a:t>
            </a:r>
            <a:pPr indent="0" marL="0">
              <a:buNone/>
            </a:pPr>
            <a:r>
              <a:rPr lang="en-US" sz="1200" dirty="0">
                <a:solidFill>
                  <a:srgbClr val="F4F1EC"/>
                </a:solidFill>
                <a:latin typeface="Calibri" pitchFamily="34" charset="0"/>
                <a:ea typeface="Calibri" pitchFamily="34" charset="-122"/>
                <a:cs typeface="Calibri" pitchFamily="34" charset="-120"/>
              </a:rPr>
              <a:t>What did the simple Out of Africa model predict about archaic hominin ancestry? What does "1–4% Neanderthal ancestry" mean for the replacement model? Is 1-4% the same as the Multiregional prediction of continuous gene exchange?</a:t>
            </a:r>
            <a:endParaRPr lang="en-US" sz="1300" dirty="0"/>
          </a:p>
        </p:txBody>
      </p:sp>
      <p:sp>
        <p:nvSpPr>
          <p:cNvPr id="13" name="Text 11"/>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23 / 99</a:t>
            </a:r>
            <a:endParaRPr lang="en-US" sz="900" dirty="0"/>
          </a:p>
        </p:txBody>
      </p:sp>
      <p:sp>
        <p:nvSpPr>
          <p:cNvPr id="14" name="Text 12"/>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10 — Human Evolution</a:t>
            </a:r>
            <a:endParaRPr lang="en-US" sz="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8C7A"/>
          </a:solidFill>
          <a:ln w="12700">
            <a:solidFill>
              <a:srgbClr val="3D8C7A"/>
            </a:solidFill>
            <a:prstDash val="solid"/>
          </a:ln>
        </p:spPr>
      </p:sp>
      <p:sp>
        <p:nvSpPr>
          <p:cNvPr id="3" name="Text 1"/>
          <p:cNvSpPr/>
          <p:nvPr/>
        </p:nvSpPr>
        <p:spPr>
          <a:xfrm>
            <a:off x="228600" y="91440"/>
            <a:ext cx="7772400" cy="292608"/>
          </a:xfrm>
          <a:prstGeom prst="rect">
            <a:avLst/>
          </a:prstGeom>
          <a:noFill/>
          <a:ln/>
        </p:spPr>
        <p:txBody>
          <a:bodyPr wrap="square" rtlCol="0" anchor="ctr"/>
          <a:lstStyle/>
          <a:p>
            <a:pPr indent="0" marL="0">
              <a:buNone/>
            </a:pPr>
            <a:r>
              <a:rPr lang="en-US" sz="1000" spc="100" kern="0" dirty="0">
                <a:solidFill>
                  <a:srgbClr val="8FA898"/>
                </a:solidFill>
                <a:latin typeface="Calibri" pitchFamily="34" charset="0"/>
                <a:ea typeface="Calibri" pitchFamily="34" charset="-122"/>
                <a:cs typeface="Calibri" pitchFamily="34" charset="-120"/>
              </a:rPr>
              <a:t>Q3  |  Model Answer</a:t>
            </a:r>
            <a:endParaRPr lang="en-US" sz="1000" dirty="0"/>
          </a:p>
        </p:txBody>
      </p:sp>
      <p:sp>
        <p:nvSpPr>
          <p:cNvPr id="4" name="Shape 2"/>
          <p:cNvSpPr/>
          <p:nvPr/>
        </p:nvSpPr>
        <p:spPr>
          <a:xfrm>
            <a:off x="7589520" y="91440"/>
            <a:ext cx="1280160" cy="292608"/>
          </a:xfrm>
          <a:prstGeom prst="rect">
            <a:avLst/>
          </a:prstGeom>
          <a:solidFill>
            <a:srgbClr val="3D8C7A"/>
          </a:solidFill>
          <a:ln w="12700">
            <a:solidFill>
              <a:srgbClr val="3D8C7A"/>
            </a:solidFill>
            <a:prstDash val="solid"/>
          </a:ln>
        </p:spPr>
      </p:sp>
      <p:sp>
        <p:nvSpPr>
          <p:cNvPr id="5" name="Text 3"/>
          <p:cNvSpPr/>
          <p:nvPr/>
        </p:nvSpPr>
        <p:spPr>
          <a:xfrm>
            <a:off x="7589520" y="91440"/>
            <a:ext cx="128016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 marks</a:t>
            </a:r>
            <a:endParaRPr lang="en-US" sz="900" dirty="0"/>
          </a:p>
        </p:txBody>
      </p:sp>
      <p:sp>
        <p:nvSpPr>
          <p:cNvPr id="6" name="Shape 4"/>
          <p:cNvSpPr/>
          <p:nvPr/>
        </p:nvSpPr>
        <p:spPr>
          <a:xfrm>
            <a:off x="228600" y="438912"/>
            <a:ext cx="8686800" cy="566928"/>
          </a:xfrm>
          <a:prstGeom prst="rect">
            <a:avLst/>
          </a:prstGeom>
          <a:solidFill>
            <a:srgbClr val="E8F0EB"/>
          </a:solidFill>
          <a:ln w="12700">
            <a:solidFill>
              <a:srgbClr val="E8F0EB"/>
            </a:solidFill>
            <a:prstDash val="solid"/>
          </a:ln>
        </p:spPr>
      </p:sp>
      <p:sp>
        <p:nvSpPr>
          <p:cNvPr id="7" name="Text 5"/>
          <p:cNvSpPr/>
          <p:nvPr/>
        </p:nvSpPr>
        <p:spPr>
          <a:xfrm>
            <a:off x="320040" y="438912"/>
            <a:ext cx="8503920" cy="566928"/>
          </a:xfrm>
          <a:prstGeom prst="rect">
            <a:avLst/>
          </a:prstGeom>
          <a:noFill/>
          <a:ln/>
        </p:spPr>
        <p:txBody>
          <a:bodyPr wrap="square" rtlCol="0" anchor="ctr"/>
          <a:lstStyle/>
          <a:p>
            <a:pPr indent="0" marL="0">
              <a:buNone/>
            </a:pPr>
            <a:r>
              <a:rPr lang="en-US" sz="1100" i="1" dirty="0">
                <a:solidFill>
                  <a:srgbClr val="444444"/>
                </a:solidFill>
                <a:latin typeface="Calibri" pitchFamily="34" charset="0"/>
                <a:ea typeface="Calibri" pitchFamily="34" charset="-122"/>
                <a:cs typeface="Calibri" pitchFamily="34" charset="-120"/>
              </a:rPr>
              <a:t>The discovery that modern non-African humans carry 1–4% Neanderthal DNA in their genomes was described as "one of the most surprising findings in human genetics in decades." (a) Why was it surprising given the prevailing Out of Africa model? (b) What specifically does it tell us about the nature of the interaction between H. sapiens and Neanderthals? (c) Some researchers argue this finding partially supports the Multiregional Evolution hypothesis. Evaluate this argument. Does archaic introgression constitute meaningful support for multiregionalism? (d) What do we now know about the functional effects of retained Neanderthal sequences in modern humans?</a:t>
            </a:r>
            <a:endParaRPr lang="en-US" sz="1100" dirty="0"/>
          </a:p>
        </p:txBody>
      </p:sp>
      <p:sp>
        <p:nvSpPr>
          <p:cNvPr id="8" name="Shape 6"/>
          <p:cNvSpPr/>
          <p:nvPr/>
        </p:nvSpPr>
        <p:spPr>
          <a:xfrm>
            <a:off x="228600" y="1060704"/>
            <a:ext cx="8686800" cy="22860"/>
          </a:xfrm>
          <a:prstGeom prst="rect">
            <a:avLst/>
          </a:prstGeom>
          <a:solidFill>
            <a:srgbClr val="3D8C7A"/>
          </a:solidFill>
          <a:ln w="12700">
            <a:solidFill>
              <a:srgbClr val="3D8C7A"/>
            </a:solidFill>
            <a:prstDash val="solid"/>
          </a:ln>
        </p:spPr>
      </p:sp>
      <p:sp>
        <p:nvSpPr>
          <p:cNvPr id="9" name="Shape 7"/>
          <p:cNvSpPr/>
          <p:nvPr/>
        </p:nvSpPr>
        <p:spPr>
          <a:xfrm>
            <a:off x="228600" y="1143000"/>
            <a:ext cx="411480" cy="411480"/>
          </a:xfrm>
          <a:prstGeom prst="rect">
            <a:avLst/>
          </a:prstGeom>
          <a:solidFill>
            <a:srgbClr val="3D8C7A"/>
          </a:solidFill>
          <a:ln w="12700">
            <a:solidFill>
              <a:srgbClr val="3D8C7A"/>
            </a:solidFill>
            <a:prstDash val="solid"/>
          </a:ln>
        </p:spPr>
      </p:sp>
      <p:sp>
        <p:nvSpPr>
          <p:cNvPr id="10" name="Text 8"/>
          <p:cNvSpPr/>
          <p:nvPr/>
        </p:nvSpPr>
        <p:spPr>
          <a:xfrm>
            <a:off x="228600" y="1143000"/>
            <a:ext cx="411480" cy="411480"/>
          </a:xfrm>
          <a:prstGeom prst="rect">
            <a:avLst/>
          </a:prstGeom>
          <a:noFill/>
          <a:ln/>
        </p:spPr>
        <p:txBody>
          <a:bodyPr wrap="square" lIns="0" tIns="0" rIns="0" bIns="0" rtlCol="0" anchor="ctr"/>
          <a:lstStyle/>
          <a:p>
            <a:pPr algn="ctr" indent="0" marL="0">
              <a:buNone/>
            </a:pPr>
            <a:r>
              <a:rPr lang="en-US" sz="2000" b="1" dirty="0">
                <a:solidFill>
                  <a:srgbClr val="FFFFFF"/>
                </a:solidFill>
                <a:latin typeface="Georgia" pitchFamily="34" charset="0"/>
                <a:ea typeface="Georgia" pitchFamily="34" charset="-122"/>
                <a:cs typeface="Georgia" pitchFamily="34" charset="-120"/>
              </a:rPr>
              <a:t>A</a:t>
            </a:r>
            <a:endParaRPr lang="en-US" sz="2000" dirty="0"/>
          </a:p>
        </p:txBody>
      </p:sp>
      <p:sp>
        <p:nvSpPr>
          <p:cNvPr id="11" name="Text 9"/>
          <p:cNvSpPr/>
          <p:nvPr/>
        </p:nvSpPr>
        <p:spPr>
          <a:xfrm>
            <a:off x="749808" y="1124712"/>
            <a:ext cx="8165592" cy="3794760"/>
          </a:xfrm>
          <a:prstGeom prst="rect">
            <a:avLst/>
          </a:prstGeom>
          <a:noFill/>
          <a:ln/>
        </p:spPr>
        <p:txBody>
          <a:bodyPr wrap="square" rtlCol="0" anchor="t"/>
          <a:lstStyle/>
          <a:p>
            <a:pPr indent="0" marL="0">
              <a:buNone/>
            </a:pPr>
            <a:r>
              <a:rPr lang="en-US" sz="1200" dirty="0">
                <a:solidFill>
                  <a:srgbClr val="111111"/>
                </a:solidFill>
                <a:latin typeface="Calibri" pitchFamily="34" charset="0"/>
                <a:ea typeface="Calibri" pitchFamily="34" charset="-122"/>
                <a:cs typeface="Calibri" pitchFamily="34" charset="-120"/>
              </a:rPr>
              <a:t>(a) Why it was surprising: The simple "Out of Africa replacement" model predicted that H. sapiens completely replaced Neanderthals when they dispersed from Africa, with no meaningful gene exchange. The expectation was: if modern non-African humans interacted briefly with Neanderthals at all, the Neanderthals contributed nothing to the modern gene pool — they were replaced. The finding by Pääbo et al. (2010) that 1–4% of the non-African genome consists of Neanderthal sequences directly contradicts the simple replacement model. It demonstrates that interbreeding DID occur — at some point after H. sapiens left Africa and before Neanderthal populations collapsed (~40 ka), the two populations interbred successfully and produced offspring who contributed to the modern non-African gene pool. (b) Nature of the H. sapiens-Neanderthal interaction: The ~1–4% Neanderthal ancestry implies: (i) Interbreeding occurred, but on a limited scale — the proportion is small, consistent with occasional encounters rather than extensive admixture; (ii) The interbreeding occurred after the out-of-Africa dispersal (which is why African populations show no Neanderthal ancestry — they diverged before the dispersal); (iii) Most likely location: the Near East, where both populations coexisted from approximately 70–40 ka; (iv) The introgression was partially asymmetric — limited evidence for H. sapiens DNA in Neanderthal genomes, suggesting the interbreeding was from Neanderthal males to H. sapiens females or was directional for other reasons. (c) Does this support Multiregionalism? No, in any meaningful sense. The Multiregional hypothesis proposed CONTINUOUS gene exchange between archaic Homo populations across the Old World over the last 1–2 million years, maintaining all populations as one interbreeding species. Multiregionalism predicts: roughly equal archaic ancestry in all modern humans from their respective regional populations (European moderns from Neanderthals, East Asians from H. erectus populations, etc.); regional morphological continuity from archaic to modern populations. The introgression finding contradicts both predictions: it shows a small, single or few episodes of gene exchange, not continuous gene flow; African populations have no Neanderthal ancestry at all (impossible under multiregionalism); the dominant ancestry of all modern humans is from the African H. sapiens population. The 1–4% Neanderthal ancestry represents a minor admixture event overlaid on a predominantly Out-of-Africa replacement — it modifies the simple replacement model but does not restore the multiregional model. (d) Functional effects of retained Neanderthal sequences: Retained Neanderthal sequences are not randomly distributed — some regions show Neanderthal DNA at much higher than expected frequencies (suggesting positive selection retained them) while others are depleted (suggesting they reduced fitness): (i) EPAS1 in Tibetans: a Denisovan-derived allele of the EPAS1 gene (high-altitude adaptation) is found at high frequency in Tibetan populations — one of the clearest examples of adaptive introgression. (ii) HLA alleles: some human leukocyte antigen variants appear to be of Neanderthal or Denisovan origin — possible immune benefit from exposure to Old World pathogens already faced by archaic populations. (iii) Skin and hair biology: some BNC2 alleles (associated with skin colour in European populations) may have Neanderthal origin. (iv) Deleterious introgression: some retained Neanderthal sequences have been associated with increased risk for autoimmune disorders, depression, and cardiovascular disease — these may represent mildly deleterious sequences that hitchhiked into modern populations and have not been fully purged by selection.</a:t>
            </a:r>
            <a:endParaRPr lang="en-US" sz="1200" dirty="0"/>
          </a:p>
        </p:txBody>
      </p:sp>
      <p:sp>
        <p:nvSpPr>
          <p:cNvPr id="12" name="Text 10"/>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24 / 99</a:t>
            </a:r>
            <a:endParaRPr lang="en-US" sz="900" dirty="0"/>
          </a:p>
        </p:txBody>
      </p:sp>
      <p:sp>
        <p:nvSpPr>
          <p:cNvPr id="13" name="Text 11"/>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10 — Human Evolution</a:t>
            </a:r>
            <a:endParaRPr lang="en-US" sz="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E1A10"/>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C8791E"/>
          </a:solidFill>
          <a:ln w="12700">
            <a:solidFill>
              <a:srgbClr val="C8791E"/>
            </a:solidFill>
            <a:prstDash val="solid"/>
          </a:ln>
        </p:spPr>
      </p:sp>
      <p:sp>
        <p:nvSpPr>
          <p:cNvPr id="3" name="Shape 1"/>
          <p:cNvSpPr/>
          <p:nvPr/>
        </p:nvSpPr>
        <p:spPr>
          <a:xfrm>
            <a:off x="0" y="64008"/>
            <a:ext cx="9144000" cy="475488"/>
          </a:xfrm>
          <a:prstGeom prst="rect">
            <a:avLst/>
          </a:prstGeom>
          <a:solidFill>
            <a:srgbClr val="243228"/>
          </a:solidFill>
          <a:ln w="12700">
            <a:solidFill>
              <a:srgbClr val="243228"/>
            </a:solidFill>
            <a:prstDash val="solid"/>
          </a:ln>
        </p:spPr>
      </p:sp>
      <p:sp>
        <p:nvSpPr>
          <p:cNvPr id="4" name="Text 2"/>
          <p:cNvSpPr/>
          <p:nvPr/>
        </p:nvSpPr>
        <p:spPr>
          <a:xfrm>
            <a:off x="320040" y="91440"/>
            <a:ext cx="4572000" cy="274320"/>
          </a:xfrm>
          <a:prstGeom prst="rect">
            <a:avLst/>
          </a:prstGeom>
          <a:noFill/>
          <a:ln/>
        </p:spPr>
        <p:txBody>
          <a:bodyPr wrap="square" rtlCol="0" anchor="ctr"/>
          <a:lstStyle/>
          <a:p>
            <a:pPr indent="0" marL="0">
              <a:buNone/>
            </a:pPr>
            <a:r>
              <a:rPr lang="en-US" sz="1100" b="1" spc="200" kern="0" dirty="0">
                <a:solidFill>
                  <a:srgbClr val="C8791E"/>
                </a:solidFill>
                <a:latin typeface="Calibri" pitchFamily="34" charset="0"/>
                <a:ea typeface="Calibri" pitchFamily="34" charset="-122"/>
                <a:cs typeface="Calibri" pitchFamily="34" charset="-120"/>
              </a:rPr>
              <a:t>Question 4 of 5</a:t>
            </a:r>
            <a:endParaRPr lang="en-US" sz="1100" dirty="0"/>
          </a:p>
        </p:txBody>
      </p:sp>
      <p:sp>
        <p:nvSpPr>
          <p:cNvPr id="5" name="Text 3"/>
          <p:cNvSpPr/>
          <p:nvPr/>
        </p:nvSpPr>
        <p:spPr>
          <a:xfrm>
            <a:off x="320040" y="329184"/>
            <a:ext cx="6400800" cy="201168"/>
          </a:xfrm>
          <a:prstGeom prst="rect">
            <a:avLst/>
          </a:prstGeom>
          <a:noFill/>
          <a:ln/>
        </p:spPr>
        <p:txBody>
          <a:bodyPr wrap="square" rtlCol="0" anchor="ctr"/>
          <a:lstStyle/>
          <a:p>
            <a:pPr indent="0" marL="0">
              <a:buNone/>
            </a:pPr>
            <a:r>
              <a:rPr lang="en-US" sz="900" spc="100" kern="0" dirty="0">
                <a:solidFill>
                  <a:srgbClr val="8FA898"/>
                </a:solidFill>
                <a:latin typeface="Calibri" pitchFamily="34" charset="0"/>
                <a:ea typeface="Calibri" pitchFamily="34" charset="-122"/>
                <a:cs typeface="Calibri" pitchFamily="34" charset="-120"/>
              </a:rPr>
              <a:t>Application — Bloom's L3</a:t>
            </a:r>
            <a:endParaRPr lang="en-US" sz="900" dirty="0"/>
          </a:p>
        </p:txBody>
      </p:sp>
      <p:sp>
        <p:nvSpPr>
          <p:cNvPr id="6" name="Shape 4"/>
          <p:cNvSpPr/>
          <p:nvPr/>
        </p:nvSpPr>
        <p:spPr>
          <a:xfrm>
            <a:off x="7589520" y="109728"/>
            <a:ext cx="1280160" cy="347472"/>
          </a:xfrm>
          <a:prstGeom prst="rect">
            <a:avLst/>
          </a:prstGeom>
          <a:solidFill>
            <a:srgbClr val="C8791E"/>
          </a:solidFill>
          <a:ln w="12700">
            <a:solidFill>
              <a:srgbClr val="C8791E"/>
            </a:solidFill>
            <a:prstDash val="solid"/>
          </a:ln>
        </p:spPr>
      </p:sp>
      <p:sp>
        <p:nvSpPr>
          <p:cNvPr id="7" name="Text 5"/>
          <p:cNvSpPr/>
          <p:nvPr/>
        </p:nvSpPr>
        <p:spPr>
          <a:xfrm>
            <a:off x="7589520" y="109728"/>
            <a:ext cx="128016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5 marks</a:t>
            </a:r>
            <a:endParaRPr lang="en-US" sz="1000" dirty="0"/>
          </a:p>
        </p:txBody>
      </p:sp>
      <p:sp>
        <p:nvSpPr>
          <p:cNvPr id="8" name="Shape 6"/>
          <p:cNvSpPr/>
          <p:nvPr/>
        </p:nvSpPr>
        <p:spPr>
          <a:xfrm>
            <a:off x="320040" y="713232"/>
            <a:ext cx="502920" cy="502920"/>
          </a:xfrm>
          <a:prstGeom prst="rect">
            <a:avLst/>
          </a:prstGeom>
          <a:solidFill>
            <a:srgbClr val="2D5A3D"/>
          </a:solidFill>
          <a:ln w="12700">
            <a:solidFill>
              <a:srgbClr val="3D7A52"/>
            </a:solidFill>
            <a:prstDash val="solid"/>
          </a:ln>
        </p:spPr>
      </p:sp>
      <p:sp>
        <p:nvSpPr>
          <p:cNvPr id="9" name="Text 7"/>
          <p:cNvSpPr/>
          <p:nvPr/>
        </p:nvSpPr>
        <p:spPr>
          <a:xfrm>
            <a:off x="320040" y="713232"/>
            <a:ext cx="502920" cy="502920"/>
          </a:xfrm>
          <a:prstGeom prst="rect">
            <a:avLst/>
          </a:prstGeom>
          <a:noFill/>
          <a:ln/>
        </p:spPr>
        <p:txBody>
          <a:bodyPr wrap="square" lIns="0" tIns="0" rIns="0" bIns="0" rtlCol="0" anchor="ctr"/>
          <a:lstStyle/>
          <a:p>
            <a:pPr algn="ctr" indent="0" marL="0">
              <a:buNone/>
            </a:pPr>
            <a:r>
              <a:rPr lang="en-US" sz="2200" b="1" dirty="0">
                <a:solidFill>
                  <a:srgbClr val="F4F1EC"/>
                </a:solidFill>
                <a:latin typeface="Georgia" pitchFamily="34" charset="0"/>
                <a:ea typeface="Georgia" pitchFamily="34" charset="-122"/>
                <a:cs typeface="Georgia" pitchFamily="34" charset="-120"/>
              </a:rPr>
              <a:t>Q</a:t>
            </a:r>
            <a:endParaRPr lang="en-US" sz="2200" dirty="0"/>
          </a:p>
        </p:txBody>
      </p:sp>
      <p:sp>
        <p:nvSpPr>
          <p:cNvPr id="10" name="Text 8"/>
          <p:cNvSpPr/>
          <p:nvPr/>
        </p:nvSpPr>
        <p:spPr>
          <a:xfrm>
            <a:off x="960120" y="658368"/>
            <a:ext cx="7863840" cy="2651760"/>
          </a:xfrm>
          <a:prstGeom prst="rect">
            <a:avLst/>
          </a:prstGeom>
          <a:noFill/>
          <a:ln/>
        </p:spPr>
        <p:txBody>
          <a:bodyPr wrap="square" rtlCol="0" anchor="t"/>
          <a:lstStyle/>
          <a:p>
            <a:pPr indent="0" marL="0">
              <a:buNone/>
            </a:pPr>
            <a:r>
              <a:rPr lang="en-US" sz="1500" dirty="0">
                <a:solidFill>
                  <a:srgbClr val="F4F1EC"/>
                </a:solidFill>
                <a:latin typeface="Georgia" pitchFamily="34" charset="0"/>
                <a:ea typeface="Georgia" pitchFamily="34" charset="-122"/>
                <a:cs typeface="Georgia" pitchFamily="34" charset="-120"/>
              </a:rPr>
              <a:t>Bipedalism is described as "the defining derived character of hominins." (a) What specific anatomical features in the human skeleton demonstrate adaptation to obligate bipedalism, and how does each feature facilitate upright walking? (b) Australopithecus afarensis (Lucy, ~3.2 Ma) was bipedal despite having a chimpanzee-sized brain (~400 cc). What evolutionary principle does this demonstrate? (c) What hypotheses have been proposed for why bipedalism evolved, and which currently has the most empirical support?</a:t>
            </a:r>
            <a:endParaRPr lang="en-US" sz="1500" dirty="0"/>
          </a:p>
        </p:txBody>
      </p:sp>
      <p:sp>
        <p:nvSpPr>
          <p:cNvPr id="11" name="Shape 9"/>
          <p:cNvSpPr/>
          <p:nvPr/>
        </p:nvSpPr>
        <p:spPr>
          <a:xfrm>
            <a:off x="320040" y="3474720"/>
            <a:ext cx="8503920" cy="914400"/>
          </a:xfrm>
          <a:prstGeom prst="rect">
            <a:avLst/>
          </a:prstGeom>
          <a:solidFill>
            <a:srgbClr val="2D5A3D"/>
          </a:solidFill>
          <a:ln w="12700">
            <a:solidFill>
              <a:srgbClr val="3D7A52"/>
            </a:solidFill>
            <a:prstDash val="solid"/>
          </a:ln>
        </p:spPr>
      </p:sp>
      <p:sp>
        <p:nvSpPr>
          <p:cNvPr id="12" name="Text 10"/>
          <p:cNvSpPr/>
          <p:nvPr/>
        </p:nvSpPr>
        <p:spPr>
          <a:xfrm>
            <a:off x="320040" y="3474720"/>
            <a:ext cx="8503920" cy="914400"/>
          </a:xfrm>
          <a:prstGeom prst="rect">
            <a:avLst/>
          </a:prstGeom>
          <a:noFill/>
          <a:ln/>
        </p:spPr>
        <p:txBody>
          <a:bodyPr wrap="square" lIns="2286" tIns="2286" rIns="2286" bIns="2286" rtlCol="0" anchor="ctr"/>
          <a:lstStyle/>
          <a:p>
            <a:pPr indent="0" marL="0">
              <a:buNone/>
            </a:pPr>
            <a:r>
              <a:rPr lang="en-US" sz="1300" b="1" dirty="0">
                <a:solidFill>
                  <a:srgbClr val="C8791E"/>
                </a:solidFill>
                <a:latin typeface="Calibri" pitchFamily="34" charset="0"/>
                <a:ea typeface="Calibri" pitchFamily="34" charset="-122"/>
                <a:cs typeface="Calibri" pitchFamily="34" charset="-120"/>
              </a:rPr>
              <a:t>Think:  </a:t>
            </a:r>
            <a:pPr indent="0" marL="0">
              <a:buNone/>
            </a:pPr>
            <a:r>
              <a:rPr lang="en-US" sz="1200" dirty="0">
                <a:solidFill>
                  <a:srgbClr val="F4F1EC"/>
                </a:solidFill>
                <a:latin typeface="Calibri" pitchFamily="34" charset="0"/>
                <a:ea typeface="Calibri" pitchFamily="34" charset="-122"/>
                <a:cs typeface="Calibri" pitchFamily="34" charset="-120"/>
              </a:rPr>
              <a:t>Work through the skeleton from top to bottom — what has changed in the skull, spine, pelvis, legs, and feet for bipedalism? If Lucy walked bipedally but had a chimp-sized brain, which came first in hominin evolution? What ecological pressures might have driven standing upright?</a:t>
            </a:r>
            <a:endParaRPr lang="en-US" sz="1300" dirty="0"/>
          </a:p>
        </p:txBody>
      </p:sp>
      <p:sp>
        <p:nvSpPr>
          <p:cNvPr id="13" name="Text 11"/>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25 / 99</a:t>
            </a:r>
            <a:endParaRPr lang="en-US" sz="900" dirty="0"/>
          </a:p>
        </p:txBody>
      </p:sp>
      <p:sp>
        <p:nvSpPr>
          <p:cNvPr id="14" name="Text 12"/>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10 — Human Evolution</a:t>
            </a:r>
            <a:endParaRPr lang="en-US" sz="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8C7A"/>
          </a:solidFill>
          <a:ln w="12700">
            <a:solidFill>
              <a:srgbClr val="3D8C7A"/>
            </a:solidFill>
            <a:prstDash val="solid"/>
          </a:ln>
        </p:spPr>
      </p:sp>
      <p:sp>
        <p:nvSpPr>
          <p:cNvPr id="3" name="Text 1"/>
          <p:cNvSpPr/>
          <p:nvPr/>
        </p:nvSpPr>
        <p:spPr>
          <a:xfrm>
            <a:off x="228600" y="91440"/>
            <a:ext cx="7772400" cy="292608"/>
          </a:xfrm>
          <a:prstGeom prst="rect">
            <a:avLst/>
          </a:prstGeom>
          <a:noFill/>
          <a:ln/>
        </p:spPr>
        <p:txBody>
          <a:bodyPr wrap="square" rtlCol="0" anchor="ctr"/>
          <a:lstStyle/>
          <a:p>
            <a:pPr indent="0" marL="0">
              <a:buNone/>
            </a:pPr>
            <a:r>
              <a:rPr lang="en-US" sz="1000" spc="100" kern="0" dirty="0">
                <a:solidFill>
                  <a:srgbClr val="8FA898"/>
                </a:solidFill>
                <a:latin typeface="Calibri" pitchFamily="34" charset="0"/>
                <a:ea typeface="Calibri" pitchFamily="34" charset="-122"/>
                <a:cs typeface="Calibri" pitchFamily="34" charset="-120"/>
              </a:rPr>
              <a:t>Q4  |  Model Answer</a:t>
            </a:r>
            <a:endParaRPr lang="en-US" sz="1000" dirty="0"/>
          </a:p>
        </p:txBody>
      </p:sp>
      <p:sp>
        <p:nvSpPr>
          <p:cNvPr id="4" name="Shape 2"/>
          <p:cNvSpPr/>
          <p:nvPr/>
        </p:nvSpPr>
        <p:spPr>
          <a:xfrm>
            <a:off x="7589520" y="91440"/>
            <a:ext cx="1280160" cy="292608"/>
          </a:xfrm>
          <a:prstGeom prst="rect">
            <a:avLst/>
          </a:prstGeom>
          <a:solidFill>
            <a:srgbClr val="3D8C7A"/>
          </a:solidFill>
          <a:ln w="12700">
            <a:solidFill>
              <a:srgbClr val="3D8C7A"/>
            </a:solidFill>
            <a:prstDash val="solid"/>
          </a:ln>
        </p:spPr>
      </p:sp>
      <p:sp>
        <p:nvSpPr>
          <p:cNvPr id="5" name="Text 3"/>
          <p:cNvSpPr/>
          <p:nvPr/>
        </p:nvSpPr>
        <p:spPr>
          <a:xfrm>
            <a:off x="7589520" y="91440"/>
            <a:ext cx="128016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 marks</a:t>
            </a:r>
            <a:endParaRPr lang="en-US" sz="900" dirty="0"/>
          </a:p>
        </p:txBody>
      </p:sp>
      <p:sp>
        <p:nvSpPr>
          <p:cNvPr id="6" name="Shape 4"/>
          <p:cNvSpPr/>
          <p:nvPr/>
        </p:nvSpPr>
        <p:spPr>
          <a:xfrm>
            <a:off x="228600" y="438912"/>
            <a:ext cx="8686800" cy="566928"/>
          </a:xfrm>
          <a:prstGeom prst="rect">
            <a:avLst/>
          </a:prstGeom>
          <a:solidFill>
            <a:srgbClr val="E8F0EB"/>
          </a:solidFill>
          <a:ln w="12700">
            <a:solidFill>
              <a:srgbClr val="E8F0EB"/>
            </a:solidFill>
            <a:prstDash val="solid"/>
          </a:ln>
        </p:spPr>
      </p:sp>
      <p:sp>
        <p:nvSpPr>
          <p:cNvPr id="7" name="Text 5"/>
          <p:cNvSpPr/>
          <p:nvPr/>
        </p:nvSpPr>
        <p:spPr>
          <a:xfrm>
            <a:off x="320040" y="438912"/>
            <a:ext cx="8503920" cy="566928"/>
          </a:xfrm>
          <a:prstGeom prst="rect">
            <a:avLst/>
          </a:prstGeom>
          <a:noFill/>
          <a:ln/>
        </p:spPr>
        <p:txBody>
          <a:bodyPr wrap="square" rtlCol="0" anchor="ctr"/>
          <a:lstStyle/>
          <a:p>
            <a:pPr indent="0" marL="0">
              <a:buNone/>
            </a:pPr>
            <a:r>
              <a:rPr lang="en-US" sz="1100" i="1" dirty="0">
                <a:solidFill>
                  <a:srgbClr val="444444"/>
                </a:solidFill>
                <a:latin typeface="Calibri" pitchFamily="34" charset="0"/>
                <a:ea typeface="Calibri" pitchFamily="34" charset="-122"/>
                <a:cs typeface="Calibri" pitchFamily="34" charset="-120"/>
              </a:rPr>
              <a:t>Bipedalism is described as "the defining derived character of hominins." (a) What specific anatomical features in the human skeleton demonstrate adaptation to obligate bipedalism, and how does each feature facilitate upright walking? (b) Australopithecus afarensis (Lucy, ~3.2 Ma) was bipedal despite having a chimpanzee-sized brain (~400 cc). What evolutionary principle does this demonstrate? (c) What hypotheses have been proposed for why bipedalism evolved, and which currently has the most empirical support?</a:t>
            </a:r>
            <a:endParaRPr lang="en-US" sz="1100" dirty="0"/>
          </a:p>
        </p:txBody>
      </p:sp>
      <p:sp>
        <p:nvSpPr>
          <p:cNvPr id="8" name="Shape 6"/>
          <p:cNvSpPr/>
          <p:nvPr/>
        </p:nvSpPr>
        <p:spPr>
          <a:xfrm>
            <a:off x="228600" y="1060704"/>
            <a:ext cx="8686800" cy="22860"/>
          </a:xfrm>
          <a:prstGeom prst="rect">
            <a:avLst/>
          </a:prstGeom>
          <a:solidFill>
            <a:srgbClr val="3D8C7A"/>
          </a:solidFill>
          <a:ln w="12700">
            <a:solidFill>
              <a:srgbClr val="3D8C7A"/>
            </a:solidFill>
            <a:prstDash val="solid"/>
          </a:ln>
        </p:spPr>
      </p:sp>
      <p:sp>
        <p:nvSpPr>
          <p:cNvPr id="9" name="Shape 7"/>
          <p:cNvSpPr/>
          <p:nvPr/>
        </p:nvSpPr>
        <p:spPr>
          <a:xfrm>
            <a:off x="228600" y="1143000"/>
            <a:ext cx="411480" cy="411480"/>
          </a:xfrm>
          <a:prstGeom prst="rect">
            <a:avLst/>
          </a:prstGeom>
          <a:solidFill>
            <a:srgbClr val="3D8C7A"/>
          </a:solidFill>
          <a:ln w="12700">
            <a:solidFill>
              <a:srgbClr val="3D8C7A"/>
            </a:solidFill>
            <a:prstDash val="solid"/>
          </a:ln>
        </p:spPr>
      </p:sp>
      <p:sp>
        <p:nvSpPr>
          <p:cNvPr id="10" name="Text 8"/>
          <p:cNvSpPr/>
          <p:nvPr/>
        </p:nvSpPr>
        <p:spPr>
          <a:xfrm>
            <a:off x="228600" y="1143000"/>
            <a:ext cx="411480" cy="411480"/>
          </a:xfrm>
          <a:prstGeom prst="rect">
            <a:avLst/>
          </a:prstGeom>
          <a:noFill/>
          <a:ln/>
        </p:spPr>
        <p:txBody>
          <a:bodyPr wrap="square" lIns="0" tIns="0" rIns="0" bIns="0" rtlCol="0" anchor="ctr"/>
          <a:lstStyle/>
          <a:p>
            <a:pPr algn="ctr" indent="0" marL="0">
              <a:buNone/>
            </a:pPr>
            <a:r>
              <a:rPr lang="en-US" sz="2000" b="1" dirty="0">
                <a:solidFill>
                  <a:srgbClr val="FFFFFF"/>
                </a:solidFill>
                <a:latin typeface="Georgia" pitchFamily="34" charset="0"/>
                <a:ea typeface="Georgia" pitchFamily="34" charset="-122"/>
                <a:cs typeface="Georgia" pitchFamily="34" charset="-120"/>
              </a:rPr>
              <a:t>A</a:t>
            </a:r>
            <a:endParaRPr lang="en-US" sz="2000" dirty="0"/>
          </a:p>
        </p:txBody>
      </p:sp>
      <p:sp>
        <p:nvSpPr>
          <p:cNvPr id="11" name="Text 9"/>
          <p:cNvSpPr/>
          <p:nvPr/>
        </p:nvSpPr>
        <p:spPr>
          <a:xfrm>
            <a:off x="749808" y="1124712"/>
            <a:ext cx="8165592" cy="3794760"/>
          </a:xfrm>
          <a:prstGeom prst="rect">
            <a:avLst/>
          </a:prstGeom>
          <a:noFill/>
          <a:ln/>
        </p:spPr>
        <p:txBody>
          <a:bodyPr wrap="square" rtlCol="0" anchor="t"/>
          <a:lstStyle/>
          <a:p>
            <a:pPr indent="0" marL="0">
              <a:buNone/>
            </a:pPr>
            <a:r>
              <a:rPr lang="en-US" sz="1200" dirty="0">
                <a:solidFill>
                  <a:srgbClr val="111111"/>
                </a:solidFill>
                <a:latin typeface="Calibri" pitchFamily="34" charset="0"/>
                <a:ea typeface="Calibri" pitchFamily="34" charset="-122"/>
                <a:cs typeface="Calibri" pitchFamily="34" charset="-120"/>
              </a:rPr>
              <a:t>(a) Anatomical features for bipedalism: Skull: Foramen magnum (where the spinal cord exits the skull) is positioned centrally under the skull in hominins, allowing the head to balance on top of a vertical spine. In chimpanzees, it is positioned more posteriorly — the head tilts forward naturally. Spine: The human spine has an S-shaped curve (cervical lordosis + lumbar lordosis) that distributes body weight efficiently over the legs. Chimpanzees have a C-shaped spine suited to quadrupedal posture. Pelvis: The human pelvis is bowl-shaped (iliac blade is broad and curved forward) to support the abdominal organs from below during upright posture and to serve as an attachment point for gluteus medius and minimus (essential for lateral stability during walking). Chimpanzee pelvis is blade-like. Femur (thigh bone): The human femur is angled inward (valgus angle) so that the knee is positioned under the body's centre of mass. This "knock-kneed" arrangement keeps the foot strike under the body rather than to the side. Chimpanzee femur is vertical — the feet fall under the hips, causing the characteristic waddling gait. Foot: The human foot has a non-opposable big toe aligned with the other toes, forming a platform for weight bearing. The arch provides a spring for efficient locomotion. Chimpanzee big toe is opposable (for branch grasping) and the foot is not arched. (b) Evolutionary principle illustrated by Lucy: Australopithecus afarensis demonstrates MOSAIC EVOLUTION — different characters in the same lineage evolving at different rates and at different times. Lucy walked bipedally (confirmed by foot anatomy and the Laetoli footprints, 3.5 Ma) but her brain was approximately 400–500 cc — essentially the same size as a chimpanzee brain. This directly refutes the popular misconception that brain expansion drove bipedalism. Bipedalism preceded significant brain expansion by at least 2 million years. The hominin evolutionary sequence is: bipedalism first → tool use → substantial brain expansion — not the reverse. This is a key fact that must be memorised correctly. (c) Hypotheses for why bipedalism evolved: (i) Savanna hypothesis: bipedalism evolved as hominins moved from forest to open savanna, where long-distance walking to food sources was required. Upright posture also exposes less body surface area to direct sun and enables scanning for predators over tall grass. Evidence: timing (~5–7 Ma) correlates with East African savanna expansion. Counter-evidence: Ardipithecus (4.4 Ma) was probably a forest-dweller; Lucy's ecological setting included woodland. (ii) Thermoregulation: upright posture reduces solar heat load on the body by ~60% (less surface area exposed to direct sun). Combined with sweating (unique among apes), this enabled hominins to remain active in hot midday conditions when predators rested. Evidence: timing correlates with African climate warming. (iii) Energetic efficiency for long-distance travel: human bipedal walking is significantly more energy-efficient than chimpanzee bipedal or quadrupedal walking over long distances. This would provide a net energetic advantage when exploiting dispersed food resources. Evidence: biomechanical studies confirm human walking is ~75% cheaper per unit distance than chimpanzee locomotion. Currently best supported: the energetic efficiency hypothesis has the most direct experimental support (biomechanical measurements). The thermoregulation and savanna hypotheses are plausible but more difficult to test directly in the fossil record.</a:t>
            </a:r>
            <a:endParaRPr lang="en-US" sz="1200" dirty="0"/>
          </a:p>
        </p:txBody>
      </p:sp>
      <p:sp>
        <p:nvSpPr>
          <p:cNvPr id="12" name="Text 10"/>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26 / 99</a:t>
            </a:r>
            <a:endParaRPr lang="en-US" sz="900" dirty="0"/>
          </a:p>
        </p:txBody>
      </p:sp>
      <p:sp>
        <p:nvSpPr>
          <p:cNvPr id="13" name="Text 11"/>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10 — Human Evolution</a:t>
            </a:r>
            <a:endParaRPr lang="en-US" sz="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E1A10"/>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C8791E"/>
          </a:solidFill>
          <a:ln w="12700">
            <a:solidFill>
              <a:srgbClr val="C8791E"/>
            </a:solidFill>
            <a:prstDash val="solid"/>
          </a:ln>
        </p:spPr>
      </p:sp>
      <p:sp>
        <p:nvSpPr>
          <p:cNvPr id="3" name="Shape 1"/>
          <p:cNvSpPr/>
          <p:nvPr/>
        </p:nvSpPr>
        <p:spPr>
          <a:xfrm>
            <a:off x="0" y="64008"/>
            <a:ext cx="9144000" cy="475488"/>
          </a:xfrm>
          <a:prstGeom prst="rect">
            <a:avLst/>
          </a:prstGeom>
          <a:solidFill>
            <a:srgbClr val="243228"/>
          </a:solidFill>
          <a:ln w="12700">
            <a:solidFill>
              <a:srgbClr val="243228"/>
            </a:solidFill>
            <a:prstDash val="solid"/>
          </a:ln>
        </p:spPr>
      </p:sp>
      <p:sp>
        <p:nvSpPr>
          <p:cNvPr id="4" name="Text 2"/>
          <p:cNvSpPr/>
          <p:nvPr/>
        </p:nvSpPr>
        <p:spPr>
          <a:xfrm>
            <a:off x="320040" y="91440"/>
            <a:ext cx="4572000" cy="274320"/>
          </a:xfrm>
          <a:prstGeom prst="rect">
            <a:avLst/>
          </a:prstGeom>
          <a:noFill/>
          <a:ln/>
        </p:spPr>
        <p:txBody>
          <a:bodyPr wrap="square" rtlCol="0" anchor="ctr"/>
          <a:lstStyle/>
          <a:p>
            <a:pPr indent="0" marL="0">
              <a:buNone/>
            </a:pPr>
            <a:r>
              <a:rPr lang="en-US" sz="1100" b="1" spc="200" kern="0" dirty="0">
                <a:solidFill>
                  <a:srgbClr val="C8791E"/>
                </a:solidFill>
                <a:latin typeface="Calibri" pitchFamily="34" charset="0"/>
                <a:ea typeface="Calibri" pitchFamily="34" charset="-122"/>
                <a:cs typeface="Calibri" pitchFamily="34" charset="-120"/>
              </a:rPr>
              <a:t>Question 5 of 5</a:t>
            </a:r>
            <a:endParaRPr lang="en-US" sz="1100" dirty="0"/>
          </a:p>
        </p:txBody>
      </p:sp>
      <p:sp>
        <p:nvSpPr>
          <p:cNvPr id="5" name="Text 3"/>
          <p:cNvSpPr/>
          <p:nvPr/>
        </p:nvSpPr>
        <p:spPr>
          <a:xfrm>
            <a:off x="320040" y="329184"/>
            <a:ext cx="6400800" cy="201168"/>
          </a:xfrm>
          <a:prstGeom prst="rect">
            <a:avLst/>
          </a:prstGeom>
          <a:noFill/>
          <a:ln/>
        </p:spPr>
        <p:txBody>
          <a:bodyPr wrap="square" rtlCol="0" anchor="ctr"/>
          <a:lstStyle/>
          <a:p>
            <a:pPr indent="0" marL="0">
              <a:buNone/>
            </a:pPr>
            <a:r>
              <a:rPr lang="en-US" sz="900" spc="100" kern="0" dirty="0">
                <a:solidFill>
                  <a:srgbClr val="8FA898"/>
                </a:solidFill>
                <a:latin typeface="Calibri" pitchFamily="34" charset="0"/>
                <a:ea typeface="Calibri" pitchFamily="34" charset="-122"/>
                <a:cs typeface="Calibri" pitchFamily="34" charset="-120"/>
              </a:rPr>
              <a:t>Evaluation — Bloom's L5</a:t>
            </a:r>
            <a:endParaRPr lang="en-US" sz="900" dirty="0"/>
          </a:p>
        </p:txBody>
      </p:sp>
      <p:sp>
        <p:nvSpPr>
          <p:cNvPr id="6" name="Shape 4"/>
          <p:cNvSpPr/>
          <p:nvPr/>
        </p:nvSpPr>
        <p:spPr>
          <a:xfrm>
            <a:off x="7589520" y="109728"/>
            <a:ext cx="1280160" cy="347472"/>
          </a:xfrm>
          <a:prstGeom prst="rect">
            <a:avLst/>
          </a:prstGeom>
          <a:solidFill>
            <a:srgbClr val="C8791E"/>
          </a:solidFill>
          <a:ln w="12700">
            <a:solidFill>
              <a:srgbClr val="C8791E"/>
            </a:solidFill>
            <a:prstDash val="solid"/>
          </a:ln>
        </p:spPr>
      </p:sp>
      <p:sp>
        <p:nvSpPr>
          <p:cNvPr id="7" name="Text 5"/>
          <p:cNvSpPr/>
          <p:nvPr/>
        </p:nvSpPr>
        <p:spPr>
          <a:xfrm>
            <a:off x="7589520" y="109728"/>
            <a:ext cx="128016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8 marks</a:t>
            </a:r>
            <a:endParaRPr lang="en-US" sz="1000" dirty="0"/>
          </a:p>
        </p:txBody>
      </p:sp>
      <p:sp>
        <p:nvSpPr>
          <p:cNvPr id="8" name="Shape 6"/>
          <p:cNvSpPr/>
          <p:nvPr/>
        </p:nvSpPr>
        <p:spPr>
          <a:xfrm>
            <a:off x="320040" y="713232"/>
            <a:ext cx="502920" cy="502920"/>
          </a:xfrm>
          <a:prstGeom prst="rect">
            <a:avLst/>
          </a:prstGeom>
          <a:solidFill>
            <a:srgbClr val="2D5A3D"/>
          </a:solidFill>
          <a:ln w="12700">
            <a:solidFill>
              <a:srgbClr val="3D7A52"/>
            </a:solidFill>
            <a:prstDash val="solid"/>
          </a:ln>
        </p:spPr>
      </p:sp>
      <p:sp>
        <p:nvSpPr>
          <p:cNvPr id="9" name="Text 7"/>
          <p:cNvSpPr/>
          <p:nvPr/>
        </p:nvSpPr>
        <p:spPr>
          <a:xfrm>
            <a:off x="320040" y="713232"/>
            <a:ext cx="502920" cy="502920"/>
          </a:xfrm>
          <a:prstGeom prst="rect">
            <a:avLst/>
          </a:prstGeom>
          <a:noFill/>
          <a:ln/>
        </p:spPr>
        <p:txBody>
          <a:bodyPr wrap="square" lIns="0" tIns="0" rIns="0" bIns="0" rtlCol="0" anchor="ctr"/>
          <a:lstStyle/>
          <a:p>
            <a:pPr algn="ctr" indent="0" marL="0">
              <a:buNone/>
            </a:pPr>
            <a:r>
              <a:rPr lang="en-US" sz="2200" b="1" dirty="0">
                <a:solidFill>
                  <a:srgbClr val="F4F1EC"/>
                </a:solidFill>
                <a:latin typeface="Georgia" pitchFamily="34" charset="0"/>
                <a:ea typeface="Georgia" pitchFamily="34" charset="-122"/>
                <a:cs typeface="Georgia" pitchFamily="34" charset="-120"/>
              </a:rPr>
              <a:t>Q</a:t>
            </a:r>
            <a:endParaRPr lang="en-US" sz="2200" dirty="0"/>
          </a:p>
        </p:txBody>
      </p:sp>
      <p:sp>
        <p:nvSpPr>
          <p:cNvPr id="10" name="Text 8"/>
          <p:cNvSpPr/>
          <p:nvPr/>
        </p:nvSpPr>
        <p:spPr>
          <a:xfrm>
            <a:off x="960120" y="658368"/>
            <a:ext cx="7863840" cy="2651760"/>
          </a:xfrm>
          <a:prstGeom prst="rect">
            <a:avLst/>
          </a:prstGeom>
          <a:noFill/>
          <a:ln/>
        </p:spPr>
        <p:txBody>
          <a:bodyPr wrap="square" rtlCol="0" anchor="t"/>
          <a:lstStyle/>
          <a:p>
            <a:pPr indent="0" marL="0">
              <a:buNone/>
            </a:pPr>
            <a:r>
              <a:rPr lang="en-US" sz="1500" dirty="0">
                <a:solidFill>
                  <a:srgbClr val="F4F1EC"/>
                </a:solidFill>
                <a:latin typeface="Georgia" pitchFamily="34" charset="0"/>
                <a:ea typeface="Georgia" pitchFamily="34" charset="-122"/>
                <a:cs typeface="Georgia" pitchFamily="34" charset="-120"/>
              </a:rPr>
              <a:t>Human chromosome 2 is the result of a fusion between two ancestral ape chromosomes. Creationists sometimes argue: "This is just a structural difference — it doesn't prove descent from apes." Evaluate this argument from a scientific perspective. (a) What specific molecular evidence exists within human chromosome 2 that confirms the fusion event? (b) Why does this fusion represent powerful evidence for common descent with great apes, specifically? (c) What would the prediction of common descent require us to find, and is the evidence consistent? (d) What would falsify this specific evidence?</a:t>
            </a:r>
            <a:endParaRPr lang="en-US" sz="1500" dirty="0"/>
          </a:p>
        </p:txBody>
      </p:sp>
      <p:sp>
        <p:nvSpPr>
          <p:cNvPr id="11" name="Shape 9"/>
          <p:cNvSpPr/>
          <p:nvPr/>
        </p:nvSpPr>
        <p:spPr>
          <a:xfrm>
            <a:off x="320040" y="3474720"/>
            <a:ext cx="8503920" cy="914400"/>
          </a:xfrm>
          <a:prstGeom prst="rect">
            <a:avLst/>
          </a:prstGeom>
          <a:solidFill>
            <a:srgbClr val="2D5A3D"/>
          </a:solidFill>
          <a:ln w="12700">
            <a:solidFill>
              <a:srgbClr val="3D7A52"/>
            </a:solidFill>
            <a:prstDash val="solid"/>
          </a:ln>
        </p:spPr>
      </p:sp>
      <p:sp>
        <p:nvSpPr>
          <p:cNvPr id="12" name="Text 10"/>
          <p:cNvSpPr/>
          <p:nvPr/>
        </p:nvSpPr>
        <p:spPr>
          <a:xfrm>
            <a:off x="320040" y="3474720"/>
            <a:ext cx="8503920" cy="914400"/>
          </a:xfrm>
          <a:prstGeom prst="rect">
            <a:avLst/>
          </a:prstGeom>
          <a:noFill/>
          <a:ln/>
        </p:spPr>
        <p:txBody>
          <a:bodyPr wrap="square" lIns="2286" tIns="2286" rIns="2286" bIns="2286" rtlCol="0" anchor="ctr"/>
          <a:lstStyle/>
          <a:p>
            <a:pPr indent="0" marL="0">
              <a:buNone/>
            </a:pPr>
            <a:r>
              <a:rPr lang="en-US" sz="1300" b="1" dirty="0">
                <a:solidFill>
                  <a:srgbClr val="C8791E"/>
                </a:solidFill>
                <a:latin typeface="Calibri" pitchFamily="34" charset="0"/>
                <a:ea typeface="Calibri" pitchFamily="34" charset="-122"/>
                <a:cs typeface="Calibri" pitchFamily="34" charset="-120"/>
              </a:rPr>
              <a:t>Think:  </a:t>
            </a:r>
            <a:pPr indent="0" marL="0">
              <a:buNone/>
            </a:pPr>
            <a:r>
              <a:rPr lang="en-US" sz="1200" dirty="0">
                <a:solidFill>
                  <a:srgbClr val="F4F1EC"/>
                </a:solidFill>
                <a:latin typeface="Calibri" pitchFamily="34" charset="0"/>
                <a:ea typeface="Calibri" pitchFamily="34" charset="-122"/>
                <a:cs typeface="Calibri" pitchFamily="34" charset="-120"/>
              </a:rPr>
              <a:t>What internal structures in chromosome 2 show it was formed by fusion? Telomeres normally only occur at chromosome ends — what does finding them internally tell us? What would an alternative explanation (independent creation) predict we would NOT find?</a:t>
            </a:r>
            <a:endParaRPr lang="en-US" sz="1300" dirty="0"/>
          </a:p>
        </p:txBody>
      </p:sp>
      <p:sp>
        <p:nvSpPr>
          <p:cNvPr id="13" name="Text 11"/>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27 / 99</a:t>
            </a:r>
            <a:endParaRPr lang="en-US" sz="900" dirty="0"/>
          </a:p>
        </p:txBody>
      </p:sp>
      <p:sp>
        <p:nvSpPr>
          <p:cNvPr id="14" name="Text 12"/>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10 — Human Evolution</a:t>
            </a:r>
            <a:endParaRPr lang="en-US" sz="8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8C7A"/>
          </a:solidFill>
          <a:ln w="12700">
            <a:solidFill>
              <a:srgbClr val="3D8C7A"/>
            </a:solidFill>
            <a:prstDash val="solid"/>
          </a:ln>
        </p:spPr>
      </p:sp>
      <p:sp>
        <p:nvSpPr>
          <p:cNvPr id="3" name="Text 1"/>
          <p:cNvSpPr/>
          <p:nvPr/>
        </p:nvSpPr>
        <p:spPr>
          <a:xfrm>
            <a:off x="228600" y="91440"/>
            <a:ext cx="7772400" cy="292608"/>
          </a:xfrm>
          <a:prstGeom prst="rect">
            <a:avLst/>
          </a:prstGeom>
          <a:noFill/>
          <a:ln/>
        </p:spPr>
        <p:txBody>
          <a:bodyPr wrap="square" rtlCol="0" anchor="ctr"/>
          <a:lstStyle/>
          <a:p>
            <a:pPr indent="0" marL="0">
              <a:buNone/>
            </a:pPr>
            <a:r>
              <a:rPr lang="en-US" sz="1000" spc="100" kern="0" dirty="0">
                <a:solidFill>
                  <a:srgbClr val="8FA898"/>
                </a:solidFill>
                <a:latin typeface="Calibri" pitchFamily="34" charset="0"/>
                <a:ea typeface="Calibri" pitchFamily="34" charset="-122"/>
                <a:cs typeface="Calibri" pitchFamily="34" charset="-120"/>
              </a:rPr>
              <a:t>Q5  |  Model Answer</a:t>
            </a:r>
            <a:endParaRPr lang="en-US" sz="1000" dirty="0"/>
          </a:p>
        </p:txBody>
      </p:sp>
      <p:sp>
        <p:nvSpPr>
          <p:cNvPr id="4" name="Shape 2"/>
          <p:cNvSpPr/>
          <p:nvPr/>
        </p:nvSpPr>
        <p:spPr>
          <a:xfrm>
            <a:off x="7589520" y="91440"/>
            <a:ext cx="1280160" cy="292608"/>
          </a:xfrm>
          <a:prstGeom prst="rect">
            <a:avLst/>
          </a:prstGeom>
          <a:solidFill>
            <a:srgbClr val="3D8C7A"/>
          </a:solidFill>
          <a:ln w="12700">
            <a:solidFill>
              <a:srgbClr val="3D8C7A"/>
            </a:solidFill>
            <a:prstDash val="solid"/>
          </a:ln>
        </p:spPr>
      </p:sp>
      <p:sp>
        <p:nvSpPr>
          <p:cNvPr id="5" name="Text 3"/>
          <p:cNvSpPr/>
          <p:nvPr/>
        </p:nvSpPr>
        <p:spPr>
          <a:xfrm>
            <a:off x="7589520" y="91440"/>
            <a:ext cx="128016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8 marks</a:t>
            </a:r>
            <a:endParaRPr lang="en-US" sz="900" dirty="0"/>
          </a:p>
        </p:txBody>
      </p:sp>
      <p:sp>
        <p:nvSpPr>
          <p:cNvPr id="6" name="Shape 4"/>
          <p:cNvSpPr/>
          <p:nvPr/>
        </p:nvSpPr>
        <p:spPr>
          <a:xfrm>
            <a:off x="228600" y="438912"/>
            <a:ext cx="8686800" cy="566928"/>
          </a:xfrm>
          <a:prstGeom prst="rect">
            <a:avLst/>
          </a:prstGeom>
          <a:solidFill>
            <a:srgbClr val="E8F0EB"/>
          </a:solidFill>
          <a:ln w="12700">
            <a:solidFill>
              <a:srgbClr val="E8F0EB"/>
            </a:solidFill>
            <a:prstDash val="solid"/>
          </a:ln>
        </p:spPr>
      </p:sp>
      <p:sp>
        <p:nvSpPr>
          <p:cNvPr id="7" name="Text 5"/>
          <p:cNvSpPr/>
          <p:nvPr/>
        </p:nvSpPr>
        <p:spPr>
          <a:xfrm>
            <a:off x="320040" y="438912"/>
            <a:ext cx="8503920" cy="566928"/>
          </a:xfrm>
          <a:prstGeom prst="rect">
            <a:avLst/>
          </a:prstGeom>
          <a:noFill/>
          <a:ln/>
        </p:spPr>
        <p:txBody>
          <a:bodyPr wrap="square" rtlCol="0" anchor="ctr"/>
          <a:lstStyle/>
          <a:p>
            <a:pPr indent="0" marL="0">
              <a:buNone/>
            </a:pPr>
            <a:r>
              <a:rPr lang="en-US" sz="1100" i="1" dirty="0">
                <a:solidFill>
                  <a:srgbClr val="444444"/>
                </a:solidFill>
                <a:latin typeface="Calibri" pitchFamily="34" charset="0"/>
                <a:ea typeface="Calibri" pitchFamily="34" charset="-122"/>
                <a:cs typeface="Calibri" pitchFamily="34" charset="-120"/>
              </a:rPr>
              <a:t>Human chromosome 2 is the result of a fusion between two ancestral ape chromosomes. Creationists sometimes argue: "This is just a structural difference — it doesn't prove descent from apes." Evaluate this argument from a scientific perspective. (a) What specific molecular evidence exists within human chromosome 2 that confirms the fusion event? (b) Why does this fusion represent powerful evidence for common descent with great apes, specifically? (c) What would the prediction of common descent require us to find, and is the evidence consistent? (d) What would falsify this specific evidence?</a:t>
            </a:r>
            <a:endParaRPr lang="en-US" sz="1100" dirty="0"/>
          </a:p>
        </p:txBody>
      </p:sp>
      <p:sp>
        <p:nvSpPr>
          <p:cNvPr id="8" name="Shape 6"/>
          <p:cNvSpPr/>
          <p:nvPr/>
        </p:nvSpPr>
        <p:spPr>
          <a:xfrm>
            <a:off x="228600" y="1060704"/>
            <a:ext cx="8686800" cy="22860"/>
          </a:xfrm>
          <a:prstGeom prst="rect">
            <a:avLst/>
          </a:prstGeom>
          <a:solidFill>
            <a:srgbClr val="3D8C7A"/>
          </a:solidFill>
          <a:ln w="12700">
            <a:solidFill>
              <a:srgbClr val="3D8C7A"/>
            </a:solidFill>
            <a:prstDash val="solid"/>
          </a:ln>
        </p:spPr>
      </p:sp>
      <p:sp>
        <p:nvSpPr>
          <p:cNvPr id="9" name="Shape 7"/>
          <p:cNvSpPr/>
          <p:nvPr/>
        </p:nvSpPr>
        <p:spPr>
          <a:xfrm>
            <a:off x="228600" y="1143000"/>
            <a:ext cx="411480" cy="411480"/>
          </a:xfrm>
          <a:prstGeom prst="rect">
            <a:avLst/>
          </a:prstGeom>
          <a:solidFill>
            <a:srgbClr val="3D8C7A"/>
          </a:solidFill>
          <a:ln w="12700">
            <a:solidFill>
              <a:srgbClr val="3D8C7A"/>
            </a:solidFill>
            <a:prstDash val="solid"/>
          </a:ln>
        </p:spPr>
      </p:sp>
      <p:sp>
        <p:nvSpPr>
          <p:cNvPr id="10" name="Text 8"/>
          <p:cNvSpPr/>
          <p:nvPr/>
        </p:nvSpPr>
        <p:spPr>
          <a:xfrm>
            <a:off x="228600" y="1143000"/>
            <a:ext cx="411480" cy="411480"/>
          </a:xfrm>
          <a:prstGeom prst="rect">
            <a:avLst/>
          </a:prstGeom>
          <a:noFill/>
          <a:ln/>
        </p:spPr>
        <p:txBody>
          <a:bodyPr wrap="square" lIns="0" tIns="0" rIns="0" bIns="0" rtlCol="0" anchor="ctr"/>
          <a:lstStyle/>
          <a:p>
            <a:pPr algn="ctr" indent="0" marL="0">
              <a:buNone/>
            </a:pPr>
            <a:r>
              <a:rPr lang="en-US" sz="2000" b="1" dirty="0">
                <a:solidFill>
                  <a:srgbClr val="FFFFFF"/>
                </a:solidFill>
                <a:latin typeface="Georgia" pitchFamily="34" charset="0"/>
                <a:ea typeface="Georgia" pitchFamily="34" charset="-122"/>
                <a:cs typeface="Georgia" pitchFamily="34" charset="-120"/>
              </a:rPr>
              <a:t>A</a:t>
            </a:r>
            <a:endParaRPr lang="en-US" sz="2000" dirty="0"/>
          </a:p>
        </p:txBody>
      </p:sp>
      <p:sp>
        <p:nvSpPr>
          <p:cNvPr id="11" name="Text 9"/>
          <p:cNvSpPr/>
          <p:nvPr/>
        </p:nvSpPr>
        <p:spPr>
          <a:xfrm>
            <a:off x="749808" y="1124712"/>
            <a:ext cx="8165592" cy="3794760"/>
          </a:xfrm>
          <a:prstGeom prst="rect">
            <a:avLst/>
          </a:prstGeom>
          <a:noFill/>
          <a:ln/>
        </p:spPr>
        <p:txBody>
          <a:bodyPr wrap="square" rtlCol="0" anchor="t"/>
          <a:lstStyle/>
          <a:p>
            <a:pPr indent="0" marL="0">
              <a:buNone/>
            </a:pPr>
            <a:r>
              <a:rPr lang="en-US" sz="1200" dirty="0">
                <a:solidFill>
                  <a:srgbClr val="111111"/>
                </a:solidFill>
                <a:latin typeface="Calibri" pitchFamily="34" charset="0"/>
                <a:ea typeface="Calibri" pitchFamily="34" charset="-122"/>
                <a:cs typeface="Calibri" pitchFamily="34" charset="-120"/>
              </a:rPr>
              <a:t>(a) Molecular evidence within human chromosome 2: Human chromosome 2 contains several internal structures that are diagnostic of a head-to-head fusion event: (i) Two centromere sequences: Each chromosome normally has exactly one centromere. Human chromosome 2 contains two centromere sequences — one active (the primary centromere) and one inactive remnant (a vestigial centromere at 2q21). The presence of a second centromere region — now non-functional — is inexplicable unless chromosome 2 was formed by the fusion of two chromosomes each of which originally had its own centromere. (ii) Inward-facing telomere sequences: Telomere sequences (TTAGGG repeats) normally occur exclusively at chromosome ends. Human chromosome 2 contains telomere repeat sequences at its interior — approximately at position 2q13 (the fusion point). Furthermore, these internal telomere sequences are oriented in opposite directions (head-to-head), exactly as expected if two chromosome ends (each with a telomere) fused together. (iii) Gene order preservation: The gene order on human chromosome 2 matches the combined gene order of chimpanzee chromosomes 2A and 2B (the two ancestral chromosomes). This means that not only are the structural fusion markers present, but the entire chromosomal architecture is consistent with fusion rather than de novo construction. (b) Why this is powerful evidence for common descent: If humans and great apes share a common ancestor, and that ancestor had 48 chromosomes (as all other great apes do), then the transition from 48 to 46 chromosomes in the human lineage requires that two chromosomes fused. This is precisely what chromosome 2 shows. The evidence is powerful because: (i) It is specific — the evidence is not merely "humans and apes look similar" but a specific molecular prediction about an exact location in the genome; (ii) It is testable — the fusion site can be identified, sequenced, and compared with the equivalent regions in chimpanzee chromosomes; (iii) It is falsifiable — if the evidence were not found, the common descent hypothesis would be weakened; (iv) Multiple independent lines within the same chromosome all point to the same event. (c) What common descent requires and whether evidence is consistent: The prediction from common descent: if humans share a common ancestor with apes that had 2n=48, and the human lineage reduced to 2n=46, then at least one human chromosome should bear molecular signatures of being a fusion product: internal telomeres, extra centromere remnant, and gene order matching two ancestral ape chromosomes. All three predictions are confirmed. Furthermore, common descent predicts that the fusion chromosomes from chimpanzees (2A and 2B) should contain the ancestral versions of the sequences now found in human chromosome 2 — and they do, in the correct orientation and order. (d) What would falsify this evidence: (i) If internal telomere sequences were found to be randomly distributed throughout the genome (rather than specifically at a predicted fusion point), the fusion interpretation would be weakened; (ii) If gene order on human chromosome 2 did NOT correspond to the combined gene orders of chimpanzee chromosomes 2A and 2B, the fusion origin would be contradicted; (iii) If the vestigial centromere were absent from chromosome 2 — the extra centromere remnant is a specific prediction of fusion; its absence would falsify the fusion event; (iv) If both chimpanzee 2A and 2B centromeric sequences were absent from the regions of human chromosome 2 predicted by the fusion model. None of these falsifications has occurred. The chromosome 2 fusion is one of the best-confirmed specific predictions of the molecular common-descent hypothesis, combining structural, sequence, and comparative evidence into a coherent and mutually reinforcing account of a single evolutionary event.</a:t>
            </a:r>
            <a:endParaRPr lang="en-US" sz="1200" dirty="0"/>
          </a:p>
        </p:txBody>
      </p:sp>
      <p:sp>
        <p:nvSpPr>
          <p:cNvPr id="12" name="Text 10"/>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28 / 99</a:t>
            </a:r>
            <a:endParaRPr lang="en-US" sz="900" dirty="0"/>
          </a:p>
        </p:txBody>
      </p:sp>
      <p:sp>
        <p:nvSpPr>
          <p:cNvPr id="13" name="Text 11"/>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10 — Human Evolution</a:t>
            </a:r>
            <a:endParaRPr lang="en-US" sz="8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E8F0EB"/>
        </a:solidFill>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B85A1A"/>
          </a:solidFill>
          <a:ln w="12700">
            <a:solidFill>
              <a:srgbClr val="B85A1A"/>
            </a:solidFill>
            <a:prstDash val="solid"/>
          </a:ln>
        </p:spPr>
      </p:sp>
      <p:sp>
        <p:nvSpPr>
          <p:cNvPr id="3" name="Text 1"/>
          <p:cNvSpPr/>
          <p:nvPr/>
        </p:nvSpPr>
        <p:spPr>
          <a:xfrm>
            <a:off x="274320" y="0"/>
            <a:ext cx="8595360" cy="502920"/>
          </a:xfrm>
          <a:prstGeom prst="rect">
            <a:avLst/>
          </a:prstGeom>
          <a:noFill/>
          <a:ln/>
        </p:spPr>
        <p:txBody>
          <a:bodyPr wrap="square" rtlCol="0" anchor="ctr"/>
          <a:lstStyle/>
          <a:p>
            <a:pPr indent="0" marL="0">
              <a:buNone/>
            </a:pPr>
            <a:r>
              <a:rPr lang="en-US" sz="2000" b="1" dirty="0">
                <a:solidFill>
                  <a:srgbClr val="FFFFFF"/>
                </a:solidFill>
                <a:latin typeface="Georgia" pitchFamily="34" charset="0"/>
                <a:ea typeface="Georgia" pitchFamily="34" charset="-122"/>
                <a:cs typeface="Georgia" pitchFamily="34" charset="-120"/>
              </a:rPr>
              <a:t>⚠  Common Misconceptions</a:t>
            </a:r>
            <a:endParaRPr lang="en-US" sz="2000" dirty="0"/>
          </a:p>
        </p:txBody>
      </p:sp>
      <p:sp>
        <p:nvSpPr>
          <p:cNvPr id="4" name="Shape 2"/>
          <p:cNvSpPr/>
          <p:nvPr/>
        </p:nvSpPr>
        <p:spPr>
          <a:xfrm>
            <a:off x="274320" y="576072"/>
            <a:ext cx="8595360" cy="1022985"/>
          </a:xfrm>
          <a:prstGeom prst="rect">
            <a:avLst/>
          </a:prstGeom>
          <a:solidFill>
            <a:srgbClr val="FFFFFF"/>
          </a:solidFill>
          <a:ln w="6350">
            <a:solidFill>
              <a:srgbClr val="DDCCCC"/>
            </a:solidFill>
            <a:prstDash val="solid"/>
          </a:ln>
          <a:effectLst>
            <a:outerShdw sx="100000" sy="100000" kx="0" ky="0" algn="bl" rotWithShape="0" blurRad="101600" dist="38100" dir="8100000">
              <a:srgbClr val="000000">
                <a:alpha val="18000"/>
              </a:srgbClr>
            </a:outerShdw>
          </a:effectLst>
        </p:spPr>
      </p:sp>
      <p:sp>
        <p:nvSpPr>
          <p:cNvPr id="5" name="Shape 3"/>
          <p:cNvSpPr/>
          <p:nvPr/>
        </p:nvSpPr>
        <p:spPr>
          <a:xfrm>
            <a:off x="274320" y="576072"/>
            <a:ext cx="502920" cy="1022985"/>
          </a:xfrm>
          <a:prstGeom prst="rect">
            <a:avLst/>
          </a:prstGeom>
          <a:solidFill>
            <a:srgbClr val="C0392B"/>
          </a:solidFill>
          <a:ln w="12700">
            <a:solidFill>
              <a:srgbClr val="C0392B"/>
            </a:solidFill>
            <a:prstDash val="solid"/>
          </a:ln>
        </p:spPr>
      </p:sp>
      <p:sp>
        <p:nvSpPr>
          <p:cNvPr id="6" name="Text 4"/>
          <p:cNvSpPr/>
          <p:nvPr/>
        </p:nvSpPr>
        <p:spPr>
          <a:xfrm>
            <a:off x="274320" y="576072"/>
            <a:ext cx="502920" cy="1022985"/>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a:t>
            </a:r>
            <a:endParaRPr lang="en-US" sz="1600" dirty="0"/>
          </a:p>
        </p:txBody>
      </p:sp>
      <p:sp>
        <p:nvSpPr>
          <p:cNvPr id="7" name="Text 5"/>
          <p:cNvSpPr/>
          <p:nvPr/>
        </p:nvSpPr>
        <p:spPr>
          <a:xfrm>
            <a:off x="822960" y="630936"/>
            <a:ext cx="7955280" cy="429654"/>
          </a:xfrm>
          <a:prstGeom prst="rect">
            <a:avLst/>
          </a:prstGeom>
          <a:noFill/>
          <a:ln/>
        </p:spPr>
        <p:txBody>
          <a:bodyPr wrap="square" rtlCol="0" anchor="t"/>
          <a:lstStyle/>
          <a:p>
            <a:pPr indent="0" marL="0">
              <a:buNone/>
            </a:pPr>
            <a:r>
              <a:rPr lang="en-US" sz="1150" b="1" dirty="0">
                <a:solidFill>
                  <a:srgbClr val="C0392B"/>
                </a:solidFill>
                <a:latin typeface="Calibri" pitchFamily="34" charset="0"/>
                <a:ea typeface="Calibri" pitchFamily="34" charset="-122"/>
                <a:cs typeface="Calibri" pitchFamily="34" charset="-120"/>
              </a:rPr>
              <a:t>Humans evolved from chimpanzees.</a:t>
            </a:r>
            <a:endParaRPr lang="en-US" sz="1150" dirty="0"/>
          </a:p>
        </p:txBody>
      </p:sp>
      <p:sp>
        <p:nvSpPr>
          <p:cNvPr id="8" name="Text 6"/>
          <p:cNvSpPr/>
          <p:nvPr/>
        </p:nvSpPr>
        <p:spPr>
          <a:xfrm>
            <a:off x="822960" y="1026185"/>
            <a:ext cx="7955280" cy="511492"/>
          </a:xfrm>
          <a:prstGeom prst="rect">
            <a:avLst/>
          </a:prstGeom>
          <a:noFill/>
          <a:ln/>
        </p:spPr>
        <p:txBody>
          <a:bodyPr wrap="square" rtlCol="0" anchor="t"/>
          <a:lstStyle/>
          <a:p>
            <a:pPr indent="0" marL="0">
              <a:buNone/>
            </a:pPr>
            <a:r>
              <a:rPr lang="en-US" sz="1100" dirty="0">
                <a:solidFill>
                  <a:srgbClr val="1C2B1E"/>
                </a:solidFill>
                <a:latin typeface="Calibri" pitchFamily="34" charset="0"/>
                <a:ea typeface="Calibri" pitchFamily="34" charset="-122"/>
                <a:cs typeface="Calibri" pitchFamily="34" charset="-120"/>
              </a:rPr>
              <a:t>Humans and chimpanzees share a common ancestor. Neither modern species is the ancestor of the other — Pan and Homo represent two lineages that diverged from a shared ancestral population approximately 5–7 million years ago. The ancestor of both species no longer exists as a living species.</a:t>
            </a:r>
            <a:endParaRPr lang="en-US" sz="1100" dirty="0"/>
          </a:p>
        </p:txBody>
      </p:sp>
      <p:sp>
        <p:nvSpPr>
          <p:cNvPr id="9" name="Shape 7"/>
          <p:cNvSpPr/>
          <p:nvPr/>
        </p:nvSpPr>
        <p:spPr>
          <a:xfrm>
            <a:off x="274320" y="1690497"/>
            <a:ext cx="8595360" cy="1022985"/>
          </a:xfrm>
          <a:prstGeom prst="rect">
            <a:avLst/>
          </a:prstGeom>
          <a:solidFill>
            <a:srgbClr val="FFFFFF"/>
          </a:solidFill>
          <a:ln w="6350">
            <a:solidFill>
              <a:srgbClr val="DDCCCC"/>
            </a:solidFill>
            <a:prstDash val="solid"/>
          </a:ln>
          <a:effectLst>
            <a:outerShdw sx="100000" sy="100000" kx="0" ky="0" algn="bl" rotWithShape="0" blurRad="101600" dist="38100" dir="8100000">
              <a:srgbClr val="000000">
                <a:alpha val="18000"/>
              </a:srgbClr>
            </a:outerShdw>
          </a:effectLst>
        </p:spPr>
      </p:sp>
      <p:sp>
        <p:nvSpPr>
          <p:cNvPr id="10" name="Shape 8"/>
          <p:cNvSpPr/>
          <p:nvPr/>
        </p:nvSpPr>
        <p:spPr>
          <a:xfrm>
            <a:off x="274320" y="1690497"/>
            <a:ext cx="502920" cy="1022985"/>
          </a:xfrm>
          <a:prstGeom prst="rect">
            <a:avLst/>
          </a:prstGeom>
          <a:solidFill>
            <a:srgbClr val="C0392B"/>
          </a:solidFill>
          <a:ln w="12700">
            <a:solidFill>
              <a:srgbClr val="C0392B"/>
            </a:solidFill>
            <a:prstDash val="solid"/>
          </a:ln>
        </p:spPr>
      </p:sp>
      <p:sp>
        <p:nvSpPr>
          <p:cNvPr id="11" name="Text 9"/>
          <p:cNvSpPr/>
          <p:nvPr/>
        </p:nvSpPr>
        <p:spPr>
          <a:xfrm>
            <a:off x="274320" y="1690497"/>
            <a:ext cx="502920" cy="1022985"/>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a:t>
            </a:r>
            <a:endParaRPr lang="en-US" sz="1600" dirty="0"/>
          </a:p>
        </p:txBody>
      </p:sp>
      <p:sp>
        <p:nvSpPr>
          <p:cNvPr id="12" name="Text 10"/>
          <p:cNvSpPr/>
          <p:nvPr/>
        </p:nvSpPr>
        <p:spPr>
          <a:xfrm>
            <a:off x="822960" y="1745361"/>
            <a:ext cx="7955280" cy="429654"/>
          </a:xfrm>
          <a:prstGeom prst="rect">
            <a:avLst/>
          </a:prstGeom>
          <a:noFill/>
          <a:ln/>
        </p:spPr>
        <p:txBody>
          <a:bodyPr wrap="square" rtlCol="0" anchor="t"/>
          <a:lstStyle/>
          <a:p>
            <a:pPr indent="0" marL="0">
              <a:buNone/>
            </a:pPr>
            <a:r>
              <a:rPr lang="en-US" sz="1150" b="1" dirty="0">
                <a:solidFill>
                  <a:srgbClr val="C0392B"/>
                </a:solidFill>
                <a:latin typeface="Calibri" pitchFamily="34" charset="0"/>
                <a:ea typeface="Calibri" pitchFamily="34" charset="-122"/>
                <a:cs typeface="Calibri" pitchFamily="34" charset="-120"/>
              </a:rPr>
              <a:t>Brain expansion was the first and most important event in hominin evolution — bipedalism followed from increased intelligence.</a:t>
            </a:r>
            <a:endParaRPr lang="en-US" sz="1150" dirty="0"/>
          </a:p>
        </p:txBody>
      </p:sp>
      <p:sp>
        <p:nvSpPr>
          <p:cNvPr id="13" name="Text 11"/>
          <p:cNvSpPr/>
          <p:nvPr/>
        </p:nvSpPr>
        <p:spPr>
          <a:xfrm>
            <a:off x="822960" y="2140610"/>
            <a:ext cx="7955280" cy="511492"/>
          </a:xfrm>
          <a:prstGeom prst="rect">
            <a:avLst/>
          </a:prstGeom>
          <a:noFill/>
          <a:ln/>
        </p:spPr>
        <p:txBody>
          <a:bodyPr wrap="square" rtlCol="0" anchor="t"/>
          <a:lstStyle/>
          <a:p>
            <a:pPr indent="0" marL="0">
              <a:buNone/>
            </a:pPr>
            <a:r>
              <a:rPr lang="en-US" sz="1100" dirty="0">
                <a:solidFill>
                  <a:srgbClr val="1C2B1E"/>
                </a:solidFill>
                <a:latin typeface="Calibri" pitchFamily="34" charset="0"/>
                <a:ea typeface="Calibri" pitchFamily="34" charset="-122"/>
                <a:cs typeface="Calibri" pitchFamily="34" charset="-120"/>
              </a:rPr>
              <a:t>The fossil record shows the opposite sequence. Bipedalism appears in the fossil record at least 4.4 Ma (Ardipithecus) and is fully established by 3.5 Ma (Australopithecus). Substantial brain expansion (beyond chimpanzee-sized brains) occurs only from about 2.4 Ma onwards with Homo habilis. Lucy (A. afarensis, 3.2 Ma) walked bipedally with a chimpanzee-sized brain. Bipedalism preceded brain expansion by more than 2 million years.</a:t>
            </a:r>
            <a:endParaRPr lang="en-US" sz="1100" dirty="0"/>
          </a:p>
        </p:txBody>
      </p:sp>
      <p:sp>
        <p:nvSpPr>
          <p:cNvPr id="14" name="Shape 12"/>
          <p:cNvSpPr/>
          <p:nvPr/>
        </p:nvSpPr>
        <p:spPr>
          <a:xfrm>
            <a:off x="274320" y="2804922"/>
            <a:ext cx="8595360" cy="1022985"/>
          </a:xfrm>
          <a:prstGeom prst="rect">
            <a:avLst/>
          </a:prstGeom>
          <a:solidFill>
            <a:srgbClr val="FFFFFF"/>
          </a:solidFill>
          <a:ln w="6350">
            <a:solidFill>
              <a:srgbClr val="DDCCCC"/>
            </a:solidFill>
            <a:prstDash val="solid"/>
          </a:ln>
          <a:effectLst>
            <a:outerShdw sx="100000" sy="100000" kx="0" ky="0" algn="bl" rotWithShape="0" blurRad="101600" dist="38100" dir="8100000">
              <a:srgbClr val="000000">
                <a:alpha val="18000"/>
              </a:srgbClr>
            </a:outerShdw>
          </a:effectLst>
        </p:spPr>
      </p:sp>
      <p:sp>
        <p:nvSpPr>
          <p:cNvPr id="15" name="Shape 13"/>
          <p:cNvSpPr/>
          <p:nvPr/>
        </p:nvSpPr>
        <p:spPr>
          <a:xfrm>
            <a:off x="274320" y="2804922"/>
            <a:ext cx="502920" cy="1022985"/>
          </a:xfrm>
          <a:prstGeom prst="rect">
            <a:avLst/>
          </a:prstGeom>
          <a:solidFill>
            <a:srgbClr val="C0392B"/>
          </a:solidFill>
          <a:ln w="12700">
            <a:solidFill>
              <a:srgbClr val="C0392B"/>
            </a:solidFill>
            <a:prstDash val="solid"/>
          </a:ln>
        </p:spPr>
      </p:sp>
      <p:sp>
        <p:nvSpPr>
          <p:cNvPr id="16" name="Text 14"/>
          <p:cNvSpPr/>
          <p:nvPr/>
        </p:nvSpPr>
        <p:spPr>
          <a:xfrm>
            <a:off x="274320" y="2804922"/>
            <a:ext cx="502920" cy="1022985"/>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a:t>
            </a:r>
            <a:endParaRPr lang="en-US" sz="1600" dirty="0"/>
          </a:p>
        </p:txBody>
      </p:sp>
      <p:sp>
        <p:nvSpPr>
          <p:cNvPr id="17" name="Text 15"/>
          <p:cNvSpPr/>
          <p:nvPr/>
        </p:nvSpPr>
        <p:spPr>
          <a:xfrm>
            <a:off x="822960" y="2859786"/>
            <a:ext cx="7955280" cy="429654"/>
          </a:xfrm>
          <a:prstGeom prst="rect">
            <a:avLst/>
          </a:prstGeom>
          <a:noFill/>
          <a:ln/>
        </p:spPr>
        <p:txBody>
          <a:bodyPr wrap="square" rtlCol="0" anchor="t"/>
          <a:lstStyle/>
          <a:p>
            <a:pPr indent="0" marL="0">
              <a:buNone/>
            </a:pPr>
            <a:r>
              <a:rPr lang="en-US" sz="1150" b="1" dirty="0">
                <a:solidFill>
                  <a:srgbClr val="C0392B"/>
                </a:solidFill>
                <a:latin typeface="Calibri" pitchFamily="34" charset="0"/>
                <a:ea typeface="Calibri" pitchFamily="34" charset="-122"/>
                <a:cs typeface="Calibri" pitchFamily="34" charset="-120"/>
              </a:rPr>
              <a:t>The discovery of Neanderthal DNA in modern humans proves the Multiregional Evolution hypothesis.</a:t>
            </a:r>
            <a:endParaRPr lang="en-US" sz="1150" dirty="0"/>
          </a:p>
        </p:txBody>
      </p:sp>
      <p:sp>
        <p:nvSpPr>
          <p:cNvPr id="18" name="Text 16"/>
          <p:cNvSpPr/>
          <p:nvPr/>
        </p:nvSpPr>
        <p:spPr>
          <a:xfrm>
            <a:off x="822960" y="3255035"/>
            <a:ext cx="7955280" cy="511492"/>
          </a:xfrm>
          <a:prstGeom prst="rect">
            <a:avLst/>
          </a:prstGeom>
          <a:noFill/>
          <a:ln/>
        </p:spPr>
        <p:txBody>
          <a:bodyPr wrap="square" rtlCol="0" anchor="t"/>
          <a:lstStyle/>
          <a:p>
            <a:pPr indent="0" marL="0">
              <a:buNone/>
            </a:pPr>
            <a:r>
              <a:rPr lang="en-US" sz="1100" dirty="0">
                <a:solidFill>
                  <a:srgbClr val="1C2B1E"/>
                </a:solidFill>
                <a:latin typeface="Calibri" pitchFamily="34" charset="0"/>
                <a:ea typeface="Calibri" pitchFamily="34" charset="-122"/>
                <a:cs typeface="Calibri" pitchFamily="34" charset="-120"/>
              </a:rPr>
              <a:t>The 1–4% Neanderthal ancestry in modern non-African humans represents a small, limited admixture event at secondary contact, overlaid on a predominantly Out of Africa replacement. Multiregionalism predicts continuous gene exchange across the entire Old World throughout the last 1–2 million years and roughly equal archaic contributions in regional populations. The actual evidence shows: African populations have no Neanderthal ancestry; the overwhelmingly dominant ancestry of all modern humans is African H. sapiens; the archaic admixture was minor. This modifies the simple replacement model but does not support multiregionalism.</a:t>
            </a:r>
            <a:endParaRPr lang="en-US" sz="1100" dirty="0"/>
          </a:p>
        </p:txBody>
      </p:sp>
      <p:sp>
        <p:nvSpPr>
          <p:cNvPr id="19" name="Shape 17"/>
          <p:cNvSpPr/>
          <p:nvPr/>
        </p:nvSpPr>
        <p:spPr>
          <a:xfrm>
            <a:off x="274320" y="3919347"/>
            <a:ext cx="8595360" cy="1022985"/>
          </a:xfrm>
          <a:prstGeom prst="rect">
            <a:avLst/>
          </a:prstGeom>
          <a:solidFill>
            <a:srgbClr val="FFFFFF"/>
          </a:solidFill>
          <a:ln w="6350">
            <a:solidFill>
              <a:srgbClr val="DDCCCC"/>
            </a:solidFill>
            <a:prstDash val="solid"/>
          </a:ln>
          <a:effectLst>
            <a:outerShdw sx="100000" sy="100000" kx="0" ky="0" algn="bl" rotWithShape="0" blurRad="101600" dist="38100" dir="8100000">
              <a:srgbClr val="000000">
                <a:alpha val="18000"/>
              </a:srgbClr>
            </a:outerShdw>
          </a:effectLst>
        </p:spPr>
      </p:sp>
      <p:sp>
        <p:nvSpPr>
          <p:cNvPr id="20" name="Shape 18"/>
          <p:cNvSpPr/>
          <p:nvPr/>
        </p:nvSpPr>
        <p:spPr>
          <a:xfrm>
            <a:off x="274320" y="3919347"/>
            <a:ext cx="502920" cy="1022985"/>
          </a:xfrm>
          <a:prstGeom prst="rect">
            <a:avLst/>
          </a:prstGeom>
          <a:solidFill>
            <a:srgbClr val="C0392B"/>
          </a:solidFill>
          <a:ln w="12700">
            <a:solidFill>
              <a:srgbClr val="C0392B"/>
            </a:solidFill>
            <a:prstDash val="solid"/>
          </a:ln>
        </p:spPr>
      </p:sp>
      <p:sp>
        <p:nvSpPr>
          <p:cNvPr id="21" name="Text 19"/>
          <p:cNvSpPr/>
          <p:nvPr/>
        </p:nvSpPr>
        <p:spPr>
          <a:xfrm>
            <a:off x="274320" y="3919347"/>
            <a:ext cx="502920" cy="1022985"/>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a:t>
            </a:r>
            <a:endParaRPr lang="en-US" sz="1600" dirty="0"/>
          </a:p>
        </p:txBody>
      </p:sp>
      <p:sp>
        <p:nvSpPr>
          <p:cNvPr id="22" name="Text 20"/>
          <p:cNvSpPr/>
          <p:nvPr/>
        </p:nvSpPr>
        <p:spPr>
          <a:xfrm>
            <a:off x="822960" y="3974211"/>
            <a:ext cx="7955280" cy="429654"/>
          </a:xfrm>
          <a:prstGeom prst="rect">
            <a:avLst/>
          </a:prstGeom>
          <a:noFill/>
          <a:ln/>
        </p:spPr>
        <p:txBody>
          <a:bodyPr wrap="square" rtlCol="0" anchor="t"/>
          <a:lstStyle/>
          <a:p>
            <a:pPr indent="0" marL="0">
              <a:buNone/>
            </a:pPr>
            <a:r>
              <a:rPr lang="en-US" sz="1150" b="1" dirty="0">
                <a:solidFill>
                  <a:srgbClr val="C0392B"/>
                </a:solidFill>
                <a:latin typeface="Calibri" pitchFamily="34" charset="0"/>
                <a:ea typeface="Calibri" pitchFamily="34" charset="-122"/>
                <a:cs typeface="Calibri" pitchFamily="34" charset="-120"/>
              </a:rPr>
              <a:t>Phylogenetic trees show the actual ancestors of modern species.</a:t>
            </a:r>
            <a:endParaRPr lang="en-US" sz="1150" dirty="0"/>
          </a:p>
        </p:txBody>
      </p:sp>
      <p:sp>
        <p:nvSpPr>
          <p:cNvPr id="23" name="Text 21"/>
          <p:cNvSpPr/>
          <p:nvPr/>
        </p:nvSpPr>
        <p:spPr>
          <a:xfrm>
            <a:off x="822960" y="4369460"/>
            <a:ext cx="7955280" cy="511492"/>
          </a:xfrm>
          <a:prstGeom prst="rect">
            <a:avLst/>
          </a:prstGeom>
          <a:noFill/>
          <a:ln/>
        </p:spPr>
        <p:txBody>
          <a:bodyPr wrap="square" rtlCol="0" anchor="t"/>
          <a:lstStyle/>
          <a:p>
            <a:pPr indent="0" marL="0">
              <a:buNone/>
            </a:pPr>
            <a:r>
              <a:rPr lang="en-US" sz="1100" dirty="0">
                <a:solidFill>
                  <a:srgbClr val="1C2B1E"/>
                </a:solidFill>
                <a:latin typeface="Calibri" pitchFamily="34" charset="0"/>
                <a:ea typeface="Calibri" pitchFamily="34" charset="-122"/>
                <a:cs typeface="Calibri" pitchFamily="34" charset="-120"/>
              </a:rPr>
              <a:t>Internal nodes in a phylogenetic tree represent HYPOTHETICAL common ancestors — statistical inferences about what ancestral populations may have looked like, not real organisms we have sampled or can sample. The terminal nodes are real sampled taxa; the internal structure of the tree is a hypothesis derived from the data. Bootstrap values measure how robustly a particular node is supported but not whether the inferred ancestor was real or accurate.</a:t>
            </a:r>
            <a:endParaRPr lang="en-US" sz="1100" dirty="0"/>
          </a:p>
        </p:txBody>
      </p:sp>
      <p:sp>
        <p:nvSpPr>
          <p:cNvPr id="24" name="Text 22"/>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99 / 99</a:t>
            </a:r>
            <a:endParaRPr lang="en-US" sz="900" dirty="0"/>
          </a:p>
        </p:txBody>
      </p:sp>
      <p:sp>
        <p:nvSpPr>
          <p:cNvPr id="25" name="Text 23"/>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10 — Human Evolution</a:t>
            </a:r>
            <a:endParaRPr lang="en-US" sz="8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E1A10"/>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3D7A52"/>
          </a:solidFill>
          <a:ln w="12700">
            <a:solidFill>
              <a:srgbClr val="3D7A52"/>
            </a:solidFill>
            <a:prstDash val="solid"/>
          </a:ln>
        </p:spPr>
      </p:sp>
      <p:sp>
        <p:nvSpPr>
          <p:cNvPr id="3" name="Text 1"/>
          <p:cNvSpPr/>
          <p:nvPr/>
        </p:nvSpPr>
        <p:spPr>
          <a:xfrm>
            <a:off x="274320" y="182880"/>
            <a:ext cx="8595360" cy="502920"/>
          </a:xfrm>
          <a:prstGeom prst="rect">
            <a:avLst/>
          </a:prstGeom>
          <a:noFill/>
          <a:ln/>
        </p:spPr>
        <p:txBody>
          <a:bodyPr wrap="square" rtlCol="0" anchor="ctr"/>
          <a:lstStyle/>
          <a:p>
            <a:pPr indent="0" marL="0">
              <a:buNone/>
            </a:pPr>
            <a:r>
              <a:rPr lang="en-US" sz="2600" b="1" dirty="0">
                <a:solidFill>
                  <a:srgbClr val="F4F1EC"/>
                </a:solidFill>
                <a:latin typeface="Georgia" pitchFamily="34" charset="0"/>
                <a:ea typeface="Georgia" pitchFamily="34" charset="-122"/>
                <a:cs typeface="Georgia" pitchFamily="34" charset="-120"/>
              </a:rPr>
              <a:t>Chapter Summary</a:t>
            </a:r>
            <a:endParaRPr lang="en-US" sz="2600" dirty="0"/>
          </a:p>
        </p:txBody>
      </p:sp>
      <p:sp>
        <p:nvSpPr>
          <p:cNvPr id="4" name="Shape 2"/>
          <p:cNvSpPr/>
          <p:nvPr/>
        </p:nvSpPr>
        <p:spPr>
          <a:xfrm>
            <a:off x="274320" y="822960"/>
            <a:ext cx="292608" cy="384048"/>
          </a:xfrm>
          <a:prstGeom prst="rect">
            <a:avLst/>
          </a:prstGeom>
          <a:solidFill>
            <a:srgbClr val="C8791E"/>
          </a:solidFill>
          <a:ln w="12700">
            <a:solidFill>
              <a:srgbClr val="C8791E"/>
            </a:solidFill>
            <a:prstDash val="solid"/>
          </a:ln>
        </p:spPr>
      </p:sp>
      <p:sp>
        <p:nvSpPr>
          <p:cNvPr id="5" name="Text 3"/>
          <p:cNvSpPr/>
          <p:nvPr/>
        </p:nvSpPr>
        <p:spPr>
          <a:xfrm>
            <a:off x="274320" y="822960"/>
            <a:ext cx="29260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6" name="Text 4"/>
          <p:cNvSpPr/>
          <p:nvPr/>
        </p:nvSpPr>
        <p:spPr>
          <a:xfrm>
            <a:off x="658368" y="822960"/>
            <a:ext cx="8211312" cy="502920"/>
          </a:xfrm>
          <a:prstGeom prst="rect">
            <a:avLst/>
          </a:prstGeom>
          <a:noFill/>
          <a:ln/>
        </p:spPr>
        <p:txBody>
          <a:bodyPr wrap="square" rtlCol="0" anchor="ctr"/>
          <a:lstStyle/>
          <a:p>
            <a:pPr indent="0" marL="0">
              <a:buNone/>
            </a:pPr>
            <a:r>
              <a:rPr lang="en-US" sz="1250" dirty="0">
                <a:solidFill>
                  <a:srgbClr val="F4F1EC"/>
                </a:solidFill>
                <a:latin typeface="Calibri" pitchFamily="34" charset="0"/>
                <a:ea typeface="Calibri" pitchFamily="34" charset="-122"/>
                <a:cs typeface="Calibri" pitchFamily="34" charset="-120"/>
              </a:rPr>
              <a:t>Pan (chimpanzees and bonobos) is the living sister group of Homo — the closest living relative of all humans. The Pan-Homo divergence occurred ~5–7 Ma. Molecular evidence (chromosome 2 fusion, genome similarity, mtDNA diversity patterns) independently confirms this phylogenetic position.</a:t>
            </a:r>
            <a:endParaRPr lang="en-US" sz="1250" dirty="0"/>
          </a:p>
        </p:txBody>
      </p:sp>
      <p:sp>
        <p:nvSpPr>
          <p:cNvPr id="7" name="Shape 5"/>
          <p:cNvSpPr/>
          <p:nvPr/>
        </p:nvSpPr>
        <p:spPr>
          <a:xfrm>
            <a:off x="274320" y="1444752"/>
            <a:ext cx="292608" cy="384048"/>
          </a:xfrm>
          <a:prstGeom prst="rect">
            <a:avLst/>
          </a:prstGeom>
          <a:solidFill>
            <a:srgbClr val="C8791E"/>
          </a:solidFill>
          <a:ln w="12700">
            <a:solidFill>
              <a:srgbClr val="C8791E"/>
            </a:solidFill>
            <a:prstDash val="solid"/>
          </a:ln>
        </p:spPr>
      </p:sp>
      <p:sp>
        <p:nvSpPr>
          <p:cNvPr id="8" name="Text 6"/>
          <p:cNvSpPr/>
          <p:nvPr/>
        </p:nvSpPr>
        <p:spPr>
          <a:xfrm>
            <a:off x="274320" y="1444752"/>
            <a:ext cx="29260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9" name="Text 7"/>
          <p:cNvSpPr/>
          <p:nvPr/>
        </p:nvSpPr>
        <p:spPr>
          <a:xfrm>
            <a:off x="658368" y="1444752"/>
            <a:ext cx="8211312" cy="502920"/>
          </a:xfrm>
          <a:prstGeom prst="rect">
            <a:avLst/>
          </a:prstGeom>
          <a:noFill/>
          <a:ln/>
        </p:spPr>
        <p:txBody>
          <a:bodyPr wrap="square" rtlCol="0" anchor="ctr"/>
          <a:lstStyle/>
          <a:p>
            <a:pPr indent="0" marL="0">
              <a:buNone/>
            </a:pPr>
            <a:r>
              <a:rPr lang="en-US" sz="1250" dirty="0">
                <a:solidFill>
                  <a:srgbClr val="F4F1EC"/>
                </a:solidFill>
                <a:latin typeface="Calibri" pitchFamily="34" charset="0"/>
                <a:ea typeface="Calibri" pitchFamily="34" charset="-122"/>
                <a:cs typeface="Calibri" pitchFamily="34" charset="-120"/>
              </a:rPr>
              <a:t>Bipedalism (~4.4 Ma) preceded significant brain expansion (~2.4 Ma) by more than 2 million years in the hominin fossil record. Australopithecus afarensis (Lucy, 3.2 Ma) walked bipedally with a chimpanzee-sized brain, demonstrating mosaic evolution in the hominin lineage.</a:t>
            </a:r>
            <a:endParaRPr lang="en-US" sz="1250" dirty="0"/>
          </a:p>
        </p:txBody>
      </p:sp>
      <p:sp>
        <p:nvSpPr>
          <p:cNvPr id="10" name="Shape 8"/>
          <p:cNvSpPr/>
          <p:nvPr/>
        </p:nvSpPr>
        <p:spPr>
          <a:xfrm>
            <a:off x="274320" y="2066544"/>
            <a:ext cx="292608" cy="384048"/>
          </a:xfrm>
          <a:prstGeom prst="rect">
            <a:avLst/>
          </a:prstGeom>
          <a:solidFill>
            <a:srgbClr val="C8791E"/>
          </a:solidFill>
          <a:ln w="12700">
            <a:solidFill>
              <a:srgbClr val="C8791E"/>
            </a:solidFill>
            <a:prstDash val="solid"/>
          </a:ln>
        </p:spPr>
      </p:sp>
      <p:sp>
        <p:nvSpPr>
          <p:cNvPr id="11" name="Text 9"/>
          <p:cNvSpPr/>
          <p:nvPr/>
        </p:nvSpPr>
        <p:spPr>
          <a:xfrm>
            <a:off x="274320" y="2066544"/>
            <a:ext cx="29260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2" name="Text 10"/>
          <p:cNvSpPr/>
          <p:nvPr/>
        </p:nvSpPr>
        <p:spPr>
          <a:xfrm>
            <a:off x="658368" y="2066544"/>
            <a:ext cx="8211312" cy="502920"/>
          </a:xfrm>
          <a:prstGeom prst="rect">
            <a:avLst/>
          </a:prstGeom>
          <a:noFill/>
          <a:ln/>
        </p:spPr>
        <p:txBody>
          <a:bodyPr wrap="square" rtlCol="0" anchor="ctr"/>
          <a:lstStyle/>
          <a:p>
            <a:pPr indent="0" marL="0">
              <a:buNone/>
            </a:pPr>
            <a:r>
              <a:rPr lang="en-US" sz="1250" dirty="0">
                <a:solidFill>
                  <a:srgbClr val="F4F1EC"/>
                </a:solidFill>
                <a:latin typeface="Calibri" pitchFamily="34" charset="0"/>
                <a:ea typeface="Calibri" pitchFamily="34" charset="-122"/>
                <a:cs typeface="Calibri" pitchFamily="34" charset="-120"/>
              </a:rPr>
              <a:t>The Out of Africa hypothesis is supported by: greatest genetic diversity in African populations, the mtDNA and Y-chromosome coalescent in Africa, the oldest H. sapiens fossils from Africa (Jebel Irhoud, ~315 ka), and the serial founder effect pattern in global human diversity.</a:t>
            </a:r>
            <a:endParaRPr lang="en-US" sz="1250" dirty="0"/>
          </a:p>
        </p:txBody>
      </p:sp>
      <p:sp>
        <p:nvSpPr>
          <p:cNvPr id="13" name="Shape 11"/>
          <p:cNvSpPr/>
          <p:nvPr/>
        </p:nvSpPr>
        <p:spPr>
          <a:xfrm>
            <a:off x="274320" y="2688336"/>
            <a:ext cx="292608" cy="384048"/>
          </a:xfrm>
          <a:prstGeom prst="rect">
            <a:avLst/>
          </a:prstGeom>
          <a:solidFill>
            <a:srgbClr val="C8791E"/>
          </a:solidFill>
          <a:ln w="12700">
            <a:solidFill>
              <a:srgbClr val="C8791E"/>
            </a:solidFill>
            <a:prstDash val="solid"/>
          </a:ln>
        </p:spPr>
      </p:sp>
      <p:sp>
        <p:nvSpPr>
          <p:cNvPr id="14" name="Text 12"/>
          <p:cNvSpPr/>
          <p:nvPr/>
        </p:nvSpPr>
        <p:spPr>
          <a:xfrm>
            <a:off x="274320" y="2688336"/>
            <a:ext cx="29260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5" name="Text 13"/>
          <p:cNvSpPr/>
          <p:nvPr/>
        </p:nvSpPr>
        <p:spPr>
          <a:xfrm>
            <a:off x="658368" y="2688336"/>
            <a:ext cx="8211312" cy="502920"/>
          </a:xfrm>
          <a:prstGeom prst="rect">
            <a:avLst/>
          </a:prstGeom>
          <a:noFill/>
          <a:ln/>
        </p:spPr>
        <p:txBody>
          <a:bodyPr wrap="square" rtlCol="0" anchor="ctr"/>
          <a:lstStyle/>
          <a:p>
            <a:pPr indent="0" marL="0">
              <a:buNone/>
            </a:pPr>
            <a:r>
              <a:rPr lang="en-US" sz="1250" dirty="0">
                <a:solidFill>
                  <a:srgbClr val="F4F1EC"/>
                </a:solidFill>
                <a:latin typeface="Calibri" pitchFamily="34" charset="0"/>
                <a:ea typeface="Calibri" pitchFamily="34" charset="-122"/>
                <a:cs typeface="Calibri" pitchFamily="34" charset="-120"/>
              </a:rPr>
              <a:t>Modern non-African humans carry 1–4% Neanderthal DNA and some populations carry 3–5% Denisovan DNA, demonstrating limited but real interbreeding at secondary contact. Some introgressed sequences (EPAS1 in Tibetans) are adaptive.</a:t>
            </a:r>
            <a:endParaRPr lang="en-US" sz="1250" dirty="0"/>
          </a:p>
        </p:txBody>
      </p:sp>
      <p:sp>
        <p:nvSpPr>
          <p:cNvPr id="16" name="Shape 14"/>
          <p:cNvSpPr/>
          <p:nvPr/>
        </p:nvSpPr>
        <p:spPr>
          <a:xfrm>
            <a:off x="274320" y="3310128"/>
            <a:ext cx="292608" cy="384048"/>
          </a:xfrm>
          <a:prstGeom prst="rect">
            <a:avLst/>
          </a:prstGeom>
          <a:solidFill>
            <a:srgbClr val="C8791E"/>
          </a:solidFill>
          <a:ln w="12700">
            <a:solidFill>
              <a:srgbClr val="C8791E"/>
            </a:solidFill>
            <a:prstDash val="solid"/>
          </a:ln>
        </p:spPr>
      </p:sp>
      <p:sp>
        <p:nvSpPr>
          <p:cNvPr id="17" name="Text 15"/>
          <p:cNvSpPr/>
          <p:nvPr/>
        </p:nvSpPr>
        <p:spPr>
          <a:xfrm>
            <a:off x="274320" y="3310128"/>
            <a:ext cx="29260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18" name="Text 16"/>
          <p:cNvSpPr/>
          <p:nvPr/>
        </p:nvSpPr>
        <p:spPr>
          <a:xfrm>
            <a:off x="658368" y="3310128"/>
            <a:ext cx="8211312" cy="502920"/>
          </a:xfrm>
          <a:prstGeom prst="rect">
            <a:avLst/>
          </a:prstGeom>
          <a:noFill/>
          <a:ln/>
        </p:spPr>
        <p:txBody>
          <a:bodyPr wrap="square" rtlCol="0" anchor="ctr"/>
          <a:lstStyle/>
          <a:p>
            <a:pPr indent="0" marL="0">
              <a:buNone/>
            </a:pPr>
            <a:r>
              <a:rPr lang="en-US" sz="1250" dirty="0">
                <a:solidFill>
                  <a:srgbClr val="F4F1EC"/>
                </a:solidFill>
                <a:latin typeface="Calibri" pitchFamily="34" charset="0"/>
                <a:ea typeface="Calibri" pitchFamily="34" charset="-122"/>
                <a:cs typeface="Calibri" pitchFamily="34" charset="-120"/>
              </a:rPr>
              <a:t>Phylogenetic tree construction involves: multiple sequence alignment (ClustalX) → distance matrix → Neighbour-Joining algorithm → bootstrap support assessment. Internal nodes are hypothetical ancestors; bootstrap values ≥70 indicate reliable nodes.</a:t>
            </a:r>
            <a:endParaRPr lang="en-US" sz="1250" dirty="0"/>
          </a:p>
        </p:txBody>
      </p:sp>
      <p:sp>
        <p:nvSpPr>
          <p:cNvPr id="19" name="Shape 17"/>
          <p:cNvSpPr/>
          <p:nvPr/>
        </p:nvSpPr>
        <p:spPr>
          <a:xfrm>
            <a:off x="274320" y="4114800"/>
            <a:ext cx="8595360" cy="804672"/>
          </a:xfrm>
          <a:prstGeom prst="rect">
            <a:avLst/>
          </a:prstGeom>
          <a:solidFill>
            <a:srgbClr val="243228"/>
          </a:solidFill>
          <a:ln w="6350">
            <a:solidFill>
              <a:srgbClr val="2D5A3D"/>
            </a:solidFill>
            <a:prstDash val="solid"/>
          </a:ln>
        </p:spPr>
      </p:sp>
      <p:sp>
        <p:nvSpPr>
          <p:cNvPr id="20" name="Text 18"/>
          <p:cNvSpPr/>
          <p:nvPr/>
        </p:nvSpPr>
        <p:spPr>
          <a:xfrm>
            <a:off x="411480" y="4114800"/>
            <a:ext cx="8412480" cy="804672"/>
          </a:xfrm>
          <a:prstGeom prst="rect">
            <a:avLst/>
          </a:prstGeom>
          <a:noFill/>
          <a:ln/>
        </p:spPr>
        <p:txBody>
          <a:bodyPr wrap="square" rtlCol="0" anchor="ctr"/>
          <a:lstStyle/>
          <a:p>
            <a:pPr indent="0" marL="0">
              <a:buNone/>
            </a:pPr>
            <a:r>
              <a:rPr lang="en-US" sz="1100" b="1" dirty="0">
                <a:solidFill>
                  <a:srgbClr val="8FA898"/>
                </a:solidFill>
                <a:latin typeface="Calibri" pitchFamily="34" charset="0"/>
                <a:ea typeface="Calibri" pitchFamily="34" charset="-122"/>
                <a:cs typeface="Calibri" pitchFamily="34" charset="-120"/>
              </a:rPr>
              <a:t>← Builds on: </a:t>
            </a:r>
            <a:pPr indent="0" marL="0">
              <a:buNone/>
            </a:pPr>
            <a:r>
              <a:rPr lang="en-US" sz="1100" dirty="0">
                <a:solidFill>
                  <a:srgbClr val="F4F1EC"/>
                </a:solidFill>
                <a:latin typeface="Calibri" pitchFamily="34" charset="0"/>
                <a:ea typeface="Calibri" pitchFamily="34" charset="-122"/>
                <a:cs typeface="Calibri" pitchFamily="34" charset="-120"/>
              </a:rPr>
              <a:t>Ch. 9 (speciation — the process that produced the multiple Homo species whose fossils we study here) · Ch. 7 (genetic drift — explains the serial founder effect in human diversity)   </a:t>
            </a:r>
            <a:pPr indent="0" marL="0">
              <a:buNone/>
            </a:pPr>
            <a:r>
              <a:rPr lang="en-US" sz="1100" b="1" dirty="0">
                <a:solidFill>
                  <a:srgbClr val="C8791E"/>
                </a:solidFill>
                <a:latin typeface="Calibri" pitchFamily="34" charset="0"/>
                <a:ea typeface="Calibri" pitchFamily="34" charset="-122"/>
                <a:cs typeface="Calibri" pitchFamily="34" charset="-120"/>
              </a:rPr>
              <a:t>  →  Leads to: </a:t>
            </a:r>
            <a:pPr indent="0" marL="0">
              <a:buNone/>
            </a:pPr>
            <a:r>
              <a:rPr lang="en-US" sz="1100" dirty="0">
                <a:solidFill>
                  <a:srgbClr val="F4F1EC"/>
                </a:solidFill>
                <a:latin typeface="Calibri" pitchFamily="34" charset="0"/>
                <a:ea typeface="Calibri" pitchFamily="34" charset="-122"/>
                <a:cs typeface="Calibri" pitchFamily="34" charset="-120"/>
              </a:rPr>
              <a:t>Ch. 11 (Lab Companion — practicals 8 and 9 apply NJ tree construction and the statistical analysis introduced here)</a:t>
            </a:r>
            <a:endParaRPr lang="en-US" sz="1100" dirty="0"/>
          </a:p>
        </p:txBody>
      </p:sp>
      <p:sp>
        <p:nvSpPr>
          <p:cNvPr id="21" name="Text 19"/>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99 / 99</a:t>
            </a:r>
            <a:endParaRPr lang="en-US" sz="900" dirty="0"/>
          </a:p>
        </p:txBody>
      </p:sp>
      <p:sp>
        <p:nvSpPr>
          <p:cNvPr id="22" name="Text 20"/>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10 — Human Evolution</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2026-05-29T10:36:24Z</dcterms:created>
  <dcterms:modified xsi:type="dcterms:W3CDTF">2026-05-29T10:36:24Z</dcterms:modified>
</cp:coreProperties>
</file>