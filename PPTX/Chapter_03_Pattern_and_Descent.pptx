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3</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The Grammar of Names</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Nomenclature, Molecular and Numerical Taxonomy</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1 · Concepts of Taxonomy</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"A species name is a hypothesis about a natural group, expressed in a standardised language. The ICZN is the grammar that makes the language universal and stable."</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3.1 The Coordination Problem</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3.2 The ICZN: Three Pillars</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3.3 Synonymy, Homonymy, and Special Nomina</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3.4 Chemotaxonomy and Serotaxonomy</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3.5 Cytotaxonomy</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3.6 Numerical Taxonomy and Its Limits</a:t>
            </a:r>
            <a:endParaRPr lang="en-US" sz="1150" dirty="0"/>
          </a:p>
        </p:txBody>
      </p:sp>
      <p:sp>
        <p:nvSpPr>
          <p:cNvPr id="28" name="Shape 26"/>
          <p:cNvSpPr/>
          <p:nvPr/>
        </p:nvSpPr>
        <p:spPr>
          <a:xfrm>
            <a:off x="274320"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2596896"/>
            <a:ext cx="347472" cy="475488"/>
          </a:xfrm>
          <a:prstGeom prst="rect">
            <a:avLst/>
          </a:prstGeom>
          <a:solidFill>
            <a:srgbClr val="2D5A3D"/>
          </a:solidFill>
          <a:ln w="12700">
            <a:solidFill>
              <a:srgbClr val="2D5A3D"/>
            </a:solidFill>
            <a:prstDash val="solid"/>
          </a:ln>
        </p:spPr>
      </p:sp>
      <p:sp>
        <p:nvSpPr>
          <p:cNvPr id="30" name="Text 28"/>
          <p:cNvSpPr/>
          <p:nvPr/>
        </p:nvSpPr>
        <p:spPr>
          <a:xfrm>
            <a:off x="274320"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58368"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3.7 DNA Barcoding</a:t>
            </a:r>
            <a:endParaRPr lang="en-US" sz="1150" dirty="0"/>
          </a:p>
        </p:txBody>
      </p:sp>
      <p:sp>
        <p:nvSpPr>
          <p:cNvPr id="32" name="Shape 30"/>
          <p:cNvSpPr/>
          <p:nvPr/>
        </p:nvSpPr>
        <p:spPr>
          <a:xfrm>
            <a:off x="274320" y="3273552"/>
            <a:ext cx="8595360" cy="566928"/>
          </a:xfrm>
          <a:prstGeom prst="rect">
            <a:avLst/>
          </a:prstGeom>
          <a:solidFill>
            <a:srgbClr val="1C2B1E"/>
          </a:solidFill>
          <a:ln w="12700">
            <a:solidFill>
              <a:srgbClr val="1C2B1E"/>
            </a:solidFill>
            <a:prstDash val="solid"/>
          </a:ln>
        </p:spPr>
      </p:sp>
      <p:sp>
        <p:nvSpPr>
          <p:cNvPr id="33" name="Text 31"/>
          <p:cNvSpPr/>
          <p:nvPr/>
        </p:nvSpPr>
        <p:spPr>
          <a:xfrm>
            <a:off x="274320" y="3273552"/>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T1 — ICZN defines validity of names, not what species are · T2 — DNA barcoding: the gene as taxonomic record begins here</a:t>
            </a:r>
            <a:endParaRPr lang="en-US" sz="1050" dirty="0"/>
          </a:p>
        </p:txBody>
      </p:sp>
      <p:sp>
        <p:nvSpPr>
          <p:cNvPr id="34" name="Text 3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5" name="Text 3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§3.1 Why Names Need Rules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Coordination Problem: One Organism, Many Names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By 1800: same organism routinely described under 5–10 different names by different workers in different countries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house sparrow (Passer domesticus) had over 30 names in European literature by 1850</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Without agreed rules: every researcher uses a different name → literature becomes incoherent → comparative science fails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solution must be: universal (one name per taxon), stable (name does not change arbitrarily), and testable (rules are explicit)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ICZN (1st edition 1895, current edition 1999) is that solution for animals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purpose of nomenclature is stability and universality in the naming of animals" — ICZN Preamble</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Multiple names in literature</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Coordination problem: which is correct?</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ICZN rules applied</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One valid name established</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Universal usage follows</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Nomenclature: </a:t>
            </a:r>
            <a:pPr indent="0" marL="0">
              <a:buNone/>
            </a:pPr>
            <a:r>
              <a:rPr lang="en-US" sz="1100" dirty="0">
                <a:solidFill>
                  <a:srgbClr val="F4F1EC"/>
                </a:solidFill>
                <a:latin typeface="Calibri" pitchFamily="34" charset="0"/>
                <a:ea typeface="Calibri" pitchFamily="34" charset="-122"/>
                <a:cs typeface="Calibri" pitchFamily="34" charset="-120"/>
              </a:rPr>
              <a:t>The formal system of rules governing the application of scientific names to taxa. Governed by the ICZN for animals. Independent of taxonomy: nomenclatural status and taxonomic placement are separate questions.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§3.1 Binomial Nomenclature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Linnaeus's Solution: Genus + Species Epithet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Before Linnaeus: species described by polynomial Latin phrases ("Rosa sylvestris inodora seu canina")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Linnaeus (Systema Naturae, 10th edition, 1758): standardised binomial — genus name + species epithet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Binomial format: italicised, genus capitalised, epithet lower case: Panthera tigris (Linnaeus, 1758)</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Authority and date cited after first mention: documents who described the species and when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Parenthetical authority: (Linnaeus, 1758) means genus has changed since original description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Starting point for zoological nomenclature: 1 January 1758 — no earlier name has priority</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Reading a Binomial</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Panthera tigris (Linnaeus, 1758)</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GENUS:    Panthera (capitalised, italic)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EPITHET:  tigris (lower case, italic)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AUTHORITY: Linnaeus (original describer)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DATE:     1758 (year of original description)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BRACKETS: ( ) = genus has changed since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original description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Felis tigris Linnaeus, 1758 (original)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moved to Panthera by Oken 1816</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Panthera tigris (Linnaeus, 1758)</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Binomial Nomenclature: </a:t>
            </a:r>
            <a:pPr indent="0" marL="0">
              <a:buNone/>
            </a:pPr>
            <a:r>
              <a:rPr lang="en-US" sz="1100" dirty="0">
                <a:solidFill>
                  <a:srgbClr val="F4F1EC"/>
                </a:solidFill>
                <a:latin typeface="Calibri" pitchFamily="34" charset="0"/>
                <a:ea typeface="Calibri" pitchFamily="34" charset="-122"/>
                <a:cs typeface="Calibri" pitchFamily="34" charset="-120"/>
              </a:rPr>
              <a:t>The Linnaean system of naming each species with exactly two Latin or Latinised words — genus name followed by species epithet. Starting point for zoological nomenclature: 10th edition of Systema Naturae, 1758.</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§3.2 The Principle of Priority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Oldest Valid Name Always Wins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Among two or more names for the same taxon: the oldest validly published name is correct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 subsequent names become junior synonyms — they exist in the literature but are not used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Priority eliminates arbitrary choice: removes the need for a committee to decide between competing names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Exception: ICZN Commission can suppress a senior synonym to preserve widespread usage (Nomen Oblitum rule)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principle of priority is why old literature matters — a name from 1758 may override a name from 1980</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Practical implication: new species descriptions require searching ALL prior literature to confirm novelty</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SENIOR SYNONYM ✓</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Oldest validly published name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Correct name used in all citations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Takes priority regardless of usage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May be obscure / rarely used previously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Reinstated when synonymy established</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JUNIOR SYNONYM ✗</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Later name for same taxon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Not used once synonymy confirmed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Remains in literature as synonym</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May have been widely used for years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Cited as "= Senior Name, Year"</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Principle of Priority: </a:t>
            </a:r>
            <a:pPr indent="0" marL="0">
              <a:buNone/>
            </a:pPr>
            <a:r>
              <a:rPr lang="en-US" sz="1100" dirty="0">
                <a:solidFill>
                  <a:srgbClr val="F4F1EC"/>
                </a:solidFill>
                <a:latin typeface="Calibri" pitchFamily="34" charset="0"/>
                <a:ea typeface="Calibri" pitchFamily="34" charset="-122"/>
                <a:cs typeface="Calibri" pitchFamily="34" charset="-120"/>
              </a:rPr>
              <a:t>Among two or more competing names for the same taxon, the oldest validly published name is correct. All subsequent names become junior synonyms. Provides nomenclatural stability without requiring subjective judgements.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§3.2 The Type Method</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Names Anchored to Physical Specimens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Every species name is permanently anchored to a type specimen deposited in an accessible repository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type method connects abstract names to verifiable physical objects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If the holotype is re-examined and found to have been misidentified, the name goes with the specimen — not with the intended organism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Family-group names are anchored to a type genus; genus-group names to a type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type is the reference standard: when any dispute arises, the holotype is the authority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Typification makes nomenclature empirically anchored rather than purely definitional</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Type Hierarchy Under ICZN</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SPECIES 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Holotype → species name anchor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(one specimen, one name)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GENUS 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Type species → genus name anchor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(one species defines the genus)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FAMILY 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Type genus → family name anchor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(stem of type genus + IDAE/INAE suffix)</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EXAMPLE: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Apis mellifera (honeybee)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Apis = type genus of Apidae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Apidae named from "Apis"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Type Method: </a:t>
            </a:r>
            <a:pPr indent="0" marL="0">
              <a:buNone/>
            </a:pPr>
            <a:r>
              <a:rPr lang="en-US" sz="1100" dirty="0">
                <a:solidFill>
                  <a:srgbClr val="F4F1EC"/>
                </a:solidFill>
                <a:latin typeface="Calibri" pitchFamily="34" charset="0"/>
                <a:ea typeface="Calibri" pitchFamily="34" charset="-122"/>
                <a:cs typeface="Calibri" pitchFamily="34" charset="-120"/>
              </a:rPr>
              <a:t>The ICZN principle that every taxon name is permanently anchored to a type specimen (species), type species (genus), or type genus (family). Makes nomenclature physically verifiable rather than purely definitional.</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§3.2 Valid Publication Requirements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Five Conditions a Name Must Meet to Be Available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Published in a work distributed to the scientific community — not a thesis, unpublished report, or social media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Accompanied by a diagnosis distinguishing the new taxon from all others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Type specimen designated (for species-group names)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Name in binomial format (for species) or uninominal format (for genus, family)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(5) Published after 1 January 1758 (starting date of zoological nomenclature)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Failure of any one condition = nomen nudum — no nomenclatural standing, no priority</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Published (distributed to community)</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Diagnosis (distinguishes from others)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Type designated (holotype)</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Binomial format (Genus sp.)</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AVAILABLE NAME (valid)</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Nomen Nudum: </a:t>
            </a:r>
            <a:pPr indent="0" marL="0">
              <a:buNone/>
            </a:pPr>
            <a:r>
              <a:rPr lang="en-US" sz="1100" dirty="0">
                <a:solidFill>
                  <a:srgbClr val="F4F1EC"/>
                </a:solidFill>
                <a:latin typeface="Calibri" pitchFamily="34" charset="0"/>
                <a:ea typeface="Calibri" pitchFamily="34" charset="-122"/>
                <a:cs typeface="Calibri" pitchFamily="34" charset="-120"/>
              </a:rPr>
              <a:t>A "naked name" published without meeting the ICZN requirements for valid publication. Has no nomenclatural standing and cannot claim priority over any validly published name.</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§3.3 Synonymy and Homonymy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Two Kinds of Nomenclatural Conflict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SYNONYMY: two or more names for the SAME taxon — resolved by priority (oldest wins)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HOMONYMY: the SAME name used for different taxa — resolved by replacement (junior homonym must be renamed)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Objective synonymy: both names based on the same type specimen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Subjective synonymy: taxonomic judgement that two separately described organisms are the same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Primary homonymy: same genus + species epithet combination given to two different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Secondary homonymy: same species epithet, different original genus, later placed in same genus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SYNONYMY</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Same organism, two names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Senior synonym (older) = correct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Junior synonym = suppressed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Subjective: needs taxonomic opinion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two descriptions of same beetle</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HOMONYMY</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Same name, two organisms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Senior homonym = keeps name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Junior homonym = must be renamed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Objective: no opinion needed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Apis indica used for bee AND fly</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Junior Synonym: </a:t>
            </a:r>
            <a:pPr indent="0" marL="0">
              <a:buNone/>
            </a:pPr>
            <a:r>
              <a:rPr lang="en-US" sz="1100" dirty="0">
                <a:solidFill>
                  <a:srgbClr val="F4F1EC"/>
                </a:solidFill>
                <a:latin typeface="Calibri" pitchFamily="34" charset="0"/>
                <a:ea typeface="Calibri" pitchFamily="34" charset="-122"/>
                <a:cs typeface="Calibri" pitchFamily="34" charset="-120"/>
              </a:rPr>
              <a:t>A later-published name for a taxon that already has a valid senior name. Once synonymy is established and published, the junior synonym is no longer used as a valid name, though it remains in the literature.</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§3.3 Special Nomina: Dubium, Oblitum, Nudum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Three Problem Categories in Zoological Nomenclature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NOMEN NUDUM: published without required elements (diagnosis, type, binomial) — zero nomenclatural standing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NOMEN DUBIUM: name of doubtful application — type lost, or original description too vague for reliable identification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NOMEN OBLITUM: "forgotten name" — senior synonym not used for ≥50 years (post-1899), while junior synonym used in ≥25 works by ≥10 authors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Nomen oblitum loses priority; the widely used junior name (nomen protectum) is conserved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Nomen Oblitum rule protects stability — prevents obscure old names from disrupting established usage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ICZN Commission can also formally suppress names by plenary power to protect stability</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Special Nomina Summary</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NOMEN NUDUM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Not validly published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 priority, ever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Cannot be resurrected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NOMEN DUBIUM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Validly published but unidentifiable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Application uncertain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May need Commission ruling</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NOMEN OBLITUM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Validly published, has priority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BUT: unused 50+ years (post-1899)</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AND: junior name used in 25+ works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RESULT: senior name loses priority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Junior name = NOMEN PROTECTUM</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NOMEN CONSERVANDUM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Name conserved by ICZN Commission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Overrides normal priority rules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Nomen Dubium: </a:t>
            </a:r>
            <a:pPr indent="0" marL="0">
              <a:buNone/>
            </a:pPr>
            <a:r>
              <a:rPr lang="en-US" sz="1100" dirty="0">
                <a:solidFill>
                  <a:srgbClr val="F4F1EC"/>
                </a:solidFill>
                <a:latin typeface="Calibri" pitchFamily="34" charset="0"/>
                <a:ea typeface="Calibri" pitchFamily="34" charset="-122"/>
                <a:cs typeface="Calibri" pitchFamily="34" charset="-120"/>
              </a:rPr>
              <a:t>A name of doubtful application because the type specimen is lost or the original description is too ambiguous for reliable identification. Cannot safely be applied to any specimen without Commission ruling.</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§3.4 Chemotaxonomy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Secondary Metabolites as Taxonomic Markers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Chemotaxonomy: uses chemical compounds produced by organisms as evidence for classification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Secondary metabolites (alkaloids, terpenoids, flavonoids) vary between species and genera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Most useful in: plants (volatile oils, alkaloid profiles), fungi (mycotoxin chemistry), some invertebrate groups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Limitations: secondary metabolites can vary with environment, age, tissue, and season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Pioneered in plants; application to animals is more limited than to botanical taxonomy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Asking the molecular question before molecular tools existed — the precursor to sequence-based taxonomy</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Chemo-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taxonomy</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1950s-60s</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Sero-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taxonomy</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1960s-70s</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Cyto-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taxonomy</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1970s-80s</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Allozyme</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Electrophoresis</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1980s</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DNA</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Barcoding</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2003+</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Chemotaxonomy: </a:t>
            </a:r>
            <a:pPr indent="0" marL="0">
              <a:buNone/>
            </a:pPr>
            <a:r>
              <a:rPr lang="en-US" sz="1100" dirty="0">
                <a:solidFill>
                  <a:srgbClr val="F4F1EC"/>
                </a:solidFill>
                <a:latin typeface="Calibri" pitchFamily="34" charset="0"/>
                <a:ea typeface="Calibri" pitchFamily="34" charset="-122"/>
                <a:cs typeface="Calibri" pitchFamily="34" charset="-120"/>
              </a:rPr>
              <a:t>The use of chemical compounds — especially secondary metabolites — as taxonomic characters. Useful for distinguishing taxa that are morphologically similar. Precursor to direct molecular analysis.</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§3.4 Serotaxonomy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Nuttall's Precipitin Test: Measuring Molecular Similarity Before Sequencing</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George Nuttall (1904): injected blood proteins from one animal into a rabbit → rabbit produced antibodies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finding: the more immunologically cross-reactive, the more closely related the two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Result: confirmed that human blood proteins were most similar to chimpanzee and gorilla proteins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established the close human-ape relationship BEFORE DNA sequencing was possible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Immunological distance used by Wilson &amp; Sarich (1967) to estimate Pan-Homo split at ~5 Ma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Serotaxonomy was asking and answering the molecular question with immunological tools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Nuttall's Precipitin Test Logic</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STEP 1: Inject human blood proteins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into rabbit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STEP 2: Rabbit produces antibodies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against human proteins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STEP 3: Test cross-reaction with</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blood from other species: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Chimpanzee → strong reaction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Gorilla → strong reaction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Monkey → moderate reaction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Dog → weak reaction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Fish → near zero</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CONCLUSION: strength of reaction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degree of molecular similarity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proxy for evolutionary closeness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LIMITATION: qualitative only;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 information on which proteins differ</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Serotaxonomy: </a:t>
            </a:r>
            <a:pPr indent="0" marL="0">
              <a:buNone/>
            </a:pPr>
            <a:r>
              <a:rPr lang="en-US" sz="1100" dirty="0">
                <a:solidFill>
                  <a:srgbClr val="F4F1EC"/>
                </a:solidFill>
                <a:latin typeface="Calibri" pitchFamily="34" charset="0"/>
                <a:ea typeface="Calibri" pitchFamily="34" charset="-122"/>
                <a:cs typeface="Calibri" pitchFamily="34" charset="-120"/>
              </a:rPr>
              <a:t>The use of immunological cross-reactions between proteins of different species to estimate molecular similarity and infer evolutionary relationships. Established human-chimpanzee molecular similarity decades before DNA sequencing.</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§3.5 Karyotype as Taxonomic Character</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Chromosomes: Number, Shape, and Banding Pattern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Karyotype: the complete characterisation of a species' chromosome complement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2n (diploid number): total chromosome count — highly consistent within species, varies between related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NF (nombre fondamental): total number of chromosome arms — independent of size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Centromere position: metacentric (M), submetacentric (SM), acrocentric (A), telocentric (T)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Giemsa banding (G-bands): species-specific banding pattern — more discriminating than number alone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Sex chromosomes: XX/XY (mammals), ZZ/ZW (birds) — differences between related species taxonomically useful</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Karyotype Characters Used in Classification</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2n = diploid chromosome number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2n = 46</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Chimpanzee: 2n = 48</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Gorilla: 2n = 48</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chr 2 = fusion of 2 ape chromosomes)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NF = nombre fondamental (arm count)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Counts chromosome arms, not chromosomes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CENTROMERE POSITION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Metacentric (M): central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Submetacentric (SM): slightly off-centre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Acrocentric (A): near end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Telocentric (T): at end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BANDING PATTERNS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G-band, C-band, Q-band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Species-specific pattern</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Karyotype: </a:t>
            </a:r>
            <a:pPr indent="0" marL="0">
              <a:buNone/>
            </a:pPr>
            <a:r>
              <a:rPr lang="en-US" sz="1100" dirty="0">
                <a:solidFill>
                  <a:srgbClr val="F4F1EC"/>
                </a:solidFill>
                <a:latin typeface="Calibri" pitchFamily="34" charset="0"/>
                <a:ea typeface="Calibri" pitchFamily="34" charset="-122"/>
                <a:cs typeface="Calibri" pitchFamily="34" charset="-120"/>
              </a:rPr>
              <a:t>The complete characterisation of a species' chromosome complement: number (2n), arm number (NF), centromere positions, sex chromosomes, and banding patterns. Used in cytotaxonomy to distinguish cryptic species and document evolutionary change.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§3.5 Polyploidy and Cytotaxonomy in Practice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Chromosome Doubling as Instant Speciation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Polyploidy: multiplication of entire chromosome set (3n, 4n, 6n...)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Allopolyploidy: hybridisation + chromosome doubling → new fertile species instantly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hybrid is sterile (unpaired chromosomes); doubling restores pairing → reproductive isolation from both parents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Wheat (Triticum): 6n = 42 chromosomes — product of three distinct ancestral genomes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 animals: less common than in plants but documented in some fish and amphibians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Cytotaxonomy reveals cryptic species: morphologically identical organisms with different karyotypes that cannot interbreed</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DIPLOID SPECIES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2n chromosomes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Normal meiosis possible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Can interbreed within species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Fertile offspring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parent species A (2n=10)</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ALLOPOLYPLOID</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2n + 2m chromosomes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Both chromosome sets pair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Cannot interbreed with either parent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Fertile within allopolyploid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new species (2n=10+8=18)</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Allopolyploidy: </a:t>
            </a:r>
            <a:pPr indent="0" marL="0">
              <a:buNone/>
            </a:pPr>
            <a:r>
              <a:rPr lang="en-US" sz="1100" dirty="0">
                <a:solidFill>
                  <a:srgbClr val="F4F1EC"/>
                </a:solidFill>
                <a:latin typeface="Calibri" pitchFamily="34" charset="0"/>
                <a:ea typeface="Calibri" pitchFamily="34" charset="-122"/>
                <a:cs typeface="Calibri" pitchFamily="34" charset="-120"/>
              </a:rPr>
              <a:t>The formation of a new species by hybridisation between two species followed by chromosome doubling. Creates instant reproductive isolation from both parent species. More common in plants than animals.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§3.6 Numerical Taxonomy: The Phenetic Approach</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Sneath and Sokal: Objectivity Through Algorithms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Sneath &amp; Sokal (Numerical Taxonomy, 1973): use many characters, weight them all equally, cluster mathematically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OTU (Operational Taxonomic Unit): the unit being classified — species, genus, or specimen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Characters coded numerically → similarity matrix → cluster analysis → phenogram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Aspiration: remove subjectivity from classification by replacing judgement with algorithm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phenogram shows overall similarity between OTUs — a tree-like structure but NOT a cladogram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Widely influential in 1970s–80s; largely superseded by cladistics for phylogenetic purposes</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Many characters coded</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Equal weighting applied</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Similarity matrix computed</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Cluster analysis (UPGMA)</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PHENOGRAM (overall similarity)</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Phenogram: </a:t>
            </a:r>
            <a:pPr indent="0" marL="0">
              <a:buNone/>
            </a:pPr>
            <a:r>
              <a:rPr lang="en-US" sz="1100" dirty="0">
                <a:solidFill>
                  <a:srgbClr val="F4F1EC"/>
                </a:solidFill>
                <a:latin typeface="Calibri" pitchFamily="34" charset="0"/>
                <a:ea typeface="Calibri" pitchFamily="34" charset="-122"/>
                <a:cs typeface="Calibri" pitchFamily="34" charset="-120"/>
              </a:rPr>
              <a:t>A tree produced by numerical taxonomy based on overall character similarity — does not necessarily reflect evolutionary history because ancestral and derived characters are weighted equally.</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§3.6 Why Equal Weighting Is Not Neutral</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Fatal Flaw: Plesiomorphies Count as Much as Synapomorphies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Equal weighting assumes: all characters are equally informative about evolutionary history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assumption is biologically unjustified: plesiomorphies (ancestral characters) shared by all members of a group carry NO information about relationships within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"has a backbone" is shared by all vertebrates — useless for classifying vertebrates among themselves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phenogram of sharks and dolphins groups them together by body shape — convergent analogy — not ancestry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phenogram also fails by grouping superficially similar convergent taxa regardless of origin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Cladistics explicitly rejects equal weighting: only synapomorphies count</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PHENETIC RESULT</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Groups by overall similarity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Plesiomorphies count equally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Convergent taxa may cluster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Dolphin + shark = similar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evolutionary directionality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CLADISTIC RESULT</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Groups by synapomorphies only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Plesiomorphies excluded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Convergence detected and excluded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Dolphin with whales + cattle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Evolutionary directionality explicit</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Equal Weighting Fallacy: </a:t>
            </a:r>
            <a:pPr indent="0" marL="0">
              <a:buNone/>
            </a:pPr>
            <a:r>
              <a:rPr lang="en-US" sz="1100" dirty="0">
                <a:solidFill>
                  <a:srgbClr val="F4F1EC"/>
                </a:solidFill>
                <a:latin typeface="Calibri" pitchFamily="34" charset="0"/>
                <a:ea typeface="Calibri" pitchFamily="34" charset="-122"/>
                <a:cs typeface="Calibri" pitchFamily="34" charset="-120"/>
              </a:rPr>
              <a:t>The unjustified assumption in numerical taxonomy that all characters carry equal information about evolutionary relationships. Plesiomorphies shared by all members of a group are informative about the group's ancestor, not about relationships within the group.</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§3.7 The Barcoding Gap: Principle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Intraspecific Variation &lt; Interspecific Divergence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barcoding gap: COI sequence divergence WITHIN a species is consistently lower than divergence BETWEEN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Intraspecific COI divergence (same species): typically 0–2%</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Interspecific COI divergence (different species, same genus): typically 4–15%</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gap between these ranges enables identification: if unknown specimen matches library entry &lt;2%, likely same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gap exists because: speciation events create permanent barriers to gene exchange, allowing independent divergence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CRITICAL: the barcoding gap is not universal — some taxonomic groups show poor separation</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Intraspecific &lt; 2% &lt;&lt; Interspecific &gt; 4%</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Intraspecific: variation within one species across its range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Interspecific: divergence between species of the same genus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Barcoding gap: the space between these two ranges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Identification principle: unknown &lt; 2% from library entry = likely conspecific</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Caution: gap absent in some groups (e.g. recently diverged species)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No gap = no discrimination = barcoding fails for that group</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Barcoding Gap: </a:t>
            </a:r>
            <a:pPr indent="0" marL="0">
              <a:buNone/>
            </a:pPr>
            <a:r>
              <a:rPr lang="en-US" sz="1100" dirty="0">
                <a:solidFill>
                  <a:srgbClr val="F4F1EC"/>
                </a:solidFill>
                <a:latin typeface="Calibri" pitchFamily="34" charset="0"/>
                <a:ea typeface="Calibri" pitchFamily="34" charset="-122"/>
                <a:cs typeface="Calibri" pitchFamily="34" charset="-120"/>
              </a:rPr>
              <a:t>The observed pattern in which COI sequence divergence within a species is consistently lower than divergence between species — the empirical foundation enabling identification by sequence matching.</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§3.7 The COI Workflow: From Specimen to BOLD</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Five Steps from Field Collection to Library Entry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1: Collect tissue in 95% ethanol immediately (remove leg into separate tube)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2: DNA extraction — Chelex or kit-based extraction from muscle tissue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3: PCR amplification using universal COI primers (LCO1490 / HCO2198)</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4: Sanger sequencing → 648-bp COI sequence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5: Submit to BOLD (with voucher specimen data) AND GenBank (as accession number)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Without voucher: sequence has no physical anchor — same problem as a name without a holotype</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95% EtOH tissue (leg removed)</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DNA Extraction (Chelex/kit)</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PCR COI primers (648 bp)</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Sanger Sequencing</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BOLD + GenBank deposit</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COI Primers: </a:t>
            </a:r>
            <a:pPr indent="0" marL="0">
              <a:buNone/>
            </a:pPr>
            <a:r>
              <a:rPr lang="en-US" sz="1100" dirty="0">
                <a:solidFill>
                  <a:srgbClr val="F4F1EC"/>
                </a:solidFill>
                <a:latin typeface="Calibri" pitchFamily="34" charset="0"/>
                <a:ea typeface="Calibri" pitchFamily="34" charset="-122"/>
                <a:cs typeface="Calibri" pitchFamily="34" charset="-120"/>
              </a:rPr>
              <a:t>Universal PCR primers (LCO1490 and HCO2198, Folmer et al. 1994) that amplify the standard 648-bp barcode region from most animal taxa. Their universality is what makes barcoding possible across the animal kingdom.</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§3.7 What Barcoding Can and Cannot Do</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Identification Hypothesis, Not Formal Description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CAN: identify any life stage (larva, egg, pupa) from a single leg or small tissue fragment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CAN: distinguish morphologically cryptic species that keys cannot separate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CAN: detect potential new species (no library match within species threshold)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CAN: identify dried museum specimens if not formalin-fixed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CANNOT: constitute a formal species description — ICZN requires morphological examination + holotype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CANNOT: work reliably if species is not in the reference library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CANNOT: detect hybridisation (COI is maternal — paternal genome invisible)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BARCODING CAN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Identify any life stage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Detect cryptic species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Flag potential new species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Work from partial specimens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Rapid screening of large samples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BARCODING CANNOT</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Replace morphological taxonomy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Describe a new species formally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Work without a library entry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Detect paternal lineage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Work on formalin-fixed material</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Identification Hypothesis: </a:t>
            </a:r>
            <a:pPr indent="0" marL="0">
              <a:buNone/>
            </a:pPr>
            <a:r>
              <a:rPr lang="en-US" sz="1100" dirty="0">
                <a:solidFill>
                  <a:srgbClr val="F4F1EC"/>
                </a:solidFill>
                <a:latin typeface="Calibri" pitchFamily="34" charset="0"/>
                <a:ea typeface="Calibri" pitchFamily="34" charset="-122"/>
                <a:cs typeface="Calibri" pitchFamily="34" charset="-120"/>
              </a:rPr>
              <a:t>A barcode match produces an identification hypothesis — a tentative assignment to a taxon based on sequence similarity. Confirmation requires morphological examination and comparison with type material.</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§3.7 Barcoding in Odisha: Applications and Gaps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Odisha's Biodiversity Needs Its Own Barcode Library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Odisha contains: Eastern Ghats, Simlipal, Satkosia, Bhitarkanika — high beta-diversity across habitats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Current situation: BOLD library coverage for Odisha taxa is patchy — many species unrepresented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barcode hit in Odisha may match a species described from Western Ghats — geographic mismatch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Building a regional reference library: collect, identify morphologically, barcode, deposit both voucher and sequence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Cryptic species likely in: freshwater fish (Schistura, Puntius), odonata, moths, spiders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Barcoding without morphological vouchers = sequences that cannot be verified or corrected</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Barcoding Programme Priority Targets for Odisha</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HIGH PRIORITY (poorly known, cryptic likely)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Freshwater fish: Nemacheilidae, Cyprinidae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Moths: Noctuidae, Geometridae of Simlipal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Odonata: Gomphidae, Libellulidae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Spiders: Salticidae, Lycosidae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Freshwater crabs: Potamidae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METHOD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Collect + morphological identification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95% EtOH preservation for all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Dual deposit: ZSI voucher + BOLD sequence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Georeferenced to 10m precision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OUTPUT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Regional barcode library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Baseline for future monitoring</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Regional Barcode Library: </a:t>
            </a:r>
            <a:pPr indent="0" marL="0">
              <a:buNone/>
            </a:pPr>
            <a:r>
              <a:rPr lang="en-US" sz="1100" dirty="0">
                <a:solidFill>
                  <a:srgbClr val="F4F1EC"/>
                </a:solidFill>
                <a:latin typeface="Calibri" pitchFamily="34" charset="0"/>
                <a:ea typeface="Calibri" pitchFamily="34" charset="-122"/>
                <a:cs typeface="Calibri" pitchFamily="34" charset="-120"/>
              </a:rPr>
              <a:t>A geographically comprehensive COI sequence reference database for a defined region, linked to morphologically identified voucher specimens. Essential for reliable identification using barcoding in that region.</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wood-boring beetle species from teak plantations in Deogarh, Odisha was first described by a German entomologist in Vienna in 1923 (Name A). Thirty years later, a researcher discovers a valid description with a properly deposited holotype from St Petersburg, published in 1911 (Name B) — for the same species. Indian pest management and forestry literature has used Name A exclusively for over 60 years. (a) Which name is nomenclaturally correct? (b) Why does the history of usage not affect this decision? (c) What formal steps are required to establish the correct name in the literature?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Which ICZN principle governs when two valid names exist for the same species? Does widespread usage of one name affect priority? Is there any exception that might apply here?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wood-boring beetle species from teak plantations in Deogarh, Odisha was first described by a German entomologist in Vienna in 1923 (Name A). Thirty years later, a researcher discovers a valid description with a properly deposited holotype from St Petersburg, published in 1911 (Name B) — for the same species. Indian pest management and forestry literature has used Name A exclusively for over 60 years. (a) Which name is nomenclaturally correct? (b) Why does the history of usage not affect this decision? (c) What formal steps are required to establish the correct name in the literature?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Name B (1911) is the correct name under the Principle of Priority. Among two or more names validly published for the same taxon, the oldest is the senior synonym and is correct. Name A (1923) is a junior synonym. If both publications meet all ICZN requirements for valid publication and both refer to the same species (established by type comparison), the 1911 name prevails unconditionally. (b) History of usage does not affect nomenclatural priority under standard ICZN rules. The Principle of Priority is explicit: the date of valid publication determines which name is correct. Sixty years of widespread use of the wrong name is nomenclaturally irrelevant. The only exception is the Nomen Oblitum rule — if Name B (the senior synonym) had not been used as a valid name in any publication for at least 50 years after 1899, AND Name A (the junior synonym) had been used in at least 25 works by at least 10 authors, Name B would become a nomen oblitum and Name A would be conserved as nomen protectum. Whether this exception applies depends on whether Name B was ever cited after 1911 in any work — that must be checked through the literature. (c) Required formal steps: (1) Examine both type specimens to confirm they represent the same species; (2) Publish a formal synonymy paper in a peer-reviewed journal: "Name A Author, 1923 = Name B Author, 1911 syn. nov." with the evidence (type comparison, morphological equivalence); (3) All subsequent literature must use Name B (1911) as the correct name and cite Name A (1923) as a junior synonym; (4) If the Nomen Oblitum exception applies, apply to the ICZN Commission for a formal ruling conserving Name A.</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freshwater mussel species was described in 1887 from the Mahanadi river system, and its holotype was held in a museum in Dresden. The holotype was destroyed in Second World War bombing in 1945. The name has been used in 150 publications over 130 years. Two researchers now disagree: Researcher A argues a neotype should be designated from recently collected Mahanadi specimens. Researcher B argues the name should be treated as a nomen dubium and suppressed, with the species re-described under a new name. Evaluate both proposals. Which approach is correct under ICZN rules?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happens nomenclaturally when a holotype is destroyed? What conditions must be met for a neotype to be valid? What is a nomen dubium and when does a name become one? Does loss of the holotype automatically make a name a nomen dubium?</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freshwater mussel species was described in 1887 from the Mahanadi river system, and its holotype was held in a museum in Dresden. The holotype was destroyed in Second World War bombing in 1945. The name has been used in 150 publications over 130 years. Two researchers now disagree: Researcher A argues a neotype should be designated from recently collected Mahanadi specimens. Researcher B argues the name should be treated as a nomen dubium and suppressed, with the species re-described under a new name. Evaluate both proposals. Which approach is correct under ICZN rules?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Researcher A (neotype designation) is following the correct ICZN procedure; Researcher B's proposal misapplies the concept of nomen dubium. Evaluation of Researcher A's proposal: Neotype designation is the appropriate ICZN mechanism when a holotype is irretrievably lost. Under Article 75 of the ICZN, a neotype can be validly designated if: (1) the neotype is necessary to preserve nomenclatural stability; (2) no other name-bearing type specimens (paratypes, syntypes) survive; (3) the neotype is from the same species and, if possible, from the original type locality; (4) the designation is published in a peer-reviewed paper with full justification and documentation of the original holotype's loss. Given 130 years of usage and 150 publications, this name's stability clearly warrants neotype designation. Researcher A's proposal is correct in principle but must meet these procedural requirements. Evaluation of Researcher B's proposal: A nomen dubium is a name whose application is doubtful because the original description is too vague or the type is ambiguous — it does NOT automatically result from the physical loss of the holotype. Loss of the holotype makes identification more difficult and creates uncertainty, but if the original 1887 description is sufficiently detailed (measurements, figures, distinguishing characters), the name may still be reliably applicable. A nomen dubium should only be declared if the original description genuinely cannot be used to distinguish this species from related ones. Furthermore, even if the name were treated as a nomen dubium, re-describing the species under a completely new name would be wrong — the new name would be a junior synonym if the 1887 name is eventually stabilised. Researcher B's proposal risks destabilising 130 years of established nomenclature unnecessarily. The correct approach is Researcher A's — designate a neotype that anchors the 1887 name to a verifiable specimen, following ICZN Article 75 procedures precisely.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You extract COI sequences from five moth specimens collected at UV light traps in Simlipal Biosphere Reserve and query each against the BOLD database. Results: Specimen A — 99.7% match to Ophiusa tirhaca. Specimen B — 94.2% match to Ophiusa tirhaca (next best: 91.8% to Ophiusa melicerte). Specimen C — best match is 89.1% to any known species. Specimen D — 98.5% match to Ophiusa tirhaca AND 98.5% match to Ophiusa melicerte simultaneously. Specimen E — 97.3% match to Ophiusa tirhaca but this species is recorded only from Sri Lanka and southern Tamil Nadu. Interpret each result. What is the appropriate action for each specimen?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does the barcoding gap tell us about what percentage similarity means? When is a match reliable vs uncertain? What do you do when there is no match, or when two species match equally, or when the geography is implausible?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You extract COI sequences from five moth specimens collected at UV light traps in Simlipal Biosphere Reserve and query each against the BOLD database. Results: Specimen A — 99.7% match to Ophiusa tirhaca. Specimen B — 94.2% match to Ophiusa tirhaca (next best: 91.8% to Ophiusa melicerte). Specimen C — best match is 89.1% to any known species. Specimen D — 98.5% match to Ophiusa tirhaca AND 98.5% match to Ophiusa melicerte simultaneously. Specimen E — 97.3% match to Ophiusa tirhaca but this species is recorded only from Sri Lanka and southern Tamil Nadu. Interpret each result. What is the appropriate action for each specimen?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Specimen A (99.7% to Ophiusa tirhaca): Within the intraspecific variation range (&lt;2% from library entry). Strong identification hypothesis: Specimen A is most likely Ophiusa tirhaca. Action: confirm against original description and type images. If morphology agrees, record as O. tirhaca — first Odisha record if not previously documented from Simlipal. Specimen B (94.2% to O. tirhaca, 91.8% to O. melicerte): The 94.2% similarity falls in the interspecific range (typically 4–15% divergence between species means &lt;96% similarity for related species). This is not clearly within the intraspecific threshold. It may be: (a) an unusual individual of O. tirhaca with elevated intraspecific divergence; (b) an undescribed species related to O. tirhaca; or (c) library contamination or error. Action: examine morphology carefully, compare with type images of O. tirhaca, consider COI sequencing a second specimen from the same catch. Do NOT record as O. tirhaca without morphological verification. Specimen C (best match 89.1%): No match within any reasonable identification threshold. This is either: (a) a species not represented in the BOLD library (possibly undescribed); (b) the COI sequence failed partially (check sequence quality). Action: examine morphology against all known species in the genus; if no match, initiate new species description procedure — this may be a new species for science. Specimen D (98.5% to both O. tirhaca AND O. melicerte simultaneously): Two equally good matches at species level = the barcoding gap is absent for this species pair. COI cannot discriminate between these two species. This is a known failure mode: recently diverged species or species that have exchanged COI haplotypes through mitochondrial introgression. Action: morphological examination is essential — COI alone is insufficient. Specimen E (97.3% to O. tirhaca, species only from Sri Lanka/Tamil Nadu): The match is within or near the identification threshold, but the geographic context is strongly implausible. This may indicate: (a) range extension of O. tirhaca, previously undersampled in Odisha; (b) a cryptic species in the O. tirhaca complex present in Odisha, whose COI is similar to the Sri Lankan population; (c) library error (misidentified entry in BOLD). Action: compare morphology meticulously with O. tirhaca type images; if morphological match is confirmed, document as a significant range extension with a voucher specimen; if morphology differs, consider cryptic species investigation.</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taxonomist argues: "Numerical taxonomy is the most objective approach to biological classification because it uses many characters, weights them all equally, and relies on mathematical algorithms rather than a taxonomist's subjective judgements about which characters matter. This removes human bias from the process." Evaluate this claim. What specific biological assumption does equal weighting make? Is that assumption neutral? What are the consequences for the resulting classification?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does "equal weighting" actually assume about characters? Are all characters equally informative about evolutionary history? Think of a specific example where equal weighting would produce a wrong grouping. Is removing human judgement always the same as removing bias?</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taxonomist argues: "Numerical taxonomy is the most objective approach to biological classification because it uses many characters, weights them all equally, and relies on mathematical algorithms rather than a taxonomist's subjective judgements about which characters matter. This removes human bias from the process." Evaluate this claim. What specific biological assumption does equal weighting make? Is that assumption neutral? What are the consequences for the resulting classification?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claim is incorrect. Equal weighting is not a bias-free choice — it is itself a specific and biologically unjustified assumption: that all characters carry equal information about evolutionary relationships. This assumption fails for several reasons. The specific biological assumption: equal weighting treats a plesiomorphic character shared by all members of a large group (e.g. "has a vertebral column" within Vertebrata) as equally informative as a synapomorphic character shared only by a small clade (e.g. "has mammary glands" within Mammalia). But a plesiomorphy shared by all members of a group carries NO information about relationships within that group — it cannot help distinguish a shark from a salmon from a frog, because all vertebrates have it. Treating it as equally informative as a derived character is a demonstrably wrong assumption, not a neutral one. Why removing judgement is not the same as removing bias: substituting a mathematical algorithm for taxonomic judgement removes one type of subjectivity (which characters the expert considers important) and replaces it with another (the choice to weight equally). The algorithm is not unbiased — it embeds a specific and testable biological claim. Consequences for classification: (1) Convergent taxa group together: sharks and dolphins would cluster by body shape under phenetic analysis, grouping a mammal with a cartilaginous fish. This is classificatory error, not neutral description. (2) The resulting phenogram does NOT represent evolutionary history — it represents overall similarity, which can reflect shared ancestry, convergence, or shared ancestral retentions in roughly equal measure. (3) Predictive power: a natural classification predicts characters of members based on shared ancestry. A phenetic classification predicts only characters that correlate with those used — which is less scientifically useful. The correct response to subjectivity concerns in taxonomy is not equal weighting but explicit argumentation: cladistics requires that character selection and weighting be stated, reasoned, and testable, rather than replaced by an unjustified algorithm.</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Two research groups independently describe the same new catfish species from the Mahanadi river system. Group A (Indian team) submits their paper to an open-access journal; it is published online on 15 March 2024, with a ZooBank registration number in the paper. Group B (German team) submits to a print journal; their paper is printed and mailed on 3 March 2024 but the online version only becomes available on 1 April 2024. Group B's paper contains no ZooBank registration number. Both papers include valid diagnoses, properly designated holotypes deposited in accessible repositories, and correctly formatted binomial names. Which name has priority? What are the relevant ICZN rules, and what does this scenario reveal about the challenges of nomenclature in the digital age?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determines the date of publication under the ICZN? Is it the online date, the print date, or the date the work reaches the community? What role does ZooBank registration play? What happens when two names are published simultaneously or on the same date?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29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Two research groups independently describe the same new catfish species from the Mahanadi river system. Group A (Indian team) submits their paper to an open-access journal; it is published online on 15 March 2024, with a ZooBank registration number in the paper. Group B (German team) submits to a print journal; their paper is printed and mailed on 3 March 2024 but the online version only becomes available on 1 April 2024. Group B's paper contains no ZooBank registration number. Both papers include valid diagnoses, properly designated holotypes deposited in accessible repositories, and correctly formatted binomial names. Which name has priority? What are the relevant ICZN rules, and what does this scenario reveal about the challenges of nomenclature in the digital age?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This scenario is genuinely complex and illustrates the real challenges of ICZN nomenclature in the digital age. Determination of priority: Under ICZN Article 21 (as amended by Amendment 2012), a work published electronically is available from the date it is first accessible online IF it is registered in ZooBank with a Life Science Identifier (LSID) number. Group A's paper was published online on 15 March 2024 with a ZooBank registration number — it meets the requirements of Article 8.5.3 for electronic publication. Its date of availability is 15 March 2024. Group B's paper was printed and physically distributed on 3 March 2024. Physical print distribution constitutes valid ICZN publication under Article 8.1 regardless of electronic availability. The date of publication for Group B's paper is therefore 3 March 2024 — the date the printed work was distributed to the scientific community. Group B lacks a ZooBank registration number, but this is only required for works that are EXCLUSIVELY published electronically. A print publication does not require ZooBank registration to be valid. The physical print date of 3 March 2024 is earlier than Group A's online date of 15 March 2024. Conclusion: Group B's name (printed 3 March 2024) has priority over Group A's name (published online 15 March 2024). Group A's name becomes a junior synonym. This result may seem counterintuitive — the Indian team's paper was accessible to more researchers earlier via open access — but the ICZN's concern is the date of valid publication, not accessibility or reach. Broader implications this scenario reveals: (1) The ICZN's 2012 amendment created two parallel tracks (print and electronic) with different registration requirements — this creates confusion and occasional injustice as shown here; (2) Electronic publication with ZooBank registration is now the safest approach for priority claims, as online dates are typically earlier and timestamped precisely; (3) The rule that print date governs even when online availability comes later is increasingly problematic as print-first journals become unusual; (4) The Indian team should have submitted to a journal that publishes electronically first, or should have posted a preprint with ZooBank registration to establish an earlier date. The ICZN is currently under revision partly to address exactly these tensions between the print-era rules and the reality of digital-first science.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ICZN tells us what species exist — it defines what organisms are species.</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ICZN governs names, not biology. It tells us which name is correct for a taxon, not whether that taxon is a valid species. Nomenclatural status and taxonomic validity are independent: a name can be nomenclaturally valid (correctly published) while the taxon it names is disputed or synonymised by taxonomists.</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DNA barcoding has replaced traditional morphological taxonomy.</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Barcoding is an identification tool, not a taxonomic tool. It generates identification hypotheses from sequence matching. Formal species descriptions still require morphological examination, type designation, and publication under ICZN rules. A COI sequence alone cannot constitute a valid species description — it has no holotype, no diagnosis, and no formal publication of the name.</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A name that has been widely used for many years cannot be replaced by an obscure older name.</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Under standard ICZN rules, priority governs — the oldest valid name is correct regardless of usage history. The Nomen Oblitum provision provides a limited exception (50+ years of non-use, 25+ works using the junior name), but this requires formal demonstration. Usage history does not by itself override priority.</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Numerical taxonomy produces the most accurate classification because it uses the most characters.</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Using more characters does not produce a more accurate classification if those characters are equally weighted — plesiomorphies (characters shared by all members of a large group) are not informative about relationships within that group and should not be weighted equally with synapomorphies. Accuracy in classification comes from using the right type of evidence, not merely more evidence.</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ICZN solves the coordination problem through three pillars: Priority (oldest valid name correct), Type Method (names anchored to holotypes), and Valid Publication requirements (diagnosis, type, binomial, distributed post-1758).</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Synonymy (same organism, multiple names — priority decides) and Homonymy (same name, different organisms — junior homonym must be replaced) are the two fundamental nomenclatural conflicts the ICZN resolves.</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Chemotaxonomy, serotaxonomy, and cytotaxonomy were progressive precursors to molecular taxonomy — each asked the molecular question using the tools available at the time.</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Numerical taxonomy's equal-weighting assumption is not neutral — it treats plesiomorphies and synapomorphies as equally informative, which can produce phenograms that misrepresent evolutionary history.</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DNA barcoding uses the COI barcoding gap (intraspecific divergence &lt; interspecific divergence) to generate identification hypotheses from sequence matching — but it produces hypotheses, not confirmed identifications, and requires a comprehensive reference library.</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2 (holotype — the type method depends on the physical specimens described in Ch. 2) · Ch. 1 (natural classification — nomenclature labels the groups that classification defines)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10 (molecular phylogenetics — same COI gene used in barcoding here extended to tree-building) · Appendix C (ICZN rules in structured reference form)</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3 — Nomenclature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2026-05-29T05:43:57Z</dcterms:created>
  <dcterms:modified xsi:type="dcterms:W3CDTF">2026-05-29T05:43:57Z</dcterms:modified>
</cp:coreProperties>
</file>