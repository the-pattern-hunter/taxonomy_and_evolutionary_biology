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8791E"/>
          </a:solidFill>
          <a:ln w="12700">
            <a:solidFill>
              <a:srgbClr val="C8791E"/>
            </a:solidFill>
            <a:prstDash val="solid"/>
          </a:ln>
        </p:spPr>
      </p:sp>
      <p:sp>
        <p:nvSpPr>
          <p:cNvPr id="3" name="Shape 1"/>
          <p:cNvSpPr/>
          <p:nvPr/>
        </p:nvSpPr>
        <p:spPr>
          <a:xfrm>
            <a:off x="0" y="73152"/>
            <a:ext cx="54864" cy="5070348"/>
          </a:xfrm>
          <a:prstGeom prst="rect">
            <a:avLst/>
          </a:prstGeom>
          <a:solidFill>
            <a:srgbClr val="3D7A52"/>
          </a:solidFill>
          <a:ln w="12700">
            <a:solidFill>
              <a:srgbClr val="3D7A52"/>
            </a:solidFill>
            <a:prstDash val="solid"/>
          </a:ln>
        </p:spPr>
      </p:sp>
      <p:sp>
        <p:nvSpPr>
          <p:cNvPr id="4" name="Text 2"/>
          <p:cNvSpPr/>
          <p:nvPr/>
        </p:nvSpPr>
        <p:spPr>
          <a:xfrm>
            <a:off x="274320" y="164592"/>
            <a:ext cx="8595360" cy="274320"/>
          </a:xfrm>
          <a:prstGeom prst="rect">
            <a:avLst/>
          </a:prstGeom>
          <a:noFill/>
          <a:ln/>
        </p:spPr>
        <p:txBody>
          <a:bodyPr wrap="square" rtlCol="0" anchor="ctr"/>
          <a:lstStyle/>
          <a:p>
            <a:pPr algn="l" indent="0" marL="0">
              <a:buNone/>
            </a:pPr>
            <a:r>
              <a:rPr lang="en-US" sz="900" spc="200" kern="0" dirty="0">
                <a:solidFill>
                  <a:srgbClr val="8FA898"/>
                </a:solidFill>
                <a:latin typeface="Calibri" pitchFamily="34" charset="0"/>
                <a:ea typeface="Calibri" pitchFamily="34" charset="-122"/>
                <a:cs typeface="Calibri" pitchFamily="34" charset="-120"/>
              </a:rPr>
              <a:t>BSc Zoology · Core I · Paper XV · NEP 2025–28</a:t>
            </a:r>
            <a:endParaRPr lang="en-US" sz="900" dirty="0"/>
          </a:p>
        </p:txBody>
      </p:sp>
      <p:sp>
        <p:nvSpPr>
          <p:cNvPr id="5" name="Text 3"/>
          <p:cNvSpPr/>
          <p:nvPr/>
        </p:nvSpPr>
        <p:spPr>
          <a:xfrm>
            <a:off x="274320" y="640080"/>
            <a:ext cx="8595360" cy="457200"/>
          </a:xfrm>
          <a:prstGeom prst="rect">
            <a:avLst/>
          </a:prstGeom>
          <a:noFill/>
          <a:ln/>
        </p:spPr>
        <p:txBody>
          <a:bodyPr wrap="square" rtlCol="0" anchor="ctr"/>
          <a:lstStyle/>
          <a:p>
            <a:pPr algn="l" indent="0" marL="0">
              <a:buNone/>
            </a:pPr>
            <a:r>
              <a:rPr lang="en-US" sz="1400" b="1" spc="300" kern="0" dirty="0">
                <a:solidFill>
                  <a:srgbClr val="C8791E"/>
                </a:solidFill>
                <a:latin typeface="Calibri" pitchFamily="34" charset="0"/>
                <a:ea typeface="Calibri" pitchFamily="34" charset="-122"/>
                <a:cs typeface="Calibri" pitchFamily="34" charset="-120"/>
              </a:rPr>
              <a:t>Chapter 5</a:t>
            </a:r>
            <a:endParaRPr lang="en-US" sz="1400" dirty="0"/>
          </a:p>
        </p:txBody>
      </p:sp>
      <p:sp>
        <p:nvSpPr>
          <p:cNvPr id="6" name="Text 4"/>
          <p:cNvSpPr/>
          <p:nvPr/>
        </p:nvSpPr>
        <p:spPr>
          <a:xfrm>
            <a:off x="274320" y="1051560"/>
            <a:ext cx="8595360" cy="1280160"/>
          </a:xfrm>
          <a:prstGeom prst="rect">
            <a:avLst/>
          </a:prstGeom>
          <a:noFill/>
          <a:ln/>
        </p:spPr>
        <p:txBody>
          <a:bodyPr wrap="square" rtlCol="0" anchor="ctr"/>
          <a:lstStyle/>
          <a:p>
            <a:pPr algn="l" indent="0" marL="0">
              <a:buNone/>
            </a:pPr>
            <a:r>
              <a:rPr lang="en-US" sz="3600" dirty="0">
                <a:solidFill>
                  <a:srgbClr val="F4F1EC"/>
                </a:solidFill>
                <a:latin typeface="Georgia" pitchFamily="34" charset="0"/>
                <a:ea typeface="Georgia" pitchFamily="34" charset="-122"/>
                <a:cs typeface="Georgia" pitchFamily="34" charset="-120"/>
              </a:rPr>
              <a:t>The Fossil Record</a:t>
            </a:r>
            <a:endParaRPr lang="en-US" sz="3600" dirty="0"/>
          </a:p>
        </p:txBody>
      </p:sp>
      <p:sp>
        <p:nvSpPr>
          <p:cNvPr id="7" name="Text 5"/>
          <p:cNvSpPr/>
          <p:nvPr/>
        </p:nvSpPr>
        <p:spPr>
          <a:xfrm>
            <a:off x="274320" y="2331720"/>
            <a:ext cx="8595360" cy="457200"/>
          </a:xfrm>
          <a:prstGeom prst="rect">
            <a:avLst/>
          </a:prstGeom>
          <a:noFill/>
          <a:ln/>
        </p:spPr>
        <p:txBody>
          <a:bodyPr wrap="square" rtlCol="0" anchor="ctr"/>
          <a:lstStyle/>
          <a:p>
            <a:pPr algn="l" indent="0" marL="0">
              <a:buNone/>
            </a:pPr>
            <a:r>
              <a:rPr lang="en-US" sz="1600" i="1" dirty="0">
                <a:solidFill>
                  <a:srgbClr val="8FA898"/>
                </a:solidFill>
                <a:latin typeface="Calibri" pitchFamily="34" charset="0"/>
                <a:ea typeface="Calibri" pitchFamily="34" charset="-122"/>
                <a:cs typeface="Calibri" pitchFamily="34" charset="-120"/>
              </a:rPr>
              <a:t>Reading Time in Stone</a:t>
            </a:r>
            <a:endParaRPr lang="en-US" sz="1600" dirty="0"/>
          </a:p>
        </p:txBody>
      </p:sp>
      <p:sp>
        <p:nvSpPr>
          <p:cNvPr id="8" name="Shape 6"/>
          <p:cNvSpPr/>
          <p:nvPr/>
        </p:nvSpPr>
        <p:spPr>
          <a:xfrm>
            <a:off x="274320" y="2880360"/>
            <a:ext cx="8595360" cy="13716"/>
          </a:xfrm>
          <a:prstGeom prst="rect">
            <a:avLst/>
          </a:prstGeom>
          <a:solidFill>
            <a:srgbClr val="2D5A3D"/>
          </a:solidFill>
          <a:ln w="12700">
            <a:solidFill>
              <a:srgbClr val="2D5A3D"/>
            </a:solidFill>
            <a:prstDash val="solid"/>
          </a:ln>
        </p:spPr>
      </p:sp>
      <p:sp>
        <p:nvSpPr>
          <p:cNvPr id="9" name="Text 7"/>
          <p:cNvSpPr/>
          <p:nvPr/>
        </p:nvSpPr>
        <p:spPr>
          <a:xfrm>
            <a:off x="274320" y="2971800"/>
            <a:ext cx="8595360" cy="274320"/>
          </a:xfrm>
          <a:prstGeom prst="rect">
            <a:avLst/>
          </a:prstGeom>
          <a:noFill/>
          <a:ln/>
        </p:spPr>
        <p:txBody>
          <a:bodyPr wrap="square" rtlCol="0" anchor="ctr"/>
          <a:lstStyle/>
          <a:p>
            <a:pPr algn="l" indent="0" marL="0">
              <a:buNone/>
            </a:pPr>
            <a:r>
              <a:rPr lang="en-US" sz="1100" dirty="0">
                <a:solidFill>
                  <a:srgbClr val="8FA898"/>
                </a:solidFill>
                <a:latin typeface="Calibri" pitchFamily="34" charset="0"/>
                <a:ea typeface="Calibri" pitchFamily="34" charset="-122"/>
                <a:cs typeface="Calibri" pitchFamily="34" charset="-120"/>
              </a:rPr>
              <a:t>Unit 2 · Theories, Evidences of Evolution and Extinction</a:t>
            </a:r>
            <a:endParaRPr lang="en-US" sz="1100" dirty="0"/>
          </a:p>
        </p:txBody>
      </p:sp>
      <p:sp>
        <p:nvSpPr>
          <p:cNvPr id="10" name="Text 8"/>
          <p:cNvSpPr/>
          <p:nvPr/>
        </p:nvSpPr>
        <p:spPr>
          <a:xfrm>
            <a:off x="274320" y="3337560"/>
            <a:ext cx="8595360" cy="1005840"/>
          </a:xfrm>
          <a:prstGeom prst="rect">
            <a:avLst/>
          </a:prstGeom>
          <a:noFill/>
          <a:ln/>
        </p:spPr>
        <p:txBody>
          <a:bodyPr wrap="square" lIns="91440" tIns="91440" rIns="91440" bIns="91440" rtlCol="0" anchor="ctr"/>
          <a:lstStyle/>
          <a:p>
            <a:pPr algn="l" indent="0" marL="0">
              <a:buNone/>
            </a:pPr>
            <a:r>
              <a:rPr lang="en-US" sz="1300" i="1" dirty="0">
                <a:solidFill>
                  <a:srgbClr val="E8F0EB"/>
                </a:solidFill>
                <a:latin typeface="Georgia" pitchFamily="34" charset="0"/>
                <a:ea typeface="Georgia" pitchFamily="34" charset="-122"/>
                <a:cs typeface="Georgia" pitchFamily="34" charset="-120"/>
              </a:rPr>
              <a:t>"The Earth is a witness. The fossil record, comparative anatomy, embryology, and biogeography each testify independently to the same evolutionary history — and independent testimonies are the strongest form of scientific evidence."</a:t>
            </a:r>
            <a:endParaRPr lang="en-US" sz="1300" dirty="0"/>
          </a:p>
        </p:txBody>
      </p:sp>
      <p:sp>
        <p:nvSpPr>
          <p:cNvPr id="11" name="Shape 9"/>
          <p:cNvSpPr/>
          <p:nvPr/>
        </p:nvSpPr>
        <p:spPr>
          <a:xfrm>
            <a:off x="0" y="5070348"/>
            <a:ext cx="9144000" cy="73152"/>
          </a:xfrm>
          <a:prstGeom prst="rect">
            <a:avLst/>
          </a:prstGeom>
          <a:solidFill>
            <a:srgbClr val="3D7A52"/>
          </a:solidFill>
          <a:ln w="12700">
            <a:solidFill>
              <a:srgbClr val="3D7A52"/>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C8791E"/>
          </a:solidFill>
          <a:ln w="12700">
            <a:solidFill>
              <a:srgbClr val="C8791E"/>
            </a:solidFill>
            <a:prstDash val="solid"/>
          </a:ln>
        </p:spPr>
      </p:sp>
      <p:sp>
        <p:nvSpPr>
          <p:cNvPr id="3" name="Text 1"/>
          <p:cNvSpPr/>
          <p:nvPr/>
        </p:nvSpPr>
        <p:spPr>
          <a:xfrm>
            <a:off x="274320" y="228600"/>
            <a:ext cx="8595360" cy="502920"/>
          </a:xfrm>
          <a:prstGeom prst="rect">
            <a:avLst/>
          </a:prstGeom>
          <a:noFill/>
          <a:ln/>
        </p:spPr>
        <p:txBody>
          <a:bodyPr wrap="square" rtlCol="0" anchor="ctr"/>
          <a:lstStyle/>
          <a:p>
            <a:pPr indent="0" marL="0">
              <a:buNone/>
            </a:pPr>
            <a:r>
              <a:rPr lang="en-US" sz="2600" b="1" dirty="0">
                <a:solidFill>
                  <a:srgbClr val="1C2B1E"/>
                </a:solidFill>
                <a:latin typeface="Georgia" pitchFamily="34" charset="0"/>
                <a:ea typeface="Georgia" pitchFamily="34" charset="-122"/>
                <a:cs typeface="Georgia" pitchFamily="34" charset="-120"/>
              </a:rPr>
              <a:t>Chapter Overview</a:t>
            </a:r>
            <a:endParaRPr lang="en-US" sz="2600" dirty="0"/>
          </a:p>
        </p:txBody>
      </p:sp>
      <p:sp>
        <p:nvSpPr>
          <p:cNvPr id="4" name="Shape 2"/>
          <p:cNvSpPr/>
          <p:nvPr/>
        </p:nvSpPr>
        <p:spPr>
          <a:xfrm>
            <a:off x="274320"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841248"/>
            <a:ext cx="347472" cy="475488"/>
          </a:xfrm>
          <a:prstGeom prst="rect">
            <a:avLst/>
          </a:prstGeom>
          <a:solidFill>
            <a:srgbClr val="2D5A3D"/>
          </a:solidFill>
          <a:ln w="12700">
            <a:solidFill>
              <a:srgbClr val="2D5A3D"/>
            </a:solidFill>
            <a:prstDash val="solid"/>
          </a:ln>
        </p:spPr>
      </p:sp>
      <p:sp>
        <p:nvSpPr>
          <p:cNvPr id="6" name="Text 4"/>
          <p:cNvSpPr/>
          <p:nvPr/>
        </p:nvSpPr>
        <p:spPr>
          <a:xfrm>
            <a:off x="274320"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658368"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5.1 The Geological Time Scale</a:t>
            </a:r>
            <a:endParaRPr lang="en-US" sz="1150" dirty="0"/>
          </a:p>
        </p:txBody>
      </p:sp>
      <p:sp>
        <p:nvSpPr>
          <p:cNvPr id="8" name="Shape 6"/>
          <p:cNvSpPr/>
          <p:nvPr/>
        </p:nvSpPr>
        <p:spPr>
          <a:xfrm>
            <a:off x="4590288" y="841248"/>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4590288" y="841248"/>
            <a:ext cx="347472" cy="475488"/>
          </a:xfrm>
          <a:prstGeom prst="rect">
            <a:avLst/>
          </a:prstGeom>
          <a:solidFill>
            <a:srgbClr val="2D5A3D"/>
          </a:solidFill>
          <a:ln w="12700">
            <a:solidFill>
              <a:srgbClr val="2D5A3D"/>
            </a:solidFill>
            <a:prstDash val="solid"/>
          </a:ln>
        </p:spPr>
      </p:sp>
      <p:sp>
        <p:nvSpPr>
          <p:cNvPr id="10" name="Text 8"/>
          <p:cNvSpPr/>
          <p:nvPr/>
        </p:nvSpPr>
        <p:spPr>
          <a:xfrm>
            <a:off x="4590288" y="841248"/>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4974336" y="841248"/>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5.2 Fossil Types and the Incompleteness Problem</a:t>
            </a:r>
            <a:endParaRPr lang="en-US" sz="1150" dirty="0"/>
          </a:p>
        </p:txBody>
      </p:sp>
      <p:sp>
        <p:nvSpPr>
          <p:cNvPr id="12" name="Shape 10"/>
          <p:cNvSpPr/>
          <p:nvPr/>
        </p:nvSpPr>
        <p:spPr>
          <a:xfrm>
            <a:off x="274320"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3" name="Shape 11"/>
          <p:cNvSpPr/>
          <p:nvPr/>
        </p:nvSpPr>
        <p:spPr>
          <a:xfrm>
            <a:off x="274320" y="1426464"/>
            <a:ext cx="347472" cy="475488"/>
          </a:xfrm>
          <a:prstGeom prst="rect">
            <a:avLst/>
          </a:prstGeom>
          <a:solidFill>
            <a:srgbClr val="2D5A3D"/>
          </a:solidFill>
          <a:ln w="12700">
            <a:solidFill>
              <a:srgbClr val="2D5A3D"/>
            </a:solidFill>
            <a:prstDash val="solid"/>
          </a:ln>
        </p:spPr>
      </p:sp>
      <p:sp>
        <p:nvSpPr>
          <p:cNvPr id="14" name="Text 12"/>
          <p:cNvSpPr/>
          <p:nvPr/>
        </p:nvSpPr>
        <p:spPr>
          <a:xfrm>
            <a:off x="274320"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 name="Text 13"/>
          <p:cNvSpPr/>
          <p:nvPr/>
        </p:nvSpPr>
        <p:spPr>
          <a:xfrm>
            <a:off x="658368"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5.3 Transitional Forms</a:t>
            </a:r>
            <a:endParaRPr lang="en-US" sz="1150" dirty="0"/>
          </a:p>
        </p:txBody>
      </p:sp>
      <p:sp>
        <p:nvSpPr>
          <p:cNvPr id="16" name="Shape 14"/>
          <p:cNvSpPr/>
          <p:nvPr/>
        </p:nvSpPr>
        <p:spPr>
          <a:xfrm>
            <a:off x="4590288" y="1426464"/>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4590288" y="1426464"/>
            <a:ext cx="347472" cy="475488"/>
          </a:xfrm>
          <a:prstGeom prst="rect">
            <a:avLst/>
          </a:prstGeom>
          <a:solidFill>
            <a:srgbClr val="2D5A3D"/>
          </a:solidFill>
          <a:ln w="12700">
            <a:solidFill>
              <a:srgbClr val="2D5A3D"/>
            </a:solidFill>
            <a:prstDash val="solid"/>
          </a:ln>
        </p:spPr>
      </p:sp>
      <p:sp>
        <p:nvSpPr>
          <p:cNvPr id="18" name="Text 16"/>
          <p:cNvSpPr/>
          <p:nvPr/>
        </p:nvSpPr>
        <p:spPr>
          <a:xfrm>
            <a:off x="4590288" y="1426464"/>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9" name="Text 17"/>
          <p:cNvSpPr/>
          <p:nvPr/>
        </p:nvSpPr>
        <p:spPr>
          <a:xfrm>
            <a:off x="4974336" y="1426464"/>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5.4 Comparative Anatomy: Homology and Vestigiality</a:t>
            </a:r>
            <a:endParaRPr lang="en-US" sz="1150" dirty="0"/>
          </a:p>
        </p:txBody>
      </p:sp>
      <p:sp>
        <p:nvSpPr>
          <p:cNvPr id="20" name="Shape 18"/>
          <p:cNvSpPr/>
          <p:nvPr/>
        </p:nvSpPr>
        <p:spPr>
          <a:xfrm>
            <a:off x="274320"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274320" y="2011680"/>
            <a:ext cx="347472" cy="475488"/>
          </a:xfrm>
          <a:prstGeom prst="rect">
            <a:avLst/>
          </a:prstGeom>
          <a:solidFill>
            <a:srgbClr val="2D5A3D"/>
          </a:solidFill>
          <a:ln w="12700">
            <a:solidFill>
              <a:srgbClr val="2D5A3D"/>
            </a:solidFill>
            <a:prstDash val="solid"/>
          </a:ln>
        </p:spPr>
      </p:sp>
      <p:sp>
        <p:nvSpPr>
          <p:cNvPr id="22" name="Text 20"/>
          <p:cNvSpPr/>
          <p:nvPr/>
        </p:nvSpPr>
        <p:spPr>
          <a:xfrm>
            <a:off x="274320"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21"/>
          <p:cNvSpPr/>
          <p:nvPr/>
        </p:nvSpPr>
        <p:spPr>
          <a:xfrm>
            <a:off x="658368"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5.5 Comparative Embryology</a:t>
            </a:r>
            <a:endParaRPr lang="en-US" sz="1150" dirty="0"/>
          </a:p>
        </p:txBody>
      </p:sp>
      <p:sp>
        <p:nvSpPr>
          <p:cNvPr id="24" name="Shape 22"/>
          <p:cNvSpPr/>
          <p:nvPr/>
        </p:nvSpPr>
        <p:spPr>
          <a:xfrm>
            <a:off x="4590288" y="2011680"/>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5" name="Shape 23"/>
          <p:cNvSpPr/>
          <p:nvPr/>
        </p:nvSpPr>
        <p:spPr>
          <a:xfrm>
            <a:off x="4590288" y="2011680"/>
            <a:ext cx="347472" cy="475488"/>
          </a:xfrm>
          <a:prstGeom prst="rect">
            <a:avLst/>
          </a:prstGeom>
          <a:solidFill>
            <a:srgbClr val="2D5A3D"/>
          </a:solidFill>
          <a:ln w="12700">
            <a:solidFill>
              <a:srgbClr val="2D5A3D"/>
            </a:solidFill>
            <a:prstDash val="solid"/>
          </a:ln>
        </p:spPr>
      </p:sp>
      <p:sp>
        <p:nvSpPr>
          <p:cNvPr id="26" name="Text 24"/>
          <p:cNvSpPr/>
          <p:nvPr/>
        </p:nvSpPr>
        <p:spPr>
          <a:xfrm>
            <a:off x="4590288" y="2011680"/>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5"/>
          <p:cNvSpPr/>
          <p:nvPr/>
        </p:nvSpPr>
        <p:spPr>
          <a:xfrm>
            <a:off x="4974336" y="2011680"/>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5.6 Biogeography</a:t>
            </a:r>
            <a:endParaRPr lang="en-US" sz="1150" dirty="0"/>
          </a:p>
        </p:txBody>
      </p:sp>
      <p:sp>
        <p:nvSpPr>
          <p:cNvPr id="28" name="Shape 26"/>
          <p:cNvSpPr/>
          <p:nvPr/>
        </p:nvSpPr>
        <p:spPr>
          <a:xfrm>
            <a:off x="274320" y="2596896"/>
            <a:ext cx="4114800" cy="475488"/>
          </a:xfrm>
          <a:prstGeom prst="rect">
            <a:avLst/>
          </a:prstGeom>
          <a:solidFill>
            <a:srgbClr val="FFFFFF"/>
          </a:solidFill>
          <a:ln w="6350">
            <a:solidFill>
              <a:srgbClr val="8FA898"/>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274320" y="2596896"/>
            <a:ext cx="347472" cy="475488"/>
          </a:xfrm>
          <a:prstGeom prst="rect">
            <a:avLst/>
          </a:prstGeom>
          <a:solidFill>
            <a:srgbClr val="2D5A3D"/>
          </a:solidFill>
          <a:ln w="12700">
            <a:solidFill>
              <a:srgbClr val="2D5A3D"/>
            </a:solidFill>
            <a:prstDash val="solid"/>
          </a:ln>
        </p:spPr>
      </p:sp>
      <p:sp>
        <p:nvSpPr>
          <p:cNvPr id="30" name="Text 28"/>
          <p:cNvSpPr/>
          <p:nvPr/>
        </p:nvSpPr>
        <p:spPr>
          <a:xfrm>
            <a:off x="274320" y="2596896"/>
            <a:ext cx="347472" cy="47548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1" name="Text 29"/>
          <p:cNvSpPr/>
          <p:nvPr/>
        </p:nvSpPr>
        <p:spPr>
          <a:xfrm>
            <a:off x="658368" y="2596896"/>
            <a:ext cx="3694176" cy="475488"/>
          </a:xfrm>
          <a:prstGeom prst="rect">
            <a:avLst/>
          </a:prstGeom>
          <a:noFill/>
          <a:ln/>
        </p:spPr>
        <p:txBody>
          <a:bodyPr wrap="square" lIns="762" tIns="762" rIns="762" bIns="762" rtlCol="0" anchor="ctr"/>
          <a:lstStyle/>
          <a:p>
            <a:pPr algn="l" indent="0" marL="0">
              <a:buNone/>
            </a:pPr>
            <a:r>
              <a:rPr lang="en-US" sz="1150" dirty="0">
                <a:solidFill>
                  <a:srgbClr val="1C2B1E"/>
                </a:solidFill>
                <a:latin typeface="Calibri" pitchFamily="34" charset="0"/>
                <a:ea typeface="Calibri" pitchFamily="34" charset="-122"/>
                <a:cs typeface="Calibri" pitchFamily="34" charset="-120"/>
              </a:rPr>
              <a:t>5.7 Background Extinction and Mass Extinctions</a:t>
            </a:r>
            <a:endParaRPr lang="en-US" sz="1150" dirty="0"/>
          </a:p>
        </p:txBody>
      </p:sp>
      <p:sp>
        <p:nvSpPr>
          <p:cNvPr id="32" name="Shape 30"/>
          <p:cNvSpPr/>
          <p:nvPr/>
        </p:nvSpPr>
        <p:spPr>
          <a:xfrm>
            <a:off x="274320" y="3273552"/>
            <a:ext cx="8595360" cy="566928"/>
          </a:xfrm>
          <a:prstGeom prst="rect">
            <a:avLst/>
          </a:prstGeom>
          <a:solidFill>
            <a:srgbClr val="1C2B1E"/>
          </a:solidFill>
          <a:ln w="12700">
            <a:solidFill>
              <a:srgbClr val="1C2B1E"/>
            </a:solidFill>
            <a:prstDash val="solid"/>
          </a:ln>
        </p:spPr>
      </p:sp>
      <p:sp>
        <p:nvSpPr>
          <p:cNvPr id="33" name="Text 31"/>
          <p:cNvSpPr/>
          <p:nvPr/>
        </p:nvSpPr>
        <p:spPr>
          <a:xfrm>
            <a:off x="274320" y="3273552"/>
            <a:ext cx="8595360" cy="566928"/>
          </a:xfrm>
          <a:prstGeom prst="rect">
            <a:avLst/>
          </a:prstGeom>
          <a:noFill/>
          <a:ln/>
        </p:spPr>
        <p:txBody>
          <a:bodyPr wrap="square" lIns="1524" tIns="1524" rIns="1524" bIns="1524" rtlCol="0" anchor="ctr"/>
          <a:lstStyle/>
          <a:p>
            <a:pPr indent="0" marL="0">
              <a:buNone/>
            </a:pPr>
            <a:r>
              <a:rPr lang="en-US" sz="1050" b="1" dirty="0">
                <a:solidFill>
                  <a:srgbClr val="C8791E"/>
                </a:solidFill>
                <a:latin typeface="Calibri" pitchFamily="34" charset="0"/>
                <a:ea typeface="Calibri" pitchFamily="34" charset="-122"/>
                <a:cs typeface="Calibri" pitchFamily="34" charset="-120"/>
              </a:rPr>
              <a:t>Threads carried: </a:t>
            </a:r>
            <a:pPr indent="0" marL="0">
              <a:buNone/>
            </a:pPr>
            <a:r>
              <a:rPr lang="en-US" sz="1050" dirty="0">
                <a:solidFill>
                  <a:srgbClr val="F4F1EC"/>
                </a:solidFill>
                <a:latin typeface="Calibri" pitchFamily="34" charset="0"/>
                <a:ea typeface="Calibri" pitchFamily="34" charset="-122"/>
                <a:cs typeface="Calibri" pitchFamily="34" charset="-120"/>
              </a:rPr>
              <a:t>T3 — Geological time scale established and calibrated · T4 — Scale from molecular to phylum-level extinction event</a:t>
            </a:r>
            <a:endParaRPr lang="en-US" sz="1050" dirty="0"/>
          </a:p>
        </p:txBody>
      </p:sp>
      <p:sp>
        <p:nvSpPr>
          <p:cNvPr id="34" name="Text 3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 / 99</a:t>
            </a:r>
            <a:endParaRPr lang="en-US" sz="900" dirty="0"/>
          </a:p>
        </p:txBody>
      </p:sp>
      <p:sp>
        <p:nvSpPr>
          <p:cNvPr id="35" name="Text 3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§5.1 Calibrating Deep Time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Two Methods: Stratigraphy + Radiometric Dating</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STRATIGRAPHY: deeper layers are older (Principle of Superposition — Steno, 1669)</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Gives RELATIVE age: this layer is older than that one, but not absolute age in years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RADIOMETRIC DATING: radioactive isotopes decay at constant known rates → absolute age in years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K-Ar (potassium-argon): 10,000 years to billions of years — calibrates most of the geological time scale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U-Pb (uranium-lead): ancient rocks, meteorites — calibrates Earth's age at 4.54 Ga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¹⁴C (radiocarbon): organic material only, &lt;50,000 years — not useful for deep geological time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STRATIGRAPHY</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Deeper = older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Relative dating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Works everywhere globally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equipment needed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Cannot give years — only sequence</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RADIOMETRIC DATING</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Constant decay rates → absolute age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K-Ar, U-Pb for deep time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¹⁴C for &lt;50,000 years only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Requires laboratory analysis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Gives actual years before present</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Radiometric Dating: </a:t>
            </a:r>
            <a:pPr indent="0" marL="0">
              <a:buNone/>
            </a:pPr>
            <a:r>
              <a:rPr lang="en-US" sz="1100" dirty="0">
                <a:solidFill>
                  <a:srgbClr val="F4F1EC"/>
                </a:solidFill>
                <a:latin typeface="Calibri" pitchFamily="34" charset="0"/>
                <a:ea typeface="Calibri" pitchFamily="34" charset="-122"/>
                <a:cs typeface="Calibri" pitchFamily="34" charset="-120"/>
              </a:rPr>
              <a:t>Absolute age determination using known rates of radioactive decay. K-Ar useful from 10,000 years to billions of years. Provides actual dates in years, calibrating the geological time scale established by stratigraphy.</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§5.1 The Geological Time Scale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Phanerozoic Eon: Three Eras, Key Boundaries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PHANEROZOIC (541 Ma–present): the eon of visible animal life — Palaeozoic, Mesozoic, Cenozoic</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PALAEOZOIC (541–252 Ma): Cambrian explosion → fish → tetrapods → reptiles; ends with largest mass extinction (Permian, ~96% marine species)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MESOZOIC (252–66 Ma): dinosaur radiation, first mammals, first birds; ends with K-T impact at 66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CENOZOIC (66 Ma–present): mammalian radiation, primate evolution, human origin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Odisha: Talcher coalfields (Gondwana Supergroup, Permian ~299–252 Ma) — Glossopteris flora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K-T boundary at 66 Ma is the most precisely dated mass extinction event</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Cambrian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Explosion</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541 Ma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Permian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Extinction</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252 Ma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First</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Mammals</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225 Ma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K-T</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Impact</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66 Ma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Pan-Homo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Divergence</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5-7 Ma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Phanerozoic Eon: </a:t>
            </a:r>
            <a:pPr indent="0" marL="0">
              <a:buNone/>
            </a:pPr>
            <a:r>
              <a:rPr lang="en-US" sz="1100" dirty="0">
                <a:solidFill>
                  <a:srgbClr val="F4F1EC"/>
                </a:solidFill>
                <a:latin typeface="Calibri" pitchFamily="34" charset="0"/>
                <a:ea typeface="Calibri" pitchFamily="34" charset="-122"/>
                <a:cs typeface="Calibri" pitchFamily="34" charset="-120"/>
              </a:rPr>
              <a:t>541 Ma to present: the eon of visible complex animal life. Divided into Palaeozoic (541–252 Ma), Mesozoic (252–66 Ma), and Cenozoic (66 Ma–present). Calibrated by stratigraphy and radiometric dating.</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4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§5.2 Six Types of Fossil Preservation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What Gets Preserved and How</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COMPRESSION: carbon film between layers — leaves, feathers; 2D only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PERMINERALISATION: minerals fill bone/wood pores — 3D structure preserved; most vertebrate fossils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CAST AND MOULD: impression + mineral fill — external form only; no internal anatomy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AMBER: complete preservation in hardened resin — soft tissue, setae, even gut contents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TRACE FOSSILS: footprints, burrows, nests — behaviour, not anatomy; can show gait and social structure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(6) CHEMICAL FOSSILS: biomarkers in rock — hopanes (bacteria), steranes (eukaryotes); oldest evidence of life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Six Types: What Each Preserves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(1) COMPRESSION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2D carbon film; leaves, feathers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Loses 3D structure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(2) PERMINERALISATION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3D; bone, wood, shell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Most common vertebrate type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(3) CAST AND MOULD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External shape only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Internal anatomy lost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(4) AMBER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Complete 3D soft tissue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DNA possible in recent specimens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Very rare; Baltic, Burmese amber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(5) TRACE FOSSILS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Behaviour, not body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Footprints, burrows, eggs, nests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(6) CHEMICAL FOSSILS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Molecular biomarkers in rock</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Hopanes = bacteria; steranes = eukaryotes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Trace Fossil: </a:t>
            </a:r>
            <a:pPr indent="0" marL="0">
              <a:buNone/>
            </a:pPr>
            <a:r>
              <a:rPr lang="en-US" sz="1100" dirty="0">
                <a:solidFill>
                  <a:srgbClr val="F4F1EC"/>
                </a:solidFill>
                <a:latin typeface="Calibri" pitchFamily="34" charset="0"/>
                <a:ea typeface="Calibri" pitchFamily="34" charset="-122"/>
                <a:cs typeface="Calibri" pitchFamily="34" charset="-120"/>
              </a:rPr>
              <a:t>Preserved evidence of an organism's behaviour rather than its body — footprints, burrows, feeding marks, nests. Provides ecological and behavioural information unavailable from body fossils.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§5.2 Why the Fossil Record Is Incomplete — Predictably</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Biases Are Systematic, Not Random</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OVERREPRESENTED: marine organisms, hard-bodied (shells, bones), shallow-water environments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UNDERREPRESENTED: soft-bodied organisms, terrestrial animals, rainforest and mountain habitats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insight: the biases are PREDICTABLE from the physics of preservation — not mysterious or random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Terrestrial animals are underrepresented because terrestrial sediments erode rather than accumulate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Soft-bodied organisms rarely fossilise — Cambrian Burgess Shale (exceptional preservation) reveals normally lost diversity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Incompleteness is expected — the wonder is how informative the record is despite the biases</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OVERREPRESENTED</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Marine organisms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Hard-bodied (shells, bones, teeth)</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Shallow-water environments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Depositional basins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Slow-moving or sessile organisms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UNDERREPRESENTED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Terrestrial animals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Soft-bodied organisms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Rainforest and mountain habitats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Erosional landscapes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Small, fragile organisms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Taphonomy: </a:t>
            </a:r>
            <a:pPr indent="0" marL="0">
              <a:buNone/>
            </a:pPr>
            <a:r>
              <a:rPr lang="en-US" sz="1100" dirty="0">
                <a:solidFill>
                  <a:srgbClr val="F4F1EC"/>
                </a:solidFill>
                <a:latin typeface="Calibri" pitchFamily="34" charset="0"/>
                <a:ea typeface="Calibri" pitchFamily="34" charset="-122"/>
                <a:cs typeface="Calibri" pitchFamily="34" charset="-120"/>
              </a:rPr>
              <a:t>The study of how organisms decay, disarticulate, and become buried — i.e., how organisms become fossils. Taphonomic analysis reveals which organisms and environments are over- or underrepresented in the fossil record.</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§5.3 What Makes a Transitional Fossil</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Mosaic of Ancestral and Derived Characters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 transitional fossil shows a MOSAIC of ancestral and derived characters from a stratigraphically appropriate position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NOT "missing link" between two modern species — that framing misunderstands what a transitional fossil is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Correct framing: fossil from an ANCESTRAL LINEAGE showing characters of both the ancestor and the derived group</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Three requirements: (1) mosaic characters, (2) correct stratigraphic position, (3) from the right phylogenetic branch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fossil record contains many transitional forms — the claim that they are absent is false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New transitional fossils are discovered continuously: approximately 100 new species per year</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Three Requirements for a Transitional Fossil</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REQUIREMENT 1: MOSAIC CHARACTERS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Has characters of both the ancestral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group and the derived 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fully one or the other)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REQUIREMENT 2: STRATIGRAPHIC POSITION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Found in rock layers of appropriate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age — BETWEEN the two groups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chronologically</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REQUIREMENT 3: CORRECT LINEAGE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From a lineage that plausibly gave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rise to the derived 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convergently similar)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NOT a "missing link" between two</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MODERN species — that framing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misrepresents what evolution predicts</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Transitional Fossil: </a:t>
            </a:r>
            <a:pPr indent="0" marL="0">
              <a:buNone/>
            </a:pPr>
            <a:r>
              <a:rPr lang="en-US" sz="1100" dirty="0">
                <a:solidFill>
                  <a:srgbClr val="F4F1EC"/>
                </a:solidFill>
                <a:latin typeface="Calibri" pitchFamily="34" charset="0"/>
                <a:ea typeface="Calibri" pitchFamily="34" charset="-122"/>
                <a:cs typeface="Calibri" pitchFamily="34" charset="-120"/>
              </a:rPr>
              <a:t>A fossil from an ancestral lineage showing a mosaic of ancestral and derived characters, from a stratigraphic position consistent with the predicted timing of the evolutionary transition.</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§5.3 Fish to Tetrapod: Tiktaalik</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Tiktaalik roseae (~375 Ma): Predicted and Found</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Neil Shubin and colleagues: predicted a transitional fish-tetrapod form would be found in ~375 Ma Devonian rocks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Searched Ellesmere Island, Canadian Arctic — correct age, correct depositional environment (shallow tropical rivers)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Found Tiktaalik roseae (2004, published 2006): fish-like scales, gills, fins — AND neck, ribs, weight-bearing fin bones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fins contain: humerus, radius, ulna, and wrist bones — the tetrapod forelimb blueprint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Tiktaalik could prop itself on its pectoral fins — a precursor to terrestrial locomotion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point: the discovery was PREDICTED by evolutionary theory, then confirmed — the hallmark of a good scientific theory</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FISH CHARACTERS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(ancestral)</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Scales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Gills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Fish-like body plan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Paired fins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 neck (fish cannot turn head)</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TETRAPOD CHARACTERS</a:t>
            </a:r>
            <a:endParaRPr lang="en-US" sz="1300" dirty="0"/>
          </a:p>
          <a:p>
            <a:pPr indent="0" marL="0">
              <a:buNone/>
            </a:pPr>
            <a:r>
              <a:rPr lang="en-US" sz="1300" b="1" dirty="0">
                <a:solidFill>
                  <a:srgbClr val="FFFFFF"/>
                </a:solidFill>
                <a:latin typeface="Georgia" pitchFamily="34" charset="0"/>
                <a:ea typeface="Georgia" pitchFamily="34" charset="-122"/>
                <a:cs typeface="Georgia" pitchFamily="34" charset="-120"/>
              </a:rPr>
              <a:t>(derived)</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Neck — can turn head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Ribs — support body weight</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Flat head (crocodilian-like)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Humerus + radius + ulna in fin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Could prop on fins</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Tiktaalik roseae: </a:t>
            </a:r>
            <a:pPr indent="0" marL="0">
              <a:buNone/>
            </a:pPr>
            <a:r>
              <a:rPr lang="en-US" sz="1100" dirty="0">
                <a:solidFill>
                  <a:srgbClr val="F4F1EC"/>
                </a:solidFill>
                <a:latin typeface="Calibri" pitchFamily="34" charset="0"/>
                <a:ea typeface="Calibri" pitchFamily="34" charset="-122"/>
                <a:cs typeface="Calibri" pitchFamily="34" charset="-120"/>
              </a:rPr>
              <a:t>~375 Ma fish-tetrapod transitional form from Devonian rocks of Ellesmere Island. Has both fish characters (scales, gills) and tetrapod characters (neck, ribs, limb-bone precursors in fins). Its discovery was explicitly predicted before excavation.</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8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§5.3 Horse Evolution: Bushy Radiation Not a Ladder</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The Most Misrepresented Evolutionary Sequence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Traditional diagram: Hyracotherium → Mesohippus → Merychippus → Equus — a linear ladder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IS WRONG — a pedagogical simplification that has become a myth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Reality: the horse family (Equidae) was a diverse radiation — at the Miocene peak, &gt;12 simultaneous species in North America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Body size evolved in BOTH directions: some lineages became larger, others smaller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Toe reduction from 4→3→1 evolved MULTIPLE TIMES independently in different lineages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Equus is ONE surviving branch of many that went extinct — the "ladder" shows only one path through a bushy tree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2D5A3D"/>
            </a:solidFill>
            <a:prstDash val="solid"/>
          </a:ln>
        </p:spPr>
      </p:sp>
      <p:sp>
        <p:nvSpPr>
          <p:cNvPr id="8" name="Shape 6"/>
          <p:cNvSpPr/>
          <p:nvPr/>
        </p:nvSpPr>
        <p:spPr>
          <a:xfrm>
            <a:off x="6995160" y="1234440"/>
            <a:ext cx="0" cy="1463040"/>
          </a:xfrm>
          <a:prstGeom prst="line">
            <a:avLst/>
          </a:prstGeom>
          <a:noFill/>
          <a:ln w="15240">
            <a:solidFill>
              <a:srgbClr val="3D7A52"/>
            </a:solidFill>
            <a:prstDash val="solid"/>
          </a:ln>
        </p:spPr>
      </p:sp>
      <p:sp>
        <p:nvSpPr>
          <p:cNvPr id="9" name="Shape 7"/>
          <p:cNvSpPr/>
          <p:nvPr/>
        </p:nvSpPr>
        <p:spPr>
          <a:xfrm>
            <a:off x="6830568" y="1143000"/>
            <a:ext cx="329184" cy="201168"/>
          </a:xfrm>
          <a:prstGeom prst="ellipse">
            <a:avLst/>
          </a:prstGeom>
          <a:solidFill>
            <a:srgbClr val="C8791E"/>
          </a:solidFill>
          <a:ln w="12700">
            <a:solidFill>
              <a:srgbClr val="C8791E"/>
            </a:solidFill>
            <a:prstDash val="solid"/>
          </a:ln>
        </p:spPr>
      </p:sp>
      <p:sp>
        <p:nvSpPr>
          <p:cNvPr id="10" name="Text 8"/>
          <p:cNvSpPr/>
          <p:nvPr/>
        </p:nvSpPr>
        <p:spPr>
          <a:xfrm>
            <a:off x="6720840" y="941832"/>
            <a:ext cx="548640" cy="18288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Hyracotherium</a:t>
            </a:r>
            <a:endParaRPr lang="en-US" sz="800" dirty="0"/>
          </a:p>
          <a:p>
            <a:pPr algn="ctr" indent="0" marL="0">
              <a:buNone/>
            </a:pPr>
            <a:r>
              <a:rPr lang="en-US" sz="800" dirty="0">
                <a:solidFill>
                  <a:srgbClr val="8FA898"/>
                </a:solidFill>
                <a:latin typeface="Calibri" pitchFamily="34" charset="0"/>
                <a:ea typeface="Calibri" pitchFamily="34" charset="-122"/>
                <a:cs typeface="Calibri" pitchFamily="34" charset="-120"/>
              </a:rPr>
              <a:t>55 Ma</a:t>
            </a:r>
            <a:endParaRPr lang="en-US" sz="800" dirty="0"/>
          </a:p>
        </p:txBody>
      </p:sp>
      <p:sp>
        <p:nvSpPr>
          <p:cNvPr id="11" name="Shape 9"/>
          <p:cNvSpPr/>
          <p:nvPr/>
        </p:nvSpPr>
        <p:spPr>
          <a:xfrm>
            <a:off x="6170371" y="2697480"/>
            <a:ext cx="1649578" cy="0"/>
          </a:xfrm>
          <a:prstGeom prst="line">
            <a:avLst/>
          </a:prstGeom>
          <a:noFill/>
          <a:ln w="12700">
            <a:solidFill>
              <a:srgbClr val="3D7A52"/>
            </a:solidFill>
            <a:prstDash val="solid"/>
          </a:ln>
        </p:spPr>
      </p:sp>
      <p:sp>
        <p:nvSpPr>
          <p:cNvPr id="12" name="Shape 10"/>
          <p:cNvSpPr/>
          <p:nvPr/>
        </p:nvSpPr>
        <p:spPr>
          <a:xfrm>
            <a:off x="6170371" y="2697480"/>
            <a:ext cx="0" cy="1280160"/>
          </a:xfrm>
          <a:prstGeom prst="line">
            <a:avLst/>
          </a:prstGeom>
          <a:noFill/>
          <a:ln w="12700">
            <a:solidFill>
              <a:srgbClr val="3D7A52"/>
            </a:solidFill>
            <a:prstDash val="solid"/>
          </a:ln>
        </p:spPr>
      </p:sp>
      <p:sp>
        <p:nvSpPr>
          <p:cNvPr id="13" name="Shape 11"/>
          <p:cNvSpPr/>
          <p:nvPr/>
        </p:nvSpPr>
        <p:spPr>
          <a:xfrm>
            <a:off x="5804611" y="3977640"/>
            <a:ext cx="731520" cy="256032"/>
          </a:xfrm>
          <a:prstGeom prst="rect">
            <a:avLst/>
          </a:prstGeom>
          <a:solidFill>
            <a:srgbClr val="2D5A3D"/>
          </a:solidFill>
          <a:ln w="12700">
            <a:solidFill>
              <a:srgbClr val="3D7A52"/>
            </a:solidFill>
            <a:prstDash val="solid"/>
          </a:ln>
        </p:spPr>
      </p:sp>
      <p:sp>
        <p:nvSpPr>
          <p:cNvPr id="14" name="Text 12"/>
          <p:cNvSpPr/>
          <p:nvPr/>
        </p:nvSpPr>
        <p:spPr>
          <a:xfrm>
            <a:off x="5804611"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Extinct</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lineages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(many)</a:t>
            </a:r>
            <a:endParaRPr lang="en-US" sz="900" dirty="0"/>
          </a:p>
        </p:txBody>
      </p:sp>
      <p:sp>
        <p:nvSpPr>
          <p:cNvPr id="15" name="Shape 13"/>
          <p:cNvSpPr/>
          <p:nvPr/>
        </p:nvSpPr>
        <p:spPr>
          <a:xfrm>
            <a:off x="7819949" y="2697480"/>
            <a:ext cx="0" cy="1280160"/>
          </a:xfrm>
          <a:prstGeom prst="line">
            <a:avLst/>
          </a:prstGeom>
          <a:noFill/>
          <a:ln w="12700">
            <a:solidFill>
              <a:srgbClr val="3D7A52"/>
            </a:solidFill>
            <a:prstDash val="solid"/>
          </a:ln>
        </p:spPr>
      </p:sp>
      <p:sp>
        <p:nvSpPr>
          <p:cNvPr id="16" name="Shape 14"/>
          <p:cNvSpPr/>
          <p:nvPr/>
        </p:nvSpPr>
        <p:spPr>
          <a:xfrm>
            <a:off x="7454189" y="3977640"/>
            <a:ext cx="731520" cy="256032"/>
          </a:xfrm>
          <a:prstGeom prst="rect">
            <a:avLst/>
          </a:prstGeom>
          <a:solidFill>
            <a:srgbClr val="2D5A3D"/>
          </a:solidFill>
          <a:ln w="12700">
            <a:solidFill>
              <a:srgbClr val="3D7A52"/>
            </a:solidFill>
            <a:prstDash val="solid"/>
          </a:ln>
        </p:spPr>
      </p:sp>
      <p:sp>
        <p:nvSpPr>
          <p:cNvPr id="17" name="Text 15"/>
          <p:cNvSpPr/>
          <p:nvPr/>
        </p:nvSpPr>
        <p:spPr>
          <a:xfrm>
            <a:off x="7454189" y="3977640"/>
            <a:ext cx="731520"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Equus</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(surviving</a:t>
            </a:r>
            <a:endParaRPr lang="en-US" sz="900" dirty="0"/>
          </a:p>
          <a:p>
            <a:pPr algn="ctr" indent="0" marL="0">
              <a:buNone/>
            </a:pPr>
            <a:r>
              <a:rPr lang="en-US" sz="900" b="1" dirty="0">
                <a:solidFill>
                  <a:srgbClr val="FFFFFF"/>
                </a:solidFill>
                <a:latin typeface="Calibri" pitchFamily="34" charset="0"/>
                <a:ea typeface="Calibri" pitchFamily="34" charset="-122"/>
                <a:cs typeface="Calibri" pitchFamily="34" charset="-120"/>
              </a:rPr>
              <a:t>branch)</a:t>
            </a:r>
            <a:endParaRPr lang="en-US" sz="900" dirty="0"/>
          </a:p>
        </p:txBody>
      </p:sp>
      <p:sp>
        <p:nvSpPr>
          <p:cNvPr id="18" name="Shape 16"/>
          <p:cNvSpPr/>
          <p:nvPr/>
        </p:nvSpPr>
        <p:spPr>
          <a:xfrm>
            <a:off x="7445045" y="3355848"/>
            <a:ext cx="749808" cy="0"/>
          </a:xfrm>
          <a:prstGeom prst="line">
            <a:avLst/>
          </a:prstGeom>
          <a:noFill/>
          <a:ln w="11430">
            <a:solidFill>
              <a:srgbClr val="3D8C7A"/>
            </a:solidFill>
            <a:prstDash val="solid"/>
          </a:ln>
        </p:spPr>
      </p:sp>
      <p:sp>
        <p:nvSpPr>
          <p:cNvPr id="19" name="Shape 17"/>
          <p:cNvSpPr/>
          <p:nvPr/>
        </p:nvSpPr>
        <p:spPr>
          <a:xfrm>
            <a:off x="7445045" y="3355848"/>
            <a:ext cx="0" cy="621792"/>
          </a:xfrm>
          <a:prstGeom prst="line">
            <a:avLst/>
          </a:prstGeom>
          <a:noFill/>
          <a:ln w="11430">
            <a:solidFill>
              <a:srgbClr val="3D8C7A"/>
            </a:solidFill>
            <a:prstDash val="solid"/>
          </a:ln>
        </p:spPr>
      </p:sp>
      <p:sp>
        <p:nvSpPr>
          <p:cNvPr id="20" name="Shape 18"/>
          <p:cNvSpPr/>
          <p:nvPr/>
        </p:nvSpPr>
        <p:spPr>
          <a:xfrm>
            <a:off x="7152437" y="3977640"/>
            <a:ext cx="585216" cy="228600"/>
          </a:xfrm>
          <a:prstGeom prst="rect">
            <a:avLst/>
          </a:prstGeom>
          <a:solidFill>
            <a:srgbClr val="3D8C7A"/>
          </a:solidFill>
          <a:ln w="12700">
            <a:solidFill>
              <a:srgbClr val="3D8C7A"/>
            </a:solidFill>
            <a:prstDash val="solid"/>
          </a:ln>
        </p:spPr>
      </p:sp>
      <p:sp>
        <p:nvSpPr>
          <p:cNvPr id="21" name="Text 19"/>
          <p:cNvSpPr/>
          <p:nvPr/>
        </p:nvSpPr>
        <p:spPr>
          <a:xfrm>
            <a:off x="7152437"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Merychippus</a:t>
            </a:r>
            <a:endParaRPr lang="en-US" sz="800" dirty="0"/>
          </a:p>
          <a:p>
            <a:pPr algn="ctr" indent="0" marL="0">
              <a:buNone/>
            </a:pPr>
            <a:r>
              <a:rPr lang="en-US" sz="800" dirty="0">
                <a:solidFill>
                  <a:srgbClr val="FFFFFF"/>
                </a:solidFill>
                <a:latin typeface="Calibri" pitchFamily="34" charset="0"/>
                <a:ea typeface="Calibri" pitchFamily="34" charset="-122"/>
                <a:cs typeface="Calibri" pitchFamily="34" charset="-120"/>
              </a:rPr>
              <a:t>(ancestor)</a:t>
            </a:r>
            <a:endParaRPr lang="en-US" sz="800" dirty="0"/>
          </a:p>
        </p:txBody>
      </p:sp>
      <p:sp>
        <p:nvSpPr>
          <p:cNvPr id="22" name="Shape 20"/>
          <p:cNvSpPr/>
          <p:nvPr/>
        </p:nvSpPr>
        <p:spPr>
          <a:xfrm>
            <a:off x="8194853" y="3355848"/>
            <a:ext cx="0" cy="621792"/>
          </a:xfrm>
          <a:prstGeom prst="line">
            <a:avLst/>
          </a:prstGeom>
          <a:noFill/>
          <a:ln w="11430">
            <a:solidFill>
              <a:srgbClr val="3D8C7A"/>
            </a:solidFill>
            <a:prstDash val="solid"/>
          </a:ln>
        </p:spPr>
      </p:sp>
      <p:sp>
        <p:nvSpPr>
          <p:cNvPr id="23" name="Shape 21"/>
          <p:cNvSpPr/>
          <p:nvPr/>
        </p:nvSpPr>
        <p:spPr>
          <a:xfrm>
            <a:off x="7902245" y="3977640"/>
            <a:ext cx="585216" cy="228600"/>
          </a:xfrm>
          <a:prstGeom prst="rect">
            <a:avLst/>
          </a:prstGeom>
          <a:solidFill>
            <a:srgbClr val="3D8C7A"/>
          </a:solidFill>
          <a:ln w="12700">
            <a:solidFill>
              <a:srgbClr val="3D8C7A"/>
            </a:solidFill>
            <a:prstDash val="solid"/>
          </a:ln>
        </p:spPr>
      </p:sp>
      <p:sp>
        <p:nvSpPr>
          <p:cNvPr id="24" name="Text 22"/>
          <p:cNvSpPr/>
          <p:nvPr/>
        </p:nvSpPr>
        <p:spPr>
          <a:xfrm>
            <a:off x="7902245" y="3977640"/>
            <a:ext cx="585216" cy="22860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Pliohippus</a:t>
            </a:r>
            <a:endParaRPr lang="en-US" sz="800" dirty="0"/>
          </a:p>
        </p:txBody>
      </p:sp>
      <p:sp>
        <p:nvSpPr>
          <p:cNvPr id="25" name="Shape 23"/>
          <p:cNvSpPr/>
          <p:nvPr/>
        </p:nvSpPr>
        <p:spPr>
          <a:xfrm>
            <a:off x="274320" y="4297680"/>
            <a:ext cx="8595360" cy="621792"/>
          </a:xfrm>
          <a:prstGeom prst="rect">
            <a:avLst/>
          </a:prstGeom>
          <a:solidFill>
            <a:srgbClr val="1C2B1E"/>
          </a:solidFill>
          <a:ln w="12700">
            <a:solidFill>
              <a:srgbClr val="1C2B1E"/>
            </a:solidFill>
            <a:prstDash val="solid"/>
          </a:ln>
        </p:spPr>
      </p:sp>
      <p:sp>
        <p:nvSpPr>
          <p:cNvPr id="26" name="Text 2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Adaptive Radiation (Equidae): </a:t>
            </a:r>
            <a:pPr indent="0" marL="0">
              <a:buNone/>
            </a:pPr>
            <a:r>
              <a:rPr lang="en-US" sz="1100" dirty="0">
                <a:solidFill>
                  <a:srgbClr val="F4F1EC"/>
                </a:solidFill>
                <a:latin typeface="Calibri" pitchFamily="34" charset="0"/>
                <a:ea typeface="Calibri" pitchFamily="34" charset="-122"/>
                <a:cs typeface="Calibri" pitchFamily="34" charset="-120"/>
              </a:rPr>
              <a:t>The horse family diversified into &gt;12 simultaneous North American species at the Miocene peak. Equus is one surviving branch. The classic linear horse evolution diagram is a misleading oversimplification of a bushy clade.</a:t>
            </a:r>
            <a:endParaRPr lang="en-US" sz="1100" dirty="0"/>
          </a:p>
        </p:txBody>
      </p:sp>
      <p:sp>
        <p:nvSpPr>
          <p:cNvPr id="27" name="Text 2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 / 99</a:t>
            </a:r>
            <a:endParaRPr lang="en-US" sz="900" dirty="0"/>
          </a:p>
        </p:txBody>
      </p:sp>
      <p:sp>
        <p:nvSpPr>
          <p:cNvPr id="28" name="Text 2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§5.3 Dinosaur to Bird: Feathered Intermediates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Birds Are Living Dinosaurs — The Evidence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Archaeopteryx (~150 Ma): the original transitional fossil — bird feathers + dinosaur characters (teeth, clawed wings, long bony tail)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Systematic problem resolved by cladistics: birds are derived theropod dinosaurs — a subgroup of dinosaurs, not separately descended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Feathered dinosaur discoveries from China (Sinosauropteryx, Microraptor, Yi qi): show gradual evolution of flight feathers from insulating protofeathers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Four-winged dinosaurs (Microraptor): suggest gliding origin of flight, not ground-up running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Modern birds (Aves) are avian dinosaurs — they survived the K-T extinction; all other dinosaur lineages did not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transition from non-avian dinosaur to bird is now one of the best-documented macroevolutionary transitions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Theropod</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dinosaurs</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230 Ma</a:t>
            </a:r>
            <a:endParaRPr lang="en-US" sz="800" dirty="0"/>
          </a:p>
        </p:txBody>
      </p:sp>
      <p:sp>
        <p:nvSpPr>
          <p:cNvPr id="12" name="Shape 10"/>
          <p:cNvSpPr/>
          <p:nvPr/>
        </p:nvSpPr>
        <p:spPr>
          <a:xfrm>
            <a:off x="632155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9740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Proto-feathers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(Sinosauropteryx)</a:t>
            </a:r>
            <a:endParaRPr lang="en-US" sz="900" dirty="0"/>
          </a:p>
        </p:txBody>
      </p:sp>
      <p:sp>
        <p:nvSpPr>
          <p:cNvPr id="14" name="Text 12"/>
          <p:cNvSpPr/>
          <p:nvPr/>
        </p:nvSpPr>
        <p:spPr>
          <a:xfrm>
            <a:off x="59740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125 Ma</a:t>
            </a:r>
            <a:endParaRPr lang="en-US" sz="800" dirty="0"/>
          </a:p>
        </p:txBody>
      </p:sp>
      <p:sp>
        <p:nvSpPr>
          <p:cNvPr id="15" name="Shape 13"/>
          <p:cNvSpPr/>
          <p:nvPr/>
        </p:nvSpPr>
        <p:spPr>
          <a:xfrm>
            <a:off x="744931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710184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Archaeopteryx</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(transitional)</a:t>
            </a:r>
            <a:endParaRPr lang="en-US" sz="900" dirty="0"/>
          </a:p>
        </p:txBody>
      </p:sp>
      <p:sp>
        <p:nvSpPr>
          <p:cNvPr id="17" name="Text 15"/>
          <p:cNvSpPr/>
          <p:nvPr/>
        </p:nvSpPr>
        <p:spPr>
          <a:xfrm>
            <a:off x="710184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150 Ma</a:t>
            </a:r>
            <a:endParaRPr lang="en-US" sz="800" dirty="0"/>
          </a:p>
        </p:txBody>
      </p:sp>
      <p:sp>
        <p:nvSpPr>
          <p:cNvPr id="18" name="Shape 16"/>
          <p:cNvSpPr/>
          <p:nvPr/>
        </p:nvSpPr>
        <p:spPr>
          <a:xfrm>
            <a:off x="8577072" y="2309774"/>
            <a:ext cx="219456" cy="219456"/>
          </a:xfrm>
          <a:prstGeom prst="ellipse">
            <a:avLst/>
          </a:prstGeom>
          <a:solidFill>
            <a:srgbClr val="3D8C7A"/>
          </a:solidFill>
          <a:ln w="6350">
            <a:solidFill>
              <a:srgbClr val="FFFFFF"/>
            </a:solidFill>
            <a:prstDash val="solid"/>
          </a:ln>
        </p:spPr>
      </p:sp>
      <p:sp>
        <p:nvSpPr>
          <p:cNvPr id="19" name="Text 17"/>
          <p:cNvSpPr/>
          <p:nvPr/>
        </p:nvSpPr>
        <p:spPr>
          <a:xfrm>
            <a:off x="822960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Modern</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bird orders</a:t>
            </a:r>
            <a:endParaRPr lang="en-US" sz="900" dirty="0"/>
          </a:p>
        </p:txBody>
      </p:sp>
      <p:sp>
        <p:nvSpPr>
          <p:cNvPr id="20" name="Text 18"/>
          <p:cNvSpPr/>
          <p:nvPr/>
        </p:nvSpPr>
        <p:spPr>
          <a:xfrm>
            <a:off x="822960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66-50 Ma</a:t>
            </a:r>
            <a:endParaRPr lang="en-US" sz="800" dirty="0"/>
          </a:p>
        </p:txBody>
      </p:sp>
      <p:sp>
        <p:nvSpPr>
          <p:cNvPr id="21" name="Shape 19"/>
          <p:cNvSpPr/>
          <p:nvPr/>
        </p:nvSpPr>
        <p:spPr>
          <a:xfrm>
            <a:off x="274320" y="4297680"/>
            <a:ext cx="8595360" cy="621792"/>
          </a:xfrm>
          <a:prstGeom prst="rect">
            <a:avLst/>
          </a:prstGeom>
          <a:solidFill>
            <a:srgbClr val="1C2B1E"/>
          </a:solidFill>
          <a:ln w="12700">
            <a:solidFill>
              <a:srgbClr val="1C2B1E"/>
            </a:solidFill>
            <a:prstDash val="solid"/>
          </a:ln>
        </p:spPr>
      </p:sp>
      <p:sp>
        <p:nvSpPr>
          <p:cNvPr id="22" name="Text 2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Archaeopteryx: </a:t>
            </a:r>
            <a:pPr indent="0" marL="0">
              <a:buNone/>
            </a:pPr>
            <a:r>
              <a:rPr lang="en-US" sz="1100" dirty="0">
                <a:solidFill>
                  <a:srgbClr val="F4F1EC"/>
                </a:solidFill>
                <a:latin typeface="Calibri" pitchFamily="34" charset="0"/>
                <a:ea typeface="Calibri" pitchFamily="34" charset="-122"/>
                <a:cs typeface="Calibri" pitchFamily="34" charset="-120"/>
              </a:rPr>
              <a:t>~150 Ma theropod dinosaur with feathers. Shows dinosaurian characters (teeth, clawed wings, long bony tail) alongside avian characters (asymmetric flight feathers, wishbone). One of the best-documented transitional forms.</a:t>
            </a:r>
            <a:endParaRPr lang="en-US" sz="1100" dirty="0"/>
          </a:p>
        </p:txBody>
      </p:sp>
      <p:sp>
        <p:nvSpPr>
          <p:cNvPr id="23" name="Text 2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10 / 99</a:t>
            </a:r>
            <a:endParaRPr lang="en-US" sz="900" dirty="0"/>
          </a:p>
        </p:txBody>
      </p:sp>
      <p:sp>
        <p:nvSpPr>
          <p:cNvPr id="24" name="Text 2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§5.4 The Tetrapod Forelimb</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One Structural Plan, Radically Different Functions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tetrapods (amphibians, reptiles, birds, mammals) share the same forelimb bones: humerus, radius, ulna, carpals, metacarpals, phalanges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Human arm (manipulation) · Bat wing (flight) · Whale flipper (swimming) · Mole forelimb (digging)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Radically different functions — but the same structural plan is recognisable in every case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structural identity is INEXPLICABLE except by common descent from the first tetrapod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Each structure is modified from the same ancestral blueprint — natural selection can modify what exists, not design from scratch</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fossil record shows the transition: Tiktaalik (Devonian) had the proto-limb bone arrangement already</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Same Bones — Different Functions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HUMERUS  (upper arm / wing / flipper)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RADIUS + ULNA  (forearm)</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CARPALS  (wrist)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METACARPALS  (palm / wing membrane support)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PHALANGES  (fingers / flight feathers attached)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IN ALL TETRAPODS: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arm → manipulation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Bat wing → flight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Whale flipper → swimming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Horse leg → running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Mole forelimb → digging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Bird wing → flight (convergent with bat)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Same bones → same ancestor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Different functions → independent modification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Homologous Structures: </a:t>
            </a:r>
            <a:pPr indent="0" marL="0">
              <a:buNone/>
            </a:pPr>
            <a:r>
              <a:rPr lang="en-US" sz="1100" dirty="0">
                <a:solidFill>
                  <a:srgbClr val="F4F1EC"/>
                </a:solidFill>
                <a:latin typeface="Calibri" pitchFamily="34" charset="0"/>
                <a:ea typeface="Calibri" pitchFamily="34" charset="-122"/>
                <a:cs typeface="Calibri" pitchFamily="34" charset="-120"/>
              </a:rPr>
              <a:t>Structures derived from the same ancestral structure regardless of function. The tetrapod forelimb (humerus, radius, ulna, carpals) in all tetrapods is the definitive example — same bones, radically different functions, inherited from the first tetrapod ancestor.</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§5.4 Vestigial Structures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Evolutionary Remnants: Direct Predictions of Descent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VESTIGIAL STRUCTURE: a reduced or non-functional remnant of a feature that was functional in an ancestor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Python pelvic girdle: small remnant hindlimb bones — pythons are descended from limbed ancestors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Cave fish eyes: Astyanax mexicanus — functional eyes in surface populations, vestigial in cave populations (same species, different ecotype)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Human coccyx: vestigial tail — 3–5 fused vertebrae, remnant of ancestral primate tail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Human palmaris longus muscle (absent in ~15%): vestigial — fully functional in other primates for branch-swinging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Vestigial structures are a DIRECT PREDICTION of descent with modification — no other explanation makes sense of their presence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VESTIGIAL STRUCTURE</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Reduced or non-functional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Homologous to functional structure in ancestor</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Python pelvic girdle remnants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Human coccyx</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Cave fish eyes</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EVOLUTIONARY EXPLANATION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Present because ancestor had functional version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Selection pressure relaxed after habitat change</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Costly to maintain → gradual reduction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Explains existence without special creation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Directly predicted by descent with modification</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Vestigial Structure: </a:t>
            </a:r>
            <a:pPr indent="0" marL="0">
              <a:buNone/>
            </a:pPr>
            <a:r>
              <a:rPr lang="en-US" sz="1100" dirty="0">
                <a:solidFill>
                  <a:srgbClr val="F4F1EC"/>
                </a:solidFill>
                <a:latin typeface="Calibri" pitchFamily="34" charset="0"/>
                <a:ea typeface="Calibri" pitchFamily="34" charset="-122"/>
                <a:cs typeface="Calibri" pitchFamily="34" charset="-120"/>
              </a:rPr>
              <a:t>A reduced or non-functional anatomical remnant of a feature that was functional in an ancestor. Direct prediction of descent with modification — inexplicable under a creation model that would not create useless structures.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12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§5.5 Comparative Embryology: Von Baer's Law</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Early Embryos Are More Similar Than Adults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Haeckel's biogenetic law ("ontogeny recapitulates phylogeny") — INCORRECT and based on falsified embryo drawings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Von Baer's defensible version (1828): early embryonic stages are MORE SIMILAR across vertebrate classes than later stages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Early vertebrate embryos (fish, amphibian, reptile, bird, mammal): all have pharyngeal arches, a notochord, somites, and a tail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Pharyngeal arches: in fish → gill arches; in mammals → structures of jaw, middle ear, throat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same developmental programme, inherited from the common vertebrate ancestor, is modified differently in each lineage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This developmental similarity in early stages reflects a SHARED INHERITED DEVELOPMENTAL PROGRAMME — not adult ancestors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Von Baer's Law vs Haeckel's Law</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HAECKEL'S LAW (WRONG)</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"Ontogeny recapitulates phylogeny"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embryo passes through</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adult fish stage, adult amphibian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stage, etc.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FALSIFIED: embryo drawings were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fabricated or heavily modified</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VON BAER'S LAW (DEFENSIBLE)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"Early embryonic stages are more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similar across vertebrate classes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than later stages"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Human embryo resembles FISH EMBRYO</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not a fish adult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Early: shared features (pharyngeal arches)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Late: diverge into class-specific features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INTERPRETATION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Shared early development = shared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ancestral developmental programme</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Pharyngeal Arches: </a:t>
            </a:r>
            <a:pPr indent="0" marL="0">
              <a:buNone/>
            </a:pPr>
            <a:r>
              <a:rPr lang="en-US" sz="1100" dirty="0">
                <a:solidFill>
                  <a:srgbClr val="F4F1EC"/>
                </a:solidFill>
                <a:latin typeface="Calibri" pitchFamily="34" charset="0"/>
                <a:ea typeface="Calibri" pitchFamily="34" charset="-122"/>
                <a:cs typeface="Calibri" pitchFamily="34" charset="-120"/>
              </a:rPr>
              <a:t>Paired structures present in all vertebrate embryos — reflecting the shared ancestral aquatic developmental programme. In fish: gill arches. In mammals: modified into jaw bones, middle ear ossicles, throat structures. A molecular fossil of vertebrate aquatic ancestry.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§5.6 Wallace's Line and Biogeographic Boundaries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Sharp Boundaries Between Faunas That Cannot Be Explained by Ecology Alone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Alfred Russel Wallace: drew the boundary between Asian and Australian faunas through the Malay Archipelago</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East of Wallace's Line: marsupials, birds of paradise, cockatoos — Australian biogeographic region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West of Wallace's Line: placental mammals, tigers, orangutans — Asian biogeographic region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water gap between Bali and Lombok is only 35 km — but the fauna is sharply different on each side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Ecological explanation fails: the habitats on each side are similar; the climate is similar</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Evolutionary explanation: the gap represents the ancient boundary between the Asian and Australasian continental plates — two independent evolutionary histories</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Wallace's Line: Why Ecology Cannot Explain It</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BALI (west of line)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Placental mammals: tigers, deer, civets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Asian bird families: woodpeckers, barbets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Similar tropical forest habitat to Lombok</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LOMBOK (east of line, 35 km away)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Marsupials replace placentals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Cockatoos, birds of paradise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Same climate and vegetation type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ECOLOGY CANNOT EXPLAIN THIS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Habitats are similar on both sides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Climate is similar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35 km is not an insurmountable barrier</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EVOLUTIONARY EXPLANATION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Ancient continental boundary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Australia-New Guinea plate vs Asian plate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Two independent evolutionary histories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Separated before placental mammals diversified</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Wallace's Line: </a:t>
            </a:r>
            <a:pPr indent="0" marL="0">
              <a:buNone/>
            </a:pPr>
            <a:r>
              <a:rPr lang="en-US" sz="1100" dirty="0">
                <a:solidFill>
                  <a:srgbClr val="F4F1EC"/>
                </a:solidFill>
                <a:latin typeface="Calibri" pitchFamily="34" charset="0"/>
                <a:ea typeface="Calibri" pitchFamily="34" charset="-122"/>
                <a:cs typeface="Calibri" pitchFamily="34" charset="-120"/>
              </a:rPr>
              <a:t>The biogeographic boundary drawn by Alfred Russel Wallace separating Asian and Australian faunas. Cannot be explained by ecology — the habitat is similar on both sides. Reflects the ancient boundary between two tectonic plates with independent evolutionary histories.</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14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§5.6 Gondwana Distributions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Disconnected Continents, Connected Evolutionary History</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Gondwana: the southern supercontinent (South America, Africa, Antarctica, Australia, Indian subcontinent) — began breaking up ~180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Glossopteris flora: seed fern found as fossils in all Gondwana landmasses — India (Talcher coalfields, Odisha), South America, Africa, Australia, Antarctica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same fossil plant species on currently separate continents is inexplicable without continental drift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Marsupials: South America and Australia have marsupials; Africa, Asia, Europe do not — they diversified before Gondwana fully separated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Lungfishes: living in South America, Africa, and Australia — relict distribution of a once-connected landmass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Gondwana distributions were a key prediction of Wegener's continental drift hypothesis before plate tectonics was proved</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Gondwana Evidence in Odisha</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TALCHER COALFIELDS, ANGUL DISTRICT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Formation: Gondwana Supergroup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Age: Permian (~299-252 Ma)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Key fossil: Glossopteris (seed fern)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GLOSSOPTERIS DISTRIBUTION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India (Talcher, Odisha)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South America (Paraná Basin, Brazil)</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Africa (Karoo Basin, South Africa)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Antarctica (Transantarctic Mountains)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Australia (Sydney Basin)</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INTERPRETATION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All these landmasses were connected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as Gondwana during the Permian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same plant species grew across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supercontinent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Continental separation LATER created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the current disconnected distribution</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Gondwana: </a:t>
            </a:r>
            <a:pPr indent="0" marL="0">
              <a:buNone/>
            </a:pPr>
            <a:r>
              <a:rPr lang="en-US" sz="1100" dirty="0">
                <a:solidFill>
                  <a:srgbClr val="F4F1EC"/>
                </a:solidFill>
                <a:latin typeface="Calibri" pitchFamily="34" charset="0"/>
                <a:ea typeface="Calibri" pitchFamily="34" charset="-122"/>
                <a:cs typeface="Calibri" pitchFamily="34" charset="-120"/>
              </a:rPr>
              <a:t>The southern supercontinent that included present-day South America, Africa, Antarctica, Australia, and the Indian subcontinent. Glossopteris fossils found on all these landmasses — including Talcher coalfields, Odisha — demonstrate their former connectivity.</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§5.7 Background vs Mass Extinction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Two Modes of Species Loss</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BACKGROUND EXTINCTION: continuous low-level species loss — estimated 1–5 species per year naturally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MASS EXTINCTION: geologically rapid elimination of a large proportion of species across multiple taxonomic groups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Big Five mass extinctions: Late Ordovician (~440 Ma), Late Devonian (~375 Ma), End-Permian (~252 Ma), End-Triassic (~200 Ma), K-T (~66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End-Permian was the most severe: ~96% of marine species and ~70% of terrestrial species eliminated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Current biodiversity crisis: extinction rate estimated at 100–1000× background — may constitute the "Sixth Mass Extinction"</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After each mass extinction: adaptive radiation by surviving lineages fills vacant ecological space</a:t>
            </a:r>
            <a:endParaRPr lang="en-US" sz="1300" dirty="0"/>
          </a:p>
        </p:txBody>
      </p:sp>
      <p:sp>
        <p:nvSpPr>
          <p:cNvPr id="7" name="Shape 5"/>
          <p:cNvSpPr/>
          <p:nvPr/>
        </p:nvSpPr>
        <p:spPr>
          <a:xfrm>
            <a:off x="5120640" y="960120"/>
            <a:ext cx="1805940" cy="3474720"/>
          </a:xfrm>
          <a:prstGeom prst="rect">
            <a:avLst/>
          </a:prstGeom>
          <a:solidFill>
            <a:srgbClr val="1C2B1E"/>
          </a:solidFill>
          <a:ln w="6350">
            <a:solidFill>
              <a:srgbClr val="2D5A3D"/>
            </a:solidFill>
            <a:prstDash val="solid"/>
          </a:ln>
        </p:spPr>
      </p:sp>
      <p:sp>
        <p:nvSpPr>
          <p:cNvPr id="8" name="Shape 6"/>
          <p:cNvSpPr/>
          <p:nvPr/>
        </p:nvSpPr>
        <p:spPr>
          <a:xfrm>
            <a:off x="5120640" y="960120"/>
            <a:ext cx="1805940" cy="411480"/>
          </a:xfrm>
          <a:prstGeom prst="rect">
            <a:avLst/>
          </a:prstGeom>
          <a:solidFill>
            <a:srgbClr val="2D5A3D"/>
          </a:solidFill>
          <a:ln w="12700">
            <a:solidFill>
              <a:srgbClr val="2D5A3D"/>
            </a:solidFill>
            <a:prstDash val="solid"/>
          </a:ln>
        </p:spPr>
      </p:sp>
      <p:sp>
        <p:nvSpPr>
          <p:cNvPr id="9" name="Text 7"/>
          <p:cNvSpPr/>
          <p:nvPr/>
        </p:nvSpPr>
        <p:spPr>
          <a:xfrm>
            <a:off x="52120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BACKGROUND EXTINCTION</a:t>
            </a:r>
            <a:endParaRPr lang="en-US" sz="1300" dirty="0"/>
          </a:p>
        </p:txBody>
      </p:sp>
      <p:sp>
        <p:nvSpPr>
          <p:cNvPr id="10" name="Text 8"/>
          <p:cNvSpPr/>
          <p:nvPr/>
        </p:nvSpPr>
        <p:spPr>
          <a:xfrm>
            <a:off x="52120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Continuous, low-level</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1-5 species/year naturally</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Individual species, limited groups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Replaced by speciation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Normal part of evolutionary history</a:t>
            </a:r>
            <a:endParaRPr lang="en-US" sz="1100" dirty="0"/>
          </a:p>
        </p:txBody>
      </p:sp>
      <p:sp>
        <p:nvSpPr>
          <p:cNvPr id="11" name="Shape 9"/>
          <p:cNvSpPr/>
          <p:nvPr/>
        </p:nvSpPr>
        <p:spPr>
          <a:xfrm>
            <a:off x="7063740" y="960120"/>
            <a:ext cx="1805940" cy="3474720"/>
          </a:xfrm>
          <a:prstGeom prst="rect">
            <a:avLst/>
          </a:prstGeom>
          <a:solidFill>
            <a:srgbClr val="1C2B1E"/>
          </a:solidFill>
          <a:ln w="6350">
            <a:solidFill>
              <a:srgbClr val="C8791E"/>
            </a:solidFill>
            <a:prstDash val="solid"/>
          </a:ln>
        </p:spPr>
      </p:sp>
      <p:sp>
        <p:nvSpPr>
          <p:cNvPr id="12" name="Shape 10"/>
          <p:cNvSpPr/>
          <p:nvPr/>
        </p:nvSpPr>
        <p:spPr>
          <a:xfrm>
            <a:off x="7063740" y="960120"/>
            <a:ext cx="1805940" cy="411480"/>
          </a:xfrm>
          <a:prstGeom prst="rect">
            <a:avLst/>
          </a:prstGeom>
          <a:solidFill>
            <a:srgbClr val="C8791E"/>
          </a:solidFill>
          <a:ln w="12700">
            <a:solidFill>
              <a:srgbClr val="C8791E"/>
            </a:solidFill>
            <a:prstDash val="solid"/>
          </a:ln>
        </p:spPr>
      </p:sp>
      <p:sp>
        <p:nvSpPr>
          <p:cNvPr id="13" name="Text 11"/>
          <p:cNvSpPr/>
          <p:nvPr/>
        </p:nvSpPr>
        <p:spPr>
          <a:xfrm>
            <a:off x="7155180" y="960120"/>
            <a:ext cx="1714500" cy="411480"/>
          </a:xfrm>
          <a:prstGeom prst="rect">
            <a:avLst/>
          </a:prstGeom>
          <a:noFill/>
          <a:ln/>
        </p:spPr>
        <p:txBody>
          <a:bodyPr wrap="square" lIns="0" tIns="0" rIns="0" bIns="0" rtlCol="0" anchor="ctr"/>
          <a:lstStyle/>
          <a:p>
            <a:pPr indent="0" marL="0">
              <a:buNone/>
            </a:pPr>
            <a:r>
              <a:rPr lang="en-US" sz="1300" b="1" dirty="0">
                <a:solidFill>
                  <a:srgbClr val="FFFFFF"/>
                </a:solidFill>
                <a:latin typeface="Georgia" pitchFamily="34" charset="0"/>
                <a:ea typeface="Georgia" pitchFamily="34" charset="-122"/>
                <a:cs typeface="Georgia" pitchFamily="34" charset="-120"/>
              </a:rPr>
              <a:t>MASS EXTINCTION</a:t>
            </a:r>
            <a:endParaRPr lang="en-US" sz="1300" dirty="0"/>
          </a:p>
        </p:txBody>
      </p:sp>
      <p:sp>
        <p:nvSpPr>
          <p:cNvPr id="14" name="Text 12"/>
          <p:cNvSpPr/>
          <p:nvPr/>
        </p:nvSpPr>
        <p:spPr>
          <a:xfrm>
            <a:off x="7155180" y="1417320"/>
            <a:ext cx="1668780" cy="2926080"/>
          </a:xfrm>
          <a:prstGeom prst="rect">
            <a:avLst/>
          </a:prstGeom>
          <a:noFill/>
          <a:ln/>
        </p:spPr>
        <p:txBody>
          <a:bodyPr wrap="square" rtlCol="0" anchor="t"/>
          <a:lstStyle/>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Episodic, geologically rapid</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&gt;50% species, multiple phyla</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Global, across all environments</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Followed by adaptive radiation</a:t>
            </a:r>
            <a:endParaRPr lang="en-US" sz="1100" dirty="0"/>
          </a:p>
          <a:p>
            <a:pPr marL="342900" indent="-342900">
              <a:buSzPct val="100000"/>
              <a:buChar char="•"/>
            </a:pPr>
            <a:r>
              <a:rPr lang="en-US" sz="1100" dirty="0">
                <a:solidFill>
                  <a:srgbClr val="F4F1EC"/>
                </a:solidFill>
                <a:latin typeface="Calibri" pitchFamily="34" charset="0"/>
                <a:ea typeface="Calibri" pitchFamily="34" charset="-122"/>
                <a:cs typeface="Calibri" pitchFamily="34" charset="-120"/>
              </a:rPr>
              <a:t>Five major events in Phanerozoic</a:t>
            </a:r>
            <a:endParaRPr lang="en-US" sz="1100" dirty="0"/>
          </a:p>
        </p:txBody>
      </p:sp>
      <p:sp>
        <p:nvSpPr>
          <p:cNvPr id="15" name="Shape 13"/>
          <p:cNvSpPr/>
          <p:nvPr/>
        </p:nvSpPr>
        <p:spPr>
          <a:xfrm>
            <a:off x="274320" y="4297680"/>
            <a:ext cx="8595360" cy="621792"/>
          </a:xfrm>
          <a:prstGeom prst="rect">
            <a:avLst/>
          </a:prstGeom>
          <a:solidFill>
            <a:srgbClr val="1C2B1E"/>
          </a:solidFill>
          <a:ln w="12700">
            <a:solidFill>
              <a:srgbClr val="1C2B1E"/>
            </a:solidFill>
            <a:prstDash val="solid"/>
          </a:ln>
        </p:spPr>
      </p:sp>
      <p:sp>
        <p:nvSpPr>
          <p:cNvPr id="16" name="Text 14"/>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Mass Extinction: </a:t>
            </a:r>
            <a:pPr indent="0" marL="0">
              <a:buNone/>
            </a:pPr>
            <a:r>
              <a:rPr lang="en-US" sz="1100" dirty="0">
                <a:solidFill>
                  <a:srgbClr val="F4F1EC"/>
                </a:solidFill>
                <a:latin typeface="Calibri" pitchFamily="34" charset="0"/>
                <a:ea typeface="Calibri" pitchFamily="34" charset="-122"/>
                <a:cs typeface="Calibri" pitchFamily="34" charset="-120"/>
              </a:rPr>
              <a:t>An episodic, geologically rapid elimination of &gt;50% of species across multiple taxonomic groups and geographic regions. Five major events in the Phanerozoic. Each was followed by adaptive radiation by surviving lineages.</a:t>
            </a:r>
            <a:endParaRPr lang="en-US" sz="1100" dirty="0"/>
          </a:p>
        </p:txBody>
      </p:sp>
      <p:sp>
        <p:nvSpPr>
          <p:cNvPr id="17" name="Text 15"/>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16 / 99</a:t>
            </a:r>
            <a:endParaRPr lang="en-US" sz="900" dirty="0"/>
          </a:p>
        </p:txBody>
      </p:sp>
      <p:sp>
        <p:nvSpPr>
          <p:cNvPr id="18" name="Text 16"/>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§5.7 The K-T Extinction: Chicxulub Evidence</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Five Lines of Evidence for a Bolide Impact at 66 Ma</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(1) IRIDIUM ANOMALY: global iridium enrichment 30–160× background at K-T boundary — Alvarez et al. (1980); iridium rare in crust but abundant in meteoritic material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(2) SHOCKED QUARTZ: grains showing planar deformation features only formed by hypervelocity impact — found globally at K-T boundary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(3) IMPACT SPHERULES: tiny glass droplets formed when rock vaporises and re-solidifies — found globally at K-T boundary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(4) GLOBAL SOOT LAYER: evidence of worldwide wildfires at K-T boundary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(5) CHICXULUB CRATER: 180 km diameter crater beneath Yucatan Peninsula and Gulf of Mexico — dated to 66 Ma exactly</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five lines point to a single instantaneous global event — the convergence is decisive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Alvarez Hypothesis: Five Convergent Lines</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(1) IRIDIUM ANOMALY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Global, synchronous, 30-160× background</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Alvarez et al., Science 1980</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(2) SHOCKED QUARTZ</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Planar deformation features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Only form at &gt;10 GPa impact pressure</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(3) IMPACT SPHERULES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Vaporised rock re-solidified as droplets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Found on every continent</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(4) GLOBAL SOOT LAYER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Worldwide wildfire evidence</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Photosynthesis blocked for months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(5) CHICXULUB CRATER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180 km diameter, 10-15 km impactor</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Yucatan Peninsula + Gulf of Mexico</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Dated to 66.043 ± 0.011 Ma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(same age as K-T boundary globally)</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Iridium Anomaly: </a:t>
            </a:r>
            <a:pPr indent="0" marL="0">
              <a:buNone/>
            </a:pPr>
            <a:r>
              <a:rPr lang="en-US" sz="1100" dirty="0">
                <a:solidFill>
                  <a:srgbClr val="F4F1EC"/>
                </a:solidFill>
                <a:latin typeface="Calibri" pitchFamily="34" charset="0"/>
                <a:ea typeface="Calibri" pitchFamily="34" charset="-122"/>
                <a:cs typeface="Calibri" pitchFamily="34" charset="-120"/>
              </a:rPr>
              <a:t>Global enrichment of iridium 30–160× background levels at the K-T boundary (66 Ma). Iridium is rare in Earth's crust but abundant in meteoritic material. Discovered by Alvarez et al. (1980) — the primary evidence for the Chicxulub bolide impact.</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§5.7 K-T Survivors and the Mammalian Radiation</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Some Survived and What Happened Next</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EXTINCT: all non-avian dinosaurs, pterosaurs, plesiosaurs, mosasaurs, ammonites — large, specialised, slow-reproducing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SURVIVED: birds (avian dinosaurs), mammals, crocodilians, lizards, snakes, turtles, frogs — small-bodied, omnivorous, fast-reproducing</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survival pattern is ecologically structured: small body size, dietary flexibility, burrowing ability all increased survival</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PALAEOGENE RADIATION: within 10 million years, all major mammalian orders appear — a spectacular ecological vacuum being filled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Primates appear ~56 Ma — small arboreal insectivores exploiting the ecological space vacated by dinosaurs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K-T impact was the precondition for mammalian dominance and ultimately for human existence</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Shape 6"/>
          <p:cNvSpPr/>
          <p:nvPr/>
        </p:nvSpPr>
        <p:spPr>
          <a:xfrm>
            <a:off x="5303520" y="2419502"/>
            <a:ext cx="3383280" cy="0"/>
          </a:xfrm>
          <a:prstGeom prst="line">
            <a:avLst/>
          </a:prstGeom>
          <a:noFill/>
          <a:ln w="19050">
            <a:solidFill>
              <a:srgbClr val="C8791E"/>
            </a:solidFill>
            <a:prstDash val="solid"/>
          </a:ln>
        </p:spPr>
      </p:sp>
      <p:sp>
        <p:nvSpPr>
          <p:cNvPr id="9" name="Shape 7"/>
          <p:cNvSpPr/>
          <p:nvPr/>
        </p:nvSpPr>
        <p:spPr>
          <a:xfrm>
            <a:off x="5193792" y="2309774"/>
            <a:ext cx="219456" cy="219456"/>
          </a:xfrm>
          <a:prstGeom prst="ellipse">
            <a:avLst/>
          </a:prstGeom>
          <a:solidFill>
            <a:srgbClr val="C8791E"/>
          </a:solidFill>
          <a:ln w="6350">
            <a:solidFill>
              <a:srgbClr val="FFFFFF"/>
            </a:solidFill>
            <a:prstDash val="solid"/>
          </a:ln>
        </p:spPr>
      </p:sp>
      <p:sp>
        <p:nvSpPr>
          <p:cNvPr id="10" name="Text 8"/>
          <p:cNvSpPr/>
          <p:nvPr/>
        </p:nvSpPr>
        <p:spPr>
          <a:xfrm>
            <a:off x="484632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K-T Impact</a:t>
            </a:r>
            <a:endParaRPr lang="en-US" sz="900" dirty="0"/>
          </a:p>
        </p:txBody>
      </p:sp>
      <p:sp>
        <p:nvSpPr>
          <p:cNvPr id="11" name="Text 9"/>
          <p:cNvSpPr/>
          <p:nvPr/>
        </p:nvSpPr>
        <p:spPr>
          <a:xfrm>
            <a:off x="484632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66 Ma</a:t>
            </a:r>
            <a:endParaRPr lang="en-US" sz="800" dirty="0"/>
          </a:p>
        </p:txBody>
      </p:sp>
      <p:sp>
        <p:nvSpPr>
          <p:cNvPr id="12" name="Shape 10"/>
          <p:cNvSpPr/>
          <p:nvPr/>
        </p:nvSpPr>
        <p:spPr>
          <a:xfrm>
            <a:off x="6039612" y="2309774"/>
            <a:ext cx="219456" cy="219456"/>
          </a:xfrm>
          <a:prstGeom prst="ellipse">
            <a:avLst/>
          </a:prstGeom>
          <a:solidFill>
            <a:srgbClr val="C8791E"/>
          </a:solidFill>
          <a:ln w="6350">
            <a:solidFill>
              <a:srgbClr val="FFFFFF"/>
            </a:solidFill>
            <a:prstDash val="solid"/>
          </a:ln>
        </p:spPr>
      </p:sp>
      <p:sp>
        <p:nvSpPr>
          <p:cNvPr id="13" name="Text 11"/>
          <p:cNvSpPr/>
          <p:nvPr/>
        </p:nvSpPr>
        <p:spPr>
          <a:xfrm>
            <a:off x="569214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Mammal</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Radiation begins</a:t>
            </a:r>
            <a:endParaRPr lang="en-US" sz="900" dirty="0"/>
          </a:p>
        </p:txBody>
      </p:sp>
      <p:sp>
        <p:nvSpPr>
          <p:cNvPr id="14" name="Text 12"/>
          <p:cNvSpPr/>
          <p:nvPr/>
        </p:nvSpPr>
        <p:spPr>
          <a:xfrm>
            <a:off x="569214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66-60 Ma</a:t>
            </a:r>
            <a:endParaRPr lang="en-US" sz="800" dirty="0"/>
          </a:p>
        </p:txBody>
      </p:sp>
      <p:sp>
        <p:nvSpPr>
          <p:cNvPr id="15" name="Shape 13"/>
          <p:cNvSpPr/>
          <p:nvPr/>
        </p:nvSpPr>
        <p:spPr>
          <a:xfrm>
            <a:off x="6885432" y="2309774"/>
            <a:ext cx="219456" cy="219456"/>
          </a:xfrm>
          <a:prstGeom prst="ellipse">
            <a:avLst/>
          </a:prstGeom>
          <a:solidFill>
            <a:srgbClr val="C8791E"/>
          </a:solidFill>
          <a:ln w="6350">
            <a:solidFill>
              <a:srgbClr val="FFFFFF"/>
            </a:solidFill>
            <a:prstDash val="solid"/>
          </a:ln>
        </p:spPr>
      </p:sp>
      <p:sp>
        <p:nvSpPr>
          <p:cNvPr id="16" name="Text 14"/>
          <p:cNvSpPr/>
          <p:nvPr/>
        </p:nvSpPr>
        <p:spPr>
          <a:xfrm>
            <a:off x="653796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Major</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mammalian orders</a:t>
            </a:r>
            <a:endParaRPr lang="en-US" sz="900" dirty="0"/>
          </a:p>
        </p:txBody>
      </p:sp>
      <p:sp>
        <p:nvSpPr>
          <p:cNvPr id="17" name="Text 15"/>
          <p:cNvSpPr/>
          <p:nvPr/>
        </p:nvSpPr>
        <p:spPr>
          <a:xfrm>
            <a:off x="653796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55-50 Ma</a:t>
            </a:r>
            <a:endParaRPr lang="en-US" sz="800" dirty="0"/>
          </a:p>
        </p:txBody>
      </p:sp>
      <p:sp>
        <p:nvSpPr>
          <p:cNvPr id="18" name="Shape 16"/>
          <p:cNvSpPr/>
          <p:nvPr/>
        </p:nvSpPr>
        <p:spPr>
          <a:xfrm>
            <a:off x="7731252" y="2309774"/>
            <a:ext cx="219456" cy="219456"/>
          </a:xfrm>
          <a:prstGeom prst="ellipse">
            <a:avLst/>
          </a:prstGeom>
          <a:solidFill>
            <a:srgbClr val="C8791E"/>
          </a:solidFill>
          <a:ln w="6350">
            <a:solidFill>
              <a:srgbClr val="FFFFFF"/>
            </a:solidFill>
            <a:prstDash val="solid"/>
          </a:ln>
        </p:spPr>
      </p:sp>
      <p:sp>
        <p:nvSpPr>
          <p:cNvPr id="19" name="Text 17"/>
          <p:cNvSpPr/>
          <p:nvPr/>
        </p:nvSpPr>
        <p:spPr>
          <a:xfrm>
            <a:off x="7383780" y="2620670"/>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Primates</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diverse</a:t>
            </a:r>
            <a:endParaRPr lang="en-US" sz="900" dirty="0"/>
          </a:p>
        </p:txBody>
      </p:sp>
      <p:sp>
        <p:nvSpPr>
          <p:cNvPr id="20" name="Text 18"/>
          <p:cNvSpPr/>
          <p:nvPr/>
        </p:nvSpPr>
        <p:spPr>
          <a:xfrm>
            <a:off x="7383780" y="2876702"/>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50-40 Ma</a:t>
            </a:r>
            <a:endParaRPr lang="en-US" sz="800" dirty="0"/>
          </a:p>
        </p:txBody>
      </p:sp>
      <p:sp>
        <p:nvSpPr>
          <p:cNvPr id="21" name="Shape 19"/>
          <p:cNvSpPr/>
          <p:nvPr/>
        </p:nvSpPr>
        <p:spPr>
          <a:xfrm>
            <a:off x="8577072" y="2309774"/>
            <a:ext cx="219456" cy="219456"/>
          </a:xfrm>
          <a:prstGeom prst="ellipse">
            <a:avLst/>
          </a:prstGeom>
          <a:solidFill>
            <a:srgbClr val="3D8C7A"/>
          </a:solidFill>
          <a:ln w="6350">
            <a:solidFill>
              <a:srgbClr val="FFFFFF"/>
            </a:solidFill>
            <a:prstDash val="solid"/>
          </a:ln>
        </p:spPr>
      </p:sp>
      <p:sp>
        <p:nvSpPr>
          <p:cNvPr id="22" name="Text 20"/>
          <p:cNvSpPr/>
          <p:nvPr/>
        </p:nvSpPr>
        <p:spPr>
          <a:xfrm>
            <a:off x="8229600" y="1944014"/>
            <a:ext cx="914400" cy="274320"/>
          </a:xfrm>
          <a:prstGeom prst="rect">
            <a:avLst/>
          </a:prstGeom>
          <a:noFill/>
          <a:ln/>
        </p:spPr>
        <p:txBody>
          <a:bodyPr wrap="square" rtlCol="0" anchor="ctr"/>
          <a:lstStyle/>
          <a:p>
            <a:pPr algn="ctr" indent="0" marL="0">
              <a:buNone/>
            </a:pPr>
            <a:r>
              <a:rPr lang="en-US" sz="900" b="1" dirty="0">
                <a:solidFill>
                  <a:srgbClr val="F4F1EC"/>
                </a:solidFill>
                <a:latin typeface="Calibri" pitchFamily="34" charset="0"/>
                <a:ea typeface="Calibri" pitchFamily="34" charset="-122"/>
                <a:cs typeface="Calibri" pitchFamily="34" charset="-120"/>
              </a:rPr>
              <a:t>Pan-Homo</a:t>
            </a:r>
            <a:endParaRPr lang="en-US" sz="900" dirty="0"/>
          </a:p>
          <a:p>
            <a:pPr algn="ctr" indent="0" marL="0">
              <a:buNone/>
            </a:pPr>
            <a:r>
              <a:rPr lang="en-US" sz="900" b="1" dirty="0">
                <a:solidFill>
                  <a:srgbClr val="F4F1EC"/>
                </a:solidFill>
                <a:latin typeface="Calibri" pitchFamily="34" charset="0"/>
                <a:ea typeface="Calibri" pitchFamily="34" charset="-122"/>
                <a:cs typeface="Calibri" pitchFamily="34" charset="-120"/>
              </a:rPr>
              <a:t>split</a:t>
            </a:r>
            <a:endParaRPr lang="en-US" sz="900" dirty="0"/>
          </a:p>
        </p:txBody>
      </p:sp>
      <p:sp>
        <p:nvSpPr>
          <p:cNvPr id="23" name="Text 21"/>
          <p:cNvSpPr/>
          <p:nvPr/>
        </p:nvSpPr>
        <p:spPr>
          <a:xfrm>
            <a:off x="8229600" y="1706270"/>
            <a:ext cx="914400" cy="228600"/>
          </a:xfrm>
          <a:prstGeom prst="rect">
            <a:avLst/>
          </a:prstGeom>
          <a:noFill/>
          <a:ln/>
        </p:spPr>
        <p:txBody>
          <a:bodyPr wrap="square" rtlCol="0" anchor="ctr"/>
          <a:lstStyle/>
          <a:p>
            <a:pPr algn="ctr" indent="0" marL="0">
              <a:buNone/>
            </a:pPr>
            <a:r>
              <a:rPr lang="en-US" sz="800" dirty="0">
                <a:solidFill>
                  <a:srgbClr val="8FA898"/>
                </a:solidFill>
                <a:latin typeface="Calibri" pitchFamily="34" charset="0"/>
                <a:ea typeface="Calibri" pitchFamily="34" charset="-122"/>
                <a:cs typeface="Calibri" pitchFamily="34" charset="-120"/>
              </a:rPr>
              <a:t>5-7 Ma</a:t>
            </a:r>
            <a:endParaRPr lang="en-US" sz="800" dirty="0"/>
          </a:p>
        </p:txBody>
      </p:sp>
      <p:sp>
        <p:nvSpPr>
          <p:cNvPr id="24" name="Shape 22"/>
          <p:cNvSpPr/>
          <p:nvPr/>
        </p:nvSpPr>
        <p:spPr>
          <a:xfrm>
            <a:off x="274320" y="4297680"/>
            <a:ext cx="8595360" cy="621792"/>
          </a:xfrm>
          <a:prstGeom prst="rect">
            <a:avLst/>
          </a:prstGeom>
          <a:solidFill>
            <a:srgbClr val="1C2B1E"/>
          </a:solidFill>
          <a:ln w="12700">
            <a:solidFill>
              <a:srgbClr val="1C2B1E"/>
            </a:solidFill>
            <a:prstDash val="solid"/>
          </a:ln>
        </p:spPr>
      </p:sp>
      <p:sp>
        <p:nvSpPr>
          <p:cNvPr id="25" name="Text 23"/>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Palaeogene Mammalian Radiation: </a:t>
            </a:r>
            <a:pPr indent="0" marL="0">
              <a:buNone/>
            </a:pPr>
            <a:r>
              <a:rPr lang="en-US" sz="1100" dirty="0">
                <a:solidFill>
                  <a:srgbClr val="F4F1EC"/>
                </a:solidFill>
                <a:latin typeface="Calibri" pitchFamily="34" charset="0"/>
                <a:ea typeface="Calibri" pitchFamily="34" charset="-122"/>
                <a:cs typeface="Calibri" pitchFamily="34" charset="-120"/>
              </a:rPr>
              <a:t>The rapid diversification of mammals into all major ecological roles following the K-T extinction (~66–50 Ma). All modern mammalian orders appeared during this radiation. The vacant ecological space left by non-avian dinosaurs was filled within ~10 million years.</a:t>
            </a:r>
            <a:endParaRPr lang="en-US" sz="1100" dirty="0"/>
          </a:p>
        </p:txBody>
      </p:sp>
      <p:sp>
        <p:nvSpPr>
          <p:cNvPr id="26" name="Text 24"/>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18 / 99</a:t>
            </a:r>
            <a:endParaRPr lang="en-US" sz="900" dirty="0"/>
          </a:p>
        </p:txBody>
      </p:sp>
      <p:sp>
        <p:nvSpPr>
          <p:cNvPr id="27" name="Text 25"/>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§5.3–5.6 Four Independent Witnesses</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Why Convergent Evidence Is Stronger Than Any Single Line</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FOSSIL RECORD: direct physical evidence — organisms existed at specific times, specific transitions documented</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COMPARATIVE ANATOMY: structural identity (tetrapod forelimb) inexplicable except by common descent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COMPARATIVE EMBRYOLOGY: shared early developmental programme reflects inherited ancestral instructions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BIOGEOGRAPHY: distribution patterns (Wallace's Line, Gondwana) inexplicable by ecology or climate alone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KEY POINT: these four lines of evidence are INDEPENDENT — different data types, different methods, different scientists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All four converge on the same conclusion: common descent with modification. Independent convergence is the hallmark of robust scientific inference.</a:t>
            </a:r>
            <a:endParaRPr lang="en-US" sz="1300" dirty="0"/>
          </a:p>
        </p:txBody>
      </p:sp>
      <p:sp>
        <p:nvSpPr>
          <p:cNvPr id="7" name="Shape 5"/>
          <p:cNvSpPr/>
          <p:nvPr/>
        </p:nvSpPr>
        <p:spPr>
          <a:xfrm>
            <a:off x="5120640" y="960120"/>
            <a:ext cx="3749040" cy="576072"/>
          </a:xfrm>
          <a:prstGeom prst="rect">
            <a:avLst/>
          </a:prstGeom>
          <a:solidFill>
            <a:srgbClr val="2D5A3D"/>
          </a:solidFill>
          <a:ln w="12700">
            <a:solidFill>
              <a:srgbClr val="3D7A52"/>
            </a:solidFill>
            <a:prstDash val="solid"/>
          </a:ln>
        </p:spPr>
      </p:sp>
      <p:sp>
        <p:nvSpPr>
          <p:cNvPr id="8" name="Shape 6"/>
          <p:cNvSpPr/>
          <p:nvPr/>
        </p:nvSpPr>
        <p:spPr>
          <a:xfrm>
            <a:off x="5120640" y="960120"/>
            <a:ext cx="347472" cy="576072"/>
          </a:xfrm>
          <a:prstGeom prst="rect">
            <a:avLst/>
          </a:prstGeom>
          <a:solidFill>
            <a:srgbClr val="1C2B1E"/>
          </a:solidFill>
          <a:ln w="12700">
            <a:solidFill>
              <a:srgbClr val="1C2B1E"/>
            </a:solidFill>
            <a:prstDash val="solid"/>
          </a:ln>
        </p:spPr>
      </p:sp>
      <p:sp>
        <p:nvSpPr>
          <p:cNvPr id="9" name="Text 7"/>
          <p:cNvSpPr/>
          <p:nvPr/>
        </p:nvSpPr>
        <p:spPr>
          <a:xfrm>
            <a:off x="5120640" y="960120"/>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1</a:t>
            </a:r>
            <a:endParaRPr lang="en-US" sz="1300" dirty="0"/>
          </a:p>
        </p:txBody>
      </p:sp>
      <p:sp>
        <p:nvSpPr>
          <p:cNvPr id="10" name="Text 8"/>
          <p:cNvSpPr/>
          <p:nvPr/>
        </p:nvSpPr>
        <p:spPr>
          <a:xfrm>
            <a:off x="5541264" y="996696"/>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FOSSILS (direct record of past life)</a:t>
            </a:r>
            <a:endParaRPr lang="en-US" sz="1050" dirty="0"/>
          </a:p>
        </p:txBody>
      </p:sp>
      <p:sp>
        <p:nvSpPr>
          <p:cNvPr id="11" name="Shape 9"/>
          <p:cNvSpPr/>
          <p:nvPr/>
        </p:nvSpPr>
        <p:spPr>
          <a:xfrm>
            <a:off x="6995160" y="1536192"/>
            <a:ext cx="0" cy="91440"/>
          </a:xfrm>
          <a:prstGeom prst="line">
            <a:avLst/>
          </a:prstGeom>
          <a:noFill/>
          <a:ln w="19050">
            <a:solidFill>
              <a:srgbClr val="C8791E"/>
            </a:solidFill>
            <a:prstDash val="solid"/>
          </a:ln>
        </p:spPr>
      </p:sp>
      <p:sp>
        <p:nvSpPr>
          <p:cNvPr id="12" name="Shape 10"/>
          <p:cNvSpPr/>
          <p:nvPr/>
        </p:nvSpPr>
        <p:spPr>
          <a:xfrm>
            <a:off x="5120640" y="1627632"/>
            <a:ext cx="3749040" cy="576072"/>
          </a:xfrm>
          <a:prstGeom prst="rect">
            <a:avLst/>
          </a:prstGeom>
          <a:solidFill>
            <a:srgbClr val="2D5A3D"/>
          </a:solidFill>
          <a:ln w="12700">
            <a:solidFill>
              <a:srgbClr val="3D7A52"/>
            </a:solidFill>
            <a:prstDash val="solid"/>
          </a:ln>
        </p:spPr>
      </p:sp>
      <p:sp>
        <p:nvSpPr>
          <p:cNvPr id="13" name="Shape 11"/>
          <p:cNvSpPr/>
          <p:nvPr/>
        </p:nvSpPr>
        <p:spPr>
          <a:xfrm>
            <a:off x="5120640" y="1627632"/>
            <a:ext cx="347472" cy="576072"/>
          </a:xfrm>
          <a:prstGeom prst="rect">
            <a:avLst/>
          </a:prstGeom>
          <a:solidFill>
            <a:srgbClr val="1C2B1E"/>
          </a:solidFill>
          <a:ln w="12700">
            <a:solidFill>
              <a:srgbClr val="1C2B1E"/>
            </a:solidFill>
            <a:prstDash val="solid"/>
          </a:ln>
        </p:spPr>
      </p:sp>
      <p:sp>
        <p:nvSpPr>
          <p:cNvPr id="14" name="Text 12"/>
          <p:cNvSpPr/>
          <p:nvPr/>
        </p:nvSpPr>
        <p:spPr>
          <a:xfrm>
            <a:off x="5120640" y="1627632"/>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2</a:t>
            </a:r>
            <a:endParaRPr lang="en-US" sz="1300" dirty="0"/>
          </a:p>
        </p:txBody>
      </p:sp>
      <p:sp>
        <p:nvSpPr>
          <p:cNvPr id="15" name="Text 13"/>
          <p:cNvSpPr/>
          <p:nvPr/>
        </p:nvSpPr>
        <p:spPr>
          <a:xfrm>
            <a:off x="5541264" y="1664208"/>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ANATOMY (structural identity across groups)</a:t>
            </a:r>
            <a:endParaRPr lang="en-US" sz="1050" dirty="0"/>
          </a:p>
        </p:txBody>
      </p:sp>
      <p:sp>
        <p:nvSpPr>
          <p:cNvPr id="16" name="Shape 14"/>
          <p:cNvSpPr/>
          <p:nvPr/>
        </p:nvSpPr>
        <p:spPr>
          <a:xfrm>
            <a:off x="6995160" y="2203704"/>
            <a:ext cx="0" cy="91440"/>
          </a:xfrm>
          <a:prstGeom prst="line">
            <a:avLst/>
          </a:prstGeom>
          <a:noFill/>
          <a:ln w="19050">
            <a:solidFill>
              <a:srgbClr val="C8791E"/>
            </a:solidFill>
            <a:prstDash val="solid"/>
          </a:ln>
        </p:spPr>
      </p:sp>
      <p:sp>
        <p:nvSpPr>
          <p:cNvPr id="17" name="Shape 15"/>
          <p:cNvSpPr/>
          <p:nvPr/>
        </p:nvSpPr>
        <p:spPr>
          <a:xfrm>
            <a:off x="5120640" y="2295144"/>
            <a:ext cx="3749040" cy="576072"/>
          </a:xfrm>
          <a:prstGeom prst="rect">
            <a:avLst/>
          </a:prstGeom>
          <a:solidFill>
            <a:srgbClr val="2D5A3D"/>
          </a:solidFill>
          <a:ln w="12700">
            <a:solidFill>
              <a:srgbClr val="3D7A52"/>
            </a:solidFill>
            <a:prstDash val="solid"/>
          </a:ln>
        </p:spPr>
      </p:sp>
      <p:sp>
        <p:nvSpPr>
          <p:cNvPr id="18" name="Shape 16"/>
          <p:cNvSpPr/>
          <p:nvPr/>
        </p:nvSpPr>
        <p:spPr>
          <a:xfrm>
            <a:off x="5120640" y="2295144"/>
            <a:ext cx="347472" cy="576072"/>
          </a:xfrm>
          <a:prstGeom prst="rect">
            <a:avLst/>
          </a:prstGeom>
          <a:solidFill>
            <a:srgbClr val="1C2B1E"/>
          </a:solidFill>
          <a:ln w="12700">
            <a:solidFill>
              <a:srgbClr val="1C2B1E"/>
            </a:solidFill>
            <a:prstDash val="solid"/>
          </a:ln>
        </p:spPr>
      </p:sp>
      <p:sp>
        <p:nvSpPr>
          <p:cNvPr id="19" name="Text 17"/>
          <p:cNvSpPr/>
          <p:nvPr/>
        </p:nvSpPr>
        <p:spPr>
          <a:xfrm>
            <a:off x="5120640" y="2295144"/>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3</a:t>
            </a:r>
            <a:endParaRPr lang="en-US" sz="1300" dirty="0"/>
          </a:p>
        </p:txBody>
      </p:sp>
      <p:sp>
        <p:nvSpPr>
          <p:cNvPr id="20" name="Text 18"/>
          <p:cNvSpPr/>
          <p:nvPr/>
        </p:nvSpPr>
        <p:spPr>
          <a:xfrm>
            <a:off x="5541264" y="2331720"/>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EMBRYOLOGY (shared early development)</a:t>
            </a:r>
            <a:endParaRPr lang="en-US" sz="1050" dirty="0"/>
          </a:p>
        </p:txBody>
      </p:sp>
      <p:sp>
        <p:nvSpPr>
          <p:cNvPr id="21" name="Shape 19"/>
          <p:cNvSpPr/>
          <p:nvPr/>
        </p:nvSpPr>
        <p:spPr>
          <a:xfrm>
            <a:off x="6995160" y="2871216"/>
            <a:ext cx="0" cy="91440"/>
          </a:xfrm>
          <a:prstGeom prst="line">
            <a:avLst/>
          </a:prstGeom>
          <a:noFill/>
          <a:ln w="19050">
            <a:solidFill>
              <a:srgbClr val="C8791E"/>
            </a:solidFill>
            <a:prstDash val="solid"/>
          </a:ln>
        </p:spPr>
      </p:sp>
      <p:sp>
        <p:nvSpPr>
          <p:cNvPr id="22" name="Shape 20"/>
          <p:cNvSpPr/>
          <p:nvPr/>
        </p:nvSpPr>
        <p:spPr>
          <a:xfrm>
            <a:off x="5120640" y="2962656"/>
            <a:ext cx="3749040" cy="576072"/>
          </a:xfrm>
          <a:prstGeom prst="rect">
            <a:avLst/>
          </a:prstGeom>
          <a:solidFill>
            <a:srgbClr val="2D5A3D"/>
          </a:solidFill>
          <a:ln w="12700">
            <a:solidFill>
              <a:srgbClr val="3D7A52"/>
            </a:solidFill>
            <a:prstDash val="solid"/>
          </a:ln>
        </p:spPr>
      </p:sp>
      <p:sp>
        <p:nvSpPr>
          <p:cNvPr id="23" name="Shape 21"/>
          <p:cNvSpPr/>
          <p:nvPr/>
        </p:nvSpPr>
        <p:spPr>
          <a:xfrm>
            <a:off x="5120640" y="2962656"/>
            <a:ext cx="347472" cy="576072"/>
          </a:xfrm>
          <a:prstGeom prst="rect">
            <a:avLst/>
          </a:prstGeom>
          <a:solidFill>
            <a:srgbClr val="1C2B1E"/>
          </a:solidFill>
          <a:ln w="12700">
            <a:solidFill>
              <a:srgbClr val="1C2B1E"/>
            </a:solidFill>
            <a:prstDash val="solid"/>
          </a:ln>
        </p:spPr>
      </p:sp>
      <p:sp>
        <p:nvSpPr>
          <p:cNvPr id="24" name="Text 22"/>
          <p:cNvSpPr/>
          <p:nvPr/>
        </p:nvSpPr>
        <p:spPr>
          <a:xfrm>
            <a:off x="5120640" y="2962656"/>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4</a:t>
            </a:r>
            <a:endParaRPr lang="en-US" sz="1300" dirty="0"/>
          </a:p>
        </p:txBody>
      </p:sp>
      <p:sp>
        <p:nvSpPr>
          <p:cNvPr id="25" name="Text 23"/>
          <p:cNvSpPr/>
          <p:nvPr/>
        </p:nvSpPr>
        <p:spPr>
          <a:xfrm>
            <a:off x="5541264" y="2999232"/>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BIOGEOGRAPHY (distribution reflects history)</a:t>
            </a:r>
            <a:endParaRPr lang="en-US" sz="1050" dirty="0"/>
          </a:p>
        </p:txBody>
      </p:sp>
      <p:sp>
        <p:nvSpPr>
          <p:cNvPr id="26" name="Shape 24"/>
          <p:cNvSpPr/>
          <p:nvPr/>
        </p:nvSpPr>
        <p:spPr>
          <a:xfrm>
            <a:off x="6995160" y="3538728"/>
            <a:ext cx="0" cy="91440"/>
          </a:xfrm>
          <a:prstGeom prst="line">
            <a:avLst/>
          </a:prstGeom>
          <a:noFill/>
          <a:ln w="19050">
            <a:solidFill>
              <a:srgbClr val="C8791E"/>
            </a:solidFill>
            <a:prstDash val="solid"/>
          </a:ln>
        </p:spPr>
      </p:sp>
      <p:sp>
        <p:nvSpPr>
          <p:cNvPr id="27" name="Shape 25"/>
          <p:cNvSpPr/>
          <p:nvPr/>
        </p:nvSpPr>
        <p:spPr>
          <a:xfrm>
            <a:off x="5120640" y="3630168"/>
            <a:ext cx="3749040" cy="576072"/>
          </a:xfrm>
          <a:prstGeom prst="rect">
            <a:avLst/>
          </a:prstGeom>
          <a:solidFill>
            <a:srgbClr val="2D5A3D"/>
          </a:solidFill>
          <a:ln w="12700">
            <a:solidFill>
              <a:srgbClr val="3D7A52"/>
            </a:solidFill>
            <a:prstDash val="solid"/>
          </a:ln>
        </p:spPr>
      </p:sp>
      <p:sp>
        <p:nvSpPr>
          <p:cNvPr id="28" name="Shape 26"/>
          <p:cNvSpPr/>
          <p:nvPr/>
        </p:nvSpPr>
        <p:spPr>
          <a:xfrm>
            <a:off x="5120640" y="3630168"/>
            <a:ext cx="347472" cy="576072"/>
          </a:xfrm>
          <a:prstGeom prst="rect">
            <a:avLst/>
          </a:prstGeom>
          <a:solidFill>
            <a:srgbClr val="1C2B1E"/>
          </a:solidFill>
          <a:ln w="12700">
            <a:solidFill>
              <a:srgbClr val="1C2B1E"/>
            </a:solidFill>
            <a:prstDash val="solid"/>
          </a:ln>
        </p:spPr>
      </p:sp>
      <p:sp>
        <p:nvSpPr>
          <p:cNvPr id="29" name="Text 27"/>
          <p:cNvSpPr/>
          <p:nvPr/>
        </p:nvSpPr>
        <p:spPr>
          <a:xfrm>
            <a:off x="5120640" y="3630168"/>
            <a:ext cx="347472" cy="576072"/>
          </a:xfrm>
          <a:prstGeom prst="rect">
            <a:avLst/>
          </a:prstGeom>
          <a:noFill/>
          <a:ln/>
        </p:spPr>
        <p:txBody>
          <a:bodyPr wrap="square" lIns="0" tIns="0" rIns="0" bIns="0" rtlCol="0" anchor="ctr"/>
          <a:lstStyle/>
          <a:p>
            <a:pPr algn="ctr" indent="0" marL="0">
              <a:buNone/>
            </a:pPr>
            <a:r>
              <a:rPr lang="en-US" sz="1300" b="1" dirty="0">
                <a:solidFill>
                  <a:srgbClr val="C8791E"/>
                </a:solidFill>
                <a:latin typeface="Calibri" pitchFamily="34" charset="0"/>
                <a:ea typeface="Calibri" pitchFamily="34" charset="-122"/>
                <a:cs typeface="Calibri" pitchFamily="34" charset="-120"/>
              </a:rPr>
              <a:t>5</a:t>
            </a:r>
            <a:endParaRPr lang="en-US" sz="1300" dirty="0"/>
          </a:p>
        </p:txBody>
      </p:sp>
      <p:sp>
        <p:nvSpPr>
          <p:cNvPr id="30" name="Text 28"/>
          <p:cNvSpPr/>
          <p:nvPr/>
        </p:nvSpPr>
        <p:spPr>
          <a:xfrm>
            <a:off x="5541264" y="3666744"/>
            <a:ext cx="3291840" cy="502920"/>
          </a:xfrm>
          <a:prstGeom prst="rect">
            <a:avLst/>
          </a:prstGeom>
          <a:noFill/>
          <a:ln/>
        </p:spPr>
        <p:txBody>
          <a:bodyPr wrap="square" rtlCol="0" anchor="ctr"/>
          <a:lstStyle/>
          <a:p>
            <a:pPr algn="l" indent="0" marL="0">
              <a:buNone/>
            </a:pPr>
            <a:r>
              <a:rPr lang="en-US" sz="1050" dirty="0">
                <a:solidFill>
                  <a:srgbClr val="FFFFFF"/>
                </a:solidFill>
                <a:latin typeface="Calibri" pitchFamily="34" charset="0"/>
                <a:ea typeface="Calibri" pitchFamily="34" charset="-122"/>
                <a:cs typeface="Calibri" pitchFamily="34" charset="-120"/>
              </a:rPr>
              <a:t>COMMON DESCENT (one conclusion)</a:t>
            </a:r>
            <a:endParaRPr lang="en-US" sz="1050" dirty="0"/>
          </a:p>
        </p:txBody>
      </p:sp>
      <p:sp>
        <p:nvSpPr>
          <p:cNvPr id="31" name="Shape 29"/>
          <p:cNvSpPr/>
          <p:nvPr/>
        </p:nvSpPr>
        <p:spPr>
          <a:xfrm>
            <a:off x="274320" y="4297680"/>
            <a:ext cx="8595360" cy="621792"/>
          </a:xfrm>
          <a:prstGeom prst="rect">
            <a:avLst/>
          </a:prstGeom>
          <a:solidFill>
            <a:srgbClr val="1C2B1E"/>
          </a:solidFill>
          <a:ln w="12700">
            <a:solidFill>
              <a:srgbClr val="1C2B1E"/>
            </a:solidFill>
            <a:prstDash val="solid"/>
          </a:ln>
        </p:spPr>
      </p:sp>
      <p:sp>
        <p:nvSpPr>
          <p:cNvPr id="32" name="Text 30"/>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Convergent Independent Evidence: </a:t>
            </a:r>
            <a:pPr indent="0" marL="0">
              <a:buNone/>
            </a:pPr>
            <a:r>
              <a:rPr lang="en-US" sz="1100" dirty="0">
                <a:solidFill>
                  <a:srgbClr val="F4F1EC"/>
                </a:solidFill>
                <a:latin typeface="Calibri" pitchFamily="34" charset="0"/>
                <a:ea typeface="Calibri" pitchFamily="34" charset="-122"/>
                <a:cs typeface="Calibri" pitchFamily="34" charset="-120"/>
              </a:rPr>
              <a:t>Multiple independent lines of evidence (different data types, methods, investigators) all pointing to the same conclusion. The strongest form of scientific inference — the four lines of evidence for evolution exemplify this principle.</a:t>
            </a:r>
            <a:endParaRPr lang="en-US" sz="1100" dirty="0"/>
          </a:p>
        </p:txBody>
      </p:sp>
      <p:sp>
        <p:nvSpPr>
          <p:cNvPr id="33" name="Text 3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19 / 99</a:t>
            </a:r>
            <a:endParaRPr lang="en-US" sz="900" dirty="0"/>
          </a:p>
        </p:txBody>
      </p:sp>
      <p:sp>
        <p:nvSpPr>
          <p:cNvPr id="34" name="Text 3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7A52"/>
          </a:solidFill>
          <a:ln w="12700">
            <a:solidFill>
              <a:srgbClr val="3D7A52"/>
            </a:solidFill>
            <a:prstDash val="solid"/>
          </a:ln>
        </p:spPr>
      </p:sp>
      <p:sp>
        <p:nvSpPr>
          <p:cNvPr id="3" name="Text 1"/>
          <p:cNvSpPr/>
          <p:nvPr/>
        </p:nvSpPr>
        <p:spPr>
          <a:xfrm>
            <a:off x="274320" y="109728"/>
            <a:ext cx="8595360" cy="256032"/>
          </a:xfrm>
          <a:prstGeom prst="rect">
            <a:avLst/>
          </a:prstGeom>
          <a:noFill/>
          <a:ln/>
        </p:spPr>
        <p:txBody>
          <a:bodyPr wrap="square" rtlCol="0" anchor="ctr"/>
          <a:lstStyle/>
          <a:p>
            <a:pPr indent="0" marL="0">
              <a:buNone/>
            </a:pPr>
            <a:r>
              <a:rPr lang="en-US" sz="850" i="1" spc="100" kern="0" dirty="0">
                <a:solidFill>
                  <a:srgbClr val="8FA898"/>
                </a:solidFill>
                <a:latin typeface="Calibri" pitchFamily="34" charset="0"/>
                <a:ea typeface="Calibri" pitchFamily="34" charset="-122"/>
                <a:cs typeface="Calibri" pitchFamily="34" charset="-120"/>
              </a:rPr>
              <a:t>§5.6 The Odisha Geological Record</a:t>
            </a:r>
            <a:endParaRPr lang="en-US" sz="850" dirty="0"/>
          </a:p>
        </p:txBody>
      </p:sp>
      <p:sp>
        <p:nvSpPr>
          <p:cNvPr id="4" name="Text 2"/>
          <p:cNvSpPr/>
          <p:nvPr/>
        </p:nvSpPr>
        <p:spPr>
          <a:xfrm>
            <a:off x="274320" y="320040"/>
            <a:ext cx="8595360" cy="594360"/>
          </a:xfrm>
          <a:prstGeom prst="rect">
            <a:avLst/>
          </a:prstGeom>
          <a:noFill/>
          <a:ln/>
        </p:spPr>
        <p:txBody>
          <a:bodyPr wrap="square" rtlCol="0" anchor="ctr"/>
          <a:lstStyle/>
          <a:p>
            <a:pPr indent="0" marL="0">
              <a:buNone/>
            </a:pPr>
            <a:r>
              <a:rPr lang="en-US" sz="2400" b="1" dirty="0">
                <a:solidFill>
                  <a:srgbClr val="1C2B1E"/>
                </a:solidFill>
                <a:latin typeface="Georgia" pitchFamily="34" charset="0"/>
                <a:ea typeface="Georgia" pitchFamily="34" charset="-122"/>
                <a:cs typeface="Georgia" pitchFamily="34" charset="-120"/>
              </a:rPr>
              <a:t>Reading 300 Million Years of History in Talcher</a:t>
            </a:r>
            <a:endParaRPr lang="en-US" sz="2400" dirty="0"/>
          </a:p>
        </p:txBody>
      </p:sp>
      <p:sp>
        <p:nvSpPr>
          <p:cNvPr id="5" name="Shape 3"/>
          <p:cNvSpPr/>
          <p:nvPr/>
        </p:nvSpPr>
        <p:spPr>
          <a:xfrm>
            <a:off x="274320" y="868680"/>
            <a:ext cx="8595360" cy="22860"/>
          </a:xfrm>
          <a:prstGeom prst="rect">
            <a:avLst/>
          </a:prstGeom>
          <a:solidFill>
            <a:srgbClr val="E8F0EB"/>
          </a:solidFill>
          <a:ln w="12700">
            <a:solidFill>
              <a:srgbClr val="E8F0EB"/>
            </a:solidFill>
            <a:prstDash val="solid"/>
          </a:ln>
        </p:spPr>
      </p:sp>
      <p:sp>
        <p:nvSpPr>
          <p:cNvPr id="6" name="Text 4"/>
          <p:cNvSpPr/>
          <p:nvPr/>
        </p:nvSpPr>
        <p:spPr>
          <a:xfrm>
            <a:off x="274320" y="960120"/>
            <a:ext cx="4663440" cy="3200400"/>
          </a:xfrm>
          <a:prstGeom prst="rect">
            <a:avLst/>
          </a:prstGeom>
          <a:noFill/>
          <a:ln/>
        </p:spPr>
        <p:txBody>
          <a:bodyPr wrap="square" rtlCol="0" anchor="t"/>
          <a:lstStyle/>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Talcher coalfields (Angul district, Odisha): Gondwana Supergroup, Permian (~299–252 Ma)</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coal seams ARE the Glossopteris forest — compressed organic matter from the Permian ecosystem</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Glossopteris fossils in Talcher connect Odisha to South America, Africa, Antarctica, Australia in one Gondwana supercontinent</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same strata also contain trace fossils of Permian insects and spores of non-flowering plants</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Above the Gondwana Supergroup: Mesozoic sediments, then Tertiary sediments — the full geological history readable in sequence</a:t>
            </a:r>
            <a:endParaRPr lang="en-US" sz="1300" dirty="0"/>
          </a:p>
          <a:p>
            <a:pPr marL="342900" indent="-342900">
              <a:buSzPct val="100000"/>
              <a:buChar char="•"/>
            </a:pPr>
            <a:r>
              <a:rPr lang="en-US" sz="1300" dirty="0">
                <a:solidFill>
                  <a:srgbClr val="1C2B1E"/>
                </a:solidFill>
                <a:latin typeface="Calibri" pitchFamily="34" charset="0"/>
                <a:ea typeface="Calibri" pitchFamily="34" charset="-122"/>
                <a:cs typeface="Calibri" pitchFamily="34" charset="-120"/>
              </a:rPr>
              <a:t>The geological time scale is not abstract — it is literally readable in the rock exposures of Odisha</a:t>
            </a:r>
            <a:endParaRPr lang="en-US" sz="1300" dirty="0"/>
          </a:p>
        </p:txBody>
      </p:sp>
      <p:sp>
        <p:nvSpPr>
          <p:cNvPr id="7" name="Shape 5"/>
          <p:cNvSpPr/>
          <p:nvPr/>
        </p:nvSpPr>
        <p:spPr>
          <a:xfrm>
            <a:off x="5120640" y="960120"/>
            <a:ext cx="3749040" cy="3474720"/>
          </a:xfrm>
          <a:prstGeom prst="rect">
            <a:avLst/>
          </a:prstGeom>
          <a:solidFill>
            <a:srgbClr val="243228"/>
          </a:solidFill>
          <a:ln w="6350">
            <a:solidFill>
              <a:srgbClr val="3D7A52"/>
            </a:solidFill>
            <a:prstDash val="solid"/>
          </a:ln>
        </p:spPr>
      </p:sp>
      <p:sp>
        <p:nvSpPr>
          <p:cNvPr id="8" name="Text 6"/>
          <p:cNvSpPr/>
          <p:nvPr/>
        </p:nvSpPr>
        <p:spPr>
          <a:xfrm>
            <a:off x="5257800" y="1097280"/>
            <a:ext cx="3474720" cy="457200"/>
          </a:xfrm>
          <a:prstGeom prst="rect">
            <a:avLst/>
          </a:prstGeom>
          <a:noFill/>
          <a:ln/>
        </p:spPr>
        <p:txBody>
          <a:bodyPr wrap="square" rtlCol="0" anchor="ctr"/>
          <a:lstStyle/>
          <a:p>
            <a:pPr indent="0" marL="0">
              <a:buNone/>
            </a:pPr>
            <a:r>
              <a:rPr lang="en-US" sz="1300" b="1" dirty="0">
                <a:solidFill>
                  <a:srgbClr val="C8791E"/>
                </a:solidFill>
                <a:latin typeface="Georgia" pitchFamily="34" charset="0"/>
                <a:ea typeface="Georgia" pitchFamily="34" charset="-122"/>
                <a:cs typeface="Georgia" pitchFamily="34" charset="-120"/>
              </a:rPr>
              <a:t>Talcher Geological Column (Simplified)</a:t>
            </a:r>
            <a:endParaRPr lang="en-US" sz="1300" dirty="0"/>
          </a:p>
        </p:txBody>
      </p:sp>
      <p:sp>
        <p:nvSpPr>
          <p:cNvPr id="9" name="Text 7"/>
          <p:cNvSpPr/>
          <p:nvPr/>
        </p:nvSpPr>
        <p:spPr>
          <a:xfrm>
            <a:off x="5257800" y="1600200"/>
            <a:ext cx="3474720" cy="2651760"/>
          </a:xfrm>
          <a:prstGeom prst="rect">
            <a:avLst/>
          </a:prstGeom>
          <a:noFill/>
          <a:ln/>
        </p:spPr>
        <p:txBody>
          <a:bodyPr wrap="square" rtlCol="0" anchor="t"/>
          <a:lstStyle/>
          <a:p>
            <a:pPr indent="0" marL="0">
              <a:buNone/>
            </a:pPr>
            <a:r>
              <a:rPr lang="en-US" sz="1200" dirty="0">
                <a:solidFill>
                  <a:srgbClr val="F4F1EC"/>
                </a:solidFill>
                <a:latin typeface="Calibri" pitchFamily="34" charset="0"/>
                <a:ea typeface="Calibri" pitchFamily="34" charset="-122"/>
                <a:cs typeface="Calibri" pitchFamily="34" charset="-120"/>
              </a:rPr>
              <a:t>HOLOCENE-RECENT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Alluvial deposits, modern river sediments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TERTIARY</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Laterites, coastal sediments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MESOZOIC</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Deccan-related volcanic intrusions</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Jurassic-Cretaceous sediments</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PERMIAN (Gondwana Supergroup)</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TALCHER FORMATION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Coal seams = compressed Glossopteris forest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Glossopteris fossils abundant</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Permian age: 299-252 Ma</a:t>
            </a:r>
            <a:endParaRPr lang="en-US" sz="1200" dirty="0"/>
          </a:p>
          <a:p>
            <a:pPr indent="0" marL="0">
              <a:buNone/>
            </a:pP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PRECAMBRIAN</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Basement rocks: 2000-3000 Ma</a:t>
            </a:r>
            <a:endParaRPr lang="en-US" sz="1200" dirty="0"/>
          </a:p>
          <a:p>
            <a:pPr indent="0" marL="0">
              <a:buNone/>
            </a:pPr>
            <a:r>
              <a:rPr lang="en-US" sz="1200" dirty="0">
                <a:solidFill>
                  <a:srgbClr val="F4F1EC"/>
                </a:solidFill>
                <a:latin typeface="Calibri" pitchFamily="34" charset="0"/>
                <a:ea typeface="Calibri" pitchFamily="34" charset="-122"/>
                <a:cs typeface="Calibri" pitchFamily="34" charset="-120"/>
              </a:rPr>
              <a:t>  Singhbhum Craton basement</a:t>
            </a:r>
            <a:endParaRPr lang="en-US" sz="1200" dirty="0"/>
          </a:p>
        </p:txBody>
      </p:sp>
      <p:sp>
        <p:nvSpPr>
          <p:cNvPr id="10" name="Shape 8"/>
          <p:cNvSpPr/>
          <p:nvPr/>
        </p:nvSpPr>
        <p:spPr>
          <a:xfrm>
            <a:off x="274320" y="4297680"/>
            <a:ext cx="8595360" cy="621792"/>
          </a:xfrm>
          <a:prstGeom prst="rect">
            <a:avLst/>
          </a:prstGeom>
          <a:solidFill>
            <a:srgbClr val="1C2B1E"/>
          </a:solidFill>
          <a:ln w="12700">
            <a:solidFill>
              <a:srgbClr val="1C2B1E"/>
            </a:solidFill>
            <a:prstDash val="solid"/>
          </a:ln>
        </p:spPr>
      </p:sp>
      <p:sp>
        <p:nvSpPr>
          <p:cNvPr id="11" name="Text 9"/>
          <p:cNvSpPr/>
          <p:nvPr/>
        </p:nvSpPr>
        <p:spPr>
          <a:xfrm>
            <a:off x="274320" y="4297680"/>
            <a:ext cx="8595360" cy="621792"/>
          </a:xfrm>
          <a:prstGeom prst="rect">
            <a:avLst/>
          </a:prstGeom>
          <a:noFill/>
          <a:ln/>
        </p:spPr>
        <p:txBody>
          <a:bodyPr wrap="square" lIns="1524" tIns="1524" rIns="1524" bIns="1524" rtlCol="0" anchor="ctr"/>
          <a:lstStyle/>
          <a:p>
            <a:pPr indent="0" marL="0">
              <a:buNone/>
            </a:pPr>
            <a:r>
              <a:rPr lang="en-US" sz="1100" b="1" dirty="0">
                <a:solidFill>
                  <a:srgbClr val="C8791E"/>
                </a:solidFill>
                <a:latin typeface="Calibri" pitchFamily="34" charset="0"/>
                <a:ea typeface="Calibri" pitchFamily="34" charset="-122"/>
                <a:cs typeface="Calibri" pitchFamily="34" charset="-120"/>
              </a:rPr>
              <a:t>Gondwana Supergroup: </a:t>
            </a:r>
            <a:pPr indent="0" marL="0">
              <a:buNone/>
            </a:pPr>
            <a:r>
              <a:rPr lang="en-US" sz="1100" dirty="0">
                <a:solidFill>
                  <a:srgbClr val="F4F1EC"/>
                </a:solidFill>
                <a:latin typeface="Calibri" pitchFamily="34" charset="0"/>
                <a:ea typeface="Calibri" pitchFamily="34" charset="-122"/>
                <a:cs typeface="Calibri" pitchFamily="34" charset="-120"/>
              </a:rPr>
              <a:t>A sequence of Permian to Triassic sedimentary rocks deposited across former Gondwana landmasses, including the Talcher Formation in Odisha. Contains Glossopteris flora and coal seams formed from the Permian forest ecosystem.</a:t>
            </a:r>
            <a:endParaRPr lang="en-US" sz="11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20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8C7A"/>
          </a:solidFill>
          <a:ln w="12700">
            <a:solidFill>
              <a:srgbClr val="3D8C7A"/>
            </a:solidFill>
            <a:prstDash val="solid"/>
          </a:ln>
        </p:spPr>
      </p:sp>
      <p:sp>
        <p:nvSpPr>
          <p:cNvPr id="3" name="Text 1"/>
          <p:cNvSpPr/>
          <p:nvPr/>
        </p:nvSpPr>
        <p:spPr>
          <a:xfrm>
            <a:off x="457200" y="1645920"/>
            <a:ext cx="8229600" cy="1371600"/>
          </a:xfrm>
          <a:prstGeom prst="rect">
            <a:avLst/>
          </a:prstGeom>
          <a:noFill/>
          <a:ln/>
        </p:spPr>
        <p:txBody>
          <a:bodyPr wrap="square" rtlCol="0" anchor="ctr"/>
          <a:lstStyle/>
          <a:p>
            <a:pPr algn="ctr" indent="0" marL="0">
              <a:buNone/>
            </a:pPr>
            <a:r>
              <a:rPr lang="en-US" sz="4400" b="1" dirty="0">
                <a:solidFill>
                  <a:srgbClr val="F4F1EC"/>
                </a:solidFill>
                <a:latin typeface="Georgia" pitchFamily="34" charset="0"/>
                <a:ea typeface="Georgia" pitchFamily="34" charset="-122"/>
                <a:cs typeface="Georgia" pitchFamily="34" charset="-120"/>
              </a:rPr>
              <a:t>Questions &amp; Answers</a:t>
            </a:r>
            <a:endParaRPr lang="en-US" sz="4400" dirty="0"/>
          </a:p>
        </p:txBody>
      </p:sp>
      <p:sp>
        <p:nvSpPr>
          <p:cNvPr id="4" name="Text 2"/>
          <p:cNvSpPr/>
          <p:nvPr/>
        </p:nvSpPr>
        <p:spPr>
          <a:xfrm>
            <a:off x="457200" y="3017520"/>
            <a:ext cx="8229600" cy="457200"/>
          </a:xfrm>
          <a:prstGeom prst="rect">
            <a:avLst/>
          </a:prstGeom>
          <a:noFill/>
          <a:ln/>
        </p:spPr>
        <p:txBody>
          <a:bodyPr wrap="square" rtlCol="0" anchor="ctr"/>
          <a:lstStyle/>
          <a:p>
            <a:pPr algn="ctr" indent="0" marL="0">
              <a:buNone/>
            </a:pPr>
            <a:r>
              <a:rPr lang="en-US" sz="1600" i="1" dirty="0">
                <a:solidFill>
                  <a:srgbClr val="8FA898"/>
                </a:solidFill>
                <a:latin typeface="Calibri" pitchFamily="34" charset="0"/>
                <a:ea typeface="Calibri" pitchFamily="34" charset="-122"/>
                <a:cs typeface="Calibri" pitchFamily="34" charset="-120"/>
              </a:rPr>
              <a:t>Thinking-type questions — discuss before turning to the answer slide</a:t>
            </a:r>
            <a:endParaRPr lang="en-US" sz="1600" dirty="0"/>
          </a:p>
        </p:txBody>
      </p:sp>
      <p:sp>
        <p:nvSpPr>
          <p:cNvPr id="5" name="Text 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1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Critics of evolution sometimes argue: "The fossil record has enormous gaps where transitional forms should exist but don't — this is evidence against evolution." Evaluate this argument carefully. Are the gaps in the fossil record unexpected? What specifically does evolutionary theory predict about where gaps will and will not occur? What is the difference between a gap that is explicable by taphonomy and a gap that would genuinely challenge evolutionary theory?</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does the physics of preservation tell us about which organisms and environments will be preserved? Are gaps in the fossil record random or systematic? What kind of gap would actually be a problem for evolutionary theory?</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22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Q1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Critics of evolution sometimes argue: "The fossil record has enormous gaps where transitional forms should exist but don't — this is evidence against evolution." Evaluate this argument carefully. Are the gaps in the fossil record unexpected? What specifically does evolutionary theory predict about where gaps will and will not occur? What is the difference between a gap that is explicable by taphonomy and a gap that would genuinely challenge evolutionary theory?</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argument misunderstands what evolutionary theory predicts about the fossil record. Evolutionary theory does NOT predict a complete, gap-free record — it predicts a biased and incomplete sample with specific, explicable gaps. Evaluation of the argument: The gaps in the fossil record are not unexpected — they are PREDICTED by taphonomy (the science of preservation). The biases are systematic, not random: marine organisms fossilise more readily than terrestrial ones; hard-bodied organisms fossilise more than soft-bodied ones; depositional basins preserve material better than erosional landscapes. Most organisms on Earth live in environments where fossilisation is highly unlikely — terrestrial forests, rivers, mountains. Their absence from the record is entirely expected. What evolutionary theory actually predicts: (1) Transitions between major groups will be underrepresented because transitional forms typically have smaller populations, shorter temporal ranges, and often live in environments poorly suited to preservation; (2) Where fossilisation conditions are good (marine basins, certain lakes, tar pits, amber), the fossil record will be dense and informative; (3) Soft-bodied organisms and terrestrial organisms will be systematically underrepresented. The difference between explicable and genuinely problematic gaps: An explicable gap is one in a terrestrial or soft-bodied lineage, in a geologically recent period without preservational opportunity, or in a group known to have small populations. A genuinely problematic gap would be: (1) The absence of transitional forms in environments where preservation would be expected — e.g., no transitional marine invertebrates in well-studied Cambrian marine sediments; (2) Modern species found in ancient rock layers (pre-dating their predicted divergence); (3) The presence of a mammal in Silurian rocks — Haldane's "fossil rabbits in the Precambrian" test. None of these has been observed. Where the record is dense (marine invertebrates, some mammalian groups), it shows exactly the gradual transitions that evolutionary theory predicts. The fossil record is not the evidence against evolution; in the places where it is most complete, it is among the strongest evidence for it.</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23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2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traditional textbook diagram of horse evolution shows a straight line from Hyracotherium (small, four-toed) to Equus (large, one-toed), often presented as the clearest evidence for gradual Darwinian evolution. A palaeontologist argues that this diagram actually MISREPRESENTS horse evolution and, if anything, shows that evolution does NOT work by simple gradual linear progression. What is specifically wrong with the linear diagram? What does the actual pattern of horse family evolution show, and what evolutionary concepts does it actually illustrate?</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How many horse species existed simultaneously at the Miocene peak? Did body size only increase? Did toe reduction happen once? What type of evolutionary pattern (anagenesis vs cladogenesis) does the real pattern represent?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24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Q2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traditional textbook diagram of horse evolution shows a straight line from Hyracotherium (small, four-toed) to Equus (large, one-toed), often presented as the clearest evidence for gradual Darwinian evolution. A palaeontologist argues that this diagram actually MISREPRESENTS horse evolution and, if anything, shows that evolution does NOT work by simple gradual linear progression. What is specifically wrong with the linear diagram? What does the actual pattern of horse family evolution show, and what evolutionary concepts does it actually illustrate?</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palaeontologist is correct. The linear diagram is a pedagogical fiction that misrepresents horse evolution on multiple specific levels. What is wrong with the linear diagram: (1) It shows a single lineage transforming progressively, as if one species turned into another in sequence (anagenesis). The actual pattern is cladogenesis — branching, producing multiple contemporary species. At the Miocene peak (~15–5 Ma), more than 12 horse species coexisted simultaneously in North America. The diagram eliminates all the extinct branches and shows only the one lineage that led to the modern horse. (2) It implies body size only increased. In reality, body size evolved in BOTH directions in different lineages. Some lineages became larger; others became smaller during the same period. The general size increase is a real trend in the Equus lineage but is not universal across the family. (3) It implies toe reduction happened once, linearly from 4 to 3 to 1. In reality, toe reduction evolved MULTIPLE TIMES INDEPENDENTLY in different horse lineages during the Miocene diversification. (4) It implies Equus was the "goal" or direction toward which evolution was progressing. This teleological framing is wrong — Equus is simply the one surviving branch of a diverse radiation; its survival is partly a historical accident of the Pleistocene extinctions. What the actual pattern illustrates: (1) Adaptive radiation — a single ancestral lineage (Hyracotherium ~55 Ma) diversified into multiple ecologically distinct species; (2) Cladogenesis as the dominant mode of macroevolution; (3) Convergent evolution — toe reduction evolved independently multiple times; (4) Extinction as the norm — the vast majority of horse lineages went extinct; Equus is exceptional in surviving; (5) Evolution is opportunistic and multi-directional, not directed toward a goal. The horse family is actually better evidence for complex bushy macroevolution than for simple gradual linear transformation.</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25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3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Application — Bloom's L3 (Odisha scenario)</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A geology student in the Talcher coalfields of Angul district, Odisha, discovers a leaf impression in Permian strata that she argues is a transitional form between two known Glossopteris species from adjacent rock layers. She claims this proves gradual evolution of the genus Glossopteris. Evaluate her claim. What criteria must the fossil satisfy to be classified as a transitional form? What alternatives must be ruled out before accepting her interpretation? What additional data would strengthen or falsify her claim?</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are the three requirements for a transitional fossil? Is a single intermediate leaf impression sufficient to establish a transition? What other explanations could produce an intermediate-looking fossil? What would you need to rule them out?</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26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Q3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A geology student in the Talcher coalfields of Angul district, Odisha, discovers a leaf impression in Permian strata that she argues is a transitional form between two known Glossopteris species from adjacent rock layers. She claims this proves gradual evolution of the genus Glossopteris. Evaluate her claim. What criteria must the fossil satisfy to be classified as a transitional form? What alternatives must be ruled out before accepting her interpretation? What additional data would strengthen or falsify her claim?</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The student's claim is plausible but currently unsupported — a single intermediate-looking leaf impression does not establish a transitional form. Criteria the fossil must satisfy: (1) MOSAIC CHARACTERS: the specimen must show a combination of characters from both species — not just intermediate in size or one character, but specifically showing characters that are derived relative to the older species and ancestral relative to the younger species; (2) STRATIGRAPHIC POSITION: the specimen must be found in rock layers that are chronologically BETWEEN the layers containing the two reference species — not in the same horizon, not in a younger horizon; (3) CORRECT LINEAGE: the specimen must be from a lineage plausibly ancestral to the younger species, not from a parallel lineage in the same genus. Alternatives that must be ruled out: (1) PHENOTYPIC PLASTICITY: Glossopteris leaf morphology is known to vary considerably within a single species depending on age, position on the plant, season, and local environment. A single specimen showing intermediate morphology could be an unusual leaf from one of the established species, not a new or intermediate form. Multiple specimens from the same horizon are needed to establish consistent morphological distinctiveness. (2) INDEPENDENT SPECIES: the intermediate specimen may belong to a third species independently occupying the same temporal range — not transitional between the other two. (3) TAPHONOMIC DISTORTION: compression fossils deform during burial and lithification; apparent intermediate morphology may reflect distortion rather than genuine intermediate characters. Additional data needed to strengthen or falsify the claim: (a) Multiple specimens from the same horizon showing consistent intermediate morphology (rules out individual variation and distortion); (b) Precise stratigraphic location confirmed by independent dating (K-Ar on associated volcanic ash if present, or palynological biostratigraphy); (c) Morphometric analysis measuring multiple characters to show statistically intermediate position between the two reference species; (d) If possible, cuticle analysis — Glossopteris leaf cuticle (outer wax layer) can sometimes be extracted from compressions and provides more taxonomically reliable characters than gross leaf shape.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27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4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Analysis — Bloom's L4</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5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The Alvarez hypothesis (1980) proposed that the K-T mass extinction was caused by a large bolide (asteroid or comet) impact. When first proposed, it was highly controversial and resisted by most palaeontologists. (a) What was the original evidence for the hypothesis? (b) What specifically did palaeontologists find implausible, and why? (c) What evidence accumulated over the following decade that shifted consensus toward accepting the hypothesis? (d) What does this episode illustrate about how scientific consensus on catastrophic events forms?</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What did the iridium anomaly actually show, and what made it surprising? Why would gradual-change-oriented palaeontologists resist a sudden catastrophic explanation? What piece of evidence was so specific and independent that it forced reconsideration?</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28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Q4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The Alvarez hypothesis (1980) proposed that the K-T mass extinction was caused by a large bolide (asteroid or comet) impact. When first proposed, it was highly controversial and resisted by most palaeontologists. (a) What was the original evidence for the hypothesis? (b) What specifically did palaeontologists find implausible, and why? (c) What evidence accumulated over the following decade that shifted consensus toward accepting the hypothesis? (d) What does this episode illustrate about how scientific consensus on catastrophic events forms?</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(a) Original evidence (Alvarez et al., Science 1980): Luis Alvarez (physicist), Walter Alvarez (geologist), Frank Asaro, and Helen Michel discovered a globally synchronous layer of iridium at the K-T boundary — at 30–160× normal crustal background levels. Iridium is depleted in Earth's crust (it sank to the core during planetary differentiation) but is relatively abundant in meteoritic material. A simultaneous global iridium enrichment was best explained by the vaporisation of a large extraterrestrial body, dispersing its iridium globally as fine dust. (b) Palaeontological resistance: Most palaeontologists in 1980 worked within a gradualist framework — the Darwinian tradition of slow continuous change. They had several specific objections: (i) The K-T faunal change appeared gradual in many fossil sequences — a single catastrophic event should show sharper boundaries; (ii) Some dinosaur lineages appeared to be declining before the K-T boundary; (iii) The proposed impactor (10 km diameter) seemed physically implausible for causing global biological effects; (iv) Iridium could, in principle, also come from intense prolonged volcanic activity (the Deccan Traps were erupting at the same time). (c) Evidence that shifted consensus: (i) Discovery of shocked quartz (planar deformation features formed only at &gt;10 GPa, impossible from volcanism) at the K-T boundary globally; (ii) Impact spherules — tiny glass beads formed by impact vaporisation — found worldwide at the K-T boundary; (iii) The discovery and dating of the Chicxulub crater (1991, Hildebrand et al.) — a 180 km impact structure beneath the Yucatan Peninsula, dated by multiple independent methods to exactly 66.043 ± 0.011 Ma. The crater's existence was the decisive evidence: a specific physical structure of the right size and age. (d) Lessons about catastrophic-event consensus formation: Scientific resistance to catastrophic hypotheses is often appropriate — extraordinary claims require extraordinary evidence. The K-T case illustrates that consensus shifts when multiple independent lines of evidence converge on the same conclusion, and particularly when a specific, unexpected, independently testable prediction is confirmed (in this case, the prediction that a crater of specific size must exist somewhere, and its subsequent discovery). The shift from resistance to near-universal acceptance took approximately 10 years and required evidence that could not be explained by any alternative hypothesis.</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29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C8791E"/>
          </a:solidFill>
          <a:ln w="12700">
            <a:solidFill>
              <a:srgbClr val="C8791E"/>
            </a:solidFill>
            <a:prstDash val="solid"/>
          </a:ln>
        </p:spPr>
      </p:sp>
      <p:sp>
        <p:nvSpPr>
          <p:cNvPr id="3" name="Shape 1"/>
          <p:cNvSpPr/>
          <p:nvPr/>
        </p:nvSpPr>
        <p:spPr>
          <a:xfrm>
            <a:off x="0" y="64008"/>
            <a:ext cx="9144000" cy="475488"/>
          </a:xfrm>
          <a:prstGeom prst="rect">
            <a:avLst/>
          </a:prstGeom>
          <a:solidFill>
            <a:srgbClr val="243228"/>
          </a:solidFill>
          <a:ln w="12700">
            <a:solidFill>
              <a:srgbClr val="243228"/>
            </a:solidFill>
            <a:prstDash val="solid"/>
          </a:ln>
        </p:spPr>
      </p:sp>
      <p:sp>
        <p:nvSpPr>
          <p:cNvPr id="4" name="Text 2"/>
          <p:cNvSpPr/>
          <p:nvPr/>
        </p:nvSpPr>
        <p:spPr>
          <a:xfrm>
            <a:off x="320040" y="91440"/>
            <a:ext cx="4572000" cy="274320"/>
          </a:xfrm>
          <a:prstGeom prst="rect">
            <a:avLst/>
          </a:prstGeom>
          <a:noFill/>
          <a:ln/>
        </p:spPr>
        <p:txBody>
          <a:bodyPr wrap="square" rtlCol="0" anchor="ctr"/>
          <a:lstStyle/>
          <a:p>
            <a:pPr indent="0" marL="0">
              <a:buNone/>
            </a:pPr>
            <a:r>
              <a:rPr lang="en-US" sz="1100" b="1" spc="200" kern="0" dirty="0">
                <a:solidFill>
                  <a:srgbClr val="C8791E"/>
                </a:solidFill>
                <a:latin typeface="Calibri" pitchFamily="34" charset="0"/>
                <a:ea typeface="Calibri" pitchFamily="34" charset="-122"/>
                <a:cs typeface="Calibri" pitchFamily="34" charset="-120"/>
              </a:rPr>
              <a:t>Question 5 of 5</a:t>
            </a:r>
            <a:endParaRPr lang="en-US" sz="1100" dirty="0"/>
          </a:p>
        </p:txBody>
      </p:sp>
      <p:sp>
        <p:nvSpPr>
          <p:cNvPr id="5" name="Text 3"/>
          <p:cNvSpPr/>
          <p:nvPr/>
        </p:nvSpPr>
        <p:spPr>
          <a:xfrm>
            <a:off x="320040" y="329184"/>
            <a:ext cx="6400800" cy="201168"/>
          </a:xfrm>
          <a:prstGeom prst="rect">
            <a:avLst/>
          </a:prstGeom>
          <a:noFill/>
          <a:ln/>
        </p:spPr>
        <p:txBody>
          <a:bodyPr wrap="square" rtlCol="0" anchor="ctr"/>
          <a:lstStyle/>
          <a:p>
            <a:pPr indent="0" marL="0">
              <a:buNone/>
            </a:pPr>
            <a:r>
              <a:rPr lang="en-US" sz="900" spc="100" kern="0" dirty="0">
                <a:solidFill>
                  <a:srgbClr val="8FA898"/>
                </a:solidFill>
                <a:latin typeface="Calibri" pitchFamily="34" charset="0"/>
                <a:ea typeface="Calibri" pitchFamily="34" charset="-122"/>
                <a:cs typeface="Calibri" pitchFamily="34" charset="-120"/>
              </a:rPr>
              <a:t>Evaluation — Bloom's L5</a:t>
            </a:r>
            <a:endParaRPr lang="en-US" sz="900" dirty="0"/>
          </a:p>
        </p:txBody>
      </p:sp>
      <p:sp>
        <p:nvSpPr>
          <p:cNvPr id="6" name="Shape 4"/>
          <p:cNvSpPr/>
          <p:nvPr/>
        </p:nvSpPr>
        <p:spPr>
          <a:xfrm>
            <a:off x="7589520" y="109728"/>
            <a:ext cx="1280160" cy="347472"/>
          </a:xfrm>
          <a:prstGeom prst="rect">
            <a:avLst/>
          </a:prstGeom>
          <a:solidFill>
            <a:srgbClr val="C8791E"/>
          </a:solidFill>
          <a:ln w="12700">
            <a:solidFill>
              <a:srgbClr val="C8791E"/>
            </a:solidFill>
            <a:prstDash val="solid"/>
          </a:ln>
        </p:spPr>
      </p:sp>
      <p:sp>
        <p:nvSpPr>
          <p:cNvPr id="7" name="Text 5"/>
          <p:cNvSpPr/>
          <p:nvPr/>
        </p:nvSpPr>
        <p:spPr>
          <a:xfrm>
            <a:off x="7589520" y="109728"/>
            <a:ext cx="128016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8 marks</a:t>
            </a:r>
            <a:endParaRPr lang="en-US" sz="1000" dirty="0"/>
          </a:p>
        </p:txBody>
      </p:sp>
      <p:sp>
        <p:nvSpPr>
          <p:cNvPr id="8" name="Shape 6"/>
          <p:cNvSpPr/>
          <p:nvPr/>
        </p:nvSpPr>
        <p:spPr>
          <a:xfrm>
            <a:off x="320040" y="713232"/>
            <a:ext cx="502920" cy="502920"/>
          </a:xfrm>
          <a:prstGeom prst="rect">
            <a:avLst/>
          </a:prstGeom>
          <a:solidFill>
            <a:srgbClr val="2D5A3D"/>
          </a:solidFill>
          <a:ln w="12700">
            <a:solidFill>
              <a:srgbClr val="3D7A52"/>
            </a:solidFill>
            <a:prstDash val="solid"/>
          </a:ln>
        </p:spPr>
      </p:sp>
      <p:sp>
        <p:nvSpPr>
          <p:cNvPr id="9" name="Text 7"/>
          <p:cNvSpPr/>
          <p:nvPr/>
        </p:nvSpPr>
        <p:spPr>
          <a:xfrm>
            <a:off x="320040" y="713232"/>
            <a:ext cx="502920" cy="502920"/>
          </a:xfrm>
          <a:prstGeom prst="rect">
            <a:avLst/>
          </a:prstGeom>
          <a:noFill/>
          <a:ln/>
        </p:spPr>
        <p:txBody>
          <a:bodyPr wrap="square" lIns="0" tIns="0" rIns="0" bIns="0" rtlCol="0" anchor="ctr"/>
          <a:lstStyle/>
          <a:p>
            <a:pPr algn="ctr" indent="0" marL="0">
              <a:buNone/>
            </a:pPr>
            <a:r>
              <a:rPr lang="en-US" sz="2200" b="1" dirty="0">
                <a:solidFill>
                  <a:srgbClr val="F4F1EC"/>
                </a:solidFill>
                <a:latin typeface="Georgia" pitchFamily="34" charset="0"/>
                <a:ea typeface="Georgia" pitchFamily="34" charset="-122"/>
                <a:cs typeface="Georgia" pitchFamily="34" charset="-120"/>
              </a:rPr>
              <a:t>Q</a:t>
            </a:r>
            <a:endParaRPr lang="en-US" sz="2200" dirty="0"/>
          </a:p>
        </p:txBody>
      </p:sp>
      <p:sp>
        <p:nvSpPr>
          <p:cNvPr id="10" name="Text 8"/>
          <p:cNvSpPr/>
          <p:nvPr/>
        </p:nvSpPr>
        <p:spPr>
          <a:xfrm>
            <a:off x="960120" y="658368"/>
            <a:ext cx="7863840" cy="2651760"/>
          </a:xfrm>
          <a:prstGeom prst="rect">
            <a:avLst/>
          </a:prstGeom>
          <a:noFill/>
          <a:ln/>
        </p:spPr>
        <p:txBody>
          <a:bodyPr wrap="square" rtlCol="0" anchor="t"/>
          <a:lstStyle/>
          <a:p>
            <a:pPr indent="0" marL="0">
              <a:buNone/>
            </a:pPr>
            <a:r>
              <a:rPr lang="en-US" sz="1500" dirty="0">
                <a:solidFill>
                  <a:srgbClr val="F4F1EC"/>
                </a:solidFill>
                <a:latin typeface="Georgia" pitchFamily="34" charset="0"/>
                <a:ea typeface="Georgia" pitchFamily="34" charset="-122"/>
                <a:cs typeface="Georgia" pitchFamily="34" charset="-120"/>
              </a:rPr>
              <a:t>You are asked to defend the reality of evolution to a scientifically literate sceptic who argues: "The fossil record is too incomplete to be convincing. I grant that fossils exist, but I don't accept they prove common descent." Without using the fossil record, construct the strongest possible case for common descent using only three of the remaining four lines of evidence: comparative anatomy, comparative embryology, biogeography, and molecular data. For each line you choose: state the specific observation, explain what evolutionary theory predicts, and explain why no alternative explanation accounts for the observation as well.</a:t>
            </a:r>
            <a:endParaRPr lang="en-US" sz="1500" dirty="0"/>
          </a:p>
        </p:txBody>
      </p:sp>
      <p:sp>
        <p:nvSpPr>
          <p:cNvPr id="11" name="Shape 9"/>
          <p:cNvSpPr/>
          <p:nvPr/>
        </p:nvSpPr>
        <p:spPr>
          <a:xfrm>
            <a:off x="320040" y="3474720"/>
            <a:ext cx="8503920" cy="914400"/>
          </a:xfrm>
          <a:prstGeom prst="rect">
            <a:avLst/>
          </a:prstGeom>
          <a:solidFill>
            <a:srgbClr val="2D5A3D"/>
          </a:solidFill>
          <a:ln w="12700">
            <a:solidFill>
              <a:srgbClr val="3D7A52"/>
            </a:solidFill>
            <a:prstDash val="solid"/>
          </a:ln>
        </p:spPr>
      </p:sp>
      <p:sp>
        <p:nvSpPr>
          <p:cNvPr id="12" name="Text 10"/>
          <p:cNvSpPr/>
          <p:nvPr/>
        </p:nvSpPr>
        <p:spPr>
          <a:xfrm>
            <a:off x="320040" y="3474720"/>
            <a:ext cx="8503920" cy="914400"/>
          </a:xfrm>
          <a:prstGeom prst="rect">
            <a:avLst/>
          </a:prstGeom>
          <a:noFill/>
          <a:ln/>
        </p:spPr>
        <p:txBody>
          <a:bodyPr wrap="square" lIns="2286" tIns="2286" rIns="2286" bIns="2286" rtlCol="0" anchor="ctr"/>
          <a:lstStyle/>
          <a:p>
            <a:pPr indent="0" marL="0">
              <a:buNone/>
            </a:pPr>
            <a:r>
              <a:rPr lang="en-US" sz="1300" b="1" dirty="0">
                <a:solidFill>
                  <a:srgbClr val="C8791E"/>
                </a:solidFill>
                <a:latin typeface="Calibri" pitchFamily="34" charset="0"/>
                <a:ea typeface="Calibri" pitchFamily="34" charset="-122"/>
                <a:cs typeface="Calibri" pitchFamily="34" charset="-120"/>
              </a:rPr>
              <a:t>Think:  </a:t>
            </a:r>
            <a:pPr indent="0" marL="0">
              <a:buNone/>
            </a:pPr>
            <a:r>
              <a:rPr lang="en-US" sz="1200" dirty="0">
                <a:solidFill>
                  <a:srgbClr val="F4F1EC"/>
                </a:solidFill>
                <a:latin typeface="Calibri" pitchFamily="34" charset="0"/>
                <a:ea typeface="Calibri" pitchFamily="34" charset="-122"/>
                <a:cs typeface="Calibri" pitchFamily="34" charset="-120"/>
              </a:rPr>
              <a:t>Which three lines of evidence would be hardest to explain without common descent? For each: what is the specific observation that is most powerful? What would a non-evolutionary explanation have to claim? Is that alternative explanation simpler or more complex than evolution?</a:t>
            </a:r>
            <a:endParaRPr lang="en-US" sz="1300" dirty="0"/>
          </a:p>
        </p:txBody>
      </p:sp>
      <p:sp>
        <p:nvSpPr>
          <p:cNvPr id="13" name="Text 11"/>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30 / 99</a:t>
            </a:r>
            <a:endParaRPr lang="en-US" sz="900" dirty="0"/>
          </a:p>
        </p:txBody>
      </p:sp>
      <p:sp>
        <p:nvSpPr>
          <p:cNvPr id="14" name="Text 12"/>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4864" cy="5143500"/>
          </a:xfrm>
          <a:prstGeom prst="rect">
            <a:avLst/>
          </a:prstGeom>
          <a:solidFill>
            <a:srgbClr val="3D8C7A"/>
          </a:solidFill>
          <a:ln w="12700">
            <a:solidFill>
              <a:srgbClr val="3D8C7A"/>
            </a:solidFill>
            <a:prstDash val="solid"/>
          </a:ln>
        </p:spPr>
      </p:sp>
      <p:sp>
        <p:nvSpPr>
          <p:cNvPr id="3" name="Text 1"/>
          <p:cNvSpPr/>
          <p:nvPr/>
        </p:nvSpPr>
        <p:spPr>
          <a:xfrm>
            <a:off x="228600" y="91440"/>
            <a:ext cx="7772400" cy="292608"/>
          </a:xfrm>
          <a:prstGeom prst="rect">
            <a:avLst/>
          </a:prstGeom>
          <a:noFill/>
          <a:ln/>
        </p:spPr>
        <p:txBody>
          <a:bodyPr wrap="square" rtlCol="0" anchor="ctr"/>
          <a:lstStyle/>
          <a:p>
            <a:pPr indent="0" marL="0">
              <a:buNone/>
            </a:pPr>
            <a:r>
              <a:rPr lang="en-US" sz="1000" spc="100" kern="0" dirty="0">
                <a:solidFill>
                  <a:srgbClr val="8FA898"/>
                </a:solidFill>
                <a:latin typeface="Calibri" pitchFamily="34" charset="0"/>
                <a:ea typeface="Calibri" pitchFamily="34" charset="-122"/>
                <a:cs typeface="Calibri" pitchFamily="34" charset="-120"/>
              </a:rPr>
              <a:t>Q5  |  Model Answer</a:t>
            </a:r>
            <a:endParaRPr lang="en-US" sz="1000" dirty="0"/>
          </a:p>
        </p:txBody>
      </p:sp>
      <p:sp>
        <p:nvSpPr>
          <p:cNvPr id="4" name="Shape 2"/>
          <p:cNvSpPr/>
          <p:nvPr/>
        </p:nvSpPr>
        <p:spPr>
          <a:xfrm>
            <a:off x="7589520" y="91440"/>
            <a:ext cx="1280160" cy="292608"/>
          </a:xfrm>
          <a:prstGeom prst="rect">
            <a:avLst/>
          </a:prstGeom>
          <a:solidFill>
            <a:srgbClr val="3D8C7A"/>
          </a:solidFill>
          <a:ln w="12700">
            <a:solidFill>
              <a:srgbClr val="3D8C7A"/>
            </a:solidFill>
            <a:prstDash val="solid"/>
          </a:ln>
        </p:spPr>
      </p:sp>
      <p:sp>
        <p:nvSpPr>
          <p:cNvPr id="5" name="Text 3"/>
          <p:cNvSpPr/>
          <p:nvPr/>
        </p:nvSpPr>
        <p:spPr>
          <a:xfrm>
            <a:off x="7589520" y="91440"/>
            <a:ext cx="1280160" cy="29260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 marks</a:t>
            </a:r>
            <a:endParaRPr lang="en-US" sz="900" dirty="0"/>
          </a:p>
        </p:txBody>
      </p:sp>
      <p:sp>
        <p:nvSpPr>
          <p:cNvPr id="6" name="Shape 4"/>
          <p:cNvSpPr/>
          <p:nvPr/>
        </p:nvSpPr>
        <p:spPr>
          <a:xfrm>
            <a:off x="228600" y="438912"/>
            <a:ext cx="8686800" cy="566928"/>
          </a:xfrm>
          <a:prstGeom prst="rect">
            <a:avLst/>
          </a:prstGeom>
          <a:solidFill>
            <a:srgbClr val="E8F0EB"/>
          </a:solidFill>
          <a:ln w="12700">
            <a:solidFill>
              <a:srgbClr val="E8F0EB"/>
            </a:solidFill>
            <a:prstDash val="solid"/>
          </a:ln>
        </p:spPr>
      </p:sp>
      <p:sp>
        <p:nvSpPr>
          <p:cNvPr id="7" name="Text 5"/>
          <p:cNvSpPr/>
          <p:nvPr/>
        </p:nvSpPr>
        <p:spPr>
          <a:xfrm>
            <a:off x="320040" y="438912"/>
            <a:ext cx="8503920" cy="566928"/>
          </a:xfrm>
          <a:prstGeom prst="rect">
            <a:avLst/>
          </a:prstGeom>
          <a:noFill/>
          <a:ln/>
        </p:spPr>
        <p:txBody>
          <a:bodyPr wrap="square" rtlCol="0" anchor="ctr"/>
          <a:lstStyle/>
          <a:p>
            <a:pPr indent="0" marL="0">
              <a:buNone/>
            </a:pPr>
            <a:r>
              <a:rPr lang="en-US" sz="1100" i="1" dirty="0">
                <a:solidFill>
                  <a:srgbClr val="444444"/>
                </a:solidFill>
                <a:latin typeface="Calibri" pitchFamily="34" charset="0"/>
                <a:ea typeface="Calibri" pitchFamily="34" charset="-122"/>
                <a:cs typeface="Calibri" pitchFamily="34" charset="-120"/>
              </a:rPr>
              <a:t>You are asked to defend the reality of evolution to a scientifically literate sceptic who argues: "The fossil record is too incomplete to be convincing. I grant that fossils exist, but I don't accept they prove common descent." Without using the fossil record, construct the strongest possible case for common descent using only three of the remaining four lines of evidence: comparative anatomy, comparative embryology, biogeography, and molecular data. For each line you choose: state the specific observation, explain what evolutionary theory predicts, and explain why no alternative explanation accounts for the observation as well.</a:t>
            </a:r>
            <a:endParaRPr lang="en-US" sz="1100" dirty="0"/>
          </a:p>
        </p:txBody>
      </p:sp>
      <p:sp>
        <p:nvSpPr>
          <p:cNvPr id="8" name="Shape 6"/>
          <p:cNvSpPr/>
          <p:nvPr/>
        </p:nvSpPr>
        <p:spPr>
          <a:xfrm>
            <a:off x="228600" y="1060704"/>
            <a:ext cx="8686800" cy="22860"/>
          </a:xfrm>
          <a:prstGeom prst="rect">
            <a:avLst/>
          </a:prstGeom>
          <a:solidFill>
            <a:srgbClr val="3D8C7A"/>
          </a:solidFill>
          <a:ln w="12700">
            <a:solidFill>
              <a:srgbClr val="3D8C7A"/>
            </a:solidFill>
            <a:prstDash val="solid"/>
          </a:ln>
        </p:spPr>
      </p:sp>
      <p:sp>
        <p:nvSpPr>
          <p:cNvPr id="9" name="Shape 7"/>
          <p:cNvSpPr/>
          <p:nvPr/>
        </p:nvSpPr>
        <p:spPr>
          <a:xfrm>
            <a:off x="228600" y="1143000"/>
            <a:ext cx="411480" cy="411480"/>
          </a:xfrm>
          <a:prstGeom prst="rect">
            <a:avLst/>
          </a:prstGeom>
          <a:solidFill>
            <a:srgbClr val="3D8C7A"/>
          </a:solidFill>
          <a:ln w="12700">
            <a:solidFill>
              <a:srgbClr val="3D8C7A"/>
            </a:solidFill>
            <a:prstDash val="solid"/>
          </a:ln>
        </p:spPr>
      </p:sp>
      <p:sp>
        <p:nvSpPr>
          <p:cNvPr id="10" name="Text 8"/>
          <p:cNvSpPr/>
          <p:nvPr/>
        </p:nvSpPr>
        <p:spPr>
          <a:xfrm>
            <a:off x="228600" y="1143000"/>
            <a:ext cx="411480" cy="41148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A</a:t>
            </a:r>
            <a:endParaRPr lang="en-US" sz="2000" dirty="0"/>
          </a:p>
        </p:txBody>
      </p:sp>
      <p:sp>
        <p:nvSpPr>
          <p:cNvPr id="11" name="Text 9"/>
          <p:cNvSpPr/>
          <p:nvPr/>
        </p:nvSpPr>
        <p:spPr>
          <a:xfrm>
            <a:off x="749808" y="1124712"/>
            <a:ext cx="8165592" cy="3794760"/>
          </a:xfrm>
          <a:prstGeom prst="rect">
            <a:avLst/>
          </a:prstGeom>
          <a:noFill/>
          <a:ln/>
        </p:spPr>
        <p:txBody>
          <a:bodyPr wrap="square" rtlCol="0" anchor="t"/>
          <a:lstStyle/>
          <a:p>
            <a:pPr indent="0" marL="0">
              <a:buNone/>
            </a:pPr>
            <a:r>
              <a:rPr lang="en-US" sz="1200" dirty="0">
                <a:solidFill>
                  <a:srgbClr val="111111"/>
                </a:solidFill>
                <a:latin typeface="Calibri" pitchFamily="34" charset="0"/>
                <a:ea typeface="Calibri" pitchFamily="34" charset="-122"/>
                <a:cs typeface="Calibri" pitchFamily="34" charset="-120"/>
              </a:rPr>
              <a:t>I would choose comparative anatomy, biogeography, and molecular data. The fossil record is set aside as instructed. (1) COMPARATIVE ANATOMY — The Tetrapod Forelimb: Specific observation: All tetrapods (amphibians, reptiles, birds, mammals) possess the same forelimb bones in the same arrangement — humerus, radius, ulna, carpals, metacarpals, phalanges — despite radically different functions: human arm (manipulation), bat wing (flight), whale flipper (swimming), mole forelimb (digging), horse leg (running). What evolutionary theory predicts: All tetrapods share a common ancestor (the first tetrapod, ~375 Ma) from which this forelimb structure was inherited. Natural selection modifies existing structures but cannot redesign from scratch — therefore, the same bones are present in each lineage, modified for different functions. Why no alternative explains it: If each group were independently designed or created for its function, the optimal designs would not share the same structural plan. An optimal bat wing for flight does not require the same bones as an optimal mole arm for digging — an independent design process would not produce this identical structural constraint. The shared structure is only predicted if all groups inherited it from a common ancestor. (2) BIOGEOGRAPHY — Gondwana Distributions: Specific observation: Glossopteris fossils occur in Permian rocks of India (Talcher, Odisha), South America, Africa, Antarctica, and Australia. Marsupials are found in South America and Australia but not in Africa, Europe, or Asia. Lungfishes live in South America, Africa, and Australia. In each case, closely related organisms are on landmasses that are currently separated by thousands of kilometres of ocean. What evolutionary theory predicts: These landmasses were formerly connected (Gondwana), allowing the spread of organisms. After continental separation, lineages evolved independently. Organisms cannot cross modern ocean distances but are found on their respective landmasses because they were there before the continents separated. Why no alternative explains it: Independent creation or origin on separate continents would not predict this specific non-random distribution. Why would marsupials appear on South America and Australia but nowhere else, unless these landmasses were connected when marsupials diversified? The distribution pattern is specifically predicted by continental drift — confirmed by independent geological evidence. (3) MOLECULAR DATA — Universal Genetic Code and Sequence Homology: Specific observation: (i) All known life uses the same genetic code — the same 64 codons map to the same amino acids and stop signals in bacteria, archaea, eukaryotes, and viruses. (ii) When protein sequences are compared across organisms, the degree of sequence similarity matches the degree of morphological and fossil-record-based relatedness exactly: human and chimpanzee cytochrome c differs in 0 amino acids; human and rhesus monkey differs in 1; human and horse differs in 12; human and yeast differs in 45. What evolutionary theory predicts: All life shares a single common ancestor (universal common descent). The genetic code, once established, was inherited by all descendants. Protein sequence divergence is a molecular clock — more closely related organisms diverged more recently and have had less time to accumulate sequence differences. Why no alternative explains it: The universality of the genetic code is arbitrary — there is nothing chemically necessary about the specific codon assignments. The probability of this specific code arising independently even twice is vanishingly small. Its universality is most simply explained by a single origin and inheritance. The exact matching of molecular divergence to morphological and fossil-record divergence cannot be explained by independent origin — only by common descent with divergence. Collectively, these three lines of evidence converge on common descent from three completely independent data types (structural biology, geographic distribution, molecular sequences), generated by different methods, by different scientific communities, largely in ignorance of each other's findings. This convergence is the strongest form of scientific inference.</a:t>
            </a:r>
            <a:endParaRPr lang="en-US" sz="1200" dirty="0"/>
          </a:p>
        </p:txBody>
      </p:sp>
      <p:sp>
        <p:nvSpPr>
          <p:cNvPr id="12" name="Text 10"/>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31 / 99</a:t>
            </a:r>
            <a:endParaRPr lang="en-US" sz="900" dirty="0"/>
          </a:p>
        </p:txBody>
      </p:sp>
      <p:sp>
        <p:nvSpPr>
          <p:cNvPr id="13" name="Text 11"/>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F0EB"/>
        </a:solidFill>
      </p:bgPr>
    </p:bg>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B85A1A"/>
          </a:solidFill>
          <a:ln w="12700">
            <a:solidFill>
              <a:srgbClr val="B85A1A"/>
            </a:solidFill>
            <a:prstDash val="solid"/>
          </a:ln>
        </p:spPr>
      </p:sp>
      <p:sp>
        <p:nvSpPr>
          <p:cNvPr id="3" name="Text 1"/>
          <p:cNvSpPr/>
          <p:nvPr/>
        </p:nvSpPr>
        <p:spPr>
          <a:xfrm>
            <a:off x="274320" y="0"/>
            <a:ext cx="8595360" cy="502920"/>
          </a:xfrm>
          <a:prstGeom prst="rect">
            <a:avLst/>
          </a:prstGeom>
          <a:noFill/>
          <a:ln/>
        </p:spPr>
        <p:txBody>
          <a:bodyPr wrap="square" rtlCol="0" anchor="ctr"/>
          <a:lstStyle/>
          <a:p>
            <a:pPr indent="0" marL="0">
              <a:buNone/>
            </a:pPr>
            <a:r>
              <a:rPr lang="en-US" sz="2000" b="1" dirty="0">
                <a:solidFill>
                  <a:srgbClr val="FFFFFF"/>
                </a:solidFill>
                <a:latin typeface="Georgia" pitchFamily="34" charset="0"/>
                <a:ea typeface="Georgia" pitchFamily="34" charset="-122"/>
                <a:cs typeface="Georgia" pitchFamily="34" charset="-120"/>
              </a:rPr>
              <a:t>⚠  Common Misconceptions</a:t>
            </a:r>
            <a:endParaRPr lang="en-US" sz="2000" dirty="0"/>
          </a:p>
        </p:txBody>
      </p:sp>
      <p:sp>
        <p:nvSpPr>
          <p:cNvPr id="4" name="Shape 2"/>
          <p:cNvSpPr/>
          <p:nvPr/>
        </p:nvSpPr>
        <p:spPr>
          <a:xfrm>
            <a:off x="274320" y="57607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5" name="Shape 3"/>
          <p:cNvSpPr/>
          <p:nvPr/>
        </p:nvSpPr>
        <p:spPr>
          <a:xfrm>
            <a:off x="274320" y="576072"/>
            <a:ext cx="502920" cy="1022985"/>
          </a:xfrm>
          <a:prstGeom prst="rect">
            <a:avLst/>
          </a:prstGeom>
          <a:solidFill>
            <a:srgbClr val="C0392B"/>
          </a:solidFill>
          <a:ln w="12700">
            <a:solidFill>
              <a:srgbClr val="C0392B"/>
            </a:solidFill>
            <a:prstDash val="solid"/>
          </a:ln>
        </p:spPr>
      </p:sp>
      <p:sp>
        <p:nvSpPr>
          <p:cNvPr id="6" name="Text 4"/>
          <p:cNvSpPr/>
          <p:nvPr/>
        </p:nvSpPr>
        <p:spPr>
          <a:xfrm>
            <a:off x="274320" y="57607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822960" y="63093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absence of transitional fossils is evidence against evolution.</a:t>
            </a:r>
            <a:endParaRPr lang="en-US" sz="1150" dirty="0"/>
          </a:p>
        </p:txBody>
      </p:sp>
      <p:sp>
        <p:nvSpPr>
          <p:cNvPr id="8" name="Text 6"/>
          <p:cNvSpPr/>
          <p:nvPr/>
        </p:nvSpPr>
        <p:spPr>
          <a:xfrm>
            <a:off x="822960" y="102618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Gaps in the fossil record are predicted by taphonomy — transitional forms typically have small populations, short temporal ranges, and live in environments poorly suited to preservation. Where preservation conditions are good, the record is dense and transitional forms are abundant (e.g., marine invertebrates, some mammal lineages). The absence of a specific fossil is only evidence against evolution if evolutionary theory predicts it should be preserved — which it rarely does for transitional forms.</a:t>
            </a:r>
            <a:endParaRPr lang="en-US" sz="1100" dirty="0"/>
          </a:p>
        </p:txBody>
      </p:sp>
      <p:sp>
        <p:nvSpPr>
          <p:cNvPr id="9" name="Shape 7"/>
          <p:cNvSpPr/>
          <p:nvPr/>
        </p:nvSpPr>
        <p:spPr>
          <a:xfrm>
            <a:off x="274320" y="169049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274320" y="1690497"/>
            <a:ext cx="502920" cy="1022985"/>
          </a:xfrm>
          <a:prstGeom prst="rect">
            <a:avLst/>
          </a:prstGeom>
          <a:solidFill>
            <a:srgbClr val="C0392B"/>
          </a:solidFill>
          <a:ln w="12700">
            <a:solidFill>
              <a:srgbClr val="C0392B"/>
            </a:solidFill>
            <a:prstDash val="solid"/>
          </a:ln>
        </p:spPr>
      </p:sp>
      <p:sp>
        <p:nvSpPr>
          <p:cNvPr id="11" name="Text 9"/>
          <p:cNvSpPr/>
          <p:nvPr/>
        </p:nvSpPr>
        <p:spPr>
          <a:xfrm>
            <a:off x="274320" y="169049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2" name="Text 10"/>
          <p:cNvSpPr/>
          <p:nvPr/>
        </p:nvSpPr>
        <p:spPr>
          <a:xfrm>
            <a:off x="822960" y="174536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Horse evolution is the best evidence for gradual linear evolution from simple to complex.</a:t>
            </a:r>
            <a:endParaRPr lang="en-US" sz="1150" dirty="0"/>
          </a:p>
        </p:txBody>
      </p:sp>
      <p:sp>
        <p:nvSpPr>
          <p:cNvPr id="13" name="Text 11"/>
          <p:cNvSpPr/>
          <p:nvPr/>
        </p:nvSpPr>
        <p:spPr>
          <a:xfrm>
            <a:off x="822960" y="214061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The linear horse evolution diagram is pedagogically misleading. The actual horse family shows bushy cladogenesis with &gt;12 simultaneous Miocene species, body size evolving in both directions, and toe reduction evolving independently multiple times. Equus is one surviving branch of a diverse radiation, not the endpoint of a directed progression.</a:t>
            </a:r>
            <a:endParaRPr lang="en-US" sz="1100" dirty="0"/>
          </a:p>
        </p:txBody>
      </p:sp>
      <p:sp>
        <p:nvSpPr>
          <p:cNvPr id="14" name="Shape 12"/>
          <p:cNvSpPr/>
          <p:nvPr/>
        </p:nvSpPr>
        <p:spPr>
          <a:xfrm>
            <a:off x="274320" y="2804922"/>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274320" y="2804922"/>
            <a:ext cx="502920" cy="1022985"/>
          </a:xfrm>
          <a:prstGeom prst="rect">
            <a:avLst/>
          </a:prstGeom>
          <a:solidFill>
            <a:srgbClr val="C0392B"/>
          </a:solidFill>
          <a:ln w="12700">
            <a:solidFill>
              <a:srgbClr val="C0392B"/>
            </a:solidFill>
            <a:prstDash val="solid"/>
          </a:ln>
        </p:spPr>
      </p:sp>
      <p:sp>
        <p:nvSpPr>
          <p:cNvPr id="16" name="Text 14"/>
          <p:cNvSpPr/>
          <p:nvPr/>
        </p:nvSpPr>
        <p:spPr>
          <a:xfrm>
            <a:off x="274320" y="2804922"/>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822960" y="2859786"/>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Haeckel's biogenetic law proves evolution — the human embryo passes through a fish stage, a reptile stage, etc.</a:t>
            </a:r>
            <a:endParaRPr lang="en-US" sz="1150" dirty="0"/>
          </a:p>
        </p:txBody>
      </p:sp>
      <p:sp>
        <p:nvSpPr>
          <p:cNvPr id="18" name="Text 16"/>
          <p:cNvSpPr/>
          <p:nvPr/>
        </p:nvSpPr>
        <p:spPr>
          <a:xfrm>
            <a:off x="822960" y="3255035"/>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Haeckel's law (ontogeny recapitulates phylogeny) is incorrect and based on falsified embryo drawings. The defensible version (Von Baer's law) is that early vertebrate embryos share similar features — pharyngeal arches, notochord, somites — reflecting a shared ancestral developmental programme. The human embryo resembles a fish EMBRYO, not a fish adult, and for a limited early stage only.</a:t>
            </a:r>
            <a:endParaRPr lang="en-US" sz="1100" dirty="0"/>
          </a:p>
        </p:txBody>
      </p:sp>
      <p:sp>
        <p:nvSpPr>
          <p:cNvPr id="19" name="Shape 17"/>
          <p:cNvSpPr/>
          <p:nvPr/>
        </p:nvSpPr>
        <p:spPr>
          <a:xfrm>
            <a:off x="274320" y="3919347"/>
            <a:ext cx="8595360" cy="1022985"/>
          </a:xfrm>
          <a:prstGeom prst="rect">
            <a:avLst/>
          </a:prstGeom>
          <a:solidFill>
            <a:srgbClr val="FFFFFF"/>
          </a:solidFill>
          <a:ln w="6350">
            <a:solidFill>
              <a:srgbClr val="DDCCCC"/>
            </a:solidFill>
            <a:prstDash val="solid"/>
          </a:ln>
          <a:effectLst>
            <a:outerShdw sx="100000" sy="100000" kx="0" ky="0" algn="bl" rotWithShape="0" blurRad="101600" dist="38100" dir="8100000">
              <a:srgbClr val="000000">
                <a:alpha val="18000"/>
              </a:srgbClr>
            </a:outerShdw>
          </a:effectLst>
        </p:spPr>
      </p:sp>
      <p:sp>
        <p:nvSpPr>
          <p:cNvPr id="20" name="Shape 18"/>
          <p:cNvSpPr/>
          <p:nvPr/>
        </p:nvSpPr>
        <p:spPr>
          <a:xfrm>
            <a:off x="274320" y="3919347"/>
            <a:ext cx="502920" cy="1022985"/>
          </a:xfrm>
          <a:prstGeom prst="rect">
            <a:avLst/>
          </a:prstGeom>
          <a:solidFill>
            <a:srgbClr val="C0392B"/>
          </a:solidFill>
          <a:ln w="12700">
            <a:solidFill>
              <a:srgbClr val="C0392B"/>
            </a:solidFill>
            <a:prstDash val="solid"/>
          </a:ln>
        </p:spPr>
      </p:sp>
      <p:sp>
        <p:nvSpPr>
          <p:cNvPr id="21" name="Text 19"/>
          <p:cNvSpPr/>
          <p:nvPr/>
        </p:nvSpPr>
        <p:spPr>
          <a:xfrm>
            <a:off x="274320" y="3919347"/>
            <a:ext cx="502920" cy="1022985"/>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a:t>
            </a:r>
            <a:endParaRPr lang="en-US" sz="1600" dirty="0"/>
          </a:p>
        </p:txBody>
      </p:sp>
      <p:sp>
        <p:nvSpPr>
          <p:cNvPr id="22" name="Text 20"/>
          <p:cNvSpPr/>
          <p:nvPr/>
        </p:nvSpPr>
        <p:spPr>
          <a:xfrm>
            <a:off x="822960" y="3974211"/>
            <a:ext cx="7955280" cy="429654"/>
          </a:xfrm>
          <a:prstGeom prst="rect">
            <a:avLst/>
          </a:prstGeom>
          <a:noFill/>
          <a:ln/>
        </p:spPr>
        <p:txBody>
          <a:bodyPr wrap="square" rtlCol="0" anchor="t"/>
          <a:lstStyle/>
          <a:p>
            <a:pPr indent="0" marL="0">
              <a:buNone/>
            </a:pPr>
            <a:r>
              <a:rPr lang="en-US" sz="1150" b="1" dirty="0">
                <a:solidFill>
                  <a:srgbClr val="C0392B"/>
                </a:solidFill>
                <a:latin typeface="Calibri" pitchFamily="34" charset="0"/>
                <a:ea typeface="Calibri" pitchFamily="34" charset="-122"/>
                <a:cs typeface="Calibri" pitchFamily="34" charset="-120"/>
              </a:rPr>
              <a:t>The K-T extinction killed all the dinosaurs.</a:t>
            </a:r>
            <a:endParaRPr lang="en-US" sz="1150" dirty="0"/>
          </a:p>
        </p:txBody>
      </p:sp>
      <p:sp>
        <p:nvSpPr>
          <p:cNvPr id="23" name="Text 21"/>
          <p:cNvSpPr/>
          <p:nvPr/>
        </p:nvSpPr>
        <p:spPr>
          <a:xfrm>
            <a:off x="822960" y="4369460"/>
            <a:ext cx="7955280" cy="511492"/>
          </a:xfrm>
          <a:prstGeom prst="rect">
            <a:avLst/>
          </a:prstGeom>
          <a:noFill/>
          <a:ln/>
        </p:spPr>
        <p:txBody>
          <a:bodyPr wrap="square" rtlCol="0" anchor="t"/>
          <a:lstStyle/>
          <a:p>
            <a:pPr indent="0" marL="0">
              <a:buNone/>
            </a:pPr>
            <a:r>
              <a:rPr lang="en-US" sz="1100" dirty="0">
                <a:solidFill>
                  <a:srgbClr val="1C2B1E"/>
                </a:solidFill>
                <a:latin typeface="Calibri" pitchFamily="34" charset="0"/>
                <a:ea typeface="Calibri" pitchFamily="34" charset="-122"/>
                <a:cs typeface="Calibri" pitchFamily="34" charset="-120"/>
              </a:rPr>
              <a:t>Birds are avian dinosaurs — they survived the K-T extinction. The K-T event eliminated all NON-AVIAN dinosaurs, along with pterosaurs, large marine reptiles, and ammonites. Lizards, snakes, turtles, and crocodilians also survived. The extinction was ecologically structured: small-bodied, omnivorous, flexible organisms had higher survival rates.</a:t>
            </a:r>
            <a:endParaRPr lang="en-US" sz="1100" dirty="0"/>
          </a:p>
        </p:txBody>
      </p:sp>
      <p:sp>
        <p:nvSpPr>
          <p:cNvPr id="24" name="Text 22"/>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5" name="Text 23"/>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E1A10"/>
        </a:solidFill>
      </p:bgPr>
    </p:bg>
    <p:spTree>
      <p:nvGrpSpPr>
        <p:cNvPr id="1" name=""/>
        <p:cNvGrpSpPr/>
        <p:nvPr/>
      </p:nvGrpSpPr>
      <p:grpSpPr>
        <a:xfrm>
          <a:off x="0" y="0"/>
          <a:ext cx="0" cy="0"/>
          <a:chOff x="0" y="0"/>
          <a:chExt cx="0" cy="0"/>
        </a:xfrm>
      </p:grpSpPr>
      <p:sp>
        <p:nvSpPr>
          <p:cNvPr id="2" name="Shape 0"/>
          <p:cNvSpPr/>
          <p:nvPr/>
        </p:nvSpPr>
        <p:spPr>
          <a:xfrm>
            <a:off x="0" y="0"/>
            <a:ext cx="9144000" cy="64008"/>
          </a:xfrm>
          <a:prstGeom prst="rect">
            <a:avLst/>
          </a:prstGeom>
          <a:solidFill>
            <a:srgbClr val="3D7A52"/>
          </a:solidFill>
          <a:ln w="12700">
            <a:solidFill>
              <a:srgbClr val="3D7A52"/>
            </a:solidFill>
            <a:prstDash val="solid"/>
          </a:ln>
        </p:spPr>
      </p:sp>
      <p:sp>
        <p:nvSpPr>
          <p:cNvPr id="3" name="Text 1"/>
          <p:cNvSpPr/>
          <p:nvPr/>
        </p:nvSpPr>
        <p:spPr>
          <a:xfrm>
            <a:off x="274320" y="182880"/>
            <a:ext cx="8595360" cy="502920"/>
          </a:xfrm>
          <a:prstGeom prst="rect">
            <a:avLst/>
          </a:prstGeom>
          <a:noFill/>
          <a:ln/>
        </p:spPr>
        <p:txBody>
          <a:bodyPr wrap="square" rtlCol="0" anchor="ctr"/>
          <a:lstStyle/>
          <a:p>
            <a:pPr indent="0" marL="0">
              <a:buNone/>
            </a:pPr>
            <a:r>
              <a:rPr lang="en-US" sz="2600" b="1" dirty="0">
                <a:solidFill>
                  <a:srgbClr val="F4F1EC"/>
                </a:solidFill>
                <a:latin typeface="Georgia" pitchFamily="34" charset="0"/>
                <a:ea typeface="Georgia" pitchFamily="34" charset="-122"/>
                <a:cs typeface="Georgia" pitchFamily="34" charset="-120"/>
              </a:rPr>
              <a:t>Chapter Summary</a:t>
            </a:r>
            <a:endParaRPr lang="en-US" sz="2600" dirty="0"/>
          </a:p>
        </p:txBody>
      </p:sp>
      <p:sp>
        <p:nvSpPr>
          <p:cNvPr id="4" name="Shape 2"/>
          <p:cNvSpPr/>
          <p:nvPr/>
        </p:nvSpPr>
        <p:spPr>
          <a:xfrm>
            <a:off x="274320" y="822960"/>
            <a:ext cx="292608" cy="384048"/>
          </a:xfrm>
          <a:prstGeom prst="rect">
            <a:avLst/>
          </a:prstGeom>
          <a:solidFill>
            <a:srgbClr val="C8791E"/>
          </a:solidFill>
          <a:ln w="12700">
            <a:solidFill>
              <a:srgbClr val="C8791E"/>
            </a:solidFill>
            <a:prstDash val="solid"/>
          </a:ln>
        </p:spPr>
      </p:sp>
      <p:sp>
        <p:nvSpPr>
          <p:cNvPr id="5" name="Text 3"/>
          <p:cNvSpPr/>
          <p:nvPr/>
        </p:nvSpPr>
        <p:spPr>
          <a:xfrm>
            <a:off x="274320" y="822960"/>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658368" y="822960"/>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geological time scale is calibrated by two independent methods: stratigraphy (relative dating — deeper is older) and radiometric dating (absolute dating from radioactive decay rates).</a:t>
            </a:r>
            <a:endParaRPr lang="en-US" sz="1250" dirty="0"/>
          </a:p>
        </p:txBody>
      </p:sp>
      <p:sp>
        <p:nvSpPr>
          <p:cNvPr id="7" name="Shape 5"/>
          <p:cNvSpPr/>
          <p:nvPr/>
        </p:nvSpPr>
        <p:spPr>
          <a:xfrm>
            <a:off x="274320" y="1444752"/>
            <a:ext cx="292608" cy="384048"/>
          </a:xfrm>
          <a:prstGeom prst="rect">
            <a:avLst/>
          </a:prstGeom>
          <a:solidFill>
            <a:srgbClr val="C8791E"/>
          </a:solidFill>
          <a:ln w="12700">
            <a:solidFill>
              <a:srgbClr val="C8791E"/>
            </a:solidFill>
            <a:prstDash val="solid"/>
          </a:ln>
        </p:spPr>
      </p:sp>
      <p:sp>
        <p:nvSpPr>
          <p:cNvPr id="8" name="Text 6"/>
          <p:cNvSpPr/>
          <p:nvPr/>
        </p:nvSpPr>
        <p:spPr>
          <a:xfrm>
            <a:off x="274320" y="1444752"/>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658368" y="1444752"/>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Fossil preservation is biased predictably toward marine, hard-bodied, depositional environments — the gaps are expected and explicable, not mysterious. Where preservation is good, transitional forms are abundant.</a:t>
            </a:r>
            <a:endParaRPr lang="en-US" sz="1250" dirty="0"/>
          </a:p>
        </p:txBody>
      </p:sp>
      <p:sp>
        <p:nvSpPr>
          <p:cNvPr id="10" name="Shape 8"/>
          <p:cNvSpPr/>
          <p:nvPr/>
        </p:nvSpPr>
        <p:spPr>
          <a:xfrm>
            <a:off x="274320" y="2066544"/>
            <a:ext cx="292608" cy="384048"/>
          </a:xfrm>
          <a:prstGeom prst="rect">
            <a:avLst/>
          </a:prstGeom>
          <a:solidFill>
            <a:srgbClr val="C8791E"/>
          </a:solidFill>
          <a:ln w="12700">
            <a:solidFill>
              <a:srgbClr val="C8791E"/>
            </a:solidFill>
            <a:prstDash val="solid"/>
          </a:ln>
        </p:spPr>
      </p:sp>
      <p:sp>
        <p:nvSpPr>
          <p:cNvPr id="11" name="Text 9"/>
          <p:cNvSpPr/>
          <p:nvPr/>
        </p:nvSpPr>
        <p:spPr>
          <a:xfrm>
            <a:off x="274320" y="2066544"/>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658368" y="2066544"/>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Comparative anatomy (tetrapod forelimb), embryology (pharyngeal arches), and biogeography (Wallace's Line, Gondwana distributions including Talcher coalfields) provide three independent lines of evidence for common descent.</a:t>
            </a:r>
            <a:endParaRPr lang="en-US" sz="1250" dirty="0"/>
          </a:p>
        </p:txBody>
      </p:sp>
      <p:sp>
        <p:nvSpPr>
          <p:cNvPr id="13" name="Shape 11"/>
          <p:cNvSpPr/>
          <p:nvPr/>
        </p:nvSpPr>
        <p:spPr>
          <a:xfrm>
            <a:off x="274320" y="2688336"/>
            <a:ext cx="292608" cy="384048"/>
          </a:xfrm>
          <a:prstGeom prst="rect">
            <a:avLst/>
          </a:prstGeom>
          <a:solidFill>
            <a:srgbClr val="C8791E"/>
          </a:solidFill>
          <a:ln w="12700">
            <a:solidFill>
              <a:srgbClr val="C8791E"/>
            </a:solidFill>
            <a:prstDash val="solid"/>
          </a:ln>
        </p:spPr>
      </p:sp>
      <p:sp>
        <p:nvSpPr>
          <p:cNvPr id="14" name="Text 12"/>
          <p:cNvSpPr/>
          <p:nvPr/>
        </p:nvSpPr>
        <p:spPr>
          <a:xfrm>
            <a:off x="274320" y="2688336"/>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5" name="Text 13"/>
          <p:cNvSpPr/>
          <p:nvPr/>
        </p:nvSpPr>
        <p:spPr>
          <a:xfrm>
            <a:off x="658368" y="2688336"/>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K-T extinction (66 Ma) was caused by the Chicxulub bolide impact — established by five converging independent lines of evidence: iridium anomaly, shocked quartz, impact spherules, global soot, and the crater itself.</a:t>
            </a:r>
            <a:endParaRPr lang="en-US" sz="1250" dirty="0"/>
          </a:p>
        </p:txBody>
      </p:sp>
      <p:sp>
        <p:nvSpPr>
          <p:cNvPr id="16" name="Shape 14"/>
          <p:cNvSpPr/>
          <p:nvPr/>
        </p:nvSpPr>
        <p:spPr>
          <a:xfrm>
            <a:off x="274320" y="3310128"/>
            <a:ext cx="292608" cy="384048"/>
          </a:xfrm>
          <a:prstGeom prst="rect">
            <a:avLst/>
          </a:prstGeom>
          <a:solidFill>
            <a:srgbClr val="C8791E"/>
          </a:solidFill>
          <a:ln w="12700">
            <a:solidFill>
              <a:srgbClr val="C8791E"/>
            </a:solidFill>
            <a:prstDash val="solid"/>
          </a:ln>
        </p:spPr>
      </p:sp>
      <p:sp>
        <p:nvSpPr>
          <p:cNvPr id="17" name="Text 15"/>
          <p:cNvSpPr/>
          <p:nvPr/>
        </p:nvSpPr>
        <p:spPr>
          <a:xfrm>
            <a:off x="274320" y="3310128"/>
            <a:ext cx="29260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18" name="Text 16"/>
          <p:cNvSpPr/>
          <p:nvPr/>
        </p:nvSpPr>
        <p:spPr>
          <a:xfrm>
            <a:off x="658368" y="3310128"/>
            <a:ext cx="8211312" cy="502920"/>
          </a:xfrm>
          <a:prstGeom prst="rect">
            <a:avLst/>
          </a:prstGeom>
          <a:noFill/>
          <a:ln/>
        </p:spPr>
        <p:txBody>
          <a:bodyPr wrap="square" rtlCol="0" anchor="ctr"/>
          <a:lstStyle/>
          <a:p>
            <a:pPr indent="0" marL="0">
              <a:buNone/>
            </a:pPr>
            <a:r>
              <a:rPr lang="en-US" sz="1250" dirty="0">
                <a:solidFill>
                  <a:srgbClr val="F4F1EC"/>
                </a:solidFill>
                <a:latin typeface="Calibri" pitchFamily="34" charset="0"/>
                <a:ea typeface="Calibri" pitchFamily="34" charset="-122"/>
                <a:cs typeface="Calibri" pitchFamily="34" charset="-120"/>
              </a:rPr>
              <a:t>The Palaeogene mammalian radiation following the K-T extinction produced all modern mammalian orders within ~10 million years — the K-T impact was the precondition for mammalian dominance and primate evolution.</a:t>
            </a:r>
            <a:endParaRPr lang="en-US" sz="1250" dirty="0"/>
          </a:p>
        </p:txBody>
      </p:sp>
      <p:sp>
        <p:nvSpPr>
          <p:cNvPr id="19" name="Shape 17"/>
          <p:cNvSpPr/>
          <p:nvPr/>
        </p:nvSpPr>
        <p:spPr>
          <a:xfrm>
            <a:off x="274320" y="4114800"/>
            <a:ext cx="8595360" cy="804672"/>
          </a:xfrm>
          <a:prstGeom prst="rect">
            <a:avLst/>
          </a:prstGeom>
          <a:solidFill>
            <a:srgbClr val="243228"/>
          </a:solidFill>
          <a:ln w="6350">
            <a:solidFill>
              <a:srgbClr val="2D5A3D"/>
            </a:solidFill>
            <a:prstDash val="solid"/>
          </a:ln>
        </p:spPr>
      </p:sp>
      <p:sp>
        <p:nvSpPr>
          <p:cNvPr id="20" name="Text 18"/>
          <p:cNvSpPr/>
          <p:nvPr/>
        </p:nvSpPr>
        <p:spPr>
          <a:xfrm>
            <a:off x="411480" y="4114800"/>
            <a:ext cx="8412480" cy="804672"/>
          </a:xfrm>
          <a:prstGeom prst="rect">
            <a:avLst/>
          </a:prstGeom>
          <a:noFill/>
          <a:ln/>
        </p:spPr>
        <p:txBody>
          <a:bodyPr wrap="square" rtlCol="0" anchor="ctr"/>
          <a:lstStyle/>
          <a:p>
            <a:pPr indent="0" marL="0">
              <a:buNone/>
            </a:pPr>
            <a:r>
              <a:rPr lang="en-US" sz="1100" b="1" dirty="0">
                <a:solidFill>
                  <a:srgbClr val="8FA898"/>
                </a:solidFill>
                <a:latin typeface="Calibri" pitchFamily="34" charset="0"/>
                <a:ea typeface="Calibri" pitchFamily="34" charset="-122"/>
                <a:cs typeface="Calibri" pitchFamily="34" charset="-120"/>
              </a:rPr>
              <a:t>← Builds on: </a:t>
            </a:r>
            <a:pPr indent="0" marL="0">
              <a:buNone/>
            </a:pPr>
            <a:r>
              <a:rPr lang="en-US" sz="1100" dirty="0">
                <a:solidFill>
                  <a:srgbClr val="F4F1EC"/>
                </a:solidFill>
                <a:latin typeface="Calibri" pitchFamily="34" charset="0"/>
                <a:ea typeface="Calibri" pitchFamily="34" charset="-122"/>
                <a:cs typeface="Calibri" pitchFamily="34" charset="-120"/>
              </a:rPr>
              <a:t>Ch. 4 (endosymbiosis — the first cells whose descendants populate the fossil record) · Appendix A (geological time scale reference table)   </a:t>
            </a:r>
            <a:pPr indent="0" marL="0">
              <a:buNone/>
            </a:pPr>
            <a:r>
              <a:rPr lang="en-US" sz="1100" b="1" dirty="0">
                <a:solidFill>
                  <a:srgbClr val="C8791E"/>
                </a:solidFill>
                <a:latin typeface="Calibri" pitchFamily="34" charset="0"/>
                <a:ea typeface="Calibri" pitchFamily="34" charset="-122"/>
                <a:cs typeface="Calibri" pitchFamily="34" charset="-120"/>
              </a:rPr>
              <a:t>  →  Leads to: </a:t>
            </a:r>
            <a:pPr indent="0" marL="0">
              <a:buNone/>
            </a:pPr>
            <a:r>
              <a:rPr lang="en-US" sz="1100" dirty="0">
                <a:solidFill>
                  <a:srgbClr val="F4F1EC"/>
                </a:solidFill>
                <a:latin typeface="Calibri" pitchFamily="34" charset="0"/>
                <a:ea typeface="Calibri" pitchFamily="34" charset="-122"/>
                <a:cs typeface="Calibri" pitchFamily="34" charset="-120"/>
              </a:rPr>
              <a:t>Ch. 6 (theoretical framework explaining WHY these changes occurred — Lamarck through Modern Synthesis) · Ch. 9 (speciation — how the fossil record's branching patterns are produced)</a:t>
            </a:r>
            <a:endParaRPr lang="en-US" sz="1100" dirty="0"/>
          </a:p>
        </p:txBody>
      </p:sp>
      <p:sp>
        <p:nvSpPr>
          <p:cNvPr id="21" name="Text 19"/>
          <p:cNvSpPr/>
          <p:nvPr/>
        </p:nvSpPr>
        <p:spPr>
          <a:xfrm>
            <a:off x="8046720" y="4846320"/>
            <a:ext cx="1005840" cy="228600"/>
          </a:xfrm>
          <a:prstGeom prst="rect">
            <a:avLst/>
          </a:prstGeom>
          <a:noFill/>
          <a:ln/>
        </p:spPr>
        <p:txBody>
          <a:bodyPr wrap="square" rtlCol="0" anchor="ctr"/>
          <a:lstStyle/>
          <a:p>
            <a:pPr algn="r" indent="0" marL="0">
              <a:buNone/>
            </a:pPr>
            <a:r>
              <a:rPr lang="en-US" sz="900" dirty="0">
                <a:solidFill>
                  <a:srgbClr val="8FA898"/>
                </a:solidFill>
                <a:latin typeface="Calibri" pitchFamily="34" charset="0"/>
                <a:ea typeface="Calibri" pitchFamily="34" charset="-122"/>
                <a:cs typeface="Calibri" pitchFamily="34" charset="-120"/>
              </a:rPr>
              <a:t>99 / 99</a:t>
            </a:r>
            <a:endParaRPr lang="en-US" sz="900" dirty="0"/>
          </a:p>
        </p:txBody>
      </p:sp>
      <p:sp>
        <p:nvSpPr>
          <p:cNvPr id="22" name="Text 20"/>
          <p:cNvSpPr/>
          <p:nvPr/>
        </p:nvSpPr>
        <p:spPr>
          <a:xfrm>
            <a:off x="274320" y="4846320"/>
            <a:ext cx="3657600" cy="228600"/>
          </a:xfrm>
          <a:prstGeom prst="rect">
            <a:avLst/>
          </a:prstGeom>
          <a:noFill/>
          <a:ln/>
        </p:spPr>
        <p:txBody>
          <a:bodyPr wrap="square" rtlCol="0" anchor="ctr"/>
          <a:lstStyle/>
          <a:p>
            <a:pPr algn="l" indent="0" marL="0">
              <a:buNone/>
            </a:pPr>
            <a:r>
              <a:rPr lang="en-US" sz="800" i="1" dirty="0">
                <a:solidFill>
                  <a:srgbClr val="8FA898"/>
                </a:solidFill>
                <a:latin typeface="Calibri" pitchFamily="34" charset="0"/>
                <a:ea typeface="Calibri" pitchFamily="34" charset="-122"/>
                <a:cs typeface="Calibri" pitchFamily="34" charset="-120"/>
              </a:rPr>
              <a:t>Ch. 5 — Fossil Record</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2026-05-29T05:43:57Z</dcterms:created>
  <dcterms:modified xsi:type="dcterms:W3CDTF">2026-05-29T05:43:57Z</dcterms:modified>
</cp:coreProperties>
</file>