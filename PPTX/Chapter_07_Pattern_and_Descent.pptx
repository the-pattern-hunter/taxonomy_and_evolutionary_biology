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791E"/>
          </a:solidFill>
          <a:ln w="12700">
            <a:solidFill>
              <a:srgbClr val="C8791E"/>
            </a:solidFill>
            <a:prstDash val="solid"/>
          </a:ln>
        </p:spPr>
      </p:sp>
      <p:sp>
        <p:nvSpPr>
          <p:cNvPr id="3" name="Shape 1"/>
          <p:cNvSpPr/>
          <p:nvPr/>
        </p:nvSpPr>
        <p:spPr>
          <a:xfrm>
            <a:off x="0" y="73152"/>
            <a:ext cx="54864" cy="5070348"/>
          </a:xfrm>
          <a:prstGeom prst="rect">
            <a:avLst/>
          </a:prstGeom>
          <a:solidFill>
            <a:srgbClr val="3D7A52"/>
          </a:solidFill>
          <a:ln w="12700">
            <a:solidFill>
              <a:srgbClr val="3D7A52"/>
            </a:solidFill>
            <a:prstDash val="solid"/>
          </a:ln>
        </p:spPr>
      </p:sp>
      <p:sp>
        <p:nvSpPr>
          <p:cNvPr id="4" name="Text 2"/>
          <p:cNvSpPr/>
          <p:nvPr/>
        </p:nvSpPr>
        <p:spPr>
          <a:xfrm>
            <a:off x="274320" y="164592"/>
            <a:ext cx="8595360" cy="274320"/>
          </a:xfrm>
          <a:prstGeom prst="rect">
            <a:avLst/>
          </a:prstGeom>
          <a:noFill/>
          <a:ln/>
        </p:spPr>
        <p:txBody>
          <a:bodyPr wrap="square" rtlCol="0" anchor="ctr"/>
          <a:lstStyle/>
          <a:p>
            <a:pPr algn="l" indent="0" marL="0">
              <a:buNone/>
            </a:pPr>
            <a:r>
              <a:rPr lang="en-US" sz="900" spc="200" kern="0" dirty="0">
                <a:solidFill>
                  <a:srgbClr val="8FA898"/>
                </a:solidFill>
                <a:latin typeface="Calibri" pitchFamily="34" charset="0"/>
                <a:ea typeface="Calibri" pitchFamily="34" charset="-122"/>
                <a:cs typeface="Calibri" pitchFamily="34" charset="-120"/>
              </a:rPr>
              <a:t>BSc Zoology · Core I · Paper XV · NEP 2025–28</a:t>
            </a:r>
            <a:endParaRPr lang="en-US" sz="900" dirty="0"/>
          </a:p>
        </p:txBody>
      </p:sp>
      <p:sp>
        <p:nvSpPr>
          <p:cNvPr id="5" name="Text 3"/>
          <p:cNvSpPr/>
          <p:nvPr/>
        </p:nvSpPr>
        <p:spPr>
          <a:xfrm>
            <a:off x="274320" y="640080"/>
            <a:ext cx="8595360" cy="457200"/>
          </a:xfrm>
          <a:prstGeom prst="rect">
            <a:avLst/>
          </a:prstGeom>
          <a:noFill/>
          <a:ln/>
        </p:spPr>
        <p:txBody>
          <a:bodyPr wrap="square" rtlCol="0" anchor="ctr"/>
          <a:lstStyle/>
          <a:p>
            <a:pPr algn="l" indent="0" marL="0">
              <a:buNone/>
            </a:pPr>
            <a:r>
              <a:rPr lang="en-US" sz="1400" b="1" spc="300" kern="0" dirty="0">
                <a:solidFill>
                  <a:srgbClr val="C8791E"/>
                </a:solidFill>
                <a:latin typeface="Calibri" pitchFamily="34" charset="0"/>
                <a:ea typeface="Calibri" pitchFamily="34" charset="-122"/>
                <a:cs typeface="Calibri" pitchFamily="34" charset="-120"/>
              </a:rPr>
              <a:t>Chapter 7</a:t>
            </a:r>
            <a:endParaRPr lang="en-US" sz="1400" dirty="0"/>
          </a:p>
        </p:txBody>
      </p:sp>
      <p:sp>
        <p:nvSpPr>
          <p:cNvPr id="6" name="Text 4"/>
          <p:cNvSpPr/>
          <p:nvPr/>
        </p:nvSpPr>
        <p:spPr>
          <a:xfrm>
            <a:off x="274320" y="1051560"/>
            <a:ext cx="8595360" cy="1280160"/>
          </a:xfrm>
          <a:prstGeom prst="rect">
            <a:avLst/>
          </a:prstGeom>
          <a:noFill/>
          <a:ln/>
        </p:spPr>
        <p:txBody>
          <a:bodyPr wrap="square" rtlCol="0" anchor="ctr"/>
          <a:lstStyle/>
          <a:p>
            <a:pPr algn="l" indent="0" marL="0">
              <a:buNone/>
            </a:pPr>
            <a:r>
              <a:rPr lang="en-US" sz="3600" dirty="0">
                <a:solidFill>
                  <a:srgbClr val="F4F1EC"/>
                </a:solidFill>
                <a:latin typeface="Georgia" pitchFamily="34" charset="0"/>
                <a:ea typeface="Georgia" pitchFamily="34" charset="-122"/>
                <a:cs typeface="Georgia" pitchFamily="34" charset="-120"/>
              </a:rPr>
              <a:t>The Algebra of Evolution</a:t>
            </a:r>
            <a:endParaRPr lang="en-US" sz="3600" dirty="0"/>
          </a:p>
        </p:txBody>
      </p:sp>
      <p:sp>
        <p:nvSpPr>
          <p:cNvPr id="7" name="Text 5"/>
          <p:cNvSpPr/>
          <p:nvPr/>
        </p:nvSpPr>
        <p:spPr>
          <a:xfrm>
            <a:off x="274320" y="2331720"/>
            <a:ext cx="8595360" cy="457200"/>
          </a:xfrm>
          <a:prstGeom prst="rect">
            <a:avLst/>
          </a:prstGeom>
          <a:noFill/>
          <a:ln/>
        </p:spPr>
        <p:txBody>
          <a:bodyPr wrap="square" rtlCol="0" anchor="ctr"/>
          <a:lstStyle/>
          <a:p>
            <a:pPr algn="l" indent="0" marL="0">
              <a:buNone/>
            </a:pPr>
            <a:r>
              <a:rPr lang="en-US" sz="1600" i="1" dirty="0">
                <a:solidFill>
                  <a:srgbClr val="8FA898"/>
                </a:solidFill>
                <a:latin typeface="Calibri" pitchFamily="34" charset="0"/>
                <a:ea typeface="Calibri" pitchFamily="34" charset="-122"/>
                <a:cs typeface="Calibri" pitchFamily="34" charset="-120"/>
              </a:rPr>
              <a:t>Population Genetics and Natural Selection</a:t>
            </a:r>
            <a:endParaRPr lang="en-US" sz="1600" dirty="0"/>
          </a:p>
        </p:txBody>
      </p:sp>
      <p:sp>
        <p:nvSpPr>
          <p:cNvPr id="8" name="Shape 6"/>
          <p:cNvSpPr/>
          <p:nvPr/>
        </p:nvSpPr>
        <p:spPr>
          <a:xfrm>
            <a:off x="274320" y="2880360"/>
            <a:ext cx="8595360" cy="13716"/>
          </a:xfrm>
          <a:prstGeom prst="rect">
            <a:avLst/>
          </a:prstGeom>
          <a:solidFill>
            <a:srgbClr val="2D5A3D"/>
          </a:solidFill>
          <a:ln w="12700">
            <a:solidFill>
              <a:srgbClr val="2D5A3D"/>
            </a:solidFill>
            <a:prstDash val="solid"/>
          </a:ln>
        </p:spPr>
      </p:sp>
      <p:sp>
        <p:nvSpPr>
          <p:cNvPr id="9" name="Text 7"/>
          <p:cNvSpPr/>
          <p:nvPr/>
        </p:nvSpPr>
        <p:spPr>
          <a:xfrm>
            <a:off x="274320" y="2971800"/>
            <a:ext cx="8595360" cy="274320"/>
          </a:xfrm>
          <a:prstGeom prst="rect">
            <a:avLst/>
          </a:prstGeom>
          <a:noFill/>
          <a:ln/>
        </p:spPr>
        <p:txBody>
          <a:bodyPr wrap="square" rtlCol="0" anchor="ctr"/>
          <a:lstStyle/>
          <a:p>
            <a:pPr algn="l" indent="0" marL="0">
              <a:buNone/>
            </a:pPr>
            <a:r>
              <a:rPr lang="en-US" sz="1100" dirty="0">
                <a:solidFill>
                  <a:srgbClr val="8FA898"/>
                </a:solidFill>
                <a:latin typeface="Calibri" pitchFamily="34" charset="0"/>
                <a:ea typeface="Calibri" pitchFamily="34" charset="-122"/>
                <a:cs typeface="Calibri" pitchFamily="34" charset="-120"/>
              </a:rPr>
              <a:t>Unit 3 · Process of Evolutionary Changes</a:t>
            </a:r>
            <a:endParaRPr lang="en-US" sz="1100" dirty="0"/>
          </a:p>
        </p:txBody>
      </p:sp>
      <p:sp>
        <p:nvSpPr>
          <p:cNvPr id="10" name="Text 8"/>
          <p:cNvSpPr/>
          <p:nvPr/>
        </p:nvSpPr>
        <p:spPr>
          <a:xfrm>
            <a:off x="274320" y="3337560"/>
            <a:ext cx="8595360" cy="1005840"/>
          </a:xfrm>
          <a:prstGeom prst="rect">
            <a:avLst/>
          </a:prstGeom>
          <a:noFill/>
          <a:ln/>
        </p:spPr>
        <p:txBody>
          <a:bodyPr wrap="square" lIns="91440" tIns="91440" rIns="91440" bIns="91440" rtlCol="0" anchor="ctr"/>
          <a:lstStyle/>
          <a:p>
            <a:pPr algn="l" indent="0" marL="0">
              <a:buNone/>
            </a:pPr>
            <a:r>
              <a:rPr lang="en-US" sz="1300" i="1" dirty="0">
                <a:solidFill>
                  <a:srgbClr val="E8F0EB"/>
                </a:solidFill>
                <a:latin typeface="Georgia" pitchFamily="34" charset="0"/>
                <a:ea typeface="Georgia" pitchFamily="34" charset="-122"/>
                <a:cs typeface="Georgia" pitchFamily="34" charset="-120"/>
              </a:rPr>
              <a:t>"Allele frequencies change only when something acts on them. Hardy-Weinberg equilibrium is not a prediction of stasis — it is a null model that makes deviations detectable, and detectable deviations are evolutionary forces in operation."</a:t>
            </a:r>
            <a:endParaRPr lang="en-US" sz="1300" dirty="0"/>
          </a:p>
        </p:txBody>
      </p:sp>
      <p:sp>
        <p:nvSpPr>
          <p:cNvPr id="11" name="Shape 9"/>
          <p:cNvSpPr/>
          <p:nvPr/>
        </p:nvSpPr>
        <p:spPr>
          <a:xfrm>
            <a:off x="0" y="5070348"/>
            <a:ext cx="9144000" cy="73152"/>
          </a:xfrm>
          <a:prstGeom prst="rect">
            <a:avLst/>
          </a:prstGeom>
          <a:solidFill>
            <a:srgbClr val="3D7A52"/>
          </a:solidFill>
          <a:ln w="12700">
            <a:solidFill>
              <a:srgbClr val="3D7A5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8791E"/>
          </a:solidFill>
          <a:ln w="12700">
            <a:solidFill>
              <a:srgbClr val="C8791E"/>
            </a:solidFill>
            <a:prstDash val="solid"/>
          </a:ln>
        </p:spPr>
      </p:sp>
      <p:sp>
        <p:nvSpPr>
          <p:cNvPr id="3" name="Text 1"/>
          <p:cNvSpPr/>
          <p:nvPr/>
        </p:nvSpPr>
        <p:spPr>
          <a:xfrm>
            <a:off x="274320" y="228600"/>
            <a:ext cx="8595360" cy="502920"/>
          </a:xfrm>
          <a:prstGeom prst="rect">
            <a:avLst/>
          </a:prstGeom>
          <a:noFill/>
          <a:ln/>
        </p:spPr>
        <p:txBody>
          <a:bodyPr wrap="square" rtlCol="0" anchor="ctr"/>
          <a:lstStyle/>
          <a:p>
            <a:pPr indent="0" marL="0">
              <a:buNone/>
            </a:pPr>
            <a:r>
              <a:rPr lang="en-US" sz="2600" b="1" dirty="0">
                <a:solidFill>
                  <a:srgbClr val="1C2B1E"/>
                </a:solidFill>
                <a:latin typeface="Georgia" pitchFamily="34" charset="0"/>
                <a:ea typeface="Georgia" pitchFamily="34" charset="-122"/>
                <a:cs typeface="Georgia" pitchFamily="34" charset="-120"/>
              </a:rPr>
              <a:t>Chapter Overview</a:t>
            </a:r>
            <a:endParaRPr lang="en-US" sz="2600" dirty="0"/>
          </a:p>
        </p:txBody>
      </p:sp>
      <p:sp>
        <p:nvSpPr>
          <p:cNvPr id="4" name="Shape 2"/>
          <p:cNvSpPr/>
          <p:nvPr/>
        </p:nvSpPr>
        <p:spPr>
          <a:xfrm>
            <a:off x="274320"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41248"/>
            <a:ext cx="347472" cy="475488"/>
          </a:xfrm>
          <a:prstGeom prst="rect">
            <a:avLst/>
          </a:prstGeom>
          <a:solidFill>
            <a:srgbClr val="2D5A3D"/>
          </a:solidFill>
          <a:ln w="12700">
            <a:solidFill>
              <a:srgbClr val="2D5A3D"/>
            </a:solidFill>
            <a:prstDash val="solid"/>
          </a:ln>
        </p:spPr>
      </p:sp>
      <p:sp>
        <p:nvSpPr>
          <p:cNvPr id="6" name="Text 4"/>
          <p:cNvSpPr/>
          <p:nvPr/>
        </p:nvSpPr>
        <p:spPr>
          <a:xfrm>
            <a:off x="274320"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58368"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7.1 Hardy-Weinberg Equilibrium</a:t>
            </a:r>
            <a:endParaRPr lang="en-US" sz="1150" dirty="0"/>
          </a:p>
        </p:txBody>
      </p:sp>
      <p:sp>
        <p:nvSpPr>
          <p:cNvPr id="8" name="Shape 6"/>
          <p:cNvSpPr/>
          <p:nvPr/>
        </p:nvSpPr>
        <p:spPr>
          <a:xfrm>
            <a:off x="4590288"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4590288" y="841248"/>
            <a:ext cx="347472" cy="475488"/>
          </a:xfrm>
          <a:prstGeom prst="rect">
            <a:avLst/>
          </a:prstGeom>
          <a:solidFill>
            <a:srgbClr val="2D5A3D"/>
          </a:solidFill>
          <a:ln w="12700">
            <a:solidFill>
              <a:srgbClr val="2D5A3D"/>
            </a:solidFill>
            <a:prstDash val="solid"/>
          </a:ln>
        </p:spPr>
      </p:sp>
      <p:sp>
        <p:nvSpPr>
          <p:cNvPr id="10" name="Text 8"/>
          <p:cNvSpPr/>
          <p:nvPr/>
        </p:nvSpPr>
        <p:spPr>
          <a:xfrm>
            <a:off x="4590288"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974336"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7.2 Five Conditions and Disturbing Forces</a:t>
            </a:r>
            <a:endParaRPr lang="en-US" sz="1150" dirty="0"/>
          </a:p>
        </p:txBody>
      </p:sp>
      <p:sp>
        <p:nvSpPr>
          <p:cNvPr id="12" name="Shape 10"/>
          <p:cNvSpPr/>
          <p:nvPr/>
        </p:nvSpPr>
        <p:spPr>
          <a:xfrm>
            <a:off x="274320"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74320" y="1426464"/>
            <a:ext cx="347472" cy="475488"/>
          </a:xfrm>
          <a:prstGeom prst="rect">
            <a:avLst/>
          </a:prstGeom>
          <a:solidFill>
            <a:srgbClr val="2D5A3D"/>
          </a:solidFill>
          <a:ln w="12700">
            <a:solidFill>
              <a:srgbClr val="2D5A3D"/>
            </a:solidFill>
            <a:prstDash val="solid"/>
          </a:ln>
        </p:spPr>
      </p:sp>
      <p:sp>
        <p:nvSpPr>
          <p:cNvPr id="14" name="Text 12"/>
          <p:cNvSpPr/>
          <p:nvPr/>
        </p:nvSpPr>
        <p:spPr>
          <a:xfrm>
            <a:off x="274320"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58368"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7.3-7.4 Natural Selection: Types and Mathematics</a:t>
            </a:r>
            <a:endParaRPr lang="en-US" sz="1150" dirty="0"/>
          </a:p>
        </p:txBody>
      </p:sp>
      <p:sp>
        <p:nvSpPr>
          <p:cNvPr id="16" name="Shape 14"/>
          <p:cNvSpPr/>
          <p:nvPr/>
        </p:nvSpPr>
        <p:spPr>
          <a:xfrm>
            <a:off x="4590288"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90288" y="1426464"/>
            <a:ext cx="347472" cy="475488"/>
          </a:xfrm>
          <a:prstGeom prst="rect">
            <a:avLst/>
          </a:prstGeom>
          <a:solidFill>
            <a:srgbClr val="2D5A3D"/>
          </a:solidFill>
          <a:ln w="12700">
            <a:solidFill>
              <a:srgbClr val="2D5A3D"/>
            </a:solidFill>
            <a:prstDash val="solid"/>
          </a:ln>
        </p:spPr>
      </p:sp>
      <p:sp>
        <p:nvSpPr>
          <p:cNvPr id="18" name="Text 16"/>
          <p:cNvSpPr/>
          <p:nvPr/>
        </p:nvSpPr>
        <p:spPr>
          <a:xfrm>
            <a:off x="4590288"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4974336"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7.5 Genetic Load</a:t>
            </a:r>
            <a:endParaRPr lang="en-US" sz="1150" dirty="0"/>
          </a:p>
        </p:txBody>
      </p:sp>
      <p:sp>
        <p:nvSpPr>
          <p:cNvPr id="20" name="Shape 18"/>
          <p:cNvSpPr/>
          <p:nvPr/>
        </p:nvSpPr>
        <p:spPr>
          <a:xfrm>
            <a:off x="274320"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274320" y="2011680"/>
            <a:ext cx="347472" cy="475488"/>
          </a:xfrm>
          <a:prstGeom prst="rect">
            <a:avLst/>
          </a:prstGeom>
          <a:solidFill>
            <a:srgbClr val="2D5A3D"/>
          </a:solidFill>
          <a:ln w="12700">
            <a:solidFill>
              <a:srgbClr val="2D5A3D"/>
            </a:solidFill>
            <a:prstDash val="solid"/>
          </a:ln>
        </p:spPr>
      </p:sp>
      <p:sp>
        <p:nvSpPr>
          <p:cNvPr id="22" name="Text 20"/>
          <p:cNvSpPr/>
          <p:nvPr/>
        </p:nvSpPr>
        <p:spPr>
          <a:xfrm>
            <a:off x="274320"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58368"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7.6 Kin Selection and Hamilton's Rule</a:t>
            </a:r>
            <a:endParaRPr lang="en-US" sz="1150" dirty="0"/>
          </a:p>
        </p:txBody>
      </p:sp>
      <p:sp>
        <p:nvSpPr>
          <p:cNvPr id="24" name="Shape 22"/>
          <p:cNvSpPr/>
          <p:nvPr/>
        </p:nvSpPr>
        <p:spPr>
          <a:xfrm>
            <a:off x="4590288"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590288" y="2011680"/>
            <a:ext cx="347472" cy="475488"/>
          </a:xfrm>
          <a:prstGeom prst="rect">
            <a:avLst/>
          </a:prstGeom>
          <a:solidFill>
            <a:srgbClr val="2D5A3D"/>
          </a:solidFill>
          <a:ln w="12700">
            <a:solidFill>
              <a:srgbClr val="2D5A3D"/>
            </a:solidFill>
            <a:prstDash val="solid"/>
          </a:ln>
        </p:spPr>
      </p:sp>
      <p:sp>
        <p:nvSpPr>
          <p:cNvPr id="26" name="Text 24"/>
          <p:cNvSpPr/>
          <p:nvPr/>
        </p:nvSpPr>
        <p:spPr>
          <a:xfrm>
            <a:off x="4590288"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4974336"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7.7 Genetic Drift: Small Populations</a:t>
            </a:r>
            <a:endParaRPr lang="en-US" sz="1150" dirty="0"/>
          </a:p>
        </p:txBody>
      </p:sp>
      <p:sp>
        <p:nvSpPr>
          <p:cNvPr id="28" name="Shape 26"/>
          <p:cNvSpPr/>
          <p:nvPr/>
        </p:nvSpPr>
        <p:spPr>
          <a:xfrm>
            <a:off x="274320" y="2596896"/>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274320" y="2596896"/>
            <a:ext cx="347472" cy="475488"/>
          </a:xfrm>
          <a:prstGeom prst="rect">
            <a:avLst/>
          </a:prstGeom>
          <a:solidFill>
            <a:srgbClr val="2D5A3D"/>
          </a:solidFill>
          <a:ln w="12700">
            <a:solidFill>
              <a:srgbClr val="2D5A3D"/>
            </a:solidFill>
            <a:prstDash val="solid"/>
          </a:ln>
        </p:spPr>
      </p:sp>
      <p:sp>
        <p:nvSpPr>
          <p:cNvPr id="30" name="Text 28"/>
          <p:cNvSpPr/>
          <p:nvPr/>
        </p:nvSpPr>
        <p:spPr>
          <a:xfrm>
            <a:off x="274320" y="2596896"/>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658368" y="2596896"/>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7.8 Mutation, Migration, and Allele Frequency</a:t>
            </a:r>
            <a:endParaRPr lang="en-US" sz="1150" dirty="0"/>
          </a:p>
        </p:txBody>
      </p:sp>
      <p:sp>
        <p:nvSpPr>
          <p:cNvPr id="32" name="Shape 30"/>
          <p:cNvSpPr/>
          <p:nvPr/>
        </p:nvSpPr>
        <p:spPr>
          <a:xfrm>
            <a:off x="274320" y="3273552"/>
            <a:ext cx="8595360" cy="566928"/>
          </a:xfrm>
          <a:prstGeom prst="rect">
            <a:avLst/>
          </a:prstGeom>
          <a:solidFill>
            <a:srgbClr val="1C2B1E"/>
          </a:solidFill>
          <a:ln w="12700">
            <a:solidFill>
              <a:srgbClr val="1C2B1E"/>
            </a:solidFill>
            <a:prstDash val="solid"/>
          </a:ln>
        </p:spPr>
      </p:sp>
      <p:sp>
        <p:nvSpPr>
          <p:cNvPr id="33" name="Text 31"/>
          <p:cNvSpPr/>
          <p:nvPr/>
        </p:nvSpPr>
        <p:spPr>
          <a:xfrm>
            <a:off x="274320" y="3273552"/>
            <a:ext cx="8595360" cy="566928"/>
          </a:xfrm>
          <a:prstGeom prst="rect">
            <a:avLst/>
          </a:prstGeom>
          <a:noFill/>
          <a:ln/>
        </p:spPr>
        <p:txBody>
          <a:bodyPr wrap="square" lIns="1524" tIns="1524" rIns="1524" bIns="1524" rtlCol="0" anchor="ctr"/>
          <a:lstStyle/>
          <a:p>
            <a:pPr indent="0" marL="0">
              <a:buNone/>
            </a:pPr>
            <a:r>
              <a:rPr lang="en-US" sz="1050" b="1" dirty="0">
                <a:solidFill>
                  <a:srgbClr val="C8791E"/>
                </a:solidFill>
                <a:latin typeface="Calibri" pitchFamily="34" charset="0"/>
                <a:ea typeface="Calibri" pitchFamily="34" charset="-122"/>
                <a:cs typeface="Calibri" pitchFamily="34" charset="-120"/>
              </a:rPr>
              <a:t>Threads carried: </a:t>
            </a:r>
            <a:pPr indent="0" marL="0">
              <a:buNone/>
            </a:pPr>
            <a:r>
              <a:rPr lang="en-US" sz="1050" dirty="0">
                <a:solidFill>
                  <a:srgbClr val="F4F1EC"/>
                </a:solidFill>
                <a:latin typeface="Calibri" pitchFamily="34" charset="0"/>
                <a:ea typeface="Calibri" pitchFamily="34" charset="-122"/>
                <a:cs typeface="Calibri" pitchFamily="34" charset="-120"/>
              </a:rPr>
              <a:t>T1 — Species defined by shared gene pool · T2 — Allele as the evolutionary unit of record · T4 — From single nucleotide to population-level change</a:t>
            </a:r>
            <a:endParaRPr lang="en-US" sz="1050" dirty="0"/>
          </a:p>
        </p:txBody>
      </p:sp>
      <p:sp>
        <p:nvSpPr>
          <p:cNvPr id="34" name="Text 3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 / 99</a:t>
            </a:r>
            <a:endParaRPr lang="en-US" sz="900" dirty="0"/>
          </a:p>
        </p:txBody>
      </p:sp>
      <p:sp>
        <p:nvSpPr>
          <p:cNvPr id="35" name="Text 3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§7.1 The Gene Pool</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Population Genetics: From Individuals to Allele Frequencies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Population genetics describes evolution at the level of the GENE POOL — all alleles in a population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Evolution is defined as: a change in allele frequencies in a population across generations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Why allele frequencies, not individual traits? Individuals are born, live, die — the population's gene pool persists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Allele frequency (p): proportion of allele A among all copies of that gene in the population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 a two-allele locus: p + q = 1 (frequencies must sum to 1)</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All evolutionary forces (selection, drift, mutation, migration) act by changing allele frequencies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From Individual to Population</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INDIVIDUAL LEVEL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Genotype: AA, Aa, or aa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Phenotype: determined by genotype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environment</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POPULATION LEVEL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 = freq(A) = (2×AA + Aa) / 2N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q = freq(a) = (2×aa + Aa) / 2N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 + q = 1 always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EVOLUTION DEFINED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Change in p or q across generations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EXAMPLE: N=100 individuals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60 AA + 30 Aa + 10 aa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 = (120+30)/200 = 0.75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q = (20+30)/200  = 0.25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 + q = 1.00 ✓</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Allele Frequency: </a:t>
            </a:r>
            <a:pPr indent="0" marL="0">
              <a:buNone/>
            </a:pPr>
            <a:r>
              <a:rPr lang="en-US" sz="1100" dirty="0">
                <a:solidFill>
                  <a:srgbClr val="F4F1EC"/>
                </a:solidFill>
                <a:latin typeface="Calibri" pitchFamily="34" charset="0"/>
                <a:ea typeface="Calibri" pitchFamily="34" charset="-122"/>
                <a:cs typeface="Calibri" pitchFamily="34" charset="-120"/>
              </a:rPr>
              <a:t>The proportion of a particular allele among all copies of that gene in a population. Denoted p (dominant) and q (recessive), where p + q = 1. Changes in allele frequency across generations constitute evolution.</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§7.1 The Hardy-Weinberg Equation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Null Model of Population Genetics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Hardy (mathematician) and Weinberg (physician), independently 1908: if nothing is happening, what do genotype frequencies look like?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H-W equation: p² + 2pq + q² = 1</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p² = frequency of AA homozygotes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2pq = frequency of Aa heterozygotes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q² = frequency of aa homozygotes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H-W states: given allele frequencies p and q, genotype frequencies are predictable IF five conditions hold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Critical insight: H-W is a NULL MODEL — it predicts the baseline if NOTHING is acting on the population</a:t>
            </a:r>
            <a:endParaRPr lang="en-US" sz="1300" dirty="0"/>
          </a:p>
        </p:txBody>
      </p:sp>
      <p:sp>
        <p:nvSpPr>
          <p:cNvPr id="7" name="Shape 5"/>
          <p:cNvSpPr/>
          <p:nvPr/>
        </p:nvSpPr>
        <p:spPr>
          <a:xfrm>
            <a:off x="5120640" y="960120"/>
            <a:ext cx="3749040" cy="3474720"/>
          </a:xfrm>
          <a:prstGeom prst="rect">
            <a:avLst/>
          </a:prstGeom>
          <a:solidFill>
            <a:srgbClr val="1C2B1E"/>
          </a:solidFill>
          <a:ln w="12700">
            <a:solidFill>
              <a:srgbClr val="C8791E"/>
            </a:solidFill>
            <a:prstDash val="solid"/>
          </a:ln>
        </p:spPr>
      </p:sp>
      <p:sp>
        <p:nvSpPr>
          <p:cNvPr id="8" name="Text 6"/>
          <p:cNvSpPr/>
          <p:nvPr/>
        </p:nvSpPr>
        <p:spPr>
          <a:xfrm>
            <a:off x="5257800" y="1234440"/>
            <a:ext cx="3474720" cy="914400"/>
          </a:xfrm>
          <a:prstGeom prst="rect">
            <a:avLst/>
          </a:prstGeom>
          <a:noFill/>
          <a:ln/>
        </p:spPr>
        <p:txBody>
          <a:bodyPr wrap="square" rtlCol="0" anchor="ctr"/>
          <a:lstStyle/>
          <a:p>
            <a:pPr algn="ctr" indent="0" marL="0">
              <a:buNone/>
            </a:pPr>
            <a:r>
              <a:rPr lang="en-US" sz="2200" b="1" dirty="0">
                <a:solidFill>
                  <a:srgbClr val="C8791E"/>
                </a:solidFill>
                <a:latin typeface="Courier New" pitchFamily="34" charset="0"/>
                <a:ea typeface="Courier New" pitchFamily="34" charset="-122"/>
                <a:cs typeface="Courier New" pitchFamily="34" charset="-120"/>
              </a:rPr>
              <a:t>p² + 2pq + q² = 1</a:t>
            </a:r>
            <a:endParaRPr lang="en-US" sz="2200" dirty="0"/>
          </a:p>
        </p:txBody>
      </p:sp>
      <p:sp>
        <p:nvSpPr>
          <p:cNvPr id="9" name="Text 7"/>
          <p:cNvSpPr/>
          <p:nvPr/>
        </p:nvSpPr>
        <p:spPr>
          <a:xfrm>
            <a:off x="5257800" y="2331720"/>
            <a:ext cx="3474720" cy="1828800"/>
          </a:xfrm>
          <a:prstGeom prst="rect">
            <a:avLst/>
          </a:prstGeom>
          <a:noFill/>
          <a:ln/>
        </p:spPr>
        <p:txBody>
          <a:bodyPr wrap="square" rtlCol="0" anchor="t"/>
          <a:lstStyle/>
          <a:p>
            <a:pPr indent="0" marL="0">
              <a:buNone/>
            </a:pPr>
            <a:r>
              <a:rPr lang="en-US" sz="1100" dirty="0">
                <a:solidFill>
                  <a:srgbClr val="F4F1EC"/>
                </a:solidFill>
                <a:latin typeface="Calibri" pitchFamily="34" charset="0"/>
                <a:ea typeface="Calibri" pitchFamily="34" charset="-122"/>
                <a:cs typeface="Calibri" pitchFamily="34" charset="-120"/>
              </a:rPr>
              <a:t>p = frequency of allele A  |  q = frequency of allele a</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p² = frequency of AA genotype (homozygous dominant)</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2pq = frequency of Aa genotype (heterozygous)</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q² = frequency of aa genotype (homozygous recessive)</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p + q = 1  (allele frequencies sum to 1)</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Derived by expanding: (p + q)² = p² + 2pq + q² = 1</a:t>
            </a:r>
            <a:endParaRPr lang="en-US" sz="11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Hardy-Weinberg Equilibrium: </a:t>
            </a:r>
            <a:pPr indent="0" marL="0">
              <a:buNone/>
            </a:pPr>
            <a:r>
              <a:rPr lang="en-US" sz="1100" dirty="0">
                <a:solidFill>
                  <a:srgbClr val="F4F1EC"/>
                </a:solidFill>
                <a:latin typeface="Calibri" pitchFamily="34" charset="0"/>
                <a:ea typeface="Calibri" pitchFamily="34" charset="-122"/>
                <a:cs typeface="Calibri" pitchFamily="34" charset="-120"/>
              </a:rPr>
              <a:t>The state in which allele and genotype frequencies remain constant generation after generation. A null model — any deviation signals an active evolutionary force. Equation: p² + 2pq + q² = 1.</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§7.1 Deriving H-W: Why the Equation Holds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Random Mating Produces Predictable Genotype Frequencies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Assume random mating in a population with allele frequencies p(A) and q(a)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Probability of AA offspring = p × p = p² (both gametes carry 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Probability of Aa offspring = p × q + q × p = 2pq (either parent contributes A, other contributes 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Probability of aa offspring = q × q = q² (both gametes carry 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holds for ONE generation of random mating from any starting genotype frequencies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After ONE generation of random mating: genotype frequencies reach H-W proportions — and STAY there unless a force acts</a:t>
            </a:r>
            <a:endParaRPr lang="en-US" sz="1300" dirty="0"/>
          </a:p>
        </p:txBody>
      </p:sp>
      <p:sp>
        <p:nvSpPr>
          <p:cNvPr id="7" name="Shape 5"/>
          <p:cNvSpPr/>
          <p:nvPr/>
        </p:nvSpPr>
        <p:spPr>
          <a:xfrm>
            <a:off x="5120640" y="960120"/>
            <a:ext cx="3749040" cy="3474720"/>
          </a:xfrm>
          <a:prstGeom prst="rect">
            <a:avLst/>
          </a:prstGeom>
          <a:solidFill>
            <a:srgbClr val="1C2B1E"/>
          </a:solidFill>
          <a:ln w="12700">
            <a:solidFill>
              <a:srgbClr val="C8791E"/>
            </a:solidFill>
            <a:prstDash val="solid"/>
          </a:ln>
        </p:spPr>
      </p:sp>
      <p:sp>
        <p:nvSpPr>
          <p:cNvPr id="8" name="Text 6"/>
          <p:cNvSpPr/>
          <p:nvPr/>
        </p:nvSpPr>
        <p:spPr>
          <a:xfrm>
            <a:off x="5257800" y="1234440"/>
            <a:ext cx="3474720" cy="914400"/>
          </a:xfrm>
          <a:prstGeom prst="rect">
            <a:avLst/>
          </a:prstGeom>
          <a:noFill/>
          <a:ln/>
        </p:spPr>
        <p:txBody>
          <a:bodyPr wrap="square" rtlCol="0" anchor="ctr"/>
          <a:lstStyle/>
          <a:p>
            <a:pPr algn="ctr" indent="0" marL="0">
              <a:buNone/>
            </a:pPr>
            <a:r>
              <a:rPr lang="en-US" sz="2200" b="1" dirty="0">
                <a:solidFill>
                  <a:srgbClr val="C8791E"/>
                </a:solidFill>
                <a:latin typeface="Courier New" pitchFamily="34" charset="0"/>
                <a:ea typeface="Courier New" pitchFamily="34" charset="-122"/>
                <a:cs typeface="Courier New" pitchFamily="34" charset="-120"/>
              </a:rPr>
              <a:t>(pA + qa)² = p²AA + 2pqAa + q²aa</a:t>
            </a:r>
            <a:endParaRPr lang="en-US" sz="2200" dirty="0"/>
          </a:p>
        </p:txBody>
      </p:sp>
      <p:sp>
        <p:nvSpPr>
          <p:cNvPr id="9" name="Text 7"/>
          <p:cNvSpPr/>
          <p:nvPr/>
        </p:nvSpPr>
        <p:spPr>
          <a:xfrm>
            <a:off x="5257800" y="2331720"/>
            <a:ext cx="3474720" cy="1828800"/>
          </a:xfrm>
          <a:prstGeom prst="rect">
            <a:avLst/>
          </a:prstGeom>
          <a:noFill/>
          <a:ln/>
        </p:spPr>
        <p:txBody>
          <a:bodyPr wrap="square" rtlCol="0" anchor="t"/>
          <a:lstStyle/>
          <a:p>
            <a:pPr indent="0" marL="0">
              <a:buNone/>
            </a:pPr>
            <a:r>
              <a:rPr lang="en-US" sz="1100" dirty="0">
                <a:solidFill>
                  <a:srgbClr val="F4F1EC"/>
                </a:solidFill>
                <a:latin typeface="Calibri" pitchFamily="34" charset="0"/>
                <a:ea typeface="Calibri" pitchFamily="34" charset="-122"/>
                <a:cs typeface="Calibri" pitchFamily="34" charset="-120"/>
              </a:rPr>
              <a:t>Male gametes: p(A) + q(a) — in H-W frequencies</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Female gametes: p(A) + q(a) — in H-W frequencies</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Random union: multiply frequencies like a Punnett square</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AA: p × p = p²    Aa: p×q + q×p = 2pq    aa: q × q = q²</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Allele frequencies UNCHANGED after random mating</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 H-W reached in ONE generation; maintained indefinitely if conditions hold</a:t>
            </a:r>
            <a:endParaRPr lang="en-US" sz="11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Random Mating: </a:t>
            </a:r>
            <a:pPr indent="0" marL="0">
              <a:buNone/>
            </a:pPr>
            <a:r>
              <a:rPr lang="en-US" sz="1100" dirty="0">
                <a:solidFill>
                  <a:srgbClr val="F4F1EC"/>
                </a:solidFill>
                <a:latin typeface="Calibri" pitchFamily="34" charset="0"/>
                <a:ea typeface="Calibri" pitchFamily="34" charset="-122"/>
                <a:cs typeface="Calibri" pitchFamily="34" charset="-120"/>
              </a:rPr>
              <a:t>Mating in which every individual has an equal probability of mating with any other individual, regardless of genotype. Required for H-W equilibrium. Violations (inbreeding, assortative mating) cause deviation from H-W.</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§7.2 Five Conditions for H-W Equilibrium</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Five Idealised Assumptions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INFINITE POPULATION SIZE: no random sampling error — genetic drift is eliminated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RANDOM MATING: every individual equally likely to mate with any other — no assortative mating, no inbreeding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NO MUTATION: allele frequencies do not change by mutation during the period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(4) NO MIGRATION: no individuals enter or leave the population during the period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(5) NO NATURAL SELECTION: all genotypes have equal fitness — no differential survival or reproduction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H-W is a NULL MODEL: no real population satisfies all five — the value of H-W is that violations are diagnostic</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Five Conditions → Five Evolutionary Forces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CONDITION VIOLATED → FORCE ACTING</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(1) Finite population size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Genetic DRIFT</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(2) Non-random mating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Inbreeding / assortative mating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Wahlund effect (population subdivision)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(3) Mutation occurring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MUTATION pressure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New alleles entering gene pool</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(4) Migration occurring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GENE FLOW</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Alleles from other populations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(5) Differential fitness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NATURAL SELECTION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Allele frequencies change directionally</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A significant χ² test → at least one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of these forces is operating</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Five H-W Conditions: </a:t>
            </a:r>
            <a:pPr indent="0" marL="0">
              <a:buNone/>
            </a:pPr>
            <a:r>
              <a:rPr lang="en-US" sz="1100" dirty="0">
                <a:solidFill>
                  <a:srgbClr val="F4F1EC"/>
                </a:solidFill>
                <a:latin typeface="Calibri" pitchFamily="34" charset="0"/>
                <a:ea typeface="Calibri" pitchFamily="34" charset="-122"/>
                <a:cs typeface="Calibri" pitchFamily="34" charset="-120"/>
              </a:rPr>
              <a:t>Infinite population, random mating, no mutation, no migration, no selection. All five must hold for H-W equilibrium. Each violated condition corresponds to a specific evolutionary force that changes allele frequencies.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6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§7.1 Applying H-W: Chi-Square Test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Testing Whether a Population Is in Equilibrium</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1: Count observed genotype frequencies in the sample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2: Calculate allele frequencies: p = (2×AA + Aa) / 2N; q = 1 − p</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3: Calculate EXPECTED genotype counts: E(AA) = p² × N; E(Aa) = 2pq × N; E(aa) = q² × 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4: χ² = Σ(O − E)² / E across all genotype classes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5: df = 1 (3 genotype classes − 1 − 1 estimated allele frequency); critical value at p = 0.05 = 3.84</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χ² &gt; 3.84: reject H-W null — at least one condition is violated; χ² ≤ 3.84: fail to reject</a:t>
            </a:r>
            <a:endParaRPr lang="en-US" sz="1300" dirty="0"/>
          </a:p>
        </p:txBody>
      </p:sp>
      <p:sp>
        <p:nvSpPr>
          <p:cNvPr id="7" name="Shape 5"/>
          <p:cNvSpPr/>
          <p:nvPr/>
        </p:nvSpPr>
        <p:spPr>
          <a:xfrm>
            <a:off x="5120640" y="960120"/>
            <a:ext cx="3749040" cy="3474720"/>
          </a:xfrm>
          <a:prstGeom prst="rect">
            <a:avLst/>
          </a:prstGeom>
          <a:solidFill>
            <a:srgbClr val="1C2B1E"/>
          </a:solidFill>
          <a:ln w="12700">
            <a:solidFill>
              <a:srgbClr val="C8791E"/>
            </a:solidFill>
            <a:prstDash val="solid"/>
          </a:ln>
        </p:spPr>
      </p:sp>
      <p:sp>
        <p:nvSpPr>
          <p:cNvPr id="8" name="Text 6"/>
          <p:cNvSpPr/>
          <p:nvPr/>
        </p:nvSpPr>
        <p:spPr>
          <a:xfrm>
            <a:off x="5257800" y="1234440"/>
            <a:ext cx="3474720" cy="914400"/>
          </a:xfrm>
          <a:prstGeom prst="rect">
            <a:avLst/>
          </a:prstGeom>
          <a:noFill/>
          <a:ln/>
        </p:spPr>
        <p:txBody>
          <a:bodyPr wrap="square" rtlCol="0" anchor="ctr"/>
          <a:lstStyle/>
          <a:p>
            <a:pPr algn="ctr" indent="0" marL="0">
              <a:buNone/>
            </a:pPr>
            <a:r>
              <a:rPr lang="en-US" sz="2200" b="1" dirty="0">
                <a:solidFill>
                  <a:srgbClr val="C8791E"/>
                </a:solidFill>
                <a:latin typeface="Courier New" pitchFamily="34" charset="0"/>
                <a:ea typeface="Courier New" pitchFamily="34" charset="-122"/>
                <a:cs typeface="Courier New" pitchFamily="34" charset="-120"/>
              </a:rPr>
              <a:t>χ² = Σ (O − E)² / E</a:t>
            </a:r>
            <a:endParaRPr lang="en-US" sz="2200" dirty="0"/>
          </a:p>
        </p:txBody>
      </p:sp>
      <p:sp>
        <p:nvSpPr>
          <p:cNvPr id="9" name="Text 7"/>
          <p:cNvSpPr/>
          <p:nvPr/>
        </p:nvSpPr>
        <p:spPr>
          <a:xfrm>
            <a:off x="5257800" y="2331720"/>
            <a:ext cx="3474720" cy="1828800"/>
          </a:xfrm>
          <a:prstGeom prst="rect">
            <a:avLst/>
          </a:prstGeom>
          <a:noFill/>
          <a:ln/>
        </p:spPr>
        <p:txBody>
          <a:bodyPr wrap="square" rtlCol="0" anchor="t"/>
          <a:lstStyle/>
          <a:p>
            <a:pPr indent="0" marL="0">
              <a:buNone/>
            </a:pPr>
            <a:r>
              <a:rPr lang="en-US" sz="1100" dirty="0">
                <a:solidFill>
                  <a:srgbClr val="F4F1EC"/>
                </a:solidFill>
                <a:latin typeface="Calibri" pitchFamily="34" charset="0"/>
                <a:ea typeface="Calibri" pitchFamily="34" charset="-122"/>
                <a:cs typeface="Calibri" pitchFamily="34" charset="-120"/>
              </a:rPr>
              <a:t>O = observed count for each genotype class</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E = expected count under H-W = frequency × N</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Sum across all genotype classes (AA, Aa, aa)</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df = 1 for a two-allele, one-locus system</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Critical value at p=0.05, df=1: χ² = 3.84</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Significant result: ≥1 H-W condition violated</a:t>
            </a:r>
            <a:endParaRPr lang="en-US" sz="11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Chi-Square Test (H-W): </a:t>
            </a:r>
            <a:pPr indent="0" marL="0">
              <a:buNone/>
            </a:pPr>
            <a:r>
              <a:rPr lang="en-US" sz="1100" dirty="0">
                <a:solidFill>
                  <a:srgbClr val="F4F1EC"/>
                </a:solidFill>
                <a:latin typeface="Calibri" pitchFamily="34" charset="0"/>
                <a:ea typeface="Calibri" pitchFamily="34" charset="-122"/>
                <a:cs typeface="Calibri" pitchFamily="34" charset="-120"/>
              </a:rPr>
              <a:t>Goodness-of-fit test comparing observed genotype frequencies with Hardy-Weinberg expected frequencies. Significant χ² (&gt;3.84, df=1) indicates at least one H-W condition is violated — an evolutionary force is operating.</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§7.3 Fitness and the Selection Coefficient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Measuring Selection Intensity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Fitness (W): the relative reproductive success of a genotype — probability of surviving to reproduce × reproductive output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Most fit genotype in population: W = 1 (the reference)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Selection coefficient (s): the reduction in fitness relative to the most fit genotype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W(aa) = 1 − s; if s = 0: aa is neutral; if s = 1: aa is lethal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Fitness is always RELATIVE and CURRENT: what is fit today may not be fit tomorrow if the environment changes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Selection coefficient links the biological concept (fitness) to the mathematical machinery (allele frequency change)</a:t>
            </a:r>
            <a:endParaRPr lang="en-US" sz="1300" dirty="0"/>
          </a:p>
        </p:txBody>
      </p:sp>
      <p:sp>
        <p:nvSpPr>
          <p:cNvPr id="7" name="Shape 5"/>
          <p:cNvSpPr/>
          <p:nvPr/>
        </p:nvSpPr>
        <p:spPr>
          <a:xfrm>
            <a:off x="5120640" y="960120"/>
            <a:ext cx="3749040" cy="3474720"/>
          </a:xfrm>
          <a:prstGeom prst="rect">
            <a:avLst/>
          </a:prstGeom>
          <a:solidFill>
            <a:srgbClr val="1C2B1E"/>
          </a:solidFill>
          <a:ln w="12700">
            <a:solidFill>
              <a:srgbClr val="C8791E"/>
            </a:solidFill>
            <a:prstDash val="solid"/>
          </a:ln>
        </p:spPr>
      </p:sp>
      <p:sp>
        <p:nvSpPr>
          <p:cNvPr id="8" name="Text 6"/>
          <p:cNvSpPr/>
          <p:nvPr/>
        </p:nvSpPr>
        <p:spPr>
          <a:xfrm>
            <a:off x="5257800" y="1234440"/>
            <a:ext cx="3474720" cy="914400"/>
          </a:xfrm>
          <a:prstGeom prst="rect">
            <a:avLst/>
          </a:prstGeom>
          <a:noFill/>
          <a:ln/>
        </p:spPr>
        <p:txBody>
          <a:bodyPr wrap="square" rtlCol="0" anchor="ctr"/>
          <a:lstStyle/>
          <a:p>
            <a:pPr algn="ctr" indent="0" marL="0">
              <a:buNone/>
            </a:pPr>
            <a:r>
              <a:rPr lang="en-US" sz="2200" b="1" dirty="0">
                <a:solidFill>
                  <a:srgbClr val="C8791E"/>
                </a:solidFill>
                <a:latin typeface="Courier New" pitchFamily="34" charset="0"/>
                <a:ea typeface="Courier New" pitchFamily="34" charset="-122"/>
                <a:cs typeface="Courier New" pitchFamily="34" charset="-120"/>
              </a:rPr>
              <a:t>W = 1 − s</a:t>
            </a:r>
            <a:endParaRPr lang="en-US" sz="2200" dirty="0"/>
          </a:p>
        </p:txBody>
      </p:sp>
      <p:sp>
        <p:nvSpPr>
          <p:cNvPr id="9" name="Text 7"/>
          <p:cNvSpPr/>
          <p:nvPr/>
        </p:nvSpPr>
        <p:spPr>
          <a:xfrm>
            <a:off x="5257800" y="2331720"/>
            <a:ext cx="3474720" cy="1828800"/>
          </a:xfrm>
          <a:prstGeom prst="rect">
            <a:avLst/>
          </a:prstGeom>
          <a:noFill/>
          <a:ln/>
        </p:spPr>
        <p:txBody>
          <a:bodyPr wrap="square" rtlCol="0" anchor="t"/>
          <a:lstStyle/>
          <a:p>
            <a:pPr indent="0" marL="0">
              <a:buNone/>
            </a:pPr>
            <a:r>
              <a:rPr lang="en-US" sz="1100" dirty="0">
                <a:solidFill>
                  <a:srgbClr val="F4F1EC"/>
                </a:solidFill>
                <a:latin typeface="Calibri" pitchFamily="34" charset="0"/>
                <a:ea typeface="Calibri" pitchFamily="34" charset="-122"/>
                <a:cs typeface="Calibri" pitchFamily="34" charset="-120"/>
              </a:rPr>
              <a:t>W = fitness of the genotype (relative reproductive success)</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s = selection coefficient (0 ≤ s ≤ 1)</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s = 0: genotype is neutral (no selection against it)</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s = 0.1: genotype is 10% less fit than the most fit</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s = 1: genotype is lethal (fitness = 0)</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Mean fitness: W̄ = p²W(AA) + 2pqW(Aa) + q²W(aa)</a:t>
            </a:r>
            <a:endParaRPr lang="en-US" sz="11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Selection Coefficient (s): </a:t>
            </a:r>
            <a:pPr indent="0" marL="0">
              <a:buNone/>
            </a:pPr>
            <a:r>
              <a:rPr lang="en-US" sz="1100" dirty="0">
                <a:solidFill>
                  <a:srgbClr val="F4F1EC"/>
                </a:solidFill>
                <a:latin typeface="Calibri" pitchFamily="34" charset="0"/>
                <a:ea typeface="Calibri" pitchFamily="34" charset="-122"/>
                <a:cs typeface="Calibri" pitchFamily="34" charset="-120"/>
              </a:rPr>
              <a:t>The relative reduction in fitness of a genotype compared to the most fit genotype in the population. s = 0: neutral. s = 1: lethal. Determines the rate of allele frequency change per generation.</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8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§7.3 Deriving Δq: One Unit of Selection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How Much Does Allele Frequency Change Per Generation?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 selection against recessive aa (W(aa) = 1 − s; W(AA) = W(Aa) = 1):</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After selection, frequency of aa = q² × (1−s) / W̄</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After selection, frequency of a allele: q' = q(1−sq) / W̄</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Change per generation: Δq = q' − q = −sq²(1−q) / W̄</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 = mean population fitness = 1 − sq²</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property: Δq is proportional to q²; at low q, most a alleles are in Aa (not subject to selection); change slows dramatically as q decreases</a:t>
            </a:r>
            <a:endParaRPr lang="en-US" sz="1300" dirty="0"/>
          </a:p>
        </p:txBody>
      </p:sp>
      <p:sp>
        <p:nvSpPr>
          <p:cNvPr id="7" name="Shape 5"/>
          <p:cNvSpPr/>
          <p:nvPr/>
        </p:nvSpPr>
        <p:spPr>
          <a:xfrm>
            <a:off x="5120640" y="960120"/>
            <a:ext cx="3749040" cy="3474720"/>
          </a:xfrm>
          <a:prstGeom prst="rect">
            <a:avLst/>
          </a:prstGeom>
          <a:solidFill>
            <a:srgbClr val="1C2B1E"/>
          </a:solidFill>
          <a:ln w="12700">
            <a:solidFill>
              <a:srgbClr val="C8791E"/>
            </a:solidFill>
            <a:prstDash val="solid"/>
          </a:ln>
        </p:spPr>
      </p:sp>
      <p:sp>
        <p:nvSpPr>
          <p:cNvPr id="8" name="Text 6"/>
          <p:cNvSpPr/>
          <p:nvPr/>
        </p:nvSpPr>
        <p:spPr>
          <a:xfrm>
            <a:off x="5257800" y="1234440"/>
            <a:ext cx="3474720" cy="914400"/>
          </a:xfrm>
          <a:prstGeom prst="rect">
            <a:avLst/>
          </a:prstGeom>
          <a:noFill/>
          <a:ln/>
        </p:spPr>
        <p:txBody>
          <a:bodyPr wrap="square" rtlCol="0" anchor="ctr"/>
          <a:lstStyle/>
          <a:p>
            <a:pPr algn="ctr" indent="0" marL="0">
              <a:buNone/>
            </a:pPr>
            <a:r>
              <a:rPr lang="en-US" sz="2200" b="1" dirty="0">
                <a:solidFill>
                  <a:srgbClr val="C8791E"/>
                </a:solidFill>
                <a:latin typeface="Courier New" pitchFamily="34" charset="0"/>
                <a:ea typeface="Courier New" pitchFamily="34" charset="-122"/>
                <a:cs typeface="Courier New" pitchFamily="34" charset="-120"/>
              </a:rPr>
              <a:t>Δq = −sq²(1−q) / W̄</a:t>
            </a:r>
            <a:endParaRPr lang="en-US" sz="2200" dirty="0"/>
          </a:p>
        </p:txBody>
      </p:sp>
      <p:sp>
        <p:nvSpPr>
          <p:cNvPr id="9" name="Text 7"/>
          <p:cNvSpPr/>
          <p:nvPr/>
        </p:nvSpPr>
        <p:spPr>
          <a:xfrm>
            <a:off x="5257800" y="2331720"/>
            <a:ext cx="3474720" cy="1828800"/>
          </a:xfrm>
          <a:prstGeom prst="rect">
            <a:avLst/>
          </a:prstGeom>
          <a:noFill/>
          <a:ln/>
        </p:spPr>
        <p:txBody>
          <a:bodyPr wrap="square" rtlCol="0" anchor="t"/>
          <a:lstStyle/>
          <a:p>
            <a:pPr indent="0" marL="0">
              <a:buNone/>
            </a:pPr>
            <a:r>
              <a:rPr lang="en-US" sz="1100" dirty="0">
                <a:solidFill>
                  <a:srgbClr val="F4F1EC"/>
                </a:solidFill>
                <a:latin typeface="Calibri" pitchFamily="34" charset="0"/>
                <a:ea typeface="Calibri" pitchFamily="34" charset="-122"/>
                <a:cs typeface="Calibri" pitchFamily="34" charset="-120"/>
              </a:rPr>
              <a:t>s = selection coefficient against aa</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q = current frequency of allele a</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W̄ = 1 − sq² (mean population fitness)</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Negative Δq: a allele decreasing in frequency</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At q=0.5: Δq is largest (fastest change)</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At q=0.01: Δq ≈ −0.0001s (very slow: most a in Aa)</a:t>
            </a:r>
            <a:endParaRPr lang="en-US" sz="11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Δq (Change in Allele Frequency): </a:t>
            </a:r>
            <a:pPr indent="0" marL="0">
              <a:buNone/>
            </a:pPr>
            <a:r>
              <a:rPr lang="en-US" sz="1100" dirty="0">
                <a:solidFill>
                  <a:srgbClr val="F4F1EC"/>
                </a:solidFill>
                <a:latin typeface="Calibri" pitchFamily="34" charset="0"/>
                <a:ea typeface="Calibri" pitchFamily="34" charset="-122"/>
                <a:cs typeface="Calibri" pitchFamily="34" charset="-120"/>
              </a:rPr>
              <a:t>The change in allele frequency per generation under selection. For selection against a recessive: Δq = −sq²(1−q)/W̄. Change is fastest at intermediate q; dramatically slows as q approaches 0 because most a alleles are hidden in heterozygotes.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§7.3 Why Rare Recessives Are Hard to Eliminate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Hidden Allele Problem</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When q is small, most a alleles are in Aa heterozygotes — not in aa homozygotes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Selection acts on PHENOTYPE; recessive a alleles in Aa are phenotypically invisible to selection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At q = 0.01: proportion of a alleles in aa = q/(1+q) ≈ 1%; proportion in Aa ≈ 99%</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Selection can only "see" the 1% in aa homozygotes — the other 99% escape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Result: selection is extremely slow at removing a low-frequency recessive allele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explains why deleterious recessive alleles (e.g., HbS, cystic fibrosis) persist indefinitely in populations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Why Rare Recessives Persist</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Proportion of "a" alleles in aa homozygotes: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q = 0.5:  q/(1+q) = 33% visible to selection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q = 0.1:  q/(1+q) = 9% visible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q = 0.01: q/(1+q) = 1% visible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q = 0.001: ~0.1% visible to selection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At low q:</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Most a alleles are in Aa heterozygotes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Aa has same fitness as AA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Selection cannot act on hidden alleles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Consequence: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Eliminating a deleterious recessive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takes enormously long even with</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strong selection (s = 1)</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~100 generations to go from q=0.01</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to q=0.005 (halving takes 100 gens)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Hidden Recessive: </a:t>
            </a:r>
            <a:pPr indent="0" marL="0">
              <a:buNone/>
            </a:pPr>
            <a:r>
              <a:rPr lang="en-US" sz="1100" dirty="0">
                <a:solidFill>
                  <a:srgbClr val="F4F1EC"/>
                </a:solidFill>
                <a:latin typeface="Calibri" pitchFamily="34" charset="0"/>
                <a:ea typeface="Calibri" pitchFamily="34" charset="-122"/>
                <a:cs typeface="Calibri" pitchFamily="34" charset="-120"/>
              </a:rPr>
              <a:t>A recessive allele shielded from selection when heterozygous. At low allele frequencies, the vast majority of recessive alleles are in heterozygotes where they are phenotypically silent — explaining why deleterious recessives persist indefinitely at low frequency.</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10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§7.4 Four Types of Selection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Directional, Stabilising, Disruptive, Balancing</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DIRECTIONAL: favours one extreme phenotype → shifts population mean over time; eventually fixes favoured allele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STABILISING: favours intermediate phenotype → reduces variance, no mean shift; most common type in nature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DISRUPTIVE: favours both extremes → increases variance; can initiate sympatric speciation with assortative mating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BALANCING (heterozygous superiority): Aa &gt; AA and Aa &gt; aa → maintains polymorphism at stable intermediate frequency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Example of stabilising: human birth weight — neonates at both extremes have higher mortality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Example of balancing: HbS allele in malaria-endemic populations — HbA/HbS heterozygotes have highest fitness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DIRECTIONAL</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SELECTION</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Favours one extreme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Shifts population mean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Reduces variation over time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Eventually fixes allele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antibiotic resistance</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BALANCING</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SELECTION</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Heterozygote advantage (Aa best)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Maintains polymorphism</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Stable intermediate frequency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Both alleles persist indefinitely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HbS in malaria zones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Heterozygous Superiority (Overdominance): </a:t>
            </a:r>
            <a:pPr indent="0" marL="0">
              <a:buNone/>
            </a:pPr>
            <a:r>
              <a:rPr lang="en-US" sz="1100" dirty="0">
                <a:solidFill>
                  <a:srgbClr val="F4F1EC"/>
                </a:solidFill>
                <a:latin typeface="Calibri" pitchFamily="34" charset="0"/>
                <a:ea typeface="Calibri" pitchFamily="34" charset="-122"/>
                <a:cs typeface="Calibri" pitchFamily="34" charset="-120"/>
              </a:rPr>
              <a:t>A form of balancing selection in which the heterozygote (Aa) has higher fitness than either homozygote (AA or aa). Maintains a stable polymorphism. Classic example: HbA/HbS heterozygotes are protected against malaria but do not develop sickle-cell anaemia.</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11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§7.4 Density-Dependent Selection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When Fitness Depends on Population Density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Density-dependent selection: the fitness of a genotype changes as population density changes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At LOW density: r-selection — rapid reproduction, early maturity, many small offspring valued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At HIGH density: K-selection — competitive ability, efficient resource use, survival ability valued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Different genotypes may be favoured at different densities — frequency cycling possible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Frequency-dependent selection: fitness depends on FREQUENCY not density — rarer genotypes favoured (negative frequency-dependence)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Batesian mimicry (Ch. 8) is a classic case of negative frequency-dependent selection</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r-SELECTION</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(low density)</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Rapid reproduction valued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Early maturity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Many small offspring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Colonisation and dispersal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Selection for fecundity alleles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K-SELECTION</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(high density)</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Competitive ability valued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Efficient resource use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Few large offspring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Survival and longevity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Selection for competitive alleles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Density-Dependent Selection: </a:t>
            </a:r>
            <a:pPr indent="0" marL="0">
              <a:buNone/>
            </a:pPr>
            <a:r>
              <a:rPr lang="en-US" sz="1100" dirty="0">
                <a:solidFill>
                  <a:srgbClr val="F4F1EC"/>
                </a:solidFill>
                <a:latin typeface="Calibri" pitchFamily="34" charset="0"/>
                <a:ea typeface="Calibri" pitchFamily="34" charset="-122"/>
                <a:cs typeface="Calibri" pitchFamily="34" charset="-120"/>
              </a:rPr>
              <a:t>Selection in which the fitness of a genotype varies with population density. Different genotypes may be favoured at different population densities, producing dynamic allele frequency changes across ecological cycles.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12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§7.5 Genetic Load</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Cost of Imperfect Adaptation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Genetic load (L): the reduction in mean population fitness relative to the maximum possible fitness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Formula: L = (W_max − W̄) / W_max; or equivalently L = 1 − W̄/W_max</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Mutational load: load due to continuously arising deleterious mutations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Segregation load: load due to segregation of deleterious alleles maintained by balancing selection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Substitution load (Haldane's dilemma): cost of replacing one allele with another during directional selection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 population has zero genetic load — imperfection is the normal state, not a failure of evolution</a:t>
            </a:r>
            <a:endParaRPr lang="en-US" sz="1300" dirty="0"/>
          </a:p>
        </p:txBody>
      </p:sp>
      <p:sp>
        <p:nvSpPr>
          <p:cNvPr id="7" name="Shape 5"/>
          <p:cNvSpPr/>
          <p:nvPr/>
        </p:nvSpPr>
        <p:spPr>
          <a:xfrm>
            <a:off x="5120640" y="960120"/>
            <a:ext cx="3749040" cy="3474720"/>
          </a:xfrm>
          <a:prstGeom prst="rect">
            <a:avLst/>
          </a:prstGeom>
          <a:solidFill>
            <a:srgbClr val="1C2B1E"/>
          </a:solidFill>
          <a:ln w="12700">
            <a:solidFill>
              <a:srgbClr val="C8791E"/>
            </a:solidFill>
            <a:prstDash val="solid"/>
          </a:ln>
        </p:spPr>
      </p:sp>
      <p:sp>
        <p:nvSpPr>
          <p:cNvPr id="8" name="Text 6"/>
          <p:cNvSpPr/>
          <p:nvPr/>
        </p:nvSpPr>
        <p:spPr>
          <a:xfrm>
            <a:off x="5257800" y="1234440"/>
            <a:ext cx="3474720" cy="914400"/>
          </a:xfrm>
          <a:prstGeom prst="rect">
            <a:avLst/>
          </a:prstGeom>
          <a:noFill/>
          <a:ln/>
        </p:spPr>
        <p:txBody>
          <a:bodyPr wrap="square" rtlCol="0" anchor="ctr"/>
          <a:lstStyle/>
          <a:p>
            <a:pPr algn="ctr" indent="0" marL="0">
              <a:buNone/>
            </a:pPr>
            <a:r>
              <a:rPr lang="en-US" sz="2200" b="1" dirty="0">
                <a:solidFill>
                  <a:srgbClr val="C8791E"/>
                </a:solidFill>
                <a:latin typeface="Courier New" pitchFamily="34" charset="0"/>
                <a:ea typeface="Courier New" pitchFamily="34" charset="-122"/>
                <a:cs typeface="Courier New" pitchFamily="34" charset="-120"/>
              </a:rPr>
              <a:t>L = (W_max − W̄) / W_max</a:t>
            </a:r>
            <a:endParaRPr lang="en-US" sz="2200" dirty="0"/>
          </a:p>
        </p:txBody>
      </p:sp>
      <p:sp>
        <p:nvSpPr>
          <p:cNvPr id="9" name="Text 7"/>
          <p:cNvSpPr/>
          <p:nvPr/>
        </p:nvSpPr>
        <p:spPr>
          <a:xfrm>
            <a:off x="5257800" y="2331720"/>
            <a:ext cx="3474720" cy="1828800"/>
          </a:xfrm>
          <a:prstGeom prst="rect">
            <a:avLst/>
          </a:prstGeom>
          <a:noFill/>
          <a:ln/>
        </p:spPr>
        <p:txBody>
          <a:bodyPr wrap="square" rtlCol="0" anchor="t"/>
          <a:lstStyle/>
          <a:p>
            <a:pPr indent="0" marL="0">
              <a:buNone/>
            </a:pPr>
            <a:r>
              <a:rPr lang="en-US" sz="1100" dirty="0">
                <a:solidFill>
                  <a:srgbClr val="F4F1EC"/>
                </a:solidFill>
                <a:latin typeface="Calibri" pitchFamily="34" charset="0"/>
                <a:ea typeface="Calibri" pitchFamily="34" charset="-122"/>
                <a:cs typeface="Calibri" pitchFamily="34" charset="-120"/>
              </a:rPr>
              <a:t>W_max = fitness of the most fit possible genotype</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W̄ = mean fitness of the actual population</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L = 0: population is at maximum fitness (impossible in reality)</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L = 0.1: population is 10% below maximum possible fitness</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Mutational load ≈ 2u per diploid locus (Haldane)</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Higher mutation rate → higher load → selection must remove more individuals</a:t>
            </a:r>
            <a:endParaRPr lang="en-US" sz="11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Genetic Load: </a:t>
            </a:r>
            <a:pPr indent="0" marL="0">
              <a:buNone/>
            </a:pPr>
            <a:r>
              <a:rPr lang="en-US" sz="1100" dirty="0">
                <a:solidFill>
                  <a:srgbClr val="F4F1EC"/>
                </a:solidFill>
                <a:latin typeface="Calibri" pitchFamily="34" charset="0"/>
                <a:ea typeface="Calibri" pitchFamily="34" charset="-122"/>
                <a:cs typeface="Calibri" pitchFamily="34" charset="-120"/>
              </a:rPr>
              <a:t>The reduction in mean population fitness relative to the maximum possible fitness, caused by deleterious alleles maintained by mutation, balancing selection, or ongoing allele substitution. A permanent feature of all real populations.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13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§7.6 Kin Selection and Inclusive Fitness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Hamilton's Rule: When Altruism Spreads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Problem: how can natural selection favour behaviour that reduces the actor's direct fitness?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Example: worker bees are sterile — they sacrifice ALL direct reproduction to support the queen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Hamilton's insight (1964): an allele can spread if it increases the INCLUSIVE fitness of its carriers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Inclusive fitness = direct fitness + indirect fitness (through fitness gains of relatives carrying the same allele)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Hamilton's rule: altruistic behaviour is favoured when rB &gt; C</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 = coefficient of relatedness; B = benefit to recipient; C = cost to actor</a:t>
            </a:r>
            <a:endParaRPr lang="en-US" sz="1300" dirty="0"/>
          </a:p>
        </p:txBody>
      </p:sp>
      <p:sp>
        <p:nvSpPr>
          <p:cNvPr id="7" name="Shape 5"/>
          <p:cNvSpPr/>
          <p:nvPr/>
        </p:nvSpPr>
        <p:spPr>
          <a:xfrm>
            <a:off x="5120640" y="960120"/>
            <a:ext cx="3749040" cy="3474720"/>
          </a:xfrm>
          <a:prstGeom prst="rect">
            <a:avLst/>
          </a:prstGeom>
          <a:solidFill>
            <a:srgbClr val="1C2B1E"/>
          </a:solidFill>
          <a:ln w="12700">
            <a:solidFill>
              <a:srgbClr val="C8791E"/>
            </a:solidFill>
            <a:prstDash val="solid"/>
          </a:ln>
        </p:spPr>
      </p:sp>
      <p:sp>
        <p:nvSpPr>
          <p:cNvPr id="8" name="Text 6"/>
          <p:cNvSpPr/>
          <p:nvPr/>
        </p:nvSpPr>
        <p:spPr>
          <a:xfrm>
            <a:off x="5257800" y="1234440"/>
            <a:ext cx="3474720" cy="914400"/>
          </a:xfrm>
          <a:prstGeom prst="rect">
            <a:avLst/>
          </a:prstGeom>
          <a:noFill/>
          <a:ln/>
        </p:spPr>
        <p:txBody>
          <a:bodyPr wrap="square" rtlCol="0" anchor="ctr"/>
          <a:lstStyle/>
          <a:p>
            <a:pPr algn="ctr" indent="0" marL="0">
              <a:buNone/>
            </a:pPr>
            <a:r>
              <a:rPr lang="en-US" sz="2200" b="1" dirty="0">
                <a:solidFill>
                  <a:srgbClr val="C8791E"/>
                </a:solidFill>
                <a:latin typeface="Courier New" pitchFamily="34" charset="0"/>
                <a:ea typeface="Courier New" pitchFamily="34" charset="-122"/>
                <a:cs typeface="Courier New" pitchFamily="34" charset="-120"/>
              </a:rPr>
              <a:t>rB &gt; C</a:t>
            </a:r>
            <a:endParaRPr lang="en-US" sz="2200" dirty="0"/>
          </a:p>
        </p:txBody>
      </p:sp>
      <p:sp>
        <p:nvSpPr>
          <p:cNvPr id="9" name="Text 7"/>
          <p:cNvSpPr/>
          <p:nvPr/>
        </p:nvSpPr>
        <p:spPr>
          <a:xfrm>
            <a:off x="5257800" y="2331720"/>
            <a:ext cx="3474720" cy="1828800"/>
          </a:xfrm>
          <a:prstGeom prst="rect">
            <a:avLst/>
          </a:prstGeom>
          <a:noFill/>
          <a:ln/>
        </p:spPr>
        <p:txBody>
          <a:bodyPr wrap="square" rtlCol="0" anchor="t"/>
          <a:lstStyle/>
          <a:p>
            <a:pPr indent="0" marL="0">
              <a:buNone/>
            </a:pPr>
            <a:r>
              <a:rPr lang="en-US" sz="1100" dirty="0">
                <a:solidFill>
                  <a:srgbClr val="F4F1EC"/>
                </a:solidFill>
                <a:latin typeface="Calibri" pitchFamily="34" charset="0"/>
                <a:ea typeface="Calibri" pitchFamily="34" charset="-122"/>
                <a:cs typeface="Calibri" pitchFamily="34" charset="-120"/>
              </a:rPr>
              <a:t>r = coefficient of relatedness (prob. of shared allele by descent)</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B = fitness benefit to the recipient of the altruistic act</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C = fitness cost to the actor (direct fitness reduction)</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Altruism evolves when rB &gt; C</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r values: full siblings = 0.5; half-siblings = 0.25</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Hymenoptera (ants, bees, wasps): workers r = 0.75 to sisters</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 extreme altruism (r × B easily exceeds C)</a:t>
            </a:r>
            <a:endParaRPr lang="en-US" sz="11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Hamilton's Rule: </a:t>
            </a:r>
            <a:pPr indent="0" marL="0">
              <a:buNone/>
            </a:pPr>
            <a:r>
              <a:rPr lang="en-US" sz="1100" dirty="0">
                <a:solidFill>
                  <a:srgbClr val="F4F1EC"/>
                </a:solidFill>
                <a:latin typeface="Calibri" pitchFamily="34" charset="0"/>
                <a:ea typeface="Calibri" pitchFamily="34" charset="-122"/>
                <a:cs typeface="Calibri" pitchFamily="34" charset="-120"/>
              </a:rPr>
              <a:t>rB &gt; C: an altruistic act is favoured by natural selection when the benefit to the recipient (B), weighted by the coefficient of relatedness (r), exceeds the cost to the actor (C). The formal basis of kin selection theory.</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§7.6 Why Hymenoptera Are Especially Social</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Haplodiploidy and Extreme Altruism</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Hymenoptera (ants, bees, wasps) have an unusual genetic system: HAPLODIPLOIDY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Males develop from unfertilised eggs (haploid, n); females from fertilised eggs (diploid, 2n)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Consequence: sisters share 75% of their genes (not 50% as in diploid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r(sister to sister) = 0.75; r(mother to daughter) = 0.5</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 a worker bee: raising sisters is MORE genetically profitable than raising own daughters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asymmetry is proposed to explain the independent evolution of eusociality in Hymenoptera multiple times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Haplodiploidy and Relatedness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NORMAL DIPLOID SPECIES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r(parent-offspring) = 0.5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r(siblings) = 0.5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Worker raising own offspring: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same payoff as raising siblings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HYMENOPTERA (haplodiploidy)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Father is haploid → all sperm identical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Mother's eggs: 50% identical sets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Sisters share all paternal genes (0.5)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half maternal genes (0.25)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r(sisters) = 0.75</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Hamilton's rule for worker: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Raising sister (r=0.75): rB = 0.75B</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Raising own daughter (r=0.5): rB = 0.5B</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Workers do BETTER helping sisters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than raising daughters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Extreme altruism (sterility) selected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NOTE: also proposed that male haploidy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may increase vulnerability to selection</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Haplodiploidy: </a:t>
            </a:r>
            <a:pPr indent="0" marL="0">
              <a:buNone/>
            </a:pPr>
            <a:r>
              <a:rPr lang="en-US" sz="1100" dirty="0">
                <a:solidFill>
                  <a:srgbClr val="F4F1EC"/>
                </a:solidFill>
                <a:latin typeface="Calibri" pitchFamily="34" charset="0"/>
                <a:ea typeface="Calibri" pitchFamily="34" charset="-122"/>
                <a:cs typeface="Calibri" pitchFamily="34" charset="-120"/>
              </a:rPr>
              <a:t>A genetic system (common in Hymenoptera) in which males develop from unfertilised haploid eggs and females from fertilised diploid eggs. Sisters share 75% of their genes — making altruistic worker behaviour more genetically profitable than personal reproduction.</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§7.7 Genetic Drift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Random Allele Frequency Change in Finite Populations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Genetic drift: RANDOM changes in allele frequency due to sampling error in finite populations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Analogy: flipping a coin 10 times vs 10,000 times — smaller samples show more variance from expected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Magnitude of drift is inversely proportional to effective population size (Nₑ): larger populations drift less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Variance in allele frequency change per generation = pq / 2Nₑ</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Drift acts on ALL alleles regardless of fitness — can fix deleterious alleles or eliminate beneficial ones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Drift is strongest (most powerful) when Nₑ × s &lt;&lt; 1: drift dominates over selection</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LARGE POPULATION (Nₑ=1000)</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Low sampling variance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Allele trajectories predictable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Selection dominates drift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Genetic diversity maintained longer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Near-neutral alleles evolve slowly</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SMALL POPULATION (Nₑ=10)</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High sampling variance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Allele trajectories unpredictable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Drift overpowers weak selection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Diversity rapidly lost or fixed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Deleterious alleles may fix</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Genetic Drift: </a:t>
            </a:r>
            <a:pPr indent="0" marL="0">
              <a:buNone/>
            </a:pPr>
            <a:r>
              <a:rPr lang="en-US" sz="1100" dirty="0">
                <a:solidFill>
                  <a:srgbClr val="F4F1EC"/>
                </a:solidFill>
                <a:latin typeface="Calibri" pitchFamily="34" charset="0"/>
                <a:ea typeface="Calibri" pitchFamily="34" charset="-122"/>
                <a:cs typeface="Calibri" pitchFamily="34" charset="-120"/>
              </a:rPr>
              <a:t>Random change in allele frequency in a population due to sampling error in finite populations. Power of drift is inversely proportional to Nₑ. Can fix alleles regardless of fitness when Nₑs &lt;&lt; 1.</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16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§7.7 Effective Population Size (Nₑ)</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Why Nₑ Is Always Less Than Census Size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Effective population size (Nₑ): the size of an ideal H-W population experiencing the same rate of drift as the real population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Nₑ &lt; N (census size) because: (1) unequal sex ratio, (2) variance in offspring number, (3) population size fluctuations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Unequal sex ratio: Nₑ ≈ 4 × N_m × N_f / (N_m + N_f)</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Population bottleneck: Nₑ is dominated by the MINIMUM population size in a fluctuation — one bad generation matters enormously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Simlipal tiger population (NCR: &lt;20 individuals) — Nₑ may be as low as 10–15</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Conservation genetics: maintaining Nₑ ≥ 50 (short-term) or ≥ 500 (long-term) are standard thresholds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Nₑ and Conservation: Simlipal Tigers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CENSUS SIZE (N): number of individuals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EFFECTIVE SIZE (Nₑ): genetic effective size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Factors reducing Nₑ below 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Unequal sex ratio: fewer breeders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Variance in offspring: some breed more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Population bottleneck: past minimum</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SIMLIPAL TIGER (Panthera tigris tigris)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Estimated census: 25-30 individuals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Breeding adults (Nₑ): ~10-15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Nₑ/N ratio: ~0.5</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CONSERVATION THRESHOLDS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Nₑ = 50: minimum for short-term survival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(maintain fitness for 5 generations)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Nₑ = 500: minimum for long-term survival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(maintain evolutionary potential)</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RISK: At Nₑ = 10-15: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Rapid inbreeding depression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Loss of adaptive variation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Fixation of mildly deleterious alleles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Effective Population Size (Nₑ): </a:t>
            </a:r>
            <a:pPr indent="0" marL="0">
              <a:buNone/>
            </a:pPr>
            <a:r>
              <a:rPr lang="en-US" sz="1100" dirty="0">
                <a:solidFill>
                  <a:srgbClr val="F4F1EC"/>
                </a:solidFill>
                <a:latin typeface="Calibri" pitchFamily="34" charset="0"/>
                <a:ea typeface="Calibri" pitchFamily="34" charset="-122"/>
                <a:cs typeface="Calibri" pitchFamily="34" charset="-120"/>
              </a:rPr>
              <a:t>The size of an ideal H-W population experiencing the same rate of genetic drift as the real population. Always smaller than census size. The critical parameter in conservation genetics — determines whether drift or selection dominates evolutionary change.</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§7.7 Founder Effect and Bottleneck</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Two Modes of Extreme Drift</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FOUNDER EFFECT: a small group colonises a new area — carries only a random subset of the source population's alleles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founding group may have high-frequency alleles absent or rare in the source population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Example: high frequency of specific diseases in island populations founded by small numbers of colonists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BOTTLENECK EFFECT: an established population undergoes a sharp reduction in size, then recovers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surviving individuals carry only a fraction of the original genetic diversity — which is then amplified in the recovered population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Both represent a single episode of extreme drift — the genetic consequences persist for many generations afterward</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FOUNDER EFFECT</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Small group colonises new area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Alleles = random subset of source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Founding event → new population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Rare source alleles may become common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island colonisation</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BOTTLENECK EFFECT</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Established population crashes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Alleles = subset of original diversity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Crash + recovery = genetic loss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Original diversity unrecoverable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Cheetah genome uniformity</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Bottleneck Effect: </a:t>
            </a:r>
            <a:pPr indent="0" marL="0">
              <a:buNone/>
            </a:pPr>
            <a:r>
              <a:rPr lang="en-US" sz="1100" dirty="0">
                <a:solidFill>
                  <a:srgbClr val="F4F1EC"/>
                </a:solidFill>
                <a:latin typeface="Calibri" pitchFamily="34" charset="0"/>
                <a:ea typeface="Calibri" pitchFamily="34" charset="-122"/>
                <a:cs typeface="Calibri" pitchFamily="34" charset="-120"/>
              </a:rPr>
              <a:t>A sharp reduction in population size causes severe genetic drift, reducing genetic diversity to that carried by the surviving individuals. Diversity lost cannot be recovered even when the population expands, since no new alleles have been created.</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18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§7.8 Mutation: The Ultimate Source of Variation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Mutation Rates and Mutation-Selection Balance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Mutation rate (u): typically 10⁻⁵ to 10⁻⁶ per gene per generation — very slow at any single locus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Mutation is the ONLY source of genuinely new alleles — it introduces raw material; selection, drift, and recombination act on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Mutation alone cannot drive rapid allele frequency change — its effect per generation is u × p (tiny)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MUTATION-SELECTION BALANCE: for a deleterious recessive allele, mutation continually introduces it; selection continually removes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Equilibrium frequency: q̂ ≈ √(u/s) for recessive lethal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Example: if u = 10⁻⁵ and s = 1: q̂ ≈ √(10⁻⁵) ≈ 0.003 — explains why lethal recessives are at low but non-zero frequency</a:t>
            </a:r>
            <a:endParaRPr lang="en-US" sz="1300" dirty="0"/>
          </a:p>
        </p:txBody>
      </p:sp>
      <p:sp>
        <p:nvSpPr>
          <p:cNvPr id="7" name="Shape 5"/>
          <p:cNvSpPr/>
          <p:nvPr/>
        </p:nvSpPr>
        <p:spPr>
          <a:xfrm>
            <a:off x="5120640" y="960120"/>
            <a:ext cx="3749040" cy="3474720"/>
          </a:xfrm>
          <a:prstGeom prst="rect">
            <a:avLst/>
          </a:prstGeom>
          <a:solidFill>
            <a:srgbClr val="1C2B1E"/>
          </a:solidFill>
          <a:ln w="12700">
            <a:solidFill>
              <a:srgbClr val="C8791E"/>
            </a:solidFill>
            <a:prstDash val="solid"/>
          </a:ln>
        </p:spPr>
      </p:sp>
      <p:sp>
        <p:nvSpPr>
          <p:cNvPr id="8" name="Text 6"/>
          <p:cNvSpPr/>
          <p:nvPr/>
        </p:nvSpPr>
        <p:spPr>
          <a:xfrm>
            <a:off x="5257800" y="1234440"/>
            <a:ext cx="3474720" cy="914400"/>
          </a:xfrm>
          <a:prstGeom prst="rect">
            <a:avLst/>
          </a:prstGeom>
          <a:noFill/>
          <a:ln/>
        </p:spPr>
        <p:txBody>
          <a:bodyPr wrap="square" rtlCol="0" anchor="ctr"/>
          <a:lstStyle/>
          <a:p>
            <a:pPr algn="ctr" indent="0" marL="0">
              <a:buNone/>
            </a:pPr>
            <a:r>
              <a:rPr lang="en-US" sz="2200" b="1" dirty="0">
                <a:solidFill>
                  <a:srgbClr val="C8791E"/>
                </a:solidFill>
                <a:latin typeface="Courier New" pitchFamily="34" charset="0"/>
                <a:ea typeface="Courier New" pitchFamily="34" charset="-122"/>
                <a:cs typeface="Courier New" pitchFamily="34" charset="-120"/>
              </a:rPr>
              <a:t>q̂ ≈ √(u/s)</a:t>
            </a:r>
            <a:endParaRPr lang="en-US" sz="2200" dirty="0"/>
          </a:p>
        </p:txBody>
      </p:sp>
      <p:sp>
        <p:nvSpPr>
          <p:cNvPr id="9" name="Text 7"/>
          <p:cNvSpPr/>
          <p:nvPr/>
        </p:nvSpPr>
        <p:spPr>
          <a:xfrm>
            <a:off x="5257800" y="2331720"/>
            <a:ext cx="3474720" cy="1828800"/>
          </a:xfrm>
          <a:prstGeom prst="rect">
            <a:avLst/>
          </a:prstGeom>
          <a:noFill/>
          <a:ln/>
        </p:spPr>
        <p:txBody>
          <a:bodyPr wrap="square" rtlCol="0" anchor="t"/>
          <a:lstStyle/>
          <a:p>
            <a:pPr indent="0" marL="0">
              <a:buNone/>
            </a:pPr>
            <a:r>
              <a:rPr lang="en-US" sz="1100" dirty="0">
                <a:solidFill>
                  <a:srgbClr val="F4F1EC"/>
                </a:solidFill>
                <a:latin typeface="Calibri" pitchFamily="34" charset="0"/>
                <a:ea typeface="Calibri" pitchFamily="34" charset="-122"/>
                <a:cs typeface="Calibri" pitchFamily="34" charset="-120"/>
              </a:rPr>
              <a:t>q̂ = equilibrium frequency of deleterious recessive</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u = mutation rate (typically 10⁻⁵ to 10⁻⁶ per gene per generation)</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s = selection coefficient against aa homozygote</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Equilibrium: mutation input = selection removal</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Example: u=10⁻⁵, s=1 → q̂ = √(10⁻⁵) ≈ 0.003 (0.3%)</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Example: u=10⁻⁵, s=0.1 → q̂ = √(10⁻⁴) ≈ 0.01 (1.0%)</a:t>
            </a:r>
            <a:endParaRPr lang="en-US" sz="11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Mutation-Selection Balance: </a:t>
            </a:r>
            <a:pPr indent="0" marL="0">
              <a:buNone/>
            </a:pPr>
            <a:r>
              <a:rPr lang="en-US" sz="1100" dirty="0">
                <a:solidFill>
                  <a:srgbClr val="F4F1EC"/>
                </a:solidFill>
                <a:latin typeface="Calibri" pitchFamily="34" charset="0"/>
                <a:ea typeface="Calibri" pitchFamily="34" charset="-122"/>
                <a:cs typeface="Calibri" pitchFamily="34" charset="-120"/>
              </a:rPr>
              <a:t>The equilibrium allele frequency at which the introduction of new deleterious alleles by mutation exactly balances their removal by selection. For a recessive lethal: q̂ ≈ √(u/s). Explains why deleterious alleles persist at low but non-zero frequency.</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19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§7.8 Gene Flow: Migration and Allele Frequencies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Migration Homogenises — and Counteracts Local Adaptation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Gene flow (migration): movement of alleles between populations through dispersal and reproduction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Effect: homogenises allele frequencies between populations — reduces local divergence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Counteracts local selection: if selection favours allele A locally but migrants bring in allele a, gene flow slows local adaptation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ONE MIGRANT RULE: approximately one migrant per generation (m ≈ 1/2Nₑ) is sufficient to prevent allele fixation by drift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Gene flow and selection balance: populations can diverge if selection pressure exceeds the homogenising effect of gene flow</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Conservation: gene flow between fragmented populations (wildlife corridors) prevents inbreeding and maintains adaptive potential</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HIGH GENE FLOW</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Populations genetically similar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Local adaptation prevented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Drift effects counteracted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Conservation: corridors important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migratory bird populations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LOW GENE FLOW</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Populations can diverge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Local adaptation possible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Drift acts on each separately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Conservation: isolation is risky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fragmented tiger populations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Gene Flow: </a:t>
            </a:r>
            <a:pPr indent="0" marL="0">
              <a:buNone/>
            </a:pPr>
            <a:r>
              <a:rPr lang="en-US" sz="1100" dirty="0">
                <a:solidFill>
                  <a:srgbClr val="F4F1EC"/>
                </a:solidFill>
                <a:latin typeface="Calibri" pitchFamily="34" charset="0"/>
                <a:ea typeface="Calibri" pitchFamily="34" charset="-122"/>
                <a:cs typeface="Calibri" pitchFamily="34" charset="-120"/>
              </a:rPr>
              <a:t>The movement of alleles between populations through dispersal and reproduction of individuals. Homogenises allele frequencies between populations. One migrant per generation is sufficient to prevent drift-driven allele fixation in small populations.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20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§7.1–7.8 The Five Forces: A Summary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When Does Each Force Dominate?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MUTATION: dominant at geological time scales — the ultimate source of variation; negligible per generation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SELECTION: dominant when Nₑ × s &gt;&gt; 1; determines direction of change; fastest at intermediate allele frequencies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DRIFT: dominant when Nₑ × s &lt;&lt; 1 or Nₑ is very small; random direction; causes fixation or loss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MIGRATION: counteracts divergence; proportional to migration rate m; prevents local speciation if high</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INBREEDING / ASSORTATIVE MATING: changes genotype frequencies without changing allele frequencies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relative power of drift vs selection is governed by Nₑs — the single most important quantity in conservation genetics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Nₑ × s: The Key Ratio</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Nₑ × s &gt;&gt; 1 (e.g. Nₑ=1000, s=0.1, product=100)</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Selection dominates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Allele trajectory predictable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Favoured allele goes to fixation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Nₑ × s ≈ 1 (e.g. Nₑ=100, s=0.01, product=1)</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Selection and drift comparable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Trajectory uncertain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Some favoured alleles may be lost</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Nₑ × s &lt;&lt; 1 (e.g. Nₑ=10, s=0.1, product=1)</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Drift dominates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Trajectory unpredictable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Deleterious alleles may fix</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Beneficial alleles may be lost</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CONSERVATION IMPLICATION: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Simlipal tigers (Nₑ≈15)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For allele with s=0.01: Nₑs ≈ 0.15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drift dominates selection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accumulation of mildly deleterious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alleles is a significant risk</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Nₑs Ratio: </a:t>
            </a:r>
            <a:pPr indent="0" marL="0">
              <a:buNone/>
            </a:pPr>
            <a:r>
              <a:rPr lang="en-US" sz="1100" dirty="0">
                <a:solidFill>
                  <a:srgbClr val="F4F1EC"/>
                </a:solidFill>
                <a:latin typeface="Calibri" pitchFamily="34" charset="0"/>
                <a:ea typeface="Calibri" pitchFamily="34" charset="-122"/>
                <a:cs typeface="Calibri" pitchFamily="34" charset="-120"/>
              </a:rPr>
              <a:t>The product of effective population size and selection coefficient. When Nₑs &gt;&gt; 1: selection determines allele fate. When Nₑs &lt;&lt; 1: drift is more powerful than selection. The fundamental parameter in conservation genetics and molecular evolution.</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C7A"/>
          </a:solidFill>
          <a:ln w="12700">
            <a:solidFill>
              <a:srgbClr val="3D8C7A"/>
            </a:solidFill>
            <a:prstDash val="solid"/>
          </a:ln>
        </p:spPr>
      </p:sp>
      <p:sp>
        <p:nvSpPr>
          <p:cNvPr id="3" name="Text 1"/>
          <p:cNvSpPr/>
          <p:nvPr/>
        </p:nvSpPr>
        <p:spPr>
          <a:xfrm>
            <a:off x="457200" y="1645920"/>
            <a:ext cx="8229600" cy="1371600"/>
          </a:xfrm>
          <a:prstGeom prst="rect">
            <a:avLst/>
          </a:prstGeom>
          <a:noFill/>
          <a:ln/>
        </p:spPr>
        <p:txBody>
          <a:bodyPr wrap="square" rtlCol="0" anchor="ctr"/>
          <a:lstStyle/>
          <a:p>
            <a:pPr algn="ctr" indent="0" marL="0">
              <a:buNone/>
            </a:pPr>
            <a:r>
              <a:rPr lang="en-US" sz="4400" b="1" dirty="0">
                <a:solidFill>
                  <a:srgbClr val="F4F1EC"/>
                </a:solidFill>
                <a:latin typeface="Georgia" pitchFamily="34" charset="0"/>
                <a:ea typeface="Georgia" pitchFamily="34" charset="-122"/>
                <a:cs typeface="Georgia" pitchFamily="34" charset="-120"/>
              </a:rPr>
              <a:t>Questions &amp; Answers</a:t>
            </a:r>
            <a:endParaRPr lang="en-US" sz="44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1600" i="1" dirty="0">
                <a:solidFill>
                  <a:srgbClr val="8FA898"/>
                </a:solidFill>
                <a:latin typeface="Calibri" pitchFamily="34" charset="0"/>
                <a:ea typeface="Calibri" pitchFamily="34" charset="-122"/>
                <a:cs typeface="Calibri" pitchFamily="34" charset="-120"/>
              </a:rPr>
              <a:t>Thinking-type questions — discuss before turning to the answer slide</a:t>
            </a:r>
            <a:endParaRPr lang="en-US" sz="1600" dirty="0"/>
          </a:p>
        </p:txBody>
      </p:sp>
      <p:sp>
        <p:nvSpPr>
          <p:cNvPr id="5" name="Text 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1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population genetics researcher surveys blood type allele frequencies in a village of 400 people near Bhubaneswar, Odisha. She finds: Blood type AA = 196, AO = 168, OO = 36. (a) Calculate allele frequencies for A and O alleles. (b) Calculate the expected Hardy-Weinberg genotype frequencies and counts. (c) Perform a chi-square test and state whether the population is in H-W equilibrium. (d) If the population is NOT in equilibrium, what are the three most plausible biological explanations, and how would you distinguish between them?</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Work through the calculation step by step: count alleles first, then compute p and q, then expected frequencies, then chi-square. What does a significant chi-square tell you — and what does it NOT tell you?</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23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Q1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population genetics researcher surveys blood type allele frequencies in a village of 400 people near Bhubaneswar, Odisha. She finds: Blood type AA = 196, AO = 168, OO = 36. (a) Calculate allele frequencies for A and O alleles. (b) Calculate the expected Hardy-Weinberg genotype frequencies and counts. (c) Perform a chi-square test and state whether the population is in H-W equilibrium. (d) If the population is NOT in equilibrium, what are the three most plausible biological explanations, and how would you distinguish between them?</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Allele frequencies: N = 400. p(A) = (2×196 + 168) / (2×400) = (392+168)/800 = 560/800 = 0.70. q(O) = (2×36 + 168)/800 = (72+168)/800 = 240/800 = 0.30. Check: p + q = 0.70 + 0.30 = 1.00 ✓. (b) Expected H-W frequencies and counts: E(AA) = p² × N = 0.49 × 400 = 196. E(AO) = 2pq × N = 2×0.70×0.30 × 400 = 0.42 × 400 = 168. E(OO) = q² × N = 0.09 × 400 = 36. (c) Chi-square test: χ² contributions: AA: (196−196)²/196 = 0. AO: (168−168)²/168 = 0. OO: (36−36)²/36 = 0. Total χ² = 0.00. df = 1, critical value = 3.84. Since 0.00 &lt;&lt; 3.84: FAIL TO REJECT H-W null. This population is in Hardy-Weinberg equilibrium. All five conditions are consistent with being met. (d) Note: since the population IS in equilibrium in this case, part (d) is answered hypothetically. If a significant chi-square HAD been obtained, the three most plausible biological explanations would be: (1) Non-random mating / inbreeding: excess homozygotes and deficit of heterozygotes relative to H-W is the characteristic signal of inbreeding or population subdivision (Wahlund effect). To distinguish: check whether the deficit of heterozygotes is uniform across all loci (inbreeding) or restricted to this locus (selection against heterozygotes). (2) Natural selection against a genotype: if AO heterozygotes or OO homozygotes have reduced fitness, their observed count would be below expected. Distinguish by: checking the pattern (deficit of which genotype?), looking for fitness differences in demographic data. (3) Wahlund effect (population subdivision): sampling from two or more sub-populations with different allele frequencies into one sample produces apparent excess of homozygotes. Distinguish by: examining whether the sampled individuals come from genetically differentiated subgroups (different castes, ethnic groups, villages) — if so, re-analysing each subgroup separately should restore H-W.</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2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recessive genetic disease (caused by allele a) has a carrier frequency of 8% (Aa frequency = 0.08) in the Sundargarh district tribal population. Assuming H-W equilibrium: (a) What is the frequency of allele a? (b) What is the frequency of affected individuals (aa)? (c) If the selection coefficient against aa is s = 0.8, calculate the change in allele frequency Δq in one generation. (d) Calculate the mutation-selection balance equilibrium frequency if the mutation rate u = 1×10⁻⁵. Is the observed allele frequency consistent with mutation-selection balance, or does some other force appear to be maintaining it?</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Start from the carrier frequency to find q. Then use the Δq formula. Then calculate q̂ from the mutation-selection balance formula. Compare the observed q with q̂ — do they match, or is q higher than expected? What would explain a higher-than-expected frequency?</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25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Q2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recessive genetic disease (caused by allele a) has a carrier frequency of 8% (Aa frequency = 0.08) in the Sundargarh district tribal population. Assuming H-W equilibrium: (a) What is the frequency of allele a? (b) What is the frequency of affected individuals (aa)? (c) If the selection coefficient against aa is s = 0.8, calculate the change in allele frequency Δq in one generation. (d) Calculate the mutation-selection balance equilibrium frequency if the mutation rate u = 1×10⁻⁵. Is the observed allele frequency consistent with mutation-selection balance, or does some other force appear to be maintaining it?</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Allele frequency of a: Carrier frequency = 2pq = 0.08. If p + q = 1, then 2(1−q)q = 0.08. Solving: 2q − 2q² = 0.08. Approximating (since q is small): 2q ≈ 0.08 → q ≈ 0.04. Exact solution from quadratic: q² − q + 0.04 = 0. q = (1 − √(1 − 0.16))/2 = (1 − √0.84)/2 = (1 − 0.9165)/2 ≈ 0.042. Use q ≈ 0.04. (b) Frequency of affected individuals (aa): q² = (0.04)² = 0.0016 = 0.16% of the population. (c) Change in allele frequency Δq: Δq = −sq²(1−q)/W̄. W̄ = 1 − sq² = 1 − 0.8 × 0.0016 = 1 − 0.00128 = 0.99872. Δq = −(0.8 × 0.0016 × 0.96)/0.99872 = −(0.001229)/0.99872 ≈ −0.00123. So q decreases by approximately 0.00123 per generation — very slow. (d) Mutation-selection balance frequency: q̂ = √(u/s) = √(10⁻⁵/0.8) = √(1.25×10⁻⁵) ≈ 0.0035. Comparison: Observed q ≈ 0.040; mutation-selection balance q̂ ≈ 0.0035. The observed frequency is approximately 11× higher than expected from mutation-selection balance alone. This indicates that another force is maintaining the allele at higher frequency than mutation alone can explain. Most likely explanation: heterozygous advantage (balancing selection). If Aa heterozygotes have even a small fitness advantage over AA homozygotes — possibly protection against a local pathogen or other environmental stressor specific to the Sundargarh tribal context — the allele would be maintained at a higher frequency than mutation-selection balance predicts. This pattern is similar to HbS and malaria: the deleterious recessive is maintained at above-mutation-balance frequency because of heterozygote advantage against a local selective pressure.</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26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3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Hamilton's rule (rB &gt; C) predicts that altruistic behaviour evolves when the benefit to genetic relatives, weighted by their relatedness, exceeds the cost to the actor. (a) Explain using Hamilton's rule why a female worker ant (r = 0.75 to sisters, r = 0.5 to own daughters) is expected to help raise sisters rather than her own offspring. (b) What prediction does this make about species where females are less related to sisters than to own daughters? (c) How does this theory apply to cooperative breeding in birds — for example, if a male Indian pied starling helps at the nest of his parents? What information would you need to evaluate whether kin selection explains this behaviour?</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Compare the inclusive fitness payoff of two alternatives: helping raise a sister vs raising own daughter. Which gives higher rB? What does this imply for where eusociality should evolve? For birds, what is r between a helper and the chicks he is helping to raise?</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27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Q3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Hamilton's rule (rB &gt; C) predicts that altruistic behaviour evolves when the benefit to genetic relatives, weighted by their relatedness, exceeds the cost to the actor. (a) Explain using Hamilton's rule why a female worker ant (r = 0.75 to sisters, r = 0.5 to own daughters) is expected to help raise sisters rather than her own offspring. (b) What prediction does this make about species where females are less related to sisters than to own daughters? (c) How does this theory apply to cooperative breeding in birds — for example, if a male Indian pied starling helps at the nest of his parents? What information would you need to evaluate whether kin selection explains this behaviour?</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Worker ant inclusive fitness calculation: Option 1 — Help raise sisters: For each sister raised to reproductive age, inclusive fitness gain = r × 1 = 0.75 × 1 = 0.75 (using reproductive success = 1 as unit). Option 2 — Raise own daughters: For each daughter raised to reproductive age, inclusive fitness gain = r × 1 = 0.5 × 1 = 0.50. The worker gains 50% more inclusive fitness per offspring-equivalent by helping raise sisters than by raising her own daughters. Since haplodiploidy causes r(sister) = 0.75 &gt; r(daughter) = 0.50, Hamilton's rule (rB &gt; C) is more easily satisfied for helping sisters. This asymmetry is proposed as a major reason eusociality has evolved independently so many times in Hymenoptera. (b) Prediction for species with lower sister relatedness: In diploid species (r = 0.5 to both sisters and daughters), there is no asymmetry favouring sterile worker behaviour. Hamilton's rule can still be satisfied (rB &gt; C) but requires larger B or smaller C than in haplodiploid species. This prediction is broadly supported: eusociality is much more common in Hymenoptera than in diploid insects, and in diploid eusocial species (e.g., naked mole rats) r is elevated through other means (high inbreeding). (c) Cooperative breeding in Indian pied starlings: If a male helps at his parents' nest, the chicks he is helping to raise are his full siblings. r(brother to full sibling) = 0.5. Hamilton's rule analysis: Inclusive fitness benefit of helping = r × B = 0.5 × B (where B is the additional survival probability of the chicks due to helper effort). Cost of helping = C = reduction in the helper's own direct reproduction due to time and energy spent helping. Hamilton's rule predicts this behaviour is favoured when 0.5B &gt; C. Information needed to evaluate: (1) Are the chicks actually full siblings of the helper (confirm parentage by microsatellite analysis — extrapair paternity is common in starlings and would reduce r); (2) How many additional chicks survive due to the helper's presence (quantify B empirically); (3) Does helping reduce the helper's own reproduction that year or in subsequent years (quantify C by comparing reproductive success of helpers vs non-helpers in the same season and following seasons); (4) Are there alternative explanations: is the helper gaining experience, occupying a territory, or waiting for breeding opportunity (queuing hypothesis)?</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28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4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The Simlipal Tiger Reserve in Odisha has an estimated tiger population of 25-30 individuals. A population geneticist estimates the effective population size (Nₑ) at approximately 12-15. A conservationist argues that this is perfectly safe because "tigers are K-selected and produce offspring that survive — quality matters more than quantity." Evaluate this argument using population genetics principles. What are the specific genetic risks for this population? What conservation measures would population genetics recommend?</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does effective population size actually determine in population genetics? What happens to genetic diversity and fitness when Nₑ is very small? What is the Nₑ threshold for short-term and long-term viability? Does K-selection change any of these mathematical realities?</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29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Q4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The Simlipal Tiger Reserve in Odisha has an estimated tiger population of 25-30 individuals. A population geneticist estimates the effective population size (Nₑ) at approximately 12-15. A conservationist argues that this is perfectly safe because "tigers are K-selected and produce offspring that survive — quality matters more than quantity." Evaluate this argument using population genetics principles. What are the specific genetic risks for this population? What conservation measures would population genetics recommend?</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conservationist's argument confuses life history strategy with population genetics. K-selection refers to how organisms allocate reproductive effort — it describes a life history trait, not an immunity to the consequences of small population size. The mathematical consequences of small Nₑ apply universally regardless of whether a species is K-selected or r-selected. Specific genetic risks for Nₑ ≈ 12-15: (1) Inbreeding depression: at Nₑ = 12, the inbreeding coefficient F increases by approximately 1/2Nₑ ≈ 4% per generation. Within 5 generations, F &gt; 20%. Inbreeding elevates homozygosity at all loci, including deleterious recessive loci — exposing deleterious alleles previously hidden in heterozygotes. The result is reduced fertility, immune function, developmental abnormality, and survival. (2) Genetic drift outpacing selection: for alleles with selection coefficient s = 0.01, Nₑs ≈ 0.12-0.15 &lt;&lt; 1. Drift dominates selection. Mildly deleterious alleles can accumulate and fix in the population — a process called mutational meltdown in very small populations. (3) Loss of adaptive variation: rare alleles that may be crucial for future adaptation to disease or environmental change are rapidly lost by drift. Once lost, they cannot be recovered without gene flow from another population. (4) Below minimum viability thresholds: conservation genetics recognises Nₑ = 50 as a short-term minimum (to prevent inbreeding depression over 5 generations) and Nₑ = 500 as a long-term minimum (to maintain evolutionary potential). Nₑ = 12-15 is well below both thresholds. Conservation measures recommended by population genetics: (1) Connectivity and gene flow: establish wildlife corridors connecting Simlipal with other tiger-holding landscapes (Satkosia, Eastern Ghats tiger recovery units) — even 1-2 migrants per generation substantially reduces drift effects; (2) Managed translocation: if natural gene flow is impossible, managed translocation of individuals between Simlipal and other populations can introduce genetic diversity; (3) Genetic monitoring: regular genetic sampling of all individuals to track inbreeding coefficients, heterozygosity, and detect any fitness depression; (4) Habitat expansion: increasing the effective breeding area allows Nₑ to approach N — reducing the ratio reduction.</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30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5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Evaluation — Bloom's L5</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The neutral theory of molecular evolution (Kimura, 1968) proposes that most molecular evolution — the substitution of one allele for another at the molecular level — is due to genetic drift acting on selectively neutral mutations, not natural selection. The selectionist position holds that most molecular evolution is driven by positive or negative selection. This "neutralist-selectionist" debate has continued for over 50 years. (a) What is the specific evidence Kimura used to propose the neutral theory? (b) What is the molecular clock, and what does it imply about the nature of molecular evolution? (c) What evidence has accumulated since 1968 that supports the selectionist position? (d) What is the current consensus, and what does this debate reveal about the limits of the original Modern Synthesis?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observation about substitution rates across different proteins suggested neutrality? What would a constant substitution rate imply about whether selection is involved? What kinds of molecular evidence support selection at the molecular level? Can both drift and selection be acting simultaneously?</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31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Q5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The neutral theory of molecular evolution (Kimura, 1968) proposes that most molecular evolution — the substitution of one allele for another at the molecular level — is due to genetic drift acting on selectively neutral mutations, not natural selection. The selectionist position holds that most molecular evolution is driven by positive or negative selection. This "neutralist-selectionist" debate has continued for over 50 years. (a) What is the specific evidence Kimura used to propose the neutral theory? (b) What is the molecular clock, and what does it imply about the nature of molecular evolution? (c) What evidence has accumulated since 1968 that supports the selectionist position? (d) What is the current consensus, and what does this debate reveal about the limits of the original Modern Synthesis?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Kimura's evidence for the neutral theory: Kimura (1968) made several key observations from molecular data: (i) Amino acid substitution rates in proteins were approximately constant per unit time across different lineages — this "molecular clock" suggested that substitutions were accumulating at a steady rate regardless of population size, generation time, or ecological conditions. If selection were driving most substitutions, rates should vary with environmental conditions and population parameters. A constant rate is consistent with neutral mutations accumulating by drift. (ii) The rate of molecular evolution (substitutions per amino acid per year) was far higher than could be tolerated if most substitutions were deleterious — the implied genetic load would be impossibly large. Kimura calculated that under strict selectionism, populations would need to simultaneously eliminate hundreds of deleterious mutations per individual per generation — this is Haldane's dilemma extended to the molecular era. (iii) Synonymous (silent) substitutions are far more common than non-synonymous (amino acid-changing) substitutions — silent changes are unaffected by selection, consistent with neutral accumulation. (b) The molecular clock: The observation that amino acid substitutions accumulate at approximately constant rates across lineages and across evolutionary time (the molecular clock) implies that most substitutions are driven by a process that is independent of ecological selection pressures. Drift acting on neutral mutations satisfies this requirement — neutral mutations arise at a rate determined by the mutation rate (u), and are fixed by drift at a rate also equal to u (independent of population size). The molecular clock is therefore a direct consequence of neutral evolution and has been used extensively to date evolutionary divergence events. (c) Evidence supporting the selectionist position: Subsequent molecular data have revealed substantial evidence for selection acting at the molecular level: (i) McDonald-Kreitman test (1991): comparing the ratio of synonymous to non-synonymous divergence between species versus polymorphism within species. Excess of non-synonymous fixed differences between species (above the neutral expectation) indicates positive selection has driven protein evolution — found in many gene families. (ii) Selective sweeps: genome-wide scans for regions of reduced diversity (signatures of recent positive selection sweeping through populations) are common in many species — inconsistent with pure neutrality. (iii) Background selection: negative selection against deleterious mutations reduces linked neutral variation — much of the variation in neutral sites near functional regions reflects selection on adjacent sites. (iv) Positive selection in immune genes, sensory genes, and host-pathogen co-evolution systems is ubiquitous and well-documented. (d) Current consensus and implications for the Modern Synthesis: The current consensus is the "nearly neutral theory" (Ohta, 1973, extending Kimura): most molecular evolution involves alleles that are nearly neutral — very slightly deleterious or beneficial — and their fate depends on the balance of drift (Nₑ) and selection (s). When Nₑs &lt;&lt; 1, nearly neutral alleles behave as neutral and fix by drift; when Nₑs &gt;&gt; 1, they are subject to selection. This synthesis reconciles neutralism and selectionism: both processes are real, and their relative importance depends on population size and the strength of selection at each locus. Implications for the Modern Synthesis: The neutralist-selectionist debate reveals that the original Synthesis focused primarily on alleles with large fitness effects (clearly selected) and underweighted the enormous number of slightly deleterious or neutral mutations. Kimura's neutral theory required extending the Synthesis to incorporate: (i) genetic drift as a major force in molecular evolution, even in large populations; (ii) recognition that most genetic variation may be selectively neutral or nearly so; (iii) molecular clocks as independent tools for calibrating evolutionary time. The Synthesis needed this extension — it was not wrong about selection but incomplete about the full spectrum of mutational effects.</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32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B85A1A"/>
          </a:solidFill>
          <a:ln w="12700">
            <a:solidFill>
              <a:srgbClr val="B85A1A"/>
            </a:solidFill>
            <a:prstDash val="solid"/>
          </a:ln>
        </p:spPr>
      </p:sp>
      <p:sp>
        <p:nvSpPr>
          <p:cNvPr id="3" name="Text 1"/>
          <p:cNvSpPr/>
          <p:nvPr/>
        </p:nvSpPr>
        <p:spPr>
          <a:xfrm>
            <a:off x="274320" y="0"/>
            <a:ext cx="8595360" cy="50292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  Common Misconceptions</a:t>
            </a:r>
            <a:endParaRPr lang="en-US" sz="2000" dirty="0"/>
          </a:p>
        </p:txBody>
      </p:sp>
      <p:sp>
        <p:nvSpPr>
          <p:cNvPr id="4" name="Shape 2"/>
          <p:cNvSpPr/>
          <p:nvPr/>
        </p:nvSpPr>
        <p:spPr>
          <a:xfrm>
            <a:off x="274320" y="57607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576072"/>
            <a:ext cx="502920" cy="1022985"/>
          </a:xfrm>
          <a:prstGeom prst="rect">
            <a:avLst/>
          </a:prstGeom>
          <a:solidFill>
            <a:srgbClr val="C0392B"/>
          </a:solidFill>
          <a:ln w="12700">
            <a:solidFill>
              <a:srgbClr val="C0392B"/>
            </a:solidFill>
            <a:prstDash val="solid"/>
          </a:ln>
        </p:spPr>
      </p:sp>
      <p:sp>
        <p:nvSpPr>
          <p:cNvPr id="6" name="Text 4"/>
          <p:cNvSpPr/>
          <p:nvPr/>
        </p:nvSpPr>
        <p:spPr>
          <a:xfrm>
            <a:off x="274320" y="57607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63093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Hardy-Weinberg equilibrium is the normal state of natural populations.</a:t>
            </a:r>
            <a:endParaRPr lang="en-US" sz="1150" dirty="0"/>
          </a:p>
        </p:txBody>
      </p:sp>
      <p:sp>
        <p:nvSpPr>
          <p:cNvPr id="8" name="Text 6"/>
          <p:cNvSpPr/>
          <p:nvPr/>
        </p:nvSpPr>
        <p:spPr>
          <a:xfrm>
            <a:off x="822960" y="102618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H-W equilibrium requires five idealised conditions — infinite population, random mating, no mutation, no migration, no selection — that no real population fully satisfies. Real populations are always deviating from H-W to some degree. H-W is a null model: its value is that deviations are diagnostic of which evolutionary forces are operating.</a:t>
            </a:r>
            <a:endParaRPr lang="en-US" sz="1100" dirty="0"/>
          </a:p>
        </p:txBody>
      </p:sp>
      <p:sp>
        <p:nvSpPr>
          <p:cNvPr id="9" name="Shape 7"/>
          <p:cNvSpPr/>
          <p:nvPr/>
        </p:nvSpPr>
        <p:spPr>
          <a:xfrm>
            <a:off x="274320" y="169049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274320" y="1690497"/>
            <a:ext cx="502920" cy="1022985"/>
          </a:xfrm>
          <a:prstGeom prst="rect">
            <a:avLst/>
          </a:prstGeom>
          <a:solidFill>
            <a:srgbClr val="C0392B"/>
          </a:solidFill>
          <a:ln w="12700">
            <a:solidFill>
              <a:srgbClr val="C0392B"/>
            </a:solidFill>
            <a:prstDash val="solid"/>
          </a:ln>
        </p:spPr>
      </p:sp>
      <p:sp>
        <p:nvSpPr>
          <p:cNvPr id="11" name="Text 9"/>
          <p:cNvSpPr/>
          <p:nvPr/>
        </p:nvSpPr>
        <p:spPr>
          <a:xfrm>
            <a:off x="274320" y="169049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22960" y="174536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Natural selection always eliminates deleterious alleles rapidly.</a:t>
            </a:r>
            <a:endParaRPr lang="en-US" sz="1150" dirty="0"/>
          </a:p>
        </p:txBody>
      </p:sp>
      <p:sp>
        <p:nvSpPr>
          <p:cNvPr id="13" name="Text 11"/>
          <p:cNvSpPr/>
          <p:nvPr/>
        </p:nvSpPr>
        <p:spPr>
          <a:xfrm>
            <a:off x="822960" y="214061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Selection acts only on phenotypes. Recessive deleterious alleles are hidden in heterozygotes where they have no phenotypic effect. At low allele frequencies, nearly all copies are in heterozygotes — selection can see and remove only the small fraction in aa homozygotes. This is why deleterious recessives persist at low but non-zero frequency indefinitely, as described by mutation-selection balance.</a:t>
            </a:r>
            <a:endParaRPr lang="en-US" sz="1100" dirty="0"/>
          </a:p>
        </p:txBody>
      </p:sp>
      <p:sp>
        <p:nvSpPr>
          <p:cNvPr id="14" name="Shape 12"/>
          <p:cNvSpPr/>
          <p:nvPr/>
        </p:nvSpPr>
        <p:spPr>
          <a:xfrm>
            <a:off x="274320" y="280492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74320" y="2804922"/>
            <a:ext cx="502920" cy="1022985"/>
          </a:xfrm>
          <a:prstGeom prst="rect">
            <a:avLst/>
          </a:prstGeom>
          <a:solidFill>
            <a:srgbClr val="C0392B"/>
          </a:solidFill>
          <a:ln w="12700">
            <a:solidFill>
              <a:srgbClr val="C0392B"/>
            </a:solidFill>
            <a:prstDash val="solid"/>
          </a:ln>
        </p:spPr>
      </p:sp>
      <p:sp>
        <p:nvSpPr>
          <p:cNvPr id="16" name="Text 14"/>
          <p:cNvSpPr/>
          <p:nvPr/>
        </p:nvSpPr>
        <p:spPr>
          <a:xfrm>
            <a:off x="274320" y="280492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22960" y="285978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Large population size means genetic diversity is safe from erosion.</a:t>
            </a:r>
            <a:endParaRPr lang="en-US" sz="1150" dirty="0"/>
          </a:p>
        </p:txBody>
      </p:sp>
      <p:sp>
        <p:nvSpPr>
          <p:cNvPr id="18" name="Text 16"/>
          <p:cNvSpPr/>
          <p:nvPr/>
        </p:nvSpPr>
        <p:spPr>
          <a:xfrm>
            <a:off x="822960" y="325503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Genetic diversity can be lost by selection and mutation even in large populations. What large Nₑ specifically prevents is RANDOM allele loss by drift. For directional selection, large populations actually allow beneficial alleles to fix faster and deleterious alleles to be eliminated more efficiently. The key issue for conservation is not census size but effective population size (Nₑ).</a:t>
            </a:r>
            <a:endParaRPr lang="en-US" sz="1100" dirty="0"/>
          </a:p>
        </p:txBody>
      </p:sp>
      <p:sp>
        <p:nvSpPr>
          <p:cNvPr id="19" name="Shape 17"/>
          <p:cNvSpPr/>
          <p:nvPr/>
        </p:nvSpPr>
        <p:spPr>
          <a:xfrm>
            <a:off x="274320" y="391934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74320" y="3919347"/>
            <a:ext cx="502920" cy="1022985"/>
          </a:xfrm>
          <a:prstGeom prst="rect">
            <a:avLst/>
          </a:prstGeom>
          <a:solidFill>
            <a:srgbClr val="C0392B"/>
          </a:solidFill>
          <a:ln w="12700">
            <a:solidFill>
              <a:srgbClr val="C0392B"/>
            </a:solidFill>
            <a:prstDash val="solid"/>
          </a:ln>
        </p:spPr>
      </p:sp>
      <p:sp>
        <p:nvSpPr>
          <p:cNvPr id="21" name="Text 19"/>
          <p:cNvSpPr/>
          <p:nvPr/>
        </p:nvSpPr>
        <p:spPr>
          <a:xfrm>
            <a:off x="274320" y="391934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397421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Kin selection is a form of "group selection" — the good of the group overrides individual fitness.</a:t>
            </a:r>
            <a:endParaRPr lang="en-US" sz="1150" dirty="0"/>
          </a:p>
        </p:txBody>
      </p:sp>
      <p:sp>
        <p:nvSpPr>
          <p:cNvPr id="23" name="Text 21"/>
          <p:cNvSpPr/>
          <p:nvPr/>
        </p:nvSpPr>
        <p:spPr>
          <a:xfrm>
            <a:off x="822960" y="436946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Kin selection is individual-level selection on inclusive fitness — genes that cause altruistic behaviour toward relatives spread because copies of those genes are in the relatives. The gene is the unit of selection, not the group. W.D. Hamilton's insight was precisely that altruism toward relatives is genetically selfish at the allele level, even when it appears phenotypically self-sacrificial.</a:t>
            </a:r>
            <a:endParaRPr lang="en-US" sz="1100" dirty="0"/>
          </a:p>
        </p:txBody>
      </p:sp>
      <p:sp>
        <p:nvSpPr>
          <p:cNvPr id="24" name="Text 2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5" name="Text 2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7A52"/>
          </a:solidFill>
          <a:ln w="12700">
            <a:solidFill>
              <a:srgbClr val="3D7A52"/>
            </a:solidFill>
            <a:prstDash val="solid"/>
          </a:ln>
        </p:spPr>
      </p:sp>
      <p:sp>
        <p:nvSpPr>
          <p:cNvPr id="3" name="Text 1"/>
          <p:cNvSpPr/>
          <p:nvPr/>
        </p:nvSpPr>
        <p:spPr>
          <a:xfrm>
            <a:off x="274320" y="182880"/>
            <a:ext cx="8595360" cy="502920"/>
          </a:xfrm>
          <a:prstGeom prst="rect">
            <a:avLst/>
          </a:prstGeom>
          <a:noFill/>
          <a:ln/>
        </p:spPr>
        <p:txBody>
          <a:bodyPr wrap="square" rtlCol="0" anchor="ctr"/>
          <a:lstStyle/>
          <a:p>
            <a:pPr indent="0" marL="0">
              <a:buNone/>
            </a:pPr>
            <a:r>
              <a:rPr lang="en-US" sz="2600" b="1" dirty="0">
                <a:solidFill>
                  <a:srgbClr val="F4F1EC"/>
                </a:solidFill>
                <a:latin typeface="Georgia" pitchFamily="34" charset="0"/>
                <a:ea typeface="Georgia" pitchFamily="34" charset="-122"/>
                <a:cs typeface="Georgia" pitchFamily="34" charset="-120"/>
              </a:rPr>
              <a:t>Chapter Summary</a:t>
            </a:r>
            <a:endParaRPr lang="en-US" sz="2600" dirty="0"/>
          </a:p>
        </p:txBody>
      </p:sp>
      <p:sp>
        <p:nvSpPr>
          <p:cNvPr id="4" name="Shape 2"/>
          <p:cNvSpPr/>
          <p:nvPr/>
        </p:nvSpPr>
        <p:spPr>
          <a:xfrm>
            <a:off x="274320" y="822960"/>
            <a:ext cx="292608" cy="384048"/>
          </a:xfrm>
          <a:prstGeom prst="rect">
            <a:avLst/>
          </a:prstGeom>
          <a:solidFill>
            <a:srgbClr val="C8791E"/>
          </a:solidFill>
          <a:ln w="12700">
            <a:solidFill>
              <a:srgbClr val="C8791E"/>
            </a:solidFill>
            <a:prstDash val="solid"/>
          </a:ln>
        </p:spPr>
      </p:sp>
      <p:sp>
        <p:nvSpPr>
          <p:cNvPr id="5" name="Text 3"/>
          <p:cNvSpPr/>
          <p:nvPr/>
        </p:nvSpPr>
        <p:spPr>
          <a:xfrm>
            <a:off x="274320" y="822960"/>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822960"/>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H-W equation (p² + 2pq + q² = 1) is a null model for population genetics: allele and genotype frequencies are stable if five idealised conditions hold. Any significant deviation (χ² &gt; 3.84) signals at least one evolutionary force operating.</a:t>
            </a:r>
            <a:endParaRPr lang="en-US" sz="1250" dirty="0"/>
          </a:p>
        </p:txBody>
      </p:sp>
      <p:sp>
        <p:nvSpPr>
          <p:cNvPr id="7" name="Shape 5"/>
          <p:cNvSpPr/>
          <p:nvPr/>
        </p:nvSpPr>
        <p:spPr>
          <a:xfrm>
            <a:off x="274320" y="1444752"/>
            <a:ext cx="292608" cy="384048"/>
          </a:xfrm>
          <a:prstGeom prst="rect">
            <a:avLst/>
          </a:prstGeom>
          <a:solidFill>
            <a:srgbClr val="C8791E"/>
          </a:solidFill>
          <a:ln w="12700">
            <a:solidFill>
              <a:srgbClr val="C8791E"/>
            </a:solidFill>
            <a:prstDash val="solid"/>
          </a:ln>
        </p:spPr>
      </p:sp>
      <p:sp>
        <p:nvSpPr>
          <p:cNvPr id="8" name="Text 6"/>
          <p:cNvSpPr/>
          <p:nvPr/>
        </p:nvSpPr>
        <p:spPr>
          <a:xfrm>
            <a:off x="274320" y="1444752"/>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658368" y="1444752"/>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allele frequency change per generation under selection against recessive aa is Δq = −sq²(1−q)/W̄. Change slows dramatically at low q because most a alleles are hidden in Aa heterozygotes where selection cannot act.</a:t>
            </a:r>
            <a:endParaRPr lang="en-US" sz="1250" dirty="0"/>
          </a:p>
        </p:txBody>
      </p:sp>
      <p:sp>
        <p:nvSpPr>
          <p:cNvPr id="10" name="Shape 8"/>
          <p:cNvSpPr/>
          <p:nvPr/>
        </p:nvSpPr>
        <p:spPr>
          <a:xfrm>
            <a:off x="274320" y="2066544"/>
            <a:ext cx="292608" cy="384048"/>
          </a:xfrm>
          <a:prstGeom prst="rect">
            <a:avLst/>
          </a:prstGeom>
          <a:solidFill>
            <a:srgbClr val="C8791E"/>
          </a:solidFill>
          <a:ln w="12700">
            <a:solidFill>
              <a:srgbClr val="C8791E"/>
            </a:solidFill>
            <a:prstDash val="solid"/>
          </a:ln>
        </p:spPr>
      </p:sp>
      <p:sp>
        <p:nvSpPr>
          <p:cNvPr id="11" name="Text 9"/>
          <p:cNvSpPr/>
          <p:nvPr/>
        </p:nvSpPr>
        <p:spPr>
          <a:xfrm>
            <a:off x="274320" y="2066544"/>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658368" y="2066544"/>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Genetic load (L = 1 − W̄/W_max) measures the fitness cost of imperfect adaptation — a permanent feature of all real populations due to ongoing mutation, balancing selection, and allele substitution.</a:t>
            </a:r>
            <a:endParaRPr lang="en-US" sz="1250" dirty="0"/>
          </a:p>
        </p:txBody>
      </p:sp>
      <p:sp>
        <p:nvSpPr>
          <p:cNvPr id="13" name="Shape 11"/>
          <p:cNvSpPr/>
          <p:nvPr/>
        </p:nvSpPr>
        <p:spPr>
          <a:xfrm>
            <a:off x="274320" y="2688336"/>
            <a:ext cx="292608" cy="384048"/>
          </a:xfrm>
          <a:prstGeom prst="rect">
            <a:avLst/>
          </a:prstGeom>
          <a:solidFill>
            <a:srgbClr val="C8791E"/>
          </a:solidFill>
          <a:ln w="12700">
            <a:solidFill>
              <a:srgbClr val="C8791E"/>
            </a:solidFill>
            <a:prstDash val="solid"/>
          </a:ln>
        </p:spPr>
      </p:sp>
      <p:sp>
        <p:nvSpPr>
          <p:cNvPr id="14" name="Text 12"/>
          <p:cNvSpPr/>
          <p:nvPr/>
        </p:nvSpPr>
        <p:spPr>
          <a:xfrm>
            <a:off x="274320" y="2688336"/>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658368" y="2688336"/>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Hamilton's rule (rB &gt; C) explains the evolution of altruistic behaviour through kin selection. The haplodiploidy of Hymenoptera (r = 0.75 between sisters) is proposed to explain the extraordinary frequency of eusociality in ants, bees, and wasps.</a:t>
            </a:r>
            <a:endParaRPr lang="en-US" sz="1250" dirty="0"/>
          </a:p>
        </p:txBody>
      </p:sp>
      <p:sp>
        <p:nvSpPr>
          <p:cNvPr id="16" name="Shape 14"/>
          <p:cNvSpPr/>
          <p:nvPr/>
        </p:nvSpPr>
        <p:spPr>
          <a:xfrm>
            <a:off x="274320" y="3310128"/>
            <a:ext cx="292608" cy="384048"/>
          </a:xfrm>
          <a:prstGeom prst="rect">
            <a:avLst/>
          </a:prstGeom>
          <a:solidFill>
            <a:srgbClr val="C8791E"/>
          </a:solidFill>
          <a:ln w="12700">
            <a:solidFill>
              <a:srgbClr val="C8791E"/>
            </a:solidFill>
            <a:prstDash val="solid"/>
          </a:ln>
        </p:spPr>
      </p:sp>
      <p:sp>
        <p:nvSpPr>
          <p:cNvPr id="17" name="Text 15"/>
          <p:cNvSpPr/>
          <p:nvPr/>
        </p:nvSpPr>
        <p:spPr>
          <a:xfrm>
            <a:off x="274320" y="3310128"/>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658368" y="3310128"/>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Effective population size (Nₑ) is the key parameter in conservation genetics. When Nₑs &lt;&lt; 1, drift dominates selection. The Simlipal tiger population (Nₑ ≈ 12–15) is well below the Nₑ = 50 short-term minimum, making genetic drift and inbreeding depression significant conservation concerns.</a:t>
            </a:r>
            <a:endParaRPr lang="en-US" sz="1250" dirty="0"/>
          </a:p>
        </p:txBody>
      </p:sp>
      <p:sp>
        <p:nvSpPr>
          <p:cNvPr id="19" name="Shape 17"/>
          <p:cNvSpPr/>
          <p:nvPr/>
        </p:nvSpPr>
        <p:spPr>
          <a:xfrm>
            <a:off x="274320" y="4114800"/>
            <a:ext cx="8595360" cy="804672"/>
          </a:xfrm>
          <a:prstGeom prst="rect">
            <a:avLst/>
          </a:prstGeom>
          <a:solidFill>
            <a:srgbClr val="243228"/>
          </a:solidFill>
          <a:ln w="6350">
            <a:solidFill>
              <a:srgbClr val="2D5A3D"/>
            </a:solidFill>
            <a:prstDash val="solid"/>
          </a:ln>
        </p:spPr>
      </p:sp>
      <p:sp>
        <p:nvSpPr>
          <p:cNvPr id="20" name="Text 18"/>
          <p:cNvSpPr/>
          <p:nvPr/>
        </p:nvSpPr>
        <p:spPr>
          <a:xfrm>
            <a:off x="411480" y="4114800"/>
            <a:ext cx="8412480" cy="804672"/>
          </a:xfrm>
          <a:prstGeom prst="rect">
            <a:avLst/>
          </a:prstGeom>
          <a:noFill/>
          <a:ln/>
        </p:spPr>
        <p:txBody>
          <a:bodyPr wrap="square" rtlCol="0" anchor="ctr"/>
          <a:lstStyle/>
          <a:p>
            <a:pPr indent="0" marL="0">
              <a:buNone/>
            </a:pPr>
            <a:r>
              <a:rPr lang="en-US" sz="1100" b="1" dirty="0">
                <a:solidFill>
                  <a:srgbClr val="8FA898"/>
                </a:solidFill>
                <a:latin typeface="Calibri" pitchFamily="34" charset="0"/>
                <a:ea typeface="Calibri" pitchFamily="34" charset="-122"/>
                <a:cs typeface="Calibri" pitchFamily="34" charset="-120"/>
              </a:rPr>
              <a:t>← Builds on: </a:t>
            </a:r>
            <a:pPr indent="0" marL="0">
              <a:buNone/>
            </a:pPr>
            <a:r>
              <a:rPr lang="en-US" sz="1100" dirty="0">
                <a:solidFill>
                  <a:srgbClr val="F4F1EC"/>
                </a:solidFill>
                <a:latin typeface="Calibri" pitchFamily="34" charset="0"/>
                <a:ea typeface="Calibri" pitchFamily="34" charset="-122"/>
                <a:cs typeface="Calibri" pitchFamily="34" charset="-120"/>
              </a:rPr>
              <a:t>Ch. 6 (Modern Synthesis — mathematical framework operationalised here) · Ch. 5 (fossil evidence of the patterns these equations explain)   </a:t>
            </a:r>
            <a:pPr indent="0" marL="0">
              <a:buNone/>
            </a:pPr>
            <a:r>
              <a:rPr lang="en-US" sz="1100" b="1" dirty="0">
                <a:solidFill>
                  <a:srgbClr val="C8791E"/>
                </a:solidFill>
                <a:latin typeface="Calibri" pitchFamily="34" charset="0"/>
                <a:ea typeface="Calibri" pitchFamily="34" charset="-122"/>
                <a:cs typeface="Calibri" pitchFamily="34" charset="-120"/>
              </a:rPr>
              <a:t>  →  Leads to: </a:t>
            </a:r>
            <a:pPr indent="0" marL="0">
              <a:buNone/>
            </a:pPr>
            <a:r>
              <a:rPr lang="en-US" sz="1100" dirty="0">
                <a:solidFill>
                  <a:srgbClr val="F4F1EC"/>
                </a:solidFill>
                <a:latin typeface="Calibri" pitchFamily="34" charset="0"/>
                <a:ea typeface="Calibri" pitchFamily="34" charset="-122"/>
                <a:cs typeface="Calibri" pitchFamily="34" charset="-120"/>
              </a:rPr>
              <a:t>Ch. 8 (adaptive resemblance and sexual selection — outcomes of selection, including frequency-dependent) · Ch. 9 (speciation — accumulated selection and drift producing reproductive isolation)</a:t>
            </a:r>
            <a:endParaRPr lang="en-US" sz="1100" dirty="0"/>
          </a:p>
        </p:txBody>
      </p:sp>
      <p:sp>
        <p:nvSpPr>
          <p:cNvPr id="21" name="Text 19"/>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2" name="Text 20"/>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7 — Population Genetics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2026-05-29T05:59:26Z</dcterms:created>
  <dcterms:modified xsi:type="dcterms:W3CDTF">2026-05-29T05:59:26Z</dcterms:modified>
</cp:coreProperties>
</file>