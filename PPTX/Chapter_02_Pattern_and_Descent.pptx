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2</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Knowing the Unknown</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Collection, Preservation, and Identification</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1 · Concepts of Taxonomy</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"Taxonomy is empirical science anchored in physical specimens. A name without a specimen is an unanchored claim — revisable by no one, verifiable by no one."</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2.1 The Type Specimen</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2.2 Collection: Matching Method to Purpose</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2.3 Preservation: Chemistry Determines Future Use</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2.4 Curation: The Scientific Infrastructure</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2.5 Identification: The Key as Hypothesis</a:t>
            </a:r>
            <a:endParaRPr lang="en-US" sz="1150" dirty="0"/>
          </a:p>
        </p:txBody>
      </p:sp>
      <p:sp>
        <p:nvSpPr>
          <p:cNvPr id="24" name="Shape 22"/>
          <p:cNvSpPr/>
          <p:nvPr/>
        </p:nvSpPr>
        <p:spPr>
          <a:xfrm>
            <a:off x="4590288"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90288" y="2011680"/>
            <a:ext cx="347472" cy="475488"/>
          </a:xfrm>
          <a:prstGeom prst="rect">
            <a:avLst/>
          </a:prstGeom>
          <a:solidFill>
            <a:srgbClr val="2D5A3D"/>
          </a:solidFill>
          <a:ln w="12700">
            <a:solidFill>
              <a:srgbClr val="2D5A3D"/>
            </a:solidFill>
            <a:prstDash val="solid"/>
          </a:ln>
        </p:spPr>
      </p:sp>
      <p:sp>
        <p:nvSpPr>
          <p:cNvPr id="26" name="Text 24"/>
          <p:cNvSpPr/>
          <p:nvPr/>
        </p:nvSpPr>
        <p:spPr>
          <a:xfrm>
            <a:off x="4590288"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4974336"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2.6 Taxonomic Publications</a:t>
            </a:r>
            <a:endParaRPr lang="en-US" sz="1150" dirty="0"/>
          </a:p>
        </p:txBody>
      </p:sp>
      <p:sp>
        <p:nvSpPr>
          <p:cNvPr id="28" name="Shape 26"/>
          <p:cNvSpPr/>
          <p:nvPr/>
        </p:nvSpPr>
        <p:spPr>
          <a:xfrm>
            <a:off x="274320" y="2596896"/>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274320" y="2596896"/>
            <a:ext cx="347472" cy="475488"/>
          </a:xfrm>
          <a:prstGeom prst="rect">
            <a:avLst/>
          </a:prstGeom>
          <a:solidFill>
            <a:srgbClr val="2D5A3D"/>
          </a:solidFill>
          <a:ln w="12700">
            <a:solidFill>
              <a:srgbClr val="2D5A3D"/>
            </a:solidFill>
            <a:prstDash val="solid"/>
          </a:ln>
        </p:spPr>
      </p:sp>
      <p:sp>
        <p:nvSpPr>
          <p:cNvPr id="30" name="Text 28"/>
          <p:cNvSpPr/>
          <p:nvPr/>
        </p:nvSpPr>
        <p:spPr>
          <a:xfrm>
            <a:off x="274320" y="2596896"/>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58368" y="2596896"/>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2.7 The Full Chain: Field to Literature</a:t>
            </a:r>
            <a:endParaRPr lang="en-US" sz="1150" dirty="0"/>
          </a:p>
        </p:txBody>
      </p:sp>
      <p:sp>
        <p:nvSpPr>
          <p:cNvPr id="32" name="Shape 30"/>
          <p:cNvSpPr/>
          <p:nvPr/>
        </p:nvSpPr>
        <p:spPr>
          <a:xfrm>
            <a:off x="274320" y="3273552"/>
            <a:ext cx="8595360" cy="566928"/>
          </a:xfrm>
          <a:prstGeom prst="rect">
            <a:avLst/>
          </a:prstGeom>
          <a:solidFill>
            <a:srgbClr val="1C2B1E"/>
          </a:solidFill>
          <a:ln w="12700">
            <a:solidFill>
              <a:srgbClr val="1C2B1E"/>
            </a:solidFill>
            <a:prstDash val="solid"/>
          </a:ln>
        </p:spPr>
      </p:sp>
      <p:sp>
        <p:nvSpPr>
          <p:cNvPr id="33" name="Text 31"/>
          <p:cNvSpPr/>
          <p:nvPr/>
        </p:nvSpPr>
        <p:spPr>
          <a:xfrm>
            <a:off x="274320" y="3273552"/>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Threads carried: </a:t>
            </a:r>
            <a:pPr indent="0" marL="0">
              <a:buNone/>
            </a:pPr>
            <a:r>
              <a:rPr lang="en-US" sz="1050" dirty="0">
                <a:solidFill>
                  <a:srgbClr val="F4F1EC"/>
                </a:solidFill>
                <a:latin typeface="Calibri" pitchFamily="34" charset="0"/>
                <a:ea typeface="Calibri" pitchFamily="34" charset="-122"/>
                <a:cs typeface="Calibri" pitchFamily="34" charset="-120"/>
              </a:rPr>
              <a:t>T1 — Type specimen is the physical anchor of the species name · T2 — Molecular data requires ethanol-preserved material</a:t>
            </a:r>
            <a:endParaRPr lang="en-US" sz="1050" dirty="0"/>
          </a:p>
        </p:txBody>
      </p:sp>
      <p:sp>
        <p:nvSpPr>
          <p:cNvPr id="34" name="Text 3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35" name="Text 3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§2.1 The Type Specimen Concept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Holotype: Permanent Name-Bearer</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Every valid species name is permanently anchored to a single physical specimen — the HOLOTYPE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holotype is not the "best" specimen — it is the legally designated name-bearer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Deposited in an institutional repository (museum, university, ZSI) — accessible indefinitely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Future workers must compare their specimens against the holotype to confirm identification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Without a holotype, a name floats free — it cannot be definitively applied to any specimen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holotype is the physical instantiation of the abstract species concept</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New species found</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Author designates HOLOTYPE</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Deposited in repository (ZSI etc.)</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Name + Holotype published</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Accessible for re- examination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Holotype: </a:t>
            </a:r>
            <a:pPr indent="0" marL="0">
              <a:buNone/>
            </a:pPr>
            <a:r>
              <a:rPr lang="en-US" sz="1100" dirty="0">
                <a:solidFill>
                  <a:srgbClr val="F4F1EC"/>
                </a:solidFill>
                <a:latin typeface="Calibri" pitchFamily="34" charset="0"/>
                <a:ea typeface="Calibri" pitchFamily="34" charset="-122"/>
                <a:cs typeface="Calibri" pitchFamily="34" charset="-120"/>
              </a:rPr>
              <a:t>The single primary specimen designated by the original author as the name-bearer. One holotype only per species. Must be deposited in an accessible institutional repository. Permanent and irrevocable.</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§2.1 The Type Series: Five Designations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Holotype, Paratype, Lectotype, Neotype, Syntype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HOLOTYPE: single designated primary type — the name-bearer (modern standard)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PARATYPE: any other specimen from original collection series — documents variation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SYNTYPE: specimen from original series when no holotype was designated (old practice)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LECTOTYPE: holotype selected from syntype series by a subsequent worker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NEOTYPE: replacement holotype when original holotype is lost or destroyed — formally designated in a published paper with justification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Modern ICZN practice: always designate a holotype at time of description</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DESIGNATED AT DESCRIPTION</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Holotype — one specimen, name-bearer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Paratypes — rest of original series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Modern standard since ICZN 4th 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Provides immediate nomenclatural stability</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DESIGNATED LATER</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Lectotype — chosen from syntypes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Neotype — replaces lost holotype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Requires formal published paper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ICZN Commission oversight for neotypes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Neotype: </a:t>
            </a:r>
            <a:pPr indent="0" marL="0">
              <a:buNone/>
            </a:pPr>
            <a:r>
              <a:rPr lang="en-US" sz="1100" dirty="0">
                <a:solidFill>
                  <a:srgbClr val="F4F1EC"/>
                </a:solidFill>
                <a:latin typeface="Calibri" pitchFamily="34" charset="0"/>
                <a:ea typeface="Calibri" pitchFamily="34" charset="-122"/>
                <a:cs typeface="Calibri" pitchFamily="34" charset="-120"/>
              </a:rPr>
              <a:t>A replacement holotype designated when the original is lost or destroyed. Must come from the same or adjacent original locality and be formally justified in a published paper.</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§2.1 Why Institutional Repositories Matter</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Museums as the Physical Infrastructure of Taxonomy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Type specimens must be deposited in permanently accessible institutions — not private collections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Major Indian repositories: Zoological Survey of India (Kolkata — main; Pune — Western RC)</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Natural History Museum, London holds type material for thousands of species described during British India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Without accessible types: names become nomina dubia — cannot be reliably applied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Museum collections also document past distributions — valuable for conservation baselines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"virtual type" (digital image) is useful but NOT a type specimen under ICZN</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Zoological Survey of India</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Founded: 1916, Calcutta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Headquarters: Kolkata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Regional Centres: Pune, Mumbai,</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Dehradun, Chennai, Jodhpur, Shillong,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Port Blair (among others)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Functions: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National type repository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Faunal surveys across India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Identified reference collections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Publishes Fauna of India series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Relevance: types for most species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described from Odisha are held here</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Institutional Repository: </a:t>
            </a:r>
            <a:pPr indent="0" marL="0">
              <a:buNone/>
            </a:pPr>
            <a:r>
              <a:rPr lang="en-US" sz="1100" dirty="0">
                <a:solidFill>
                  <a:srgbClr val="F4F1EC"/>
                </a:solidFill>
                <a:latin typeface="Calibri" pitchFamily="34" charset="0"/>
                <a:ea typeface="Calibri" pitchFamily="34" charset="-122"/>
                <a:cs typeface="Calibri" pitchFamily="34" charset="-120"/>
              </a:rPr>
              <a:t>A recognised museum, university, or government institution that permanently maintains and provides access to type specimens and reference collections under formal collection management protocols.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§2.2 Matching Collection Method to Organism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No Single Method Samples All Taxa Equally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SWEEP NET: flying and vegetation-dwelling insects — passes through foliage or grass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BERLESE-TULLGREN FUNNEL: soil and litter arthropods — heat + light gradient drives organisms down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PITFALL TRAP: ground-active invertebrates — container flush with soil surface, preservative inside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LIGHT TRAP / UV SHEET: nocturnal flying insects — moths, beetles, flies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AQUATIC NET / KICK SAMPLING: freshwater invertebrates and fish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Each method introduces its own bias — a complete faunal survey requires multiple methods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Method × Target Matrix</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AERIAL/VEGETATION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Sweep net → flying insects, spiders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UV light trap → nocturnal moths, beetles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SOIL/LITTER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Berlese-Tullgren → mites, springtails, beetles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Pitfall traps → carabids, ants, spiders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Winkler extractor → litter arthropods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AQUATIC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Kick net → benthic macroinvertebrates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Surber sampler → quantitative stream sampling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Seine net → fish</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ACTIVE SEARCHING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Hand collection → herpetofauna, large insects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Berlese-Tullgren Funnel: </a:t>
            </a:r>
            <a:pPr indent="0" marL="0">
              <a:buNone/>
            </a:pPr>
            <a:r>
              <a:rPr lang="en-US" sz="1100" dirty="0">
                <a:solidFill>
                  <a:srgbClr val="F4F1EC"/>
                </a:solidFill>
                <a:latin typeface="Calibri" pitchFamily="34" charset="0"/>
                <a:ea typeface="Calibri" pitchFamily="34" charset="-122"/>
                <a:cs typeface="Calibri" pitchFamily="34" charset="-120"/>
              </a:rPr>
              <a:t>A heat-gradient extraction device that drives soil and litter arthropods downward through mesh into a collecting jar of preservative. Exploits negative phototaxis and positive hydrokinesis of most soil invertebrates.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§2.2 The Label: Part of the Specimen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Without the Label, the Specimen Has No Scientific Value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Collection data must be recorded at the moment of collection — it cannot be reconstructed later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MINIMUM required data: GPS coordinates (or precise locality), date, collector name, habitat, collection method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Label goes INSIDE the vial (for wet collections) AND outside — internal label survives if outer label detaches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specimen without collection data is scientifically worthless for distribution, ecology, or temporal studies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Museum curators regularly receive donated collections with no labels — they are accepted but flagged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specimen is the evidence; the label is the context that makes the evidence meaningful"</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Minimum Label Data</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LOCALITY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Country: India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State: Odisha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District: Mayurbhanj</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Site: Simlipal BR, sal forest block 4</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GPS: 21.8432°N, 86.5012°E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Altitude: 412m</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DATE: 14.iii.2024</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COLLECTOR: A.K. Panda</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METHOD: Berlese extraction, 500g litter</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HABITAT: Moist deciduous sal forest floor</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Collection Data: </a:t>
            </a:r>
            <a:pPr indent="0" marL="0">
              <a:buNone/>
            </a:pPr>
            <a:r>
              <a:rPr lang="en-US" sz="1100" dirty="0">
                <a:solidFill>
                  <a:srgbClr val="F4F1EC"/>
                </a:solidFill>
                <a:latin typeface="Calibri" pitchFamily="34" charset="0"/>
                <a:ea typeface="Calibri" pitchFamily="34" charset="-122"/>
                <a:cs typeface="Calibri" pitchFamily="34" charset="-120"/>
              </a:rPr>
              <a:t>The locality, date, collector, habitat, and method information attached to a specimen. The collection data transforms a physical object into a scientific record. Without it, the specimen cannot be used for distributional, ecological, or temporal research.</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§2.3 Preservation Chemistry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Formalin vs Ethanol: A Decision That Cannot Be Undone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FORMALIN (10% formaldehyde): crosslinks proteins to DNA → destroys genome → NO molecular work ever possible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95% ETHANOL: denatures proteins rapidly without crosslinking → DNA preserved → ALL downstream work possible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Ethanol must be replaced after 24–48 hours (diluted by body fluids → insufficient preservation)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DUAL STRATEGY: remove legs for DNA into labelled microtube (95% EtOH), preserve body in 70% EtOH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Once a specimen is formalin-fixed, it is permanently excluded from molecular analysis — the decision is irreversible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Rule: if in doubt, use ethanol. Formalin is for histology and tissue sections only.</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FORMALIN (10%)</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Excellent morphology preservation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Destroys DNA by crosslinking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Cheap — stable for decades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Use ONLY for histology/morphology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NEVER for molecular work</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95% ETHANOL</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Good morphology + DNA preserved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Replace after 24-48 hours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More expensive but versatile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Standard for modern collections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Enables barcoding and genomics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DNA Crosslinking: </a:t>
            </a:r>
            <a:pPr indent="0" marL="0">
              <a:buNone/>
            </a:pPr>
            <a:r>
              <a:rPr lang="en-US" sz="1100" dirty="0">
                <a:solidFill>
                  <a:srgbClr val="F4F1EC"/>
                </a:solidFill>
                <a:latin typeface="Calibri" pitchFamily="34" charset="0"/>
                <a:ea typeface="Calibri" pitchFamily="34" charset="-122"/>
                <a:cs typeface="Calibri" pitchFamily="34" charset="-120"/>
              </a:rPr>
              <a:t>The chemical reaction by which formalin (formaldehyde) forms covalent bonds between proteins and DNA strands, fragmenting the genome. Makes DNA extraction and PCR impossible. Irreversible.</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§2.3 Preservation Methods by Taxon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Matching Preservation Technique to Organism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SOFT-BODIED INVERTEBRATES (worms, molluscs): 70% ethanol after relaxation — formalin only if no molecular use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INSECTS (dry mounts): kill with ethyl acetate, pin through thorax, spread wings, dry in setting board — no liquid needed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VERTEBRATES (fish, amphibians): inject with 10% formalin to fix body shape, then transfer to 70% EtOH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VERTEBRATE TISSUE FOR MOLECULAR WORK: 95% EtOH or DMSO-salt solution immediately at collection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PLANT VOUCHERS: press between blotting paper, dry in plant press, mount on herbarium sheet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AMBER: no field action needed — fossil already preserved by ancient resin</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Collect live</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Kill (EtOAc / freezing)</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Preserve (EtOH / pin / press)</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Label (data inside and outside)</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Repository (museum / university)</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Dry Mounting: </a:t>
            </a:r>
            <a:pPr indent="0" marL="0">
              <a:buNone/>
            </a:pPr>
            <a:r>
              <a:rPr lang="en-US" sz="1100" dirty="0">
                <a:solidFill>
                  <a:srgbClr val="F4F1EC"/>
                </a:solidFill>
                <a:latin typeface="Calibri" pitchFamily="34" charset="0"/>
                <a:ea typeface="Calibri" pitchFamily="34" charset="-122"/>
                <a:cs typeface="Calibri" pitchFamily="34" charset="-120"/>
              </a:rPr>
              <a:t>Preservation of insects by pinning through the thorax and drying in a setting board at room temperature. Preserves three-dimensional morphology permanently. Does not preserve DNA reliably.</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§2.4 What Curation Means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Four Functions of a Natural History Collection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VOUCHER ARCHIVE: physical evidence behind published identifications — reproducible science requires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REFERENCE COLLECTION: identified material used to compare new specimens for identification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TYPE REPOSITORY: holds holotypes, paratypes — legal obligations under ICZN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TEMPORAL ARCHIVE: documents species presence at specific historical times and places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voucher specimen transforms a field observation into a verifiable scientific record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Without curation, taxonomy is anecdote — with it, it is reproducible science</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Specimen collected + labelled</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Accessioned (catalogue number)</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Identified (key + literature)</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Databased (GBIF / institution)</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Accessible forever</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Curation: </a:t>
            </a:r>
            <a:pPr indent="0" marL="0">
              <a:buNone/>
            </a:pPr>
            <a:r>
              <a:rPr lang="en-US" sz="1100" dirty="0">
                <a:solidFill>
                  <a:srgbClr val="F4F1EC"/>
                </a:solidFill>
                <a:latin typeface="Calibri" pitchFamily="34" charset="0"/>
                <a:ea typeface="Calibri" pitchFamily="34" charset="-122"/>
                <a:cs typeface="Calibri" pitchFamily="34" charset="-120"/>
              </a:rPr>
              <a:t>The systematic management of a natural history collection — accessioning, identification, databasing, and physical conservation — ensuring long-term accessibility and scientific integrity of specimens.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§2.4 Specimen Deterioration and Conservation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Enemies of Museum Collections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PEST INSECTS: dermestid beetles and museum beetles (Anthrenus, Dermestes) consume dry specimens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PREVENTION: regular monitoring, isopropyl alcohol treatment, freezing new acquisitions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HUMIDITY AND MOULD: ethanol evaporation in wet collections — refill schedules essential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LIGHT FADING: UV light destroys colour patterns — storage in dark cabinets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LABEL DETERIORATION: acidic paper breaks down over decades — archival paper required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Well-curated specimens from 1850 remain usable for molecular work today — curation quality determines longevity</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Collection Conservation Standards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DRY COLLECTIONS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Sealed cabinets (pest exclusion)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Freezing protocol for new accessions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Archival-quality pins and labels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Naphthalene or silica gel sachets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WET COLLECTIONS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Regular ethanol level inspection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Replace ethanol every 5-10 years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Sealed glass vials (not plastic)</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DATABASING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Georeferenced locality data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Digital images of type specimens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Linked to online portals (GBIF, BiodiversityIndia)</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Dermestid Infestation: </a:t>
            </a:r>
            <a:pPr indent="0" marL="0">
              <a:buNone/>
            </a:pPr>
            <a:r>
              <a:rPr lang="en-US" sz="1100" dirty="0">
                <a:solidFill>
                  <a:srgbClr val="F4F1EC"/>
                </a:solidFill>
                <a:latin typeface="Calibri" pitchFamily="34" charset="0"/>
                <a:ea typeface="Calibri" pitchFamily="34" charset="-122"/>
                <a:cs typeface="Calibri" pitchFamily="34" charset="-120"/>
              </a:rPr>
              <a:t>Damage to dry museum specimens by dermestid beetles (Dermestes, Anthrenus). A major cause of specimen loss. Prevented by sealed cabinets, regular monitoring, and freezing all incoming material.</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§2.5 The Key as Identification Hypothesis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Three Steps: Key → Literature → Type Comparison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1: Work through the key → reach a terminal name → this is a HYPOTHESIS only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2: Retrieve the original published description of that species → compare each character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STEP 3: If possible, compare with images of the type specimen (ZSI, BNHS, NHM databases)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name reached via a key that has not been checked against the original description is unverified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Keys can be: incomplete (not all regional species included), outdated (new species described since), applied outside scope (Western Ghats key in Odisha)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confirmed identification has traceability: key path → literature → type comparison</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Dichotomous Key (couplets)</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Terminal Name (hypothesis)</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Original Description (verify)</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Type Comparison (if possible)</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CONFIRMED Identification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Verified Identification: </a:t>
            </a:r>
            <a:pPr indent="0" marL="0">
              <a:buNone/>
            </a:pPr>
            <a:r>
              <a:rPr lang="en-US" sz="1100" dirty="0">
                <a:solidFill>
                  <a:srgbClr val="F4F1EC"/>
                </a:solidFill>
                <a:latin typeface="Calibri" pitchFamily="34" charset="0"/>
                <a:ea typeface="Calibri" pitchFamily="34" charset="-122"/>
                <a:cs typeface="Calibri" pitchFamily="34" charset="-120"/>
              </a:rPr>
              <a:t>An identification confirmed against the original published species description and, ideally, images of the type specimen. A key result alone is a provisional hypothesis, not a confirmed identification.</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§2.5 Why Keys Fail</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Four Reasons a Key May Not Lead to the Correct Answer</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INCOMPLETE SCOPE: key was written for a different geographic region or a subset of the fauna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OUT OF DATE: new species described since publication — unknown to the key, may be mistaken for known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DAMAGED SPECIMENS: key characters require complete, undamaged material — missing antennae, worn scales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INTRASPECIFIC VARIATION: key uses characters that vary within species — sex, age, seasonal form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key is a TOOL, not an oracle — it is only as good as its scope, date, and the specimen quality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If the key leads somewhere implausible: backtrack, check each couplet, consider all four failure modes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KEY WORKS WHEN</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Specimen from the key's geographic scope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Species was described before key was written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Specimen is complete and undamaged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Using fresh adult material (not larva / worn)</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KEY FAILS WHEN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Species outside key's intended scope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New species undescribed at time of writing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Diagnostic characters missing or worn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Extreme intraspecific variation present</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Nomen Dubium: </a:t>
            </a:r>
            <a:pPr indent="0" marL="0">
              <a:buNone/>
            </a:pPr>
            <a:r>
              <a:rPr lang="en-US" sz="1100" dirty="0">
                <a:solidFill>
                  <a:srgbClr val="F4F1EC"/>
                </a:solidFill>
                <a:latin typeface="Calibri" pitchFamily="34" charset="0"/>
                <a:ea typeface="Calibri" pitchFamily="34" charset="-122"/>
                <a:cs typeface="Calibri" pitchFamily="34" charset="-120"/>
              </a:rPr>
              <a:t>A name of doubtful application — typically because the type is lost or the original description is too ambiguous to reliably apply the name to any specimen. A key cannot resolve a nomen dubium.</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§2.5 DNA Barcoding as Identification Tool</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When Keys Fail: COI Barcoding as Independent Confirmation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COI barcoding provides a second, independent identification method when morphological keys are inadequate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Particularly valuable for: damaged specimens, immature stages, cryptic species, fragmentary material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Requires: 95% EtOH preservation from the field — formalin-fixed material cannot be barcoded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BOLD library: if the species is represented in the reference library, match is reliable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If no library match: the specimen may be a new species, or the library may be incomplete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Barcoding confirms or refutes a morphological key identification — neither alone is sufficient for a new species description</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Morphological Key (hypothesis A)</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COI Barcoding (hypothesis B)</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Both agree? Confirm ID</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Disagree? Investigate</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New species? Full description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Barcoding Confirmation: </a:t>
            </a:r>
            <a:pPr indent="0" marL="0">
              <a:buNone/>
            </a:pPr>
            <a:r>
              <a:rPr lang="en-US" sz="1100" dirty="0">
                <a:solidFill>
                  <a:srgbClr val="F4F1EC"/>
                </a:solidFill>
                <a:latin typeface="Calibri" pitchFamily="34" charset="0"/>
                <a:ea typeface="Calibri" pitchFamily="34" charset="-122"/>
                <a:cs typeface="Calibri" pitchFamily="34" charset="-120"/>
              </a:rPr>
              <a:t>Using COI sequence matching against the BOLD database as a second independent identification method. Most reliable when both morphological examination and molecular matching agree.</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§2.6 Four Types of Taxonomic Publication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Species Description → Revision → Monograph → Checklist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SPECIES DESCRIPTION: new name + diagnosis + type + description — minimum valid contribution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TAXONOMIC REVISION: all known species in a group — key, synonymy, updated descriptions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MONOGRAPH: revision + biogeography + ecology + evolutionary context — most comprehensive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CHECKLIST / FAUNAL SURVEY: species inventory for a geographic area, with brief notes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four types form a cumulative hierarchy: checklists identify gaps → descriptions fill them → revisions synthesise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Together they build the public, verifiable, correctable literature of systematics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2D5A3D"/>
            </a:solidFill>
            <a:prstDash val="solid"/>
          </a:ln>
        </p:spPr>
      </p:sp>
      <p:sp>
        <p:nvSpPr>
          <p:cNvPr id="8" name="Shape 6"/>
          <p:cNvSpPr/>
          <p:nvPr/>
        </p:nvSpPr>
        <p:spPr>
          <a:xfrm>
            <a:off x="5212080" y="1097280"/>
            <a:ext cx="3566160" cy="656082"/>
          </a:xfrm>
          <a:prstGeom prst="rect">
            <a:avLst/>
          </a:prstGeom>
          <a:solidFill>
            <a:srgbClr val="C8791E"/>
          </a:solidFill>
          <a:ln w="12700">
            <a:solidFill>
              <a:srgbClr val="000000"/>
            </a:solidFill>
            <a:prstDash val="solid"/>
          </a:ln>
        </p:spPr>
      </p:sp>
      <p:sp>
        <p:nvSpPr>
          <p:cNvPr id="9" name="Text 7"/>
          <p:cNvSpPr/>
          <p:nvPr/>
        </p:nvSpPr>
        <p:spPr>
          <a:xfrm>
            <a:off x="5212080" y="1097280"/>
            <a:ext cx="3566160" cy="65608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Monograph</a:t>
            </a:r>
            <a:endParaRPr lang="en-US" sz="1000" dirty="0"/>
          </a:p>
        </p:txBody>
      </p:sp>
      <p:sp>
        <p:nvSpPr>
          <p:cNvPr id="10" name="Shape 8"/>
          <p:cNvSpPr/>
          <p:nvPr/>
        </p:nvSpPr>
        <p:spPr>
          <a:xfrm>
            <a:off x="5276088" y="1897380"/>
            <a:ext cx="3438144" cy="656082"/>
          </a:xfrm>
          <a:prstGeom prst="rect">
            <a:avLst/>
          </a:prstGeom>
          <a:solidFill>
            <a:srgbClr val="2D5A3D"/>
          </a:solidFill>
          <a:ln w="12700">
            <a:solidFill>
              <a:srgbClr val="000000"/>
            </a:solidFill>
            <a:prstDash val="solid"/>
          </a:ln>
        </p:spPr>
      </p:sp>
      <p:sp>
        <p:nvSpPr>
          <p:cNvPr id="11" name="Text 9"/>
          <p:cNvSpPr/>
          <p:nvPr/>
        </p:nvSpPr>
        <p:spPr>
          <a:xfrm>
            <a:off x="5276088" y="1897380"/>
            <a:ext cx="3438144" cy="65608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Taxonomic Revision</a:t>
            </a:r>
            <a:endParaRPr lang="en-US" sz="1000" dirty="0"/>
          </a:p>
        </p:txBody>
      </p:sp>
      <p:sp>
        <p:nvSpPr>
          <p:cNvPr id="12" name="Shape 10"/>
          <p:cNvSpPr/>
          <p:nvPr/>
        </p:nvSpPr>
        <p:spPr>
          <a:xfrm>
            <a:off x="5340096" y="2697480"/>
            <a:ext cx="3310128" cy="656082"/>
          </a:xfrm>
          <a:prstGeom prst="rect">
            <a:avLst/>
          </a:prstGeom>
          <a:solidFill>
            <a:srgbClr val="3D7A52"/>
          </a:solidFill>
          <a:ln w="12700">
            <a:solidFill>
              <a:srgbClr val="000000"/>
            </a:solidFill>
            <a:prstDash val="solid"/>
          </a:ln>
        </p:spPr>
      </p:sp>
      <p:sp>
        <p:nvSpPr>
          <p:cNvPr id="13" name="Text 11"/>
          <p:cNvSpPr/>
          <p:nvPr/>
        </p:nvSpPr>
        <p:spPr>
          <a:xfrm>
            <a:off x="5340096" y="2697480"/>
            <a:ext cx="3310128" cy="65608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Species Description Paper</a:t>
            </a:r>
            <a:endParaRPr lang="en-US" sz="1000" dirty="0"/>
          </a:p>
        </p:txBody>
      </p:sp>
      <p:sp>
        <p:nvSpPr>
          <p:cNvPr id="14" name="Shape 12"/>
          <p:cNvSpPr/>
          <p:nvPr/>
        </p:nvSpPr>
        <p:spPr>
          <a:xfrm>
            <a:off x="5404104" y="3497580"/>
            <a:ext cx="3182112" cy="656082"/>
          </a:xfrm>
          <a:prstGeom prst="rect">
            <a:avLst/>
          </a:prstGeom>
          <a:solidFill>
            <a:srgbClr val="4A8C60"/>
          </a:solidFill>
          <a:ln w="12700">
            <a:solidFill>
              <a:srgbClr val="000000"/>
            </a:solidFill>
            <a:prstDash val="solid"/>
          </a:ln>
        </p:spPr>
      </p:sp>
      <p:sp>
        <p:nvSpPr>
          <p:cNvPr id="15" name="Text 13"/>
          <p:cNvSpPr/>
          <p:nvPr/>
        </p:nvSpPr>
        <p:spPr>
          <a:xfrm>
            <a:off x="5404104" y="3497580"/>
            <a:ext cx="3182112" cy="65608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Checklist / Faunal Survey</a:t>
            </a:r>
            <a:endParaRPr lang="en-US" sz="1000" dirty="0"/>
          </a:p>
        </p:txBody>
      </p:sp>
      <p:sp>
        <p:nvSpPr>
          <p:cNvPr id="16" name="Shape 14"/>
          <p:cNvSpPr/>
          <p:nvPr/>
        </p:nvSpPr>
        <p:spPr>
          <a:xfrm>
            <a:off x="274320" y="4297680"/>
            <a:ext cx="8595360" cy="621792"/>
          </a:xfrm>
          <a:prstGeom prst="rect">
            <a:avLst/>
          </a:prstGeom>
          <a:solidFill>
            <a:srgbClr val="1C2B1E"/>
          </a:solidFill>
          <a:ln w="12700">
            <a:solidFill>
              <a:srgbClr val="1C2B1E"/>
            </a:solidFill>
            <a:prstDash val="solid"/>
          </a:ln>
        </p:spPr>
      </p:sp>
      <p:sp>
        <p:nvSpPr>
          <p:cNvPr id="17" name="Text 15"/>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Taxonomic Revision: </a:t>
            </a:r>
            <a:pPr indent="0" marL="0">
              <a:buNone/>
            </a:pPr>
            <a:r>
              <a:rPr lang="en-US" sz="1100" dirty="0">
                <a:solidFill>
                  <a:srgbClr val="F4F1EC"/>
                </a:solidFill>
                <a:latin typeface="Calibri" pitchFamily="34" charset="0"/>
                <a:ea typeface="Calibri" pitchFamily="34" charset="-122"/>
                <a:cs typeface="Calibri" pitchFamily="34" charset="-120"/>
              </a:rPr>
              <a:t>A publication that re-examines all known species in a group, establishing correct names, synonymies, and relationships, with a dichotomous key and updated descriptions. The most comprehensive regular contribution.</a:t>
            </a:r>
            <a:endParaRPr lang="en-US" sz="1100" dirty="0"/>
          </a:p>
        </p:txBody>
      </p:sp>
      <p:sp>
        <p:nvSpPr>
          <p:cNvPr id="18" name="Text 16"/>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19" name="Text 17"/>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§2.6 Structure of a New Species Description Paper</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Required Sections and Their Functions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TITLE: formal binomial + author + locality + key distinguishing character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ABSTRACT: new taxon, location, diagnostic characters, type repository (150–250 words)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TAXONOMY SECTION: Order → Family → Genus → Species name + "sp. nov." or "n. sp."</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TYPE MATERIAL: holotype data (repository accession number, GPS, date, collector)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DIAGNOSIS: brief formal statement of characters distinguishing from all known congeners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DESCRIPTION: comprehensive morphological account of holotype, then paratype variation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ETYMOLOGY: formal explanation of species name derivation</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Title + Abstract</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Introduction (context)</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Taxonomy (sp. nov. formal)</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Type data + Diagnosis</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Description + Etymology</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Diagnosis: </a:t>
            </a:r>
            <a:pPr indent="0" marL="0">
              <a:buNone/>
            </a:pPr>
            <a:r>
              <a:rPr lang="en-US" sz="1100" dirty="0">
                <a:solidFill>
                  <a:srgbClr val="F4F1EC"/>
                </a:solidFill>
                <a:latin typeface="Calibri" pitchFamily="34" charset="0"/>
                <a:ea typeface="Calibri" pitchFamily="34" charset="-122"/>
                <a:cs typeface="Calibri" pitchFamily="34" charset="-120"/>
              </a:rPr>
              <a:t>A brief formal statement listing ONLY the characters that distinguish the new species from all known related species. Readable as a key couplet. Separate from the Description (which is comprehensive).</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§2.6 The Diagnosis vs the Description: A Critical Distinction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Diagnosis = Distinguishing; Description = Complete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DIAGNOSIS: "This species differs from all congeners in having three setae on the mesotarsus" — brief, differential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DESCRIPTION: comprehensive account of every measurable character in standard anatomical order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Diagnosis should be readable as one side of a dichotomous key couplet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Description must be complete enough for any future worker to verify the identification from the holotype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paper that has only one of these two sections does not meet ICZN requirements for valid publication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Failure to provide both = nomen dubium risk if the description alone is ambiguous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DIAGNOSIS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Characters distinguishing from relatives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Brief — one paragraph</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Differential: what is UNIQUE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Should work as key couplet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REQUIRED for valid publication</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DESCRIPTION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ALL characters of the holotype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Comprehensive — several paragraphs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Complete anatomical account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Must allow future verification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REQUIRED for valid publication</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Valid Publication: </a:t>
            </a:r>
            <a:pPr indent="0" marL="0">
              <a:buNone/>
            </a:pPr>
            <a:r>
              <a:rPr lang="en-US" sz="1100" dirty="0">
                <a:solidFill>
                  <a:srgbClr val="F4F1EC"/>
                </a:solidFill>
                <a:latin typeface="Calibri" pitchFamily="34" charset="0"/>
                <a:ea typeface="Calibri" pitchFamily="34" charset="-122"/>
                <a:cs typeface="Calibri" pitchFamily="34" charset="-120"/>
              </a:rPr>
              <a:t>Under the ICZN, a new name has nomenclatural standing only if published with a diagnosis, type designation, and in binomial format in a work distributed to the scientific community after 1757.</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17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§2.7 From Field to Literature: The Complete Chain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Every Step Depends on Every Previous Step</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Field: collect + label data recorded in field notebook immediately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Laboratory: examine, measure, photograph, extract DNA from preserved legs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Curation: accession number assigned, specimen catalogued, label verified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Identification: key → literature → type comparison → confirmed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If new species: prepare diagnosis + description + etymology + type designation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Publication: submit to peer-reviewed journal → typeset → printed → indexed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failure at any stage — wrong preservative, missing label, incomplete description — compromises all subsequent work</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FIELD Collect + Label</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PRESERVE 95% EtOH or Dry mount</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CURATE Accession + Database</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IDENTIFY Key + Lit + Type</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PUBLISH Description or Record</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Specimen-Based Science: </a:t>
            </a:r>
            <a:pPr indent="0" marL="0">
              <a:buNone/>
            </a:pPr>
            <a:r>
              <a:rPr lang="en-US" sz="1100" dirty="0">
                <a:solidFill>
                  <a:srgbClr val="F4F1EC"/>
                </a:solidFill>
                <a:latin typeface="Calibri" pitchFamily="34" charset="0"/>
                <a:ea typeface="Calibri" pitchFamily="34" charset="-122"/>
                <a:cs typeface="Calibri" pitchFamily="34" charset="-120"/>
              </a:rPr>
              <a:t>The principle that taxonomic and distributional claims require physical voucher specimens deposited in accessible repositories. Observations without vouchers cannot be independently verified or corrected.</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18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§2.7 Practicals 1, 2 and 3: What They Teach</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Connecting Lab Practicals to Scientific Principles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PRACTICAL 1 (Collection equipment): matching tool to taxon is a scientific decision — not administrative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PRACTICAL 2 (Taxonomic keys): reaching a name is hypothesis generation, not identification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PRACTICAL 3 (Preservation + submission): submitting two specimens IS what museums do at scale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two submitted specimens are your contribution to a permanent accessible record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student who understands why each step matters will not make the irreversible errors (wrong preservative, missing label)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practicals are a miniature version of the full taxonomic workflow — same logic, smaller scale</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SURFACE TASK</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P1: List equipment names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P2: Work through a key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P3: Preserve two specimens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Submit for marks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Complete the checklist</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DEEPER PURPOSE</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P1: Learn method × bias logic</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P2: Learn hypothesis generation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P3: Create a permanent record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Contribute to accessible science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Understand the full chain</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Voucher Specimen: </a:t>
            </a:r>
            <a:pPr indent="0" marL="0">
              <a:buNone/>
            </a:pPr>
            <a:r>
              <a:rPr lang="en-US" sz="1100" dirty="0">
                <a:solidFill>
                  <a:srgbClr val="F4F1EC"/>
                </a:solidFill>
                <a:latin typeface="Calibri" pitchFamily="34" charset="0"/>
                <a:ea typeface="Calibri" pitchFamily="34" charset="-122"/>
                <a:cs typeface="Calibri" pitchFamily="34" charset="-120"/>
              </a:rPr>
              <a:t>A preserved specimen with full collection data deposited in an institutional collection — the cornerstone of specimen-based science. Without vouchers, distributional and identification claims cannot be independently verified.</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19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§2.1–2.6 The Simlipal Scenario</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Happens When a Collector Gets Everything Right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Correct method: Berlese funnel for sal forest litter arthropods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Correct preservative: 95% ethanol immediately; label inside AND outside vial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Back in lab: microscopy + measurements + legs removed for DNA into labelled tubes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used: specimens compared to all known species in relevant genera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Type comparison: ZSI holdings checked; NHM digitised types examined online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Result: specimens match no known species → triggers full new species description pipeline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is not a special event — it is routine, systematic, specimen-based taxonomy</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Simlipal sal litter collection</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95% EtOH + label immediate</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Microscopy + DNA legs removed</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Key + ZSI type comparison</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No match = new species description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New Species Pipeline: </a:t>
            </a:r>
            <a:pPr indent="0" marL="0">
              <a:buNone/>
            </a:pPr>
            <a:r>
              <a:rPr lang="en-US" sz="1100" dirty="0">
                <a:solidFill>
                  <a:srgbClr val="F4F1EC"/>
                </a:solidFill>
                <a:latin typeface="Calibri" pitchFamily="34" charset="0"/>
                <a:ea typeface="Calibri" pitchFamily="34" charset="-122"/>
                <a:cs typeface="Calibri" pitchFamily="34" charset="-120"/>
              </a:rPr>
              <a:t>The standardised workflow from specimen collection through preservation, curation, identification, and, if no match is found, formal new species description — the core activity of descriptive taxonomy.</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20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taxonomist describes a new spider species from Simlipal. She has 15 specimens — all collected at the same site on the same date. She designates specimen No. 7 as holotype and deposits it at ZSI Kolkata. Three years later, a museum fire destroys the ZSI Kolkata collections including her holotype. (a) What is the nomenclatural status of the species name now? (b) What must she do to stabilise the name? (c) What should she have done at the time of description to reduce this risk?</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happens to a species name when its holotype is destroyed? Is there a mechanism for recovery? What preventative steps do modern taxonomists take?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22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taxonomist describes a new spider species from Simlipal. She has 15 specimens — all collected at the same site on the same date. She designates specimen No. 7 as holotype and deposits it at ZSI Kolkata. Three years later, a museum fire destroys the ZSI Kolkata collections including her holotype. (a) What is the nomenclatural status of the species name now? (b) What must she do to stabilise the name? (c) What should she have done at the time of description to reduce this risk?</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The species name remains technically valid under the ICZN — the loss of the holotype does not invalidate a name that was correctly published. However, the name becomes extremely difficult to apply with certainty because there is no longer a definitive specimen to compare against. It is at risk of becoming a nomen dubium if the original description is insufficiently detailed for unambiguous identification. (b) She must publish a formal neotype designation: select one of the surviving paratypes (or a new specimen from the same locality), examine it thoroughly, demonstrate it agrees in all characters with the original description, and publish the neotype designation in a peer-reviewed journal with full justification for the replacement. The neotype is then deposited in a suitable repository. (c) Best practice she should have followed: (1) deposit paratypes in multiple institutions (ZSI Kolkata AND ZSI Pune AND a foreign institution), distributing the risk of a single institutional loss; (2) deposit high-resolution images of the holotype in a publicly accessible database (ZooBank, Morphbank) immediately upon publication — not a substitute for the physical type but provides a permanent photographic record; (3) deposit COI barcode sequence in BOLD and GenBank from holotype legs — provides a molecular anchor even if the physical type is lost.</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23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You are collecting beetles from Debrigarh Wildlife Sanctuary for a study combining morphological taxonomy and DNA barcoding. You have two preservatives: 10% formalin and 95% ethanol. (a) Which do you use and why? (b) A colleague argues that formalin is better because it preserves morphology more firmly, especially for soft-bodied tissues. How do you respond? (c) You collect a large longhorn beetle and want to maximise both morphological and molecular data. Describe your precise field protocol.</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is the chemistry that makes formalin and ethanol behave differently for molecular work? What dual-purpose protocol allows both morphology and DNA to be preserved from the same specimen?</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You are collecting beetles from Debrigarh Wildlife Sanctuary for a study combining morphological taxonomy and DNA barcoding. You have two preservatives: 10% formalin and 95% ethanol. (a) Which do you use and why? (b) A colleague argues that formalin is better because it preserves morphology more firmly, especially for soft-bodied tissues. How do you respond? (c) You collect a large longhorn beetle and want to maximise both morphological and molecular data. Describe your precise field protocol.</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95% ethanol. The study requires DNA barcoding — this is non-negotiable. Formalin crosslinks proteins covalently to DNA strands, fragmenting the genome and making PCR amplification impossible. No barcode can ever be extracted from a formalin-fixed specimen. Ethanol denatures proteins rapidly without crosslinking, preserving the genome in an amplifiable state. (b) The colleague's argument is correct for a study that requires ONLY morphology. Formalin is superior for soft tissue histology and for preventing autolysis in large specimens. However, it is irrelevant here because the study requires molecular data. The choice of preservative must match the study's objectives — and once formalin is used, the molecular option is permanently closed. For dual purposes, the correct solution is the protocol below. (c) Field protocol for dual preservation: (1) Kill the beetle immediately (ethyl acetate jar or freezing); (2) Using clean forceps, remove 1–2 legs and place in a labelled microtube containing 95% ethanol — this tissue goes for DNA extraction; (3) Place the remainder of the body in a vial of 70% ethanol for morphological preservation; (4) Label both containers with identical collection data (GPS, date, collector, habitat, method); (5) Replace the ethanol in the body vial after 24–48 hours (body fluids dilute the ethanol). This dual-sample approach yields both high-quality morphological specimens and PCR-grade DNA from the same individual.</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student uses a dichotomous key to identify a moth caught at a UV light trap in Debrigarh Wildlife Sanctuary. He works through the key correctly and reaches the terminal identification "Ophiusa tirhaca". He writes this in his field notebook as a confirmed identification. Evaluate his procedure. What steps has he omitted? What are the specific risks if he stops here and publishes a distribution record based solely on this key result?</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Is reaching a terminal name in a key the same as a confirmed identification? What are the ways a key can give a wrong answer even when used correctly? What would make the record scientifically robust?</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student uses a dichotomous key to identify a moth caught at a UV light trap in Debrigarh Wildlife Sanctuary. He works through the key correctly and reaches the terminal identification "Ophiusa tirhaca". He writes this in his field notebook as a confirmed identification. Evaluate his procedure. What steps has he omitted? What are the specific risks if he stops here and publishes a distribution record based solely on this key result?</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His procedure is incomplete — a key result is a hypothesis, not a confirmation. He has omitted three essential steps: (1) Verification against the original published description of Ophiusa tirhaca: he should retrieve the original paper describing this species and compare every character listed in the description against his specimen. Only if all diagnostic characters match should the identification be accepted. (2) Type comparison: if digital images of the type specimen are available through NHM London, ZSI, or GBIF, he should compare his specimen image against the type. (3) Critical consideration of key scope: he should verify that the key he used was designed for the moth fauna of Odisha specifically, and that it was published recently enough to include all currently recognised species in the genus Ophiusa. Specific risks if he publishes the record based solely on the key result: (a) Misidentification risk — if a cryptic species in the Ophiusa tirhaca complex was described after the key was published, his specimen may belong to the undescribed or newly described species, and his record would incorrectly extend the range of O. tirhaca. (b) Non-reproducibility — without a deposited voucher specimen, no future worker can re-examine his identification. If the key was wrong, there is no way to correct the record. (c) Contamination of the literature — a wrongly identified distribution record in a checklist becomes cited in subsequent literature and conservation assessments, amplifying the error. To make the record scientifically robust: verify against original description, deposit a labelled voucher specimen at ZSI or a regional collection, and cite the voucher accession number in any publication.</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 (Museum Scenario)</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museum curator receives a donation of 200 zoological specimens from the estate of a recently deceased naturalist. The specimens are beautifully preserved — dry-mounted insects and ethanol-preserved invertebrates in excellent condition. However, the donor kept no field notebooks, and almost none of the specimens has a label. What is the scientific value of these specimens? What can and cannot be done with them? What lesson does this collection embody?</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specifically does a label provide that the specimen alone cannot? Are there any uses for unlabelled specimens? What is irretrievably lost?</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28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museum curator receives a donation of 200 zoological specimens from the estate of a recently deceased naturalist. The specimens are beautifully preserved — dry-mounted insects and ethanol-preserved invertebrates in excellent condition. However, the donor kept no field notebooks, and almost none of the specimens has a label. What is the scientific value of these specimens? What can and cannot be done with them? What lesson does this collection embody?</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Scientific value of unlabelled specimens is severely limited. They cannot be used for: (1) Distribution records — without a locality, the specimen cannot be plotted on a map or contribute to understanding a species' range; (2) Temporal studies — without a date, the specimen cannot contribute to phenological research or document presence before habitat change; (3) Environmental assessments — without habitat data, the specimen cannot contribute to ecological research. What CAN be done with them: (1) They can serve as reference specimens for morphological comparison — if the species can be identified, they provide correctly preserved material for examining structural characters; (2) For common, widely distributed species, they provide low-quality vouchers that confirm species morphology; (3) They can be used in educational collections where scientific record value is not required; (4) DNA can still be extracted (if ethanol-preserved) — the molecular data is intact even without collection data, though it cannot be linked to a geographic population. What is irretrievably lost: locality, date, habitat, and collector data — this information existed in the collector's memory and is now gone permanently. No molecular technique, no retrospective examination, nothing can recover it. The lesson this collection embodies: collection data must be recorded in the field at the moment of collection, in writing, on a durable label inside the specimen container. The data is as important as the specimen. A collection without labels is a scientific tragedy — well-intentioned effort that yields minimal reproducible knowledge.</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Zoological Survey of India holds type specimens for thousands of species described by British naturalists from colonial India. A consortium of European researchers proposes that the ZSI should undertake a complete digitisation programme — high-resolution photographs and 3D scans of all type specimens — and make them freely available online, so that overseas researchers can examine virtual types without the physical specimens needing to be loaned abroad. Evaluate the scientific merit of this proposal. What would it achieve, what would it not achieve, and what are the arguments for and against physical loans remaining the gold standard?</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specifically requires a physical specimen vs a digital image? Is a digital image ever a complete substitute? What does the ICZN say about virtual types? Think about: colour, texture, microscopic structures, molecular material, three-dimensional form.</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30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Zoological Survey of India holds type specimens for thousands of species described by British naturalists from colonial India. A consortium of European researchers proposes that the ZSI should undertake a complete digitisation programme — high-resolution photographs and 3D scans of all type specimens — and make them freely available online, so that overseas researchers can examine virtual types without the physical specimens needing to be loaned abroad. Evaluate the scientific merit of this proposal. What would it achieve, what would it not achieve, and what are the arguments for and against physical loans remaining the gold standard?</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Scientific merit — what digitisation achieves: (1) Access democratisation: researchers in India and globally can examine type morphology without travel or institutional loan procedures — significantly reducing barriers for taxonomists in developing countries and early-career researchers. (2) Risk reduction: if types are digitised before deterioration or catastrophic loss (fire, flood), the morphological record is preserved even if the physical specimen is destroyed. High-resolution images and 3D scans can document characters that text descriptions fail to capture. (3) Efficiency: simple identification confirmations that require only a visual check of gross morphology can be resolved remotely, reserving physical loans for cases where they are truly necessary. (4) Educational value: teachers and students worldwide can access type material for training. What digitisation does not achieve: (1) New molecular data: DNA cannot be extracted from a digital image — physical access to ethanol-preserved or dried material is required for any molecular work; (2) Microscopic structures: even the highest-resolution photography cannot resolve sub-micron structures — scanning electron microscopy requires physical access to the specimen; (3) Colour in fresh condition: many preserved specimens have changed colour from their live state; the image captures the preserved state but cannot document original coloration; (4) Three-dimensional internal anatomy: CT scanning can partially address this but requires physical access to the specimen; (5) Rehydration and remounting for measurement: critical for re-describing poorly described types — requires physical access. Arguments for physical loans remaining gold standard: taxonomic revision of a group requires measurement of holotype dimensions that may not be accurately recoverable from images; preparation of new material from a type (microscope slides, SEM stubs) requires physical access; molecular extraction may become feasible for some historical specimens as techniques improve. Conclusion: digitisation is a valuable and necessary complement to physical loans, not a substitute. ZSI should undertake the programme as a matter of urgency, prioritising the most fragile and most-requested type specimens. It would reduce the majority of routine type examination requests to remote work while preserving physical loans for cases requiring hands-on access. The ICZN does not recognise digital images as type specimens — physical specimens remain the legal name-bearers regardless of how well documented they are digitally.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The holotype is the best or most typical specimen of the species.</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holotype is the legally designated name-bearer — not necessarily the best or most complete specimen. An author may designate any specimen from their collection as the holotype. What matters is the designation, not the quality. The ICZN's concern is nomenclatural stability, not specimen quality.</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Once a specimen is labelled and preserved, the identification is complete.</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Preservation and labelling create a potential scientific record; identification is a separate subsequent step requiring comparison with published descriptions and, ideally, type material. Preserved specimens without identifications are data waiting to be used — not completed science.</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Formalin and ethanol are interchangeable preservatives — both work for any purpose.</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Formalin destroys DNA by crosslinking. Ethanol preserves DNA. The choice is irreversible: a formalin-fixed specimen can never be used for molecular work. The decision must be made at the moment of collection based on the study's objectives.</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A species name is invalidated if the holotype is lost or destroyed.</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Loss or destruction of the holotype does not invalidate the name. The name remains available but may become a nomen dubium if the original description is insufficient for reliable identification. A neotype can be designated by a subsequent worker to re-anchor the name.</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Every valid species name is anchored to a single physical holotype deposited in an accessible institutional repository — without this, the name cannot be reliably applied.</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Collection method must match the target organism; the label is as scientifically important as the specimen itself — locality, date, collector, habitat, and method must be recorded immediately in the field.</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Preservation chemistry is irreversible: 95% ethanol preserves both morphology and DNA; formalin permanently destroys DNA. The decision at collection determines all future analytical possibilities.</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Curation transforms a preserved specimen into a permanent, reproducible scientific record — accessioning, databasing, and physical conservation ensure long-term accessibility.</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A key result is a hypothesis, not a confirmed identification — confirmation requires comparison with the original published description and, where possible, type material images.</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Builds on: </a:t>
            </a:r>
            <a:pPr indent="0" marL="0">
              <a:buNone/>
            </a:pPr>
            <a:r>
              <a:rPr lang="en-US" sz="1100" dirty="0">
                <a:solidFill>
                  <a:srgbClr val="F4F1EC"/>
                </a:solidFill>
                <a:latin typeface="Calibri" pitchFamily="34" charset="0"/>
                <a:ea typeface="Calibri" pitchFamily="34" charset="-122"/>
                <a:cs typeface="Calibri" pitchFamily="34" charset="-120"/>
              </a:rPr>
              <a:t>Ch. 1 (why physical specimens are needed — classification is grounded in observable characters)   </a:t>
            </a:r>
            <a:pPr indent="0" marL="0">
              <a:buNone/>
            </a:pPr>
            <a:r>
              <a:rPr lang="en-US" sz="1100" b="1" dirty="0">
                <a:solidFill>
                  <a:srgbClr val="C8791E"/>
                </a:solidFill>
                <a:latin typeface="Calibri" pitchFamily="34" charset="0"/>
                <a:ea typeface="Calibri" pitchFamily="34" charset="-122"/>
                <a:cs typeface="Calibri" pitchFamily="34" charset="-120"/>
              </a:rPr>
              <a:t>  →  Leads to: </a:t>
            </a:r>
            <a:pPr indent="0" marL="0">
              <a:buNone/>
            </a:pPr>
            <a:r>
              <a:rPr lang="en-US" sz="1100" dirty="0">
                <a:solidFill>
                  <a:srgbClr val="F4F1EC"/>
                </a:solidFill>
                <a:latin typeface="Calibri" pitchFamily="34" charset="0"/>
                <a:ea typeface="Calibri" pitchFamily="34" charset="-122"/>
                <a:cs typeface="Calibri" pitchFamily="34" charset="-120"/>
              </a:rPr>
              <a:t>Ch. 3 (nomenclature rules — what constitutes valid publication of a new name) · Ch. 11 (Practicals 1, 2, 3 — applying these procedures directly)</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2 — Collection &amp; ID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2026-05-29T05:43:57Z</dcterms:created>
  <dcterms:modified xsi:type="dcterms:W3CDTF">2026-05-29T05:43:57Z</dcterms:modified>
</cp:coreProperties>
</file>