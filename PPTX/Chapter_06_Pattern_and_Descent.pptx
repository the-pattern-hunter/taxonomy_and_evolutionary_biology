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6</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From Lamarck to the Modern Synthesis</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Theories and Evidence of Evolution</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2 · Theories, Evidences of Evolution and Extinction</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"Each theoretical framework solved the central problem of its predecessor and introduced a new problem that the next framework had to address. Understanding the history of theory is understanding how science works."</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6.1 Lamarck's Theory</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6.2 The Weismann Barrier</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6.3 Darwin's Theory: Natural Selection</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6.4 Neo-Darwinism: The Modern Synthesis</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6.5 Heritable Variation: What Evolution Requires</a:t>
            </a:r>
            <a:endParaRPr lang="en-US" sz="1150" dirty="0"/>
          </a:p>
        </p:txBody>
      </p:sp>
      <p:sp>
        <p:nvSpPr>
          <p:cNvPr id="24" name="Shape 22"/>
          <p:cNvSpPr/>
          <p:nvPr/>
        </p:nvSpPr>
        <p:spPr>
          <a:xfrm>
            <a:off x="274320" y="2688336"/>
            <a:ext cx="8595360" cy="566928"/>
          </a:xfrm>
          <a:prstGeom prst="rect">
            <a:avLst/>
          </a:prstGeom>
          <a:solidFill>
            <a:srgbClr val="1C2B1E"/>
          </a:solidFill>
          <a:ln w="12700">
            <a:solidFill>
              <a:srgbClr val="1C2B1E"/>
            </a:solidFill>
            <a:prstDash val="solid"/>
          </a:ln>
        </p:spPr>
      </p:sp>
      <p:sp>
        <p:nvSpPr>
          <p:cNvPr id="25" name="Text 23"/>
          <p:cNvSpPr/>
          <p:nvPr/>
        </p:nvSpPr>
        <p:spPr>
          <a:xfrm>
            <a:off x="274320" y="2688336"/>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T4 — Scale of mechanism: from organism physiology (Lamarck) to population allele frequency (Modern Synthesis)</a:t>
            </a:r>
            <a:endParaRPr lang="en-US" sz="105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§6.1 Lamarck in Historical Context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First Systematic Theory of Evolution (1809)</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Jean-Baptiste de Lamarck: Philosophie Zoologique, 1809 — 50 years before Darwin's On the Origin of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Context: the prevailing view was fixity of species — organisms were created in their present form and did not change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Lamarck's radical claim: species DO change — organisms transform gradually in response to their environment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What made Lamarck's theory revolutionary: it was naturalistic, mechanistic, and cumulative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Lamarck was the first scientist to propose a coherent mechanism for evolutionary change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His theory was caricatured and dismissed — but his core insight (evolution is real and natural) was correct</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Buffon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(species change)</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1749</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Lamarck</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Philosophie Zool.</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1809</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Weismann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germ line</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1883</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Darwin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Origin</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1859</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Modern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Synthesis</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1937-47</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Philosophie Zoologique: </a:t>
            </a:r>
            <a:pPr indent="0" marL="0">
              <a:buNone/>
            </a:pPr>
            <a:r>
              <a:rPr lang="en-US" sz="1100" dirty="0">
                <a:solidFill>
                  <a:srgbClr val="F4F1EC"/>
                </a:solidFill>
                <a:latin typeface="Calibri" pitchFamily="34" charset="0"/>
                <a:ea typeface="Calibri" pitchFamily="34" charset="-122"/>
                <a:cs typeface="Calibri" pitchFamily="34" charset="-120"/>
              </a:rPr>
              <a:t>Lamarck's 1809 work presenting the first systematic evolutionary theory. Proposed that species change gradually in response to environmental needs through use/disuse and inheritance of acquired characters.</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§6.1 Lamarck's Two Principles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Use and Disuse + Inheritance of Acquired Characters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PRINCIPLE 1 — USE AND DISUSE: organs strengthen with use and weaken without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a blacksmith's arm muscles strengthen with use; a bedridden person's muscles atrophy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principle is CORRECT at the individual physiological level — use genuinely changes organs during a lifetime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PRINCIPLE 2 — INHERITANCE OF ACQUIRED CHARACTERS: modifications acquired during an organism's lifetime are transmitted to offspring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if the blacksmith's arm strengthens, his children inherit stronger arms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principle is WHERE LAMARCK'S THEORY FAILS — the mechanism does not exist</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PRINCIPLE 1</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USE AND DISUSE ✓</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Organs strengthen with use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Organs weaken without use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Correct at individual level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Real physiological mechanism</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muscle hypertrophy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PRINCIPLE 2</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INHERITED ACQUIRED ✗</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Acquired modifications transmitted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Somatic changes reach gametes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molecular mechanism exists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Refuted by Weismann barrier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blacksmith's children stronger?</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Use and Disuse: </a:t>
            </a:r>
            <a:pPr indent="0" marL="0">
              <a:buNone/>
            </a:pPr>
            <a:r>
              <a:rPr lang="en-US" sz="1100" dirty="0">
                <a:solidFill>
                  <a:srgbClr val="F4F1EC"/>
                </a:solidFill>
                <a:latin typeface="Calibri" pitchFamily="34" charset="0"/>
                <a:ea typeface="Calibri" pitchFamily="34" charset="-122"/>
                <a:cs typeface="Calibri" pitchFamily="34" charset="-120"/>
              </a:rPr>
              <a:t>Lamarck's first principle: organs strengthen with use and weaken without it. Correct at the individual physiological level. The second principle — that these acquired modifications are inherited — is where the theory fails.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§6.1 What Lamarck Got Right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Separating the Correct from the Wrong</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CORRECT: Evolution is real — species do change over time, they are not fixed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CORRECT: Evolution is natural and mechanistic — no supernatural intervention required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CORRECT: Environmental conditions drive the direction of evolutionary change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CORRECT: Change is cumulative across generations — small changes accumulate into large differences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CORRECT: Organisms are adapted to their environments — this is not coincidence but process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WRONG: The inheritance mechanism — acquired somatic characters are not transmitted through gametes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Lamarck's Legacy: What Survived</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WHAT LAMARCK GOT RIGHT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Evolution is real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Evolution is natural and mechanistic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Organisms respond to environment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Change accumulates over generations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Adaptation is produced, not given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WHAT LAMARCK GOT WRONG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inheritance mechanism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(Principle 2: acquired characters inherited)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WHAT WAS UNFAIRLY CARICATURED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giraffe neck example was NOT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Lamarck's own — it was applied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by later critics to mock the theory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Lamarck never used it as his primary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example in Philosophie Zoologique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HISTORICAL JUSTICE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Lamarck deserves credit for being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first to systematically propose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natural evolutionary change</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Inheritance of Acquired Characters: </a:t>
            </a:r>
            <a:pPr indent="0" marL="0">
              <a:buNone/>
            </a:pPr>
            <a:r>
              <a:rPr lang="en-US" sz="1100" dirty="0">
                <a:solidFill>
                  <a:srgbClr val="F4F1EC"/>
                </a:solidFill>
                <a:latin typeface="Calibri" pitchFamily="34" charset="0"/>
                <a:ea typeface="Calibri" pitchFamily="34" charset="-122"/>
                <a:cs typeface="Calibri" pitchFamily="34" charset="-120"/>
              </a:rPr>
              <a:t>Lamarck's second principle: modifications acquired during an organism's lifetime are transmitted to offspring. Refuted by the Weismann barrier — somatic changes cannot cross to the germ line in animals.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§6.2 The Weismann Barrier</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Germ Line and Soma Are Separated Early in Development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August Weismann (1880s): identified the critical distinction between germ cells and somatic cells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GERM LINE: cells that produce gametes (sperm and eggs) — set aside early in embryogenesis, isolated from somatic tissues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SOMA: all other body cells — muscle, bone, neural, skin, liver, etc.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Weismann barrier: changes in somatic cells CANNOT cross to germ cells — developmentally impossible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blacksmith's arm muscles change — but this change never reaches the gametes producing the next generation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Weismann's insight was developmental: the barrier is a physical separation established in the embryo</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Fertilised egg (zygote)</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Germ line set aside early (embryo)</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SOMA develops (all body cells)</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Environment changes soma</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GERM CELLS unchanged → offspring</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Weismann Barrier: </a:t>
            </a:r>
            <a:pPr indent="0" marL="0">
              <a:buNone/>
            </a:pPr>
            <a:r>
              <a:rPr lang="en-US" sz="1100" dirty="0">
                <a:solidFill>
                  <a:srgbClr val="F4F1EC"/>
                </a:solidFill>
                <a:latin typeface="Calibri" pitchFamily="34" charset="0"/>
                <a:ea typeface="Calibri" pitchFamily="34" charset="-122"/>
                <a:cs typeface="Calibri" pitchFamily="34" charset="-120"/>
              </a:rPr>
              <a:t>The developmental separation of the germ line (cells producing gametes) from the soma (all other cells), established early in embryogenesis. Somatic changes cannot reach gametes — the physical basis for refuting inheritance of acquired characters.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§6.2 Weismann's Tail-Cutting Experiment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Empirical Test (1887)</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Weismann cut the tails off mice for 22 consecutive generations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Result: every generation of offspring was born with a normal tail — no progressive reduction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Interpretation: an acquired somatic modification (tail removal) is not transmitted to offspring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Criticism of this experiment: critics argued Lamarck's principle required functional use/disuse, not mechanical removal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More telling argument: if acquisition of useful modifications were inherited, why do not circumcised populations produce sons with modified anatomy? It never happens.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Molecular explanation: germ cells are protected from somatic signalling — no information pathway from soma to germline DNA sequence exists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LAMARCK PREDICTS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Tail removal = acquired modification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Modification transmitted to offspring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Offspring should have shorter tails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After 22 generations: tailless mice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Mechanism: soma → gamete transfer</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WEISMANN FOUND</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22 generations of tail removal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Offspring born with normal tail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Every single generation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reduction observed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Somatic changes not transmitted</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Germ Line: </a:t>
            </a:r>
            <a:pPr indent="0" marL="0">
              <a:buNone/>
            </a:pPr>
            <a:r>
              <a:rPr lang="en-US" sz="1100" dirty="0">
                <a:solidFill>
                  <a:srgbClr val="F4F1EC"/>
                </a:solidFill>
                <a:latin typeface="Calibri" pitchFamily="34" charset="0"/>
                <a:ea typeface="Calibri" pitchFamily="34" charset="-122"/>
                <a:cs typeface="Calibri" pitchFamily="34" charset="-120"/>
              </a:rPr>
              <a:t>The lineage of cells that produces gametes (sperm and eggs), set aside from the somatic lineage early in embryogenesis. The germ line is the only path for hereditary information to pass from parent to offspring.</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§6.3 Darwin's Logic: Three Observations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Natural Selection Follows Necessarily from Three Facts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OBSERVATION 1: Organisms produce more offspring than can possibly survive to reproduce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OBSERVATION 2: Individuals vary in heritable characters — offspring resemble parents but are not identical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OBSERVATION 3: Resources (food, space, mates) are limited — a struggle for existence is inevitable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Darwin recognised that these three observations are not debatable — they are observational facts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logical consequence follows necessarily: not all can survive; those with advantageous heritable variations leave more offspring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is DEDUCTIVE reasoning from observed premises to an inescapable conclusion — not an empirical guess</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OBS 1 Overpro- duction of offspring</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OBS 2 Heritable Variation exists</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OBS 3 Limited resources (struggle)</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INF 1 Differential survival</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INF 2 Favoured variants spread</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Natural Selection: </a:t>
            </a:r>
            <a:pPr indent="0" marL="0">
              <a:buNone/>
            </a:pPr>
            <a:r>
              <a:rPr lang="en-US" sz="1100" dirty="0">
                <a:solidFill>
                  <a:srgbClr val="F4F1EC"/>
                </a:solidFill>
                <a:latin typeface="Calibri" pitchFamily="34" charset="0"/>
                <a:ea typeface="Calibri" pitchFamily="34" charset="-122"/>
                <a:cs typeface="Calibri" pitchFamily="34" charset="-120"/>
              </a:rPr>
              <a:t>Darwin's mechanism: differential survival and reproduction of heritable variants. Follows necessarily from overproduction, heritable variation, and resource limitation. Requires no directed change — only variation in existing traits.</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§6.3 What Darwin's Theory Does and Does Not Require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Selection Needs Variation; It Does Not Need to Produce It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Darwin's theory requires: (1) heritable variation, (2) differential reproductive success tied to that variation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Darwin's theory does NOT require: directed mutation, species striving toward improvement, a goal or direction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Natural selection is NOT progressive — it does not produce "better" organisms in any absolute sense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Natural selection produces organisms better adapted to current local conditions — no more, no less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implication: selection cannot act on variation that does not yet exist — it can only sort existing variation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Darwin's unsolved problem: he had no mechanism for the origin or transmission of heritable variation</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WHAT NATURAL</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SELECTION IS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Differential reproduction of variants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Acts on existing variation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Produces local adaptation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Blind — no foresight or goal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Cumulative over generations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WHAT NATURAL</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SELECTION IS NOT</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Not directed mutation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Not species "striving" to improve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Not progressive toward a goal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Not producing perfection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Not a designer</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Adaptation: </a:t>
            </a:r>
            <a:pPr indent="0" marL="0">
              <a:buNone/>
            </a:pPr>
            <a:r>
              <a:rPr lang="en-US" sz="1100" dirty="0">
                <a:solidFill>
                  <a:srgbClr val="F4F1EC"/>
                </a:solidFill>
                <a:latin typeface="Calibri" pitchFamily="34" charset="0"/>
                <a:ea typeface="Calibri" pitchFamily="34" charset="-122"/>
                <a:cs typeface="Calibri" pitchFamily="34" charset="-120"/>
              </a:rPr>
              <a:t>A heritable feature that increases the reproductive success of its possessors in their current environment. The product of natural selection acting on heritable variation over many generations. Local and conditional, not absolute.</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§6.3 Darwin's Heredity Problem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Blending Inheritance Would Destroy Variation in Two Generations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Darwin's critical unsolved problem: what is the mechanism of inheritance?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19th-century assumption: blending inheritance — offspring are a blend of parental characters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Fleeming Jenkin (1867): showed mathematically that under blending inheritance, any new variant halves in frequency every generation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After ~10 generations: a new beneficial variant reduces to &lt;0.1% of its original value — selection cannot preserve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Darwin's desperate response: his theory of pangenesis (particles from all body parts collected in gametes) — disproved by Galton in his lifetime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solution to the heredity problem existed in Mendel's 1866 paper — but Darwin never knew it</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The Jenkin Objection: Blending Kills Variation</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GENERATION 0: Variant has value 100</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(rest of population has value 0)</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BLENDING INHERITANCE: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Gen 1: offspring = (100+0)/2 = 50</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Gen 2: offspring = (50+0)/2  = 25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Gen 3: offspring = (25+0)/2  = 12.5</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Gen 10: ≈ 0.1</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variant effectively gone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PROBLEM FOR DARWIN: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If inheritance blends, new variants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are eliminated faster than selection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can preserve them</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SOLUTION (Mendel 1866, unknown to Darwin):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Genes are PARTICULATE — they do not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blend; variants are maintained intact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through all generations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Blending Inheritance: </a:t>
            </a:r>
            <a:pPr indent="0" marL="0">
              <a:buNone/>
            </a:pPr>
            <a:r>
              <a:rPr lang="en-US" sz="1100" dirty="0">
                <a:solidFill>
                  <a:srgbClr val="F4F1EC"/>
                </a:solidFill>
                <a:latin typeface="Calibri" pitchFamily="34" charset="0"/>
                <a:ea typeface="Calibri" pitchFamily="34" charset="-122"/>
                <a:cs typeface="Calibri" pitchFamily="34" charset="-120"/>
              </a:rPr>
              <a:t>The pre-Mendelian assumption that offspring are a blend of parental characters. If true, new variants would halve in frequency every generation, eliminating the variation on which selection acts. Proved wrong by Mendel's particulate inheritance.</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§6.4 Mendel's Solution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Particulate Inheritance: Genes Do Not Blend</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Gregor Mendel (1866): pea experiments demonstrating particulate inheritance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Law of Segregation: alleles separate during gamete formation — each gamete carries one allele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Law of Independent Assortment: different gene loci segregate independently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INSIGHT: genes are PARTICLES — they do not blend; a recessive allele is preserved intact even when masked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Mendel's genetics directly resolves the Jenkin objection: variation is maintained because alleles do not blend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Mendel's paper was published in 1866 and ignored until its rediscovery in 1900 — Darwin died in 1882 without knowing the solution to his heredity problem</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BLENDING</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INHERITANCE</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Characters blend in offspring</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Variation halves each generation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New variants quickly lost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Fatal for Darwinian selection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The 19th century assumption</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MENDELIAN</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PARTICULATE</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Alleles remain intact (don't blend)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Recessives hidden but preserved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Variation maintained indefinitely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can act on it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Rediscovered 1900; explains Darwin</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Particulate Inheritance: </a:t>
            </a:r>
            <a:pPr indent="0" marL="0">
              <a:buNone/>
            </a:pPr>
            <a:r>
              <a:rPr lang="en-US" sz="1100" dirty="0">
                <a:solidFill>
                  <a:srgbClr val="F4F1EC"/>
                </a:solidFill>
                <a:latin typeface="Calibri" pitchFamily="34" charset="0"/>
                <a:ea typeface="Calibri" pitchFamily="34" charset="-122"/>
                <a:cs typeface="Calibri" pitchFamily="34" charset="-120"/>
              </a:rPr>
              <a:t>Mendel's discovery that hereditary factors (genes/alleles) are discrete particles that segregate intact into gametes — they do not blend. This preserves variation across generations, solving Darwin's heredity problem.</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§6.4 The Modern Synthesis: Architecture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Unifying Genetics, Evolution, and Palaeontology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Modern Synthesis (1930s–1940s): integration of Mendelian genetics with Darwinian natural selection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R.A. Fisher (1918, 1930): showed mathematically that many Mendelian loci of small effect produce continuous quantitative variation — resolving the apparent conflict between genetics and biometry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J.B.S. Haldane and Sewall Wright: developed population genetics mathematics of allele frequency change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Theodosius Dobzhansky (Genetics and the Origin of Species, 1937): united laboratory genetics with field systematics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Ernst Mayr (Systematics and the Origin of Species, 1942): biological species concept and speciation mechanisms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George Gaylord Simpson (Tempo and Mode in Evolution, 1944): integrated palaeontology with the synthesis</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Fisher 1918 Maths of quantitative genetics</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Haldane &amp; Wright 1930s Population genetics</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Dobzhansky 1937 Genetics + systematics</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Mayr 1942 Speciation + BSC</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Simpson 1944 Palaeon- tology</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Modern Synthesis: </a:t>
            </a:r>
            <a:pPr indent="0" marL="0">
              <a:buNone/>
            </a:pPr>
            <a:r>
              <a:rPr lang="en-US" sz="1100" dirty="0">
                <a:solidFill>
                  <a:srgbClr val="F4F1EC"/>
                </a:solidFill>
                <a:latin typeface="Calibri" pitchFamily="34" charset="0"/>
                <a:ea typeface="Calibri" pitchFamily="34" charset="-122"/>
                <a:cs typeface="Calibri" pitchFamily="34" charset="-120"/>
              </a:rPr>
              <a:t>Integration of Mendelian genetics with Darwinian natural selection (1930s–1940s). Unified population genetics, systematics, and palaeontology under one mathematical framework. Provided the formal basis for the theory of evolution as we understand it today.</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§6.4 What the Synthesis Achieved</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Five Major Unifications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Genetics + Darwin: Fisher showed many small-effect Mendelian genes produce continuous variation — reconciled genetics with observed gradual change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Micro + macroevolution: Simpson showed fossil record patterns consistent with population genetics models — no separate macroevolutionary mechanism needed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Mutation + selection: mutation provides raw material; selection sorts it — mutation is not directed toward fitness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Speciation + genetics: Dobzhansky and Mayr showed reproductive isolation is a genetic phenomenon — isolating mechanisms have genetic bases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(5) Population genetics + systematics: allele frequency change in populations = the basis of species-level change over geological time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Synthesis removed the need for multiple separate evolutionary mechanisms — one framework covered all scales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BEFORE SYNTHESIS</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(pre-1930s)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Darwin vs Mendelians: separate camps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Mutation theory vs selection theory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Palaeontology separate from genetics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Systematics separate from genetics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Multiple competing frameworks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AFTER SYNTHESIS</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(post-1947)</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One unified mathematical framework</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Mutation + selection together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Fossil patterns = pop. genetics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Speciation = genetic isolation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All scales — one mechanism</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Neo-Darwinism: </a:t>
            </a:r>
            <a:pPr indent="0" marL="0">
              <a:buNone/>
            </a:pPr>
            <a:r>
              <a:rPr lang="en-US" sz="1100" dirty="0">
                <a:solidFill>
                  <a:srgbClr val="F4F1EC"/>
                </a:solidFill>
                <a:latin typeface="Calibri" pitchFamily="34" charset="0"/>
                <a:ea typeface="Calibri" pitchFamily="34" charset="-122"/>
                <a:cs typeface="Calibri" pitchFamily="34" charset="-120"/>
              </a:rPr>
              <a:t>The Modern Synthesis — Darwin's natural selection extended and formalised with Mendelian genetics, population genetics mathematics, and the integration of palaeontology and systematics. The theoretical foundation of contemporary evolutionary biology.</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§6.4 Extensions of the Synthesis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Has Been Added Since 1947</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MOLECULAR BIOLOGY (1953+): DNA as the physical substrate of heredity; mutation as nucleotide change; gene expression mechanisms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NEUTRAL THEORY (Kimura, 1968): most molecular evolution is neutral — neither beneficial nor harmful; genetic drift is the primary force at the molecular level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EVO-DEVO (1980s+): developmental genes (Hox genes) show deep conservation; small regulatory changes produce large body-plan changes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EPIGENETICS: heritable changes in gene expression without DNA sequence change — some may be transmitted across generations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EXTENDED SYNTHESIS (Pigliucci, Müller, 2007+): proposes incorporating niche construction, developmental plasticity, epigenetic inheritance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Core of the synthesis remains: natural selection on heritable variation. Extensions broaden, not replace.</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Modern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Synthesis</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1937-47</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DNA</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structure</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1953</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Neutral</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Theory</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1968</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Hox</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genes</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1980s</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Extended</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Synthesis</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2007+</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Neutral Theory: </a:t>
            </a:r>
            <a:pPr indent="0" marL="0">
              <a:buNone/>
            </a:pPr>
            <a:r>
              <a:rPr lang="en-US" sz="1100" dirty="0">
                <a:solidFill>
                  <a:srgbClr val="F4F1EC"/>
                </a:solidFill>
                <a:latin typeface="Calibri" pitchFamily="34" charset="0"/>
                <a:ea typeface="Calibri" pitchFamily="34" charset="-122"/>
                <a:cs typeface="Calibri" pitchFamily="34" charset="-120"/>
              </a:rPr>
              <a:t>Kimura's (1968) proposal that most molecular evolution consists of neutral mutations fixed by genetic drift, not by natural selection. Does not replace Darwinian selection for phenotypic evolution but explains molecular diversity patterns.</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§6.5 The Critical Distinction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Only Heritable Variation Can Produce Lasting Change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Natural selection can only produce lasting allele frequency changes through HERITABLE variation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HERITABLE variation: genetically based; transmitted through gametes; maintained across generations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NON-HERITABLE variation: environmentally induced (phenotypic plasticity); not transmitted as a fixed character; reverts when environment changes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test: if offspring raised in a different environment show the parental character, it is heritable; if they revert, it is plastic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is the fundamental reason Lamarck's theory fails: environmentally acquired modifications are not heritable in the genetic sense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Distinguishing heritable from non-heritable variation is essential for any evolutionary prediction</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HERITABLE VARIATION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Genetic basis (DNA sequence)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Transmitted through gametes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Maintained across generations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 allele frequency change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HbS sickle cell allele</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NON-HERITABLE (PLASTIC)</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Environmental basis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Not transmitted as fixed character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Reverts when environment changes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 no lasting allele shift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Example: altitude lung hypertrophy</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Heritable Variation: </a:t>
            </a:r>
            <a:pPr indent="0" marL="0">
              <a:buNone/>
            </a:pPr>
            <a:r>
              <a:rPr lang="en-US" sz="1100" dirty="0">
                <a:solidFill>
                  <a:srgbClr val="F4F1EC"/>
                </a:solidFill>
                <a:latin typeface="Calibri" pitchFamily="34" charset="0"/>
                <a:ea typeface="Calibri" pitchFamily="34" charset="-122"/>
                <a:cs typeface="Calibri" pitchFamily="34" charset="-120"/>
              </a:rPr>
              <a:t>Variation with a genetic basis that is transmitted through gametes and maintained across generations. The only raw material on which natural selection can produce lasting evolutionary change.</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§6.5 Phenotypic Plasticity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One Genotype, Multiple Phenotypes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Phenotypic plasticity: the capacity of a single genotype to produce different phenotypes in different environments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Himalayan rabbits — genetically identical; exposed to cold → dark fur; exposed to warmth → white fur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Example: high-altitude humans develop increased lung capacity and red blood cell count — a physiological response, not a genetic change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REACTION NORM: the range of phenotypes a genotype can produce across a range of environments — a property of the genotype itself</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Reaction norms ARE heritable and ARE subject to natural selection — the plasticity itself can evolve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Plastic characters are not evidence against evolution — they are evidence of a different kind of heritable variation (the norm of reaction)</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Reaction Norm: What It Shows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DEFINITION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range of phenotypes a genotype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produces across environmental conditions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EXAMPLE: Plant height across water levels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Dry → short plants (Genotype A: 20cm)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Wet → tall plants (Genotype A: 80cm)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Same genotype; different phenotype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EVOLUTIONARY SIGNIFICANCE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reaction norm itself is heritable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Steepness of the norm can evolve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Plasticity can be gained or lost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Natural selection acts on the norm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not just on the individual phenotype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WHY THIS MATTERS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High-altitude lung hypertrophy in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humans is plastic — not inherited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as a fixed character by lowland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offspring. Selection on this plastic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character produces no lasting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allele frequency change.</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Reaction Norm: </a:t>
            </a:r>
            <a:pPr indent="0" marL="0">
              <a:buNone/>
            </a:pPr>
            <a:r>
              <a:rPr lang="en-US" sz="1100" dirty="0">
                <a:solidFill>
                  <a:srgbClr val="F4F1EC"/>
                </a:solidFill>
                <a:latin typeface="Calibri" pitchFamily="34" charset="0"/>
                <a:ea typeface="Calibri" pitchFamily="34" charset="-122"/>
                <a:cs typeface="Calibri" pitchFamily="34" charset="-120"/>
              </a:rPr>
              <a:t>The range of phenotypes a single genotype can produce across a range of environmental conditions. The reaction norm itself is heritable and evolvable — the plasticity of an organism is a product of its genes.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§6.5 Sources of Heritable Variation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Where Does Heritable Variation Come From?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MUTATION: changes to DNA sequence — single nucleotide polymorphisms (SNPs), insertions, deletions, chromosome rearrangements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Mutation is the ULTIMATE source of all new alleles — without mutation, there is no new variation for selection to act 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RECOMBINATION: crossing over during meiosis produces new allele combinations — enormously amplifies diversity without new mutations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GENE FLOW: migration introduces alleles from other populations — new variation for local populations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SEXUAL REPRODUCTION: independent assortment + fertilisation create new combinations every generation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Population genetics quantifies how all four sources contribute to the variation available for selection</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MUTATION (new alleles created)</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RECOMBI- NATION (new allele combinations)</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INDEPENDENT ASSORTMENT (chromosomes mix)</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GENE FLOW (new alleles arriving)</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HERITABLE VARIATION available for selection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Mutation: </a:t>
            </a:r>
            <a:pPr indent="0" marL="0">
              <a:buNone/>
            </a:pPr>
            <a:r>
              <a:rPr lang="en-US" sz="1100" dirty="0">
                <a:solidFill>
                  <a:srgbClr val="F4F1EC"/>
                </a:solidFill>
                <a:latin typeface="Calibri" pitchFamily="34" charset="0"/>
                <a:ea typeface="Calibri" pitchFamily="34" charset="-122"/>
                <a:cs typeface="Calibri" pitchFamily="34" charset="-120"/>
              </a:rPr>
              <a:t>A change in DNA sequence — the ultimate source of all new alleles. Provides the raw material on which recombination, selection, and drift act. Mutation alone is too slow to drive evolution; selection, recombination, and drift accelerate the change.</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§6.1–6.4 The Progression of Theory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Each Framework: One Problem Solved, One Introduced</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LAMARCK (1809): Solved — evolution is natural and mechanistic. Introduced — the inheritance mechanism problem: how are acquired characters transmitted?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WEISMANN (1883): Solved — Lamarck's inheritance mechanism is impossible (germ line isolated from soma). Introduced — clarified the need for a correct heredity mechanism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DARWIN (1859): Solved — the mechanism of adaptive change (natural selection from heritable variation). Introduced — the heredity mechanism problem: what preserves and transmits variation without blending?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MENDEL (1866/1900): Solved — particulate inheritance preserves variation. Introduced — how does genetics integrate with the population-level view of evolution?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MODERN SYNTHESIS (1937–47): Solved — mathematical integration of genetics with Darwinian selection. Introduced — molecular basis of mutation; developmental constraints; epigenetic inheritance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Science progresses by solving one problem and discovering the next — not by achieving a final answer</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Lamarck</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Mechanism</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but wrong</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heritage</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1809</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Weismann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Barrier</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disproves</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1883</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Darwin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Selection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but no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heritage</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1859</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Mendel</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Particulate</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solves it</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1866</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Synthesis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Unifies all</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1940s</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Theoretical Succession: </a:t>
            </a:r>
            <a:pPr indent="0" marL="0">
              <a:buNone/>
            </a:pPr>
            <a:r>
              <a:rPr lang="en-US" sz="1100" dirty="0">
                <a:solidFill>
                  <a:srgbClr val="F4F1EC"/>
                </a:solidFill>
                <a:latin typeface="Calibri" pitchFamily="34" charset="0"/>
                <a:ea typeface="Calibri" pitchFamily="34" charset="-122"/>
                <a:cs typeface="Calibri" pitchFamily="34" charset="-120"/>
              </a:rPr>
              <a:t>The progressive replacement and refinement of evolutionary frameworks — Lamarck → Darwin → Modern Synthesis — each solving its predecessor's central problem while opening new questions. The normal mode of scientific progress.</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18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biology student writes in an examination: "Lamarck's theory was completely wrong and scientifically worthless — the giraffe stretches its neck and passes the longer neck to its offspring. Darwin's theory replaced it entirely." Critically evaluate this statement. What did Lamarck actually propose? What did he get right that the student ignores? What is historically inaccurate about the giraffe example? Why is it important to understand Lamarck's theory correctly rather than through its caricature?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were Lamarck's two actual principles? Did he use the giraffe example himself? What parts of Lamarckism are genuine insights that were incorporated into later thinking? Why does science need accurate accounts of past theories?</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biology student writes in an examination: "Lamarck's theory was completely wrong and scientifically worthless — the giraffe stretches its neck and passes the longer neck to its offspring. Darwin's theory replaced it entirely." Critically evaluate this statement. What did Lamarck actually propose? What did he get right that the student ignores? What is historically inaccurate about the giraffe example? Why is it important to understand Lamarck's theory correctly rather than through its caricature?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student's statement contains three errors and misses a significant point. Error 1 — The giraffe caricature: The giraffe neck example was not Lamarck's central or most important example in the Philosophie Zoologique. It was applied to Lamarck by later commentators (and notably popularised by Darwin himself as a contrast to natural selection). Lamarck's actual theory was a general mechanistic account of organic change applicable to all organisms — reducing it to the giraffe example misrepresents the scope and intent of his work. Error 2 — "Completely wrong": Lamarck's first principle, use and disuse, is correct at the individual physiological level. Muscles strengthen with exercise; organs atrophy without use. This is real biology. What fails is the second principle — that these modifications are inherited. The student conflates the two principles. Error 3 — "Darwin replaced it entirely": Darwin's theory shares several of Lamarck's core insights — evolution is natural, mechanistic, cumulative, and driven by environmental conditions. Darwin himself retained elements of use and disuse in his thinking about variation. The Modern Synthesis built on, not replaced, many Lamarckian insights about how environment relates to organism change. What the student should have written: Lamarck's core contribution was establishing that species change through natural, mechanistic processes — this was his genuine and revolutionary insight, later vindicated by Darwin and the Synthesis. His first principle (use/disuse) is physiologically correct. His failure was the second principle (inheritance of acquired characters), refuted by the Weismann barrier: somatic changes cannot cross to the germ line. Understanding this correctly is important because: (1) it gives Lamarck appropriate scientific credit; (2) it teaches how theories fail at specific points while retaining valid insights; (3) it shows how science progresses by identifying the exact failure point, not by wholesale dismissal.</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Weismann's germ-plasm theory and the concept of the Weismann barrier are central to understanding why Lamarck's second principle fails. (a) What is the Weismann barrier and what does it specifically prevent? (b) Why was Weismann's tail-cutting experiment considered unsatisfactory as a test by some critics at the time? (c) What is the more convincing modern evidence that the Weismann barrier is real? (d) In what sense does epigenetics appear to challenge the Weismann barrier, and how should this challenge be assessed?</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information pathway would need to exist for Lamarck's mechanism to work? Why is cutting off tails not quite the right test? What molecular mechanisms protect the germ line? What do epigenetic inheritance studies actually show?</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Weismann's germ-plasm theory and the concept of the Weismann barrier are central to understanding why Lamarck's second principle fails. (a) What is the Weismann barrier and what does it specifically prevent? (b) Why was Weismann's tail-cutting experiment considered unsatisfactory as a test by some critics at the time? (c) What is the more convincing modern evidence that the Weismann barrier is real? (d) In what sense does epigenetics appear to challenge the Weismann barrier, and how should this challenge be assessed?</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The Weismann barrier: Weismann (1883) proposed that the cells of an organism are divided into two categories — the germ line (cells producing gametes, set aside early in embryogenesis) and the soma (all other body cells). The barrier is the developmental isolation of the germ line: information about somatic changes (environmental modifications, injuries, developmental responses) cannot cross from somatic cells to germ cells. Specifically, it prevents acquired somatic modifications from being encoded in the DNA sequence of gametes and transmitted to offspring. (b) Inadequacy of the tail-cutting experiment: Critics (including some Lamarckians) correctly pointed out that cutting off tails is not a fair test of Lamarck's principle. Lamarck's mechanism was about FUNCTIONAL use and disuse — organs that are actively used develop; those that are not used atrophy. Mechanical removal of a tail is not a functional modification driven by use — it is simply physical amputation. A proper Lamarckian test would need to show whether FUNCTIONAL changes (e.g., systematic disuse of the tail over many generations, or active development of a different tail structure through use) were inherited. This objection is formally correct but does not salvage Lamarck's mechanism, for reasons in (c). (c) Modern evidence for the Weismann barrier: The molecular mechanisms of germ line protection are now understood: (i) In animal embryos, primordial germ cells (PGCs) are set aside very early and are epigenetically reprogrammed — their methylation patterns are extensively reset, removing most somatic epigenetic marks; (ii) PGCs are transcriptionally quiescent during migration — they do not respond to signals that alter somatic gene expression; (iii) The DNA sequence of germ cells is not edited by environmental exposures in any systematic way. Human epidemiology: children of acquired amputees are born with full limbs. (d) Epigenetics and the barrier: Some studies (notably in plants, Caenorhabditis elegans, and some rodent studies) show that epigenetic marks (methylation patterns) can persist across one or two generations without changes in DNA sequence. This is called transgenerational epigenetic inheritance. The challenge to the Weismann barrier should be assessed carefully: (i) Most epigenetic marks ARE reset during germ cell development — the barrier holds for the vast majority of the genome; (ii) The few cases of transgenerational epigenetic inheritance involve specific loci under specific conditions, not systematic inheritance of environmentally acquired adaptive modifications; (iii) There is no evidence that the kind of directed, adaptive inheritance Lamarck proposed (blacksmith's arm → stronger children) occurs through epigenetic mechanisms; (iv) What does occur is occasional stochastic transmission of specific epigenetic states — interesting biology, but not Lamarckian inheritance of acquired characters in any meaningful sense.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 (Odisha Scenario)</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livestock farmer in Koraput district, Odisha, observes that cattle herded up to high-altitude Eastern Ghats pastures develop larger lung capacity and higher red blood cell counts after several months at altitude. He proposes breeding these cattle to produce a permanent high-altitude adapted herd without selective breeding, arguing: "If I breed from these cattle while they are at altitude, their calves will inherit the enlarged lungs and higher blood cell counts." Analyse this proposal from (a) a Lamarckian and (b) a Neo-Darwinian perspective. What experiment would decisively distinguish between the two predictions? What does the correct answer tell us about what the farmer should actually do to achieve his goal?</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is the physiological basis for the changes the cattle show at altitude? Are these changes genetic or plastic? What does each theory predict about where the calves should be raised to show the effect? What is the actual route to a genetically adapted herd?</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livestock farmer in Koraput district, Odisha, observes that cattle herded up to high-altitude Eastern Ghats pastures develop larger lung capacity and higher red blood cell counts after several months at altitude. He proposes breeding these cattle to produce a permanent high-altitude adapted herd without selective breeding, arguing: "If I breed from these cattle while they are at altitude, their calves will inherit the enlarged lungs and higher blood cell counts." Analyse this proposal from (a) a Lamarckian and (b) a Neo-Darwinian perspective. What experiment would decisively distinguish between the two predictions? What does the correct answer tell us about what the farmer should actually do to achieve his goal?</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Lamarckian analysis: Under Lamarck's theory, the enlarged lungs and elevated red blood cell count are acquired modifications produced by functional use (the physiological demand of low-oxygen environment). Principle 2 predicts these acquired modifications will be transmitted to offspring. The farmer's calves should therefore be born with enlarged lungs and elevated RBC counts regardless of where they are raised — even calves born and raised at sea level would show the high-altitude adaptations if their parents acquired them at altitude. (b) Neo-Darwinian analysis: The physiological changes (lung hypertrophy, polycythaemia) are phenotypic plasticity — a genetically determined capacity to respond to low O₂ that exists in all cattle, not just high-altitude ones. These changes are not encoded in DNA sequence and are not transmitted through gametes. The cattle's genes for "ability to develop more lung capacity when O₂ is low" are already present; the altitude simply activates this pre-existing capacity. Neo-Darwinian prediction: calves born from altitude-exposed parents will, if raised at low altitude, develop normal lung capacity. If raised at altitude, they will develop the same altitude response as any other cattle. The farmer's proposal is Lamarckian and is incorrect. Decisive experiment: breed from altitude-exposed cattle, but raise the calves at low altitude. Lamarck predicts: calves show enlarged lungs and elevated RBCs even at low altitude. Neo-Darwinism predicts: calves show normal low-altitude physiology. The experimental result consistently supports the Neo-Darwinian prediction. What the farmer should actually do: To produce a genetically adapted high-altitude herd through deliberate breeding, he needs true selective breeding: test which cattle maintain highest productivity at altitude, identify the heritable genetic variants contributing to high-altitude performance (using marker-assisted selection or genomic selection), breed from those individuals over multiple generations. Or, more practically, introduce breeds already genetically adapted to altitude (such as yaks or certain Himalayan cattle breeds) through crossbreeding.</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R.A. Fisher's 1918 paper "The Correlation of Relatives on the Supposition of Mendelian Inheritance" is described as the paper that saved the Modern Synthesis before it existed. (a) What was the conflict between Mendelian genetics and Darwinian evolution that Fisher's paper resolved? (b) What specifically did Fisher show, and how does it resolve the conflict? (c) Why does the resolution of this conflict matter for understanding how small genetic changes can produce the continuous variation seen in body height, skin colour, or beak size?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Think about the apparent conflict: Mendel's peas showed sharp discrete traits (wrinkled/round); Darwin's selection needed continuous gradual variation. How can discrete gene differences add up to continuous phenotypic variation? What happens when you have many genes, each of small effect?</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R.A. Fisher's 1918 paper "The Correlation of Relatives on the Supposition of Mendelian Inheritance" is described as the paper that saved the Modern Synthesis before it existed. (a) What was the conflict between Mendelian genetics and Darwinian evolution that Fisher's paper resolved? (b) What specifically did Fisher show, and how does it resolve the conflict? (c) Why does the resolution of this conflict matter for understanding how small genetic changes can produce the continuous variation seen in body height, skin colour, or beak size?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The Mendelian-Darwinian conflict: Mendel's genetics appeared to produce discrete, discontinuous variation — peas were round or wrinkled, not intermediate. Darwin's natural selection required gradual, continuous variation on which selection could act slowly over many generations. The biometricians (Pearson, Galton) who studied continuous traits (height, weight, intelligence) found smooth gradients that did not look like they followed Mendelian ratios. The early geneticists (Bateson, de Vries) who worked on Mendelian traits found discrete categories. The two groups disputed whether evolution proceeded by gradual small changes (biometricians, following Darwin) or by large discrete mutations (early geneticists, following de Vries's mutation theory). Each side had compelling data; they seemed to describe two different biological worlds. (b) What Fisher showed: Fisher (1918) demonstrated mathematically that if a quantitative trait (like height) is influenced by many loci each with a small effect, and if each locus follows Mendelian segregation, the total phenotypic variance observed in a population will follow the normal (bell-curve) distribution that the biometricians were measuring. Key result: continuous quantitative variation is NOT evidence against Mendelian genetics — it is the EXPECTED outcome when many Mendelian loci each contribute a small additive effect. The apparent conflict was a misunderstanding. Mendel's peas had one or a few loci with large discrete effects (easy to observe). Human height has hundreds of loci each of small effect (producing a continuous distribution). Both obey the same underlying Mendelian rules. (c) Why this matters for continuous traits: Human adult stature is influenced by approximately 300,000+ SNPs (genome-wide association studies confirm this). Each contributes a fraction of a millimetre of height difference. The sum of all these small Mendelian effects produces the familiar normal distribution of height in any population. Similarly, Darwin's finch beak depth (famously studied by the Grants) is influenced by a modest number of loci of varying effect — large enough that selection during a single drought can shift the population mean measurably within one generation. Fisher's paper showed that the Darwinian gradualist and Mendelian particulate pictures are not contradictory — they are two descriptions of the same biological reality at different scales of gene effect.</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Several researchers argue for an "Extended Evolutionary Synthesis" (EES) that would incorporate epigenetic inheritance, developmental plasticity, niche construction, and developmental constraints alongside natural selection and genetic inheritance. Supporters argue that the Modern Synthesis is incomplete; defenders of the Synthesis argue that these phenomena are already accommodated or are insufficiently supported. Evaluate the case for and against the Extended Evolutionary Synthesis. What would constitute sufficient evidence that a genuine extension is needed rather than an accommodation within the existing framework? What is at stake scientifically in this debate?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specifically do the EES proponents claim cannot be explained by the Modern Synthesis? Is epigenetic inheritance really transgenerational in a meaningful adaptive sense? Does phenotypic plasticity require a new mechanism, or does it already fit within the Synthesis? What would count as evidence that requires a new framework?</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Several researchers argue for an "Extended Evolutionary Synthesis" (EES) that would incorporate epigenetic inheritance, developmental plasticity, niche construction, and developmental constraints alongside natural selection and genetic inheritance. Supporters argue that the Modern Synthesis is incomplete; defenders of the Synthesis argue that these phenomena are already accommodated or are insufficiently supported. Evaluate the case for and against the Extended Evolutionary Synthesis. What would constitute sufficient evidence that a genuine extension is needed rather than an accommodation within the existing framework? What is at stake scientifically in this debate?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debate over the Extended Evolutionary Synthesis is one of the most substantive current controversies in evolutionary biology. Evaluating the case for EES: (1) Epigenetic inheritance: A small but growing body of evidence shows that some epigenetic marks can be transmitted across one to three generations in some species and conditions. If adaptive epigenetic changes can be reliably inherited and respond to selection over multiple generations, this would constitute a non-DNA-sequence inheritance channel not incorporated in the Modern Synthesis. The EES case is strongest here for specific well-documented examples (certain plant systems, some nematode stress responses). However: most epigenetic marks are erased during gametogenesis; transgenerational effects typically last only 1-3 generations; there is no evidence of systematic adaptive epigenetic inheritance driving macroevolutionary change. (2) Developmental plasticity and accommodation: EES proponents argue that when plastic phenotypic changes are heritable in their reaction norm, and when the environment triggers those changes consistently, a "plasticity-first" route to evolutionary change may exist — genetic assimilation (Baldwin effect/Waddington's canalisation). This is interesting but the genetic assimilation mechanism was already described within the Synthesis framework by Waddington in the 1940s. It does not require new inheritance mechanisms — only selection on the existing genetic basis of reaction norms. (3) Niche construction: Organisms modify their environments (beaver dams, earthworm burrowing), creating feedback between evolutionary change and environmental modification. EES proponents argue this requires treating organisms as evolutionary agents, not just passive targets of selection. Response: niche construction is real but models within standard population genetics can incorporate environmental feedback. It is an important perspective but may not require extending the inheritance framework. (4) Developmental constraints: EES emphasises that development constrains what phenotypes selection can produce — not all variation is possible. This is undeniably true but was incorporated into the Synthesis through Fisher's quantitative genetics (which treats developmental effects as part of the genetic architecture). What would constitute sufficient evidence for a genuine extension: (a) Demonstration that epigenetic variants reliably respond to selection for &gt;10 generations independently of DNA sequence changes; (b) Discovery that adaptive evolutionary trajectories consistently differ from those predicted by standard population genetics in ways explainable only by non-DNA inheritance; (c) Cases where the EES framework makes specific, testable predictions that differ from Modern Synthesis predictions and the EES predictions are confirmed. What is scientifically at stake: The debate matters because it determines what evolutionary biology needs to explain and how. If the EES is right, evolutionary theory must incorporate inheritance mechanisms beyond DNA — changing how we model evolutionary change, how we study adaptation, and how we interpret the fossil record. If the Modern Synthesis is adequate with modifications, the current framework remains the appropriate tool. The honest current assessment: the EES raises genuine questions about mechanisms that are underrepresented in standard textbook accounts of the Modern Synthesis. However, the evidence for new inheritance mechanisms at evolutionarily significant scales remains limited. The debate is valuable for pushing evolutionary biology to engage more deeply with developmental biology and ecology — regardless of whether a formal extension of the Synthesis framework is ultimately justified.</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Lamarck's theory was that giraffes stretched their necks and passed longer necks to offspring.</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giraffe neck example was applied to Lamarck by later commentators and was not his central example. Lamarck's theory was a general mechanistic account of organic change based on use/disuse and inheritance of acquired characters, applicable to all organisms. Reducing it to the giraffe example is a caricature that obscures the genuine insights in his work.</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Darwin's theory of natural selection was a complete explanation of evolution when first proposed.</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Darwin's theory had a critical unsolved problem: the mechanism of heredity. Under the then-assumed blending inheritance, new variants would be diluted to insignificance within a few generations. Darwin's own proposed mechanism (pangenesis) was disproved in his lifetime. Mendel's solution (particulate inheritance) was not known to Darwin and only integrated into Darwinian theory through the Modern Synthesis, 70+ years after the Origin of Species.</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Phenotypic plasticity is evidence that Lamarck was right — organisms change in response to the environment and pass this on.</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Phenotypic plasticity is the capacity of a genotype to produce different phenotypes in different environments — this capacity is itself encoded in the genotype and is inherited. The individual phenotypic changes (altitude-induced lung hypertrophy, sun-induced melanin darkening) are not inherited as fixed characters. What is inherited is the ABILITY to respond in that way — the reaction norm. This is entirely consistent with Neo-Darwinian genetics.</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Modern Synthesis is the final, complete theory of evolution.</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Modern Synthesis unified genetics, selection, and palaeontology into a powerful framework but is explicitly open to extension. Molecular biology (neutral theory), evo-devo (developmental constraints), and epigenetics have all added dimensions not fully articulated in the original Synthesis. The core mechanism — natural selection on heritable variation — remains intact, but the range of inheritance mechanisms and evolutionary forces recognised has broadened considerably.</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Lamarck (1809) gave evolution its first systematic mechanistic theory. His first principle (use/disuse) is correct at the physiological level; his second principle (inheritance of acquired characters) is refuted by the Weismann barrier.</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Weismann barrier is the developmental separation of the germ line (gamete-producing cells) from the soma — somatic changes cannot cross to gametes, making Lamarck's inheritance mechanism physically impossible.</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Darwin's natural selection follows necessarily from three observations (overproduction, heritable variation, limited resources) but left the heredity mechanism unsolved. Blending inheritance would destroy variation within a few generations.</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Modern Synthesis (1930s–1940s) resolved the Darwin-Mendel conflict: Fisher showed that many small-effect Mendelian genes produce continuous quantitative variation. The Synthesis unified population genetics, systematics, and palaeontology.</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Natural selection can only produce lasting evolutionary change through heritable (genetic) variation — phenotypic plasticity produces reversible individual responses. Only variation with a DNA-sequence basis is transmitted as a fixed character to offspring.</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5 (evidence for evolution that needed an explanatory framework) · Ch. 4 (origin of first cells — the starting material for all evolutionary change)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Ch. 7 (formal population genetics machinery — H-W, selection equations, drift) · Ch. 9 (speciation — the product of cumulative selection and isolation)</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6 — Evolutionary Theory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2026-05-29T05:52:18Z</dcterms:created>
  <dcterms:modified xsi:type="dcterms:W3CDTF">2026-05-29T05:52:18Z</dcterms:modified>
</cp:coreProperties>
</file>