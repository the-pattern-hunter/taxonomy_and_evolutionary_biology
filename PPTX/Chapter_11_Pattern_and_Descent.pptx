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11</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The Lab Companion</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A Guide to Practicals 1–9</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4 · Practical Methods in Taxonomy and Evolutionary Biology</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"A practical is a hypothesis test in miniature. Every measurement you make, every specimen you preserve, every chi-square you calculate is an instance of the same reasoning that produces published science."</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P1 — Collection Equipment</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P2 — Taxonomic Keys</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P3 — Preservation and Curation</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P4 — Fossil Study</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P5 — Homology and Analogy</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P6 — Hardy-Weinberg Chi-Square</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P7 — Selection and Drift Simulation</a:t>
            </a:r>
            <a:endParaRPr lang="en-US" sz="1150" dirty="0"/>
          </a:p>
        </p:txBody>
      </p:sp>
      <p:sp>
        <p:nvSpPr>
          <p:cNvPr id="32" name="Shape 30"/>
          <p:cNvSpPr/>
          <p:nvPr/>
        </p:nvSpPr>
        <p:spPr>
          <a:xfrm>
            <a:off x="4590288"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4590288" y="2596896"/>
            <a:ext cx="347472" cy="475488"/>
          </a:xfrm>
          <a:prstGeom prst="rect">
            <a:avLst/>
          </a:prstGeom>
          <a:solidFill>
            <a:srgbClr val="2D5A3D"/>
          </a:solidFill>
          <a:ln w="12700">
            <a:solidFill>
              <a:srgbClr val="2D5A3D"/>
            </a:solidFill>
            <a:prstDash val="solid"/>
          </a:ln>
        </p:spPr>
      </p:sp>
      <p:sp>
        <p:nvSpPr>
          <p:cNvPr id="34" name="Text 32"/>
          <p:cNvSpPr/>
          <p:nvPr/>
        </p:nvSpPr>
        <p:spPr>
          <a:xfrm>
            <a:off x="4590288"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p:nvPr/>
        </p:nvSpPr>
        <p:spPr>
          <a:xfrm>
            <a:off x="4974336"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P8 — Height/Weight Data Analysis</a:t>
            </a:r>
            <a:endParaRPr lang="en-US" sz="1150" dirty="0"/>
          </a:p>
        </p:txBody>
      </p:sp>
      <p:sp>
        <p:nvSpPr>
          <p:cNvPr id="36" name="Shape 34"/>
          <p:cNvSpPr/>
          <p:nvPr/>
        </p:nvSpPr>
        <p:spPr>
          <a:xfrm>
            <a:off x="274320" y="3273552"/>
            <a:ext cx="8595360" cy="566928"/>
          </a:xfrm>
          <a:prstGeom prst="rect">
            <a:avLst/>
          </a:prstGeom>
          <a:solidFill>
            <a:srgbClr val="1C2B1E"/>
          </a:solidFill>
          <a:ln w="12700">
            <a:solidFill>
              <a:srgbClr val="1C2B1E"/>
            </a:solidFill>
            <a:prstDash val="solid"/>
          </a:ln>
        </p:spPr>
      </p:sp>
      <p:sp>
        <p:nvSpPr>
          <p:cNvPr id="37" name="Text 35"/>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T1–T4 — All theoretical threads from the course now operationalised in specific practical procedures</a:t>
            </a:r>
            <a:endParaRPr lang="en-US" sz="1050" dirty="0"/>
          </a:p>
        </p:txBody>
      </p:sp>
      <p:sp>
        <p:nvSpPr>
          <p:cNvPr id="38" name="Text 36"/>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9" name="Text 37"/>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P1 — Collection Equipment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Matching Tool to Target: Why Method Choice Is Science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SWEEP NET: fine mesh bag on a rigid frame — sweep through vegetation to collect flying and foliage-dwelling insects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BERLESE-TULLGREN FUNNEL: heat + light gradient drives soil/litter arthropods down into collecting jar of 70% EtOH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PITFALL TRAP: container flush with soil surface, preservative inside — passive trap for ground-active invertebrates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LIGHT TRAP: UV or mercury vapour lamp attracts nocturnal flying insects; white sheet for visual collection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AQUATIC NET: D-shaped frame with fine mesh — kick sampling in streams for benthic invertebrates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method introduces bias — a complete survey of any habitat requires MULTIPLE complementary methods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Method × Target Matrix</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AERIAL / FOLIAGE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Sweep net → beetles, bugs, flies,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spiders in vegetation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UV light trap → moths, beetles, flies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(nocturnal)</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SOIL / LITTER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Berlese-Tullgren → mites, springtails,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beetles, ants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Pitfall trap → carabids, ants, spiders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AQUATIC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D-frame net, kick sampling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EPT insects (Ephemeroptera,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Plecoptera, Trichoptera), chironomids,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crustaceans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Surber sampler → quantitative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ACTIVE SEARCHING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By hand + forceps → herpetofauna,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large insects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Aspirator (pooter) → small insects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from surfaces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Sampling Bias: </a:t>
            </a:r>
            <a:pPr indent="0" marL="0">
              <a:buNone/>
            </a:pPr>
            <a:r>
              <a:rPr lang="en-US" sz="1100" dirty="0">
                <a:solidFill>
                  <a:srgbClr val="F4F1EC"/>
                </a:solidFill>
                <a:latin typeface="Calibri" pitchFamily="34" charset="0"/>
                <a:ea typeface="Calibri" pitchFamily="34" charset="-122"/>
                <a:cs typeface="Calibri" pitchFamily="34" charset="-120"/>
              </a:rPr>
              <a:t>The systematic over- or under-representation of certain organism types in a collection due to the method used. Each collection method has characteristic biases. Multiple complementary methods are needed to produce a representative sample of any community.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P1 — Label Protocol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Label Is Part of the Specimen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MINIMUM required on every label: (1) GPS coordinates or precise locality, (2) collection date (day.month.year), (3) collector name, (4) habitat description, (5) collection method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Label goes INSIDE the vial (alcohol collections) AND outside — inside label survives if outside detaches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Write with PENCIL or waterproof ink — ballpoint ink dissolves in alcohol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GPS to 5 decimal places (~1m precision) is the modern standard for zoological collections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specimen without location and date has near-zero scientific value for distribution or ecological studies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Practice now: for every organism you collect today, record the data IMMEDIATELY — memory is unreliable within hours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Standard Zoological Label Format</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LOCALITY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INDIA: Odisha: Mayurbhanj</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Simlipal BR, Block 4, sal forest floor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21.8432°N, 86.5012°E  Alt: 412 m</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DATE: 14.iii.2024</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COLLECTOR: A.K. Panda</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METHOD: Berlese funnel, 500g litter</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HABITAT: moist deciduous sal forest,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closed canopy, ~30cm litter depth</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NOTES: after 72h rain, humid conditions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VIAL CONTENTS: mixed Collembola,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Acari, Coleoptera larvae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[WRITE IN PENCIL OR WATERPROOF INK</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INSERT INSIDE VIAL BEFORE SEALING]</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Collection Label: </a:t>
            </a:r>
            <a:pPr indent="0" marL="0">
              <a:buNone/>
            </a:pPr>
            <a:r>
              <a:rPr lang="en-US" sz="1100" dirty="0">
                <a:solidFill>
                  <a:srgbClr val="F4F1EC"/>
                </a:solidFill>
                <a:latin typeface="Calibri" pitchFamily="34" charset="0"/>
                <a:ea typeface="Calibri" pitchFamily="34" charset="-122"/>
                <a:cs typeface="Calibri" pitchFamily="34" charset="-120"/>
              </a:rPr>
              <a:t>A permanent record of the locality, date, collector, habitat, and method attached to every specimen. The label transforms a physical object into a scientific record. Without it, specimens cannot be used for distributional or ecological research.</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P2 — Taxonomic Keys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Key as a Decision Tree: How to Use It Correctly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Dichotomous key: pairs of mutually exclusive character statements at each couplet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Working procedure: (1) read BOTH sides of each couplet before choosing; (2) select the statement that applies to your specimen; (3) follow to next couplet or terminal name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When stuck: go back to the previous couplet and re-examine — most errors are in character observation, not the key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Keys require complete specimens: missing antennae, worn wing scales, damaged mouthparts → may not work</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name reached is a PROVISIONAL IDENTIFICATION — must be verified against original description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Record the couplet path: "couplet 1a → 3b → 7a → Genus X species Y" — allows you to retrace and check</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Read BOTH statements (couplet)</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Observe character on specimen</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Select applicable statement</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Follow to next couplet or name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Record path Verify vs description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Provisional Identification: </a:t>
            </a:r>
            <a:pPr indent="0" marL="0">
              <a:buNone/>
            </a:pPr>
            <a:r>
              <a:rPr lang="en-US" sz="1100" dirty="0">
                <a:solidFill>
                  <a:srgbClr val="F4F1EC"/>
                </a:solidFill>
                <a:latin typeface="Calibri" pitchFamily="34" charset="0"/>
                <a:ea typeface="Calibri" pitchFamily="34" charset="-122"/>
                <a:cs typeface="Calibri" pitchFamily="34" charset="-120"/>
              </a:rPr>
              <a:t>The name reached at the terminal entry of a dichotomous key. A provisional identification is a hypothesis that must be confirmed by comparison with the original published species description. The key produces hypotheses, not confirmed identifications.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P2 — Why Keys Fail (and What to Do)</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Four Failure Modes and Their Remedies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FAILURE 1 — Out-of-scope specimen: the key was written for a different region or group; your specimen is not in its scope → find a key written for your region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FAILURE 2 — Outdated key: new species described since the key was published; your specimen may be an undescribed species → check recent literature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FAILURE 3 — Damaged specimen: the key character is on a missing part → try to find an intact specimen; or use molecular methods (barcoding)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FAILURE 4 — Intraspecific variation: the character used is variable within the species → try to obtain comparative series of specimens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 ALL CASES: if the key leads to a name that is clearly wrong (wrong geography, wrong habitat), backtrack to the last confident couplet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no key works: photograph the specimen, post to iNaturalist or a specialist society, and consider depositing for expert examination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KEY WORKS WHEN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Specimen from key's geographic scope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Species described before key was written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Specimen is complete and adult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Stable characters examined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Using the correct key for the group</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KEY FAILS WHEN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Specimen outside key's scope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New species undescribed at writing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Diagnostic characters damaged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Highly variable intraspecific character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Key is obsolete</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Couplet Path: </a:t>
            </a:r>
            <a:pPr indent="0" marL="0">
              <a:buNone/>
            </a:pPr>
            <a:r>
              <a:rPr lang="en-US" sz="1100" dirty="0">
                <a:solidFill>
                  <a:srgbClr val="F4F1EC"/>
                </a:solidFill>
                <a:latin typeface="Calibri" pitchFamily="34" charset="0"/>
                <a:ea typeface="Calibri" pitchFamily="34" charset="-122"/>
                <a:cs typeface="Calibri" pitchFamily="34" charset="-120"/>
              </a:rPr>
              <a:t>The sequence of couplet numbers and choices taken through a dichotomous key to reach a terminal identification. Recording the path allows retracing and checking for errors in character observation.</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P3 — Preservation and Curation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Irreversible Decision: Formalin vs Ethanol</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morphology only: 10% formalin (formaldehyde) — firm tissue fixation, excellent long-term morphology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morphology + molecular work: 95% ethanol — preserves DNA; replace after 24–48 hours (body fluids dilute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DUAL SAMPLING: remove one leg into 95% EtOH microtube immediately at collection → DNA; preserve body in 70% EtOH → morphology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Formalin-fixed DNA is irrecoverably damaged — the decision cannot be undone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submission (Practical 3): each specimen must have a label inside the vial with full collection data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Curation means accessioning: each specimen gets a catalogue number; the number links the physical specimen to the database record</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Collect (kill: EtOAc or freezing)</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Remove leg → 95% EtOH microtube (DNA)</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Body → 70% EtOH + label (morphology)</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Replace EtOH after 24-48h (dilution prevention)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Deposit + Accession (museum catalogue)</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Dual Preservation: </a:t>
            </a:r>
            <a:pPr indent="0" marL="0">
              <a:buNone/>
            </a:pPr>
            <a:r>
              <a:rPr lang="en-US" sz="1100" dirty="0">
                <a:solidFill>
                  <a:srgbClr val="F4F1EC"/>
                </a:solidFill>
                <a:latin typeface="Calibri" pitchFamily="34" charset="0"/>
                <a:ea typeface="Calibri" pitchFamily="34" charset="-122"/>
                <a:cs typeface="Calibri" pitchFamily="34" charset="-120"/>
              </a:rPr>
              <a:t>The standard modern protocol: remove tissue (leg) immediately into 95% ethanol for molecular work; preserve the body in 70% ethanol for morphological study. Maximises the scientific value of each specimen by enabling both approaches.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P3 — Submission Requirements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Your Two Specimens Must Include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Two specimens collected and preserved by you — not purchased or obtained from another collection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specimen in its own labelled container (vial or tube)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Label inside the vial with: locality (GPS), date, your name, habitat, method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Brief identification: "Coleoptera: Staphylinidae?" is acceptable if family-level is the limit of confidence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Preservation quality: specimens must be fully submerged in 70% ethanol (not dried out)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act of submission is a miniature form of what every museum deposit involves — you are creating a scientific record</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P3 Submission Checklist</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EACH SPECIMEN NEEDS: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Separate labelled vial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70% ethanol covering specimen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Label INSIDE vial (pencil/waterproof)</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Label contains: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GPS or precise locality description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Date (day.month.year)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Collector name (yours)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Habitat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Collection method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Identification attempt (family level)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External label with same info</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DO NOT: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Use tap water (osmotic shock)</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Write label in ballpoint pen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(dissolves in alcohol)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Leave specimen partly exposed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(tissue dries and deteriorates)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Omit the GPS coordinates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(reduces scientific value to near zero)</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Catalogue Number: </a:t>
            </a:r>
            <a:pPr indent="0" marL="0">
              <a:buNone/>
            </a:pPr>
            <a:r>
              <a:rPr lang="en-US" sz="1100" dirty="0">
                <a:solidFill>
                  <a:srgbClr val="F4F1EC"/>
                </a:solidFill>
                <a:latin typeface="Calibri" pitchFamily="34" charset="0"/>
                <a:ea typeface="Calibri" pitchFamily="34" charset="-122"/>
                <a:cs typeface="Calibri" pitchFamily="34" charset="-120"/>
              </a:rPr>
              <a:t>The unique identifier assigned to a specimen when it is formally accessioned into a collection. Links the physical specimen to its database record (label data, photographs, identification history). Makes the specimen permanently traceable.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P4 — Fossil Study from Models/Pictures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You Are Observing and Why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Goal: recognise key fossil types (permineralised bone, compression, amber, trace, cast/mould) from specimens or images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permineralised vertebrate fossils: identify anatomical region (cranium, limb bone, vertebra) and note preservation features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compression fossils (leaves, insects): note two-dimensional nature; identify structural features; recognise carbonised film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 amber inclusions: note three-dimensional preservation quality; identify inclusion type (insect, plant material)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skill: relate the preservation type to the depositional environment that produced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Apply geological time scale: "This is a trilobite → Palaeozoic; this is a dinosaur bone → Mesozoic"</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What to Record When Studying a Fossil</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FOR EACH FOSSIL, RECORD: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1. PRESERVATION TYPE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Permineralised / compression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cast-mould / amber / trace / chemical</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2. TAXON IDENTIFICATION (attempt)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Phylum / Class / Order if possible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"Indeterminate invertebrate" acceptable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3. GEOLOGICAL PERIOD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Inferred from taxon or matrix</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Cite the time scale (Appendix A)</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4. DEPOSITIONAL ENVIRONMENT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What environment produces this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preservation type?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Marine / lacustrine / terrestrial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resin / etc.</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5. TAPHONOMY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Signs of weathering, breakage,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transport (rounding of edges)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Complete or fragmentary?</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6. BIOLOGICAL OBSERVATION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Behaviour inferred if trace fossil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Anatomical features present</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Taphonomy: </a:t>
            </a:r>
            <a:pPr indent="0" marL="0">
              <a:buNone/>
            </a:pPr>
            <a:r>
              <a:rPr lang="en-US" sz="1100" dirty="0">
                <a:solidFill>
                  <a:srgbClr val="F4F1EC"/>
                </a:solidFill>
                <a:latin typeface="Calibri" pitchFamily="34" charset="0"/>
                <a:ea typeface="Calibri" pitchFamily="34" charset="-122"/>
                <a:cs typeface="Calibri" pitchFamily="34" charset="-120"/>
              </a:rPr>
              <a:t>The study of how organisms decay, disarticulate, and become buried to become fossils. Understanding taphonomy is essential for interpreting what the fossil record does and does not tell us about past life.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P5 — Homology and Analogy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Identifying the Difference on Real Specimens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HOMOLOGY test on specimens: examine internal structure and developmental origin — do the structures share the same bones/tissues/organs in the same topological relationships?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Tetrapod forelimb specimens: identify humerus, radius, ulna, carpals in bat wing, human arm, whale flipper — same bones, different proportions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ANALOGY test: examine function vs structure — do similar functions require the same structural plan?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Compare bat wing (elongated digits, membrane) with butterfly wing (chitinous vein pattern, scales) — same function, entirely different structural plan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exercise: explain WHY homologous structures in different taxa perform different functions yet retain the same fundamental plan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Answer: natural selection modifies existing structures (modification with descent) — it cannot design from scratch</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IDENTIFY HOMOLOGY BY</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bones in same topological positions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Embryonic origin in same tissue type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Continuity of structure across lineages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Fossil record shows gradual modification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Even if function differs completely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IDENTIFY ANALOGY BY</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function, different structure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Different embryonic origin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structural continuity between groups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Independently evolved convergence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bat wing vs butterfly wing</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Topological Correspondence: </a:t>
            </a:r>
            <a:pPr indent="0" marL="0">
              <a:buNone/>
            </a:pPr>
            <a:r>
              <a:rPr lang="en-US" sz="1100" dirty="0">
                <a:solidFill>
                  <a:srgbClr val="F4F1EC"/>
                </a:solidFill>
                <a:latin typeface="Calibri" pitchFamily="34" charset="0"/>
                <a:ea typeface="Calibri" pitchFamily="34" charset="-122"/>
                <a:cs typeface="Calibri" pitchFamily="34" charset="-120"/>
              </a:rPr>
              <a:t>Homologous structures maintain the same spatial relationships to each other and to adjacent structures regardless of how their size or shape has changed. The humerus is always proximal to the radius-ulna in all tetrapods regardless of limb function.</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P6 — Hardy-Weinberg Chi-Square Analysis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Step-by-Step Protocol</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1: Count genotype numbers from the sample (N_AA, N_Aa, N_aa)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2: Calculate p = (2N_AA + N_Aa) / 2N; q = 1 − 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3: Expected counts: E_AA = p² × N; E_Aa = 2pq × N; E_aa = q² × 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4: χ² = (N_AA − E_AA)²/E_AA + (N_Aa − E_Aa)²/E_Aa + (N_aa − E_aa)²/E_aa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5: df = 1 (3 classes − 1 allele frequency estimated − 1)</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6: Compare χ² to critical value 3.84 at p = 0.05; state conclusion and identify likely disturbing force if significant</a:t>
            </a:r>
            <a:endParaRPr lang="en-US" sz="1300" dirty="0"/>
          </a:p>
        </p:txBody>
      </p:sp>
      <p:sp>
        <p:nvSpPr>
          <p:cNvPr id="7" name="Shape 5"/>
          <p:cNvSpPr/>
          <p:nvPr/>
        </p:nvSpPr>
        <p:spPr>
          <a:xfrm>
            <a:off x="5120640" y="960120"/>
            <a:ext cx="3749040" cy="3474720"/>
          </a:xfrm>
          <a:prstGeom prst="rect">
            <a:avLst/>
          </a:prstGeom>
          <a:solidFill>
            <a:srgbClr val="1C2B1E"/>
          </a:solidFill>
          <a:ln w="12700">
            <a:solidFill>
              <a:srgbClr val="C8791E"/>
            </a:solidFill>
            <a:prstDash val="solid"/>
          </a:ln>
        </p:spPr>
      </p:sp>
      <p:sp>
        <p:nvSpPr>
          <p:cNvPr id="8" name="Text 6"/>
          <p:cNvSpPr/>
          <p:nvPr/>
        </p:nvSpPr>
        <p:spPr>
          <a:xfrm>
            <a:off x="5257800" y="1234440"/>
            <a:ext cx="3474720" cy="914400"/>
          </a:xfrm>
          <a:prstGeom prst="rect">
            <a:avLst/>
          </a:prstGeom>
          <a:noFill/>
          <a:ln/>
        </p:spPr>
        <p:txBody>
          <a:bodyPr wrap="square" rtlCol="0" anchor="ctr"/>
          <a:lstStyle/>
          <a:p>
            <a:pPr algn="ctr" indent="0" marL="0">
              <a:buNone/>
            </a:pPr>
            <a:r>
              <a:rPr lang="en-US" sz="2200" b="1" dirty="0">
                <a:solidFill>
                  <a:srgbClr val="C8791E"/>
                </a:solidFill>
                <a:latin typeface="Courier New" pitchFamily="34" charset="0"/>
                <a:ea typeface="Courier New" pitchFamily="34" charset="-122"/>
                <a:cs typeface="Courier New" pitchFamily="34" charset="-120"/>
              </a:rPr>
              <a:t>χ² = Σ (O−E)²/E &gt; 3.84 → reject H-W</a:t>
            </a:r>
            <a:endParaRPr lang="en-US" sz="2200" dirty="0"/>
          </a:p>
        </p:txBody>
      </p:sp>
      <p:sp>
        <p:nvSpPr>
          <p:cNvPr id="9" name="Text 7"/>
          <p:cNvSpPr/>
          <p:nvPr/>
        </p:nvSpPr>
        <p:spPr>
          <a:xfrm>
            <a:off x="5257800" y="2331720"/>
            <a:ext cx="3474720" cy="1828800"/>
          </a:xfrm>
          <a:prstGeom prst="rect">
            <a:avLst/>
          </a:prstGeom>
          <a:noFill/>
          <a:ln/>
        </p:spPr>
        <p:txBody>
          <a:bodyPr wrap="square" rtlCol="0" anchor="t"/>
          <a:lstStyle/>
          <a:p>
            <a:pPr indent="0" marL="0">
              <a:buNone/>
            </a:pPr>
            <a:r>
              <a:rPr lang="en-US" sz="1100" dirty="0">
                <a:solidFill>
                  <a:srgbClr val="F4F1EC"/>
                </a:solidFill>
                <a:latin typeface="Calibri" pitchFamily="34" charset="0"/>
                <a:ea typeface="Calibri" pitchFamily="34" charset="-122"/>
                <a:cs typeface="Calibri" pitchFamily="34" charset="-120"/>
              </a:rPr>
              <a:t>STEP 1: Count: N_AA, N_Aa, N_aa from sample of N</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STEP 2: p = (2N_AA + N_Aa)/2N  ;  q = 1−p</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STEP 3: E_AA=p²N  E_Aa=2pqN  E_aa=q²N</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STEP 4: χ² = (O_AA−E_AA)²/E_AA + (O_Aa−E_Aa)²/E_Aa + (O_aa−E_aa)²/E_aa</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df = 1  ;  Critical value (p=0.05, df=1) = 3.84</a:t>
            </a:r>
            <a:endParaRPr lang="en-US" sz="1100" dirty="0"/>
          </a:p>
          <a:p>
            <a:pPr indent="0" marL="0">
              <a:buNone/>
            </a:pPr>
            <a:r>
              <a:rPr lang="en-US" sz="1100" dirty="0">
                <a:solidFill>
                  <a:srgbClr val="F4F1EC"/>
                </a:solidFill>
                <a:latin typeface="Calibri" pitchFamily="34" charset="0"/>
                <a:ea typeface="Calibri" pitchFamily="34" charset="-122"/>
                <a:cs typeface="Calibri" pitchFamily="34" charset="-120"/>
              </a:rPr>
              <a:t>χ² &gt; 3.84: REJECT H-W — at least one force operating</a:t>
            </a:r>
            <a:endParaRPr lang="en-US" sz="11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Degrees of Freedom (H-W test): </a:t>
            </a:r>
            <a:pPr indent="0" marL="0">
              <a:buNone/>
            </a:pPr>
            <a:r>
              <a:rPr lang="en-US" sz="1100" dirty="0">
                <a:solidFill>
                  <a:srgbClr val="F4F1EC"/>
                </a:solidFill>
                <a:latin typeface="Calibri" pitchFamily="34" charset="0"/>
                <a:ea typeface="Calibri" pitchFamily="34" charset="-122"/>
                <a:cs typeface="Calibri" pitchFamily="34" charset="-120"/>
              </a:rPr>
              <a:t>For a two-allele Hardy-Weinberg chi-square test: df = (number of genotype classes) − 1 − (number of allele frequencies estimated from data) = 3 − 1 − 1 = 1. The single critical value at p = 0.05, df = 1 is χ² = 3.84.</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P6 — Interpreting the Chi-Square Result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a Significant χ² Tells You and What It Does Not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SIGNIFICANT χ² (&gt; 3.84): at least one of the five H-W conditions is violated — at least one evolutionary force is operating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χ² does NOT tell you WHICH force — that requires additional analysis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EXCESS HOMOZYGOTES (fewer heterozygotes than expected): suggests inbreeding, assortative mating, or Wahlund effect (population subdivision)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DEFICIT OF ONE GENOTYPE CLASS: suggests selection against that genotype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NON-SIGNIFICANT χ² (&lt; 3.84): fail to reject H-W — consistent with equilibrium, but does not PROVE equilibrium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Small sample problem: if any expected count &lt; 5, the chi-square approximation is unreliable — use Fisher's exact test or collect more data</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Interpreting Deviations from H-W</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EXCESS HOMOZYGOTES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Observed: more AA + aa than expected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Observed: fewer Aa than expected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Inbreeding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Assortative mating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Wahlund effect (subdivided population)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Distinguish: check multiple loci</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If all loci show excess homozygotes: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inbreeding or Wahlund effect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If only one locus: → selection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DEFICIT OF aa SPECIFICALLY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Selection against aa (s &gt; 0)</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Check if aa has lower survival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or fertility than other genotypes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EXCESS OF Aa OVER H-W EXPECTATION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Heterozygous advantage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(balancing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Frequency-dependent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maintaining polymorphism</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NO DEVIATION (χ² &lt; 3.84)</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Population may be in equilibrium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OR sample too small to detect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existing deviations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Wahlund Effect: </a:t>
            </a:r>
            <a:pPr indent="0" marL="0">
              <a:buNone/>
            </a:pPr>
            <a:r>
              <a:rPr lang="en-US" sz="1100" dirty="0">
                <a:solidFill>
                  <a:srgbClr val="F4F1EC"/>
                </a:solidFill>
                <a:latin typeface="Calibri" pitchFamily="34" charset="0"/>
                <a:ea typeface="Calibri" pitchFamily="34" charset="-122"/>
                <a:cs typeface="Calibri" pitchFamily="34" charset="-120"/>
              </a:rPr>
              <a:t>An apparent deficit of heterozygotes (excess of homozygotes) in a sample drawn from two or more subpopulations with different allele frequencies. Produces the same statistical signal as inbreeding but has a different biological cause — population subdivision rather than non-random mating within a subpopulation.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P7 — Selection and Drift Simulation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Simulating Evolution in the Classroom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OBJECTIVE: demonstrate that allele frequencies change differently under selection vs drift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SELECTION SIMULATION: assign fitness values to genotypes; each generation, randomly draw gametes but apply the survival filter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DRIFT SIMULATION: without selection, randomly draw alleles for the next generation from a small population — track allele frequency trajectories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OBSERVATION from drift: in small populations (N = 10), alleles rapidly fix or go extinct even without selection — trajectories are jagged and unpredictable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OBSERVATION from selection: directional selection produces consistent, predictable allele frequency change toward fixation of the favoured allele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Compare: large population + selection = smooth directional change; small population + no selection = erratic random walk</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SELECTION (N large)</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Consistent directional change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Favoured allele increases each generation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Rate proportional to 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Predictable trajectory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Deterministic outcome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DRIFT (N small)</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Random allele frequency change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Direction unpredictable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Rate proportional to 1/Nₑ</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Jagged erratic trajectory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Stochastic outcome: fixation or loss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Allele Fixation: </a:t>
            </a:r>
            <a:pPr indent="0" marL="0">
              <a:buNone/>
            </a:pPr>
            <a:r>
              <a:rPr lang="en-US" sz="1100" dirty="0">
                <a:solidFill>
                  <a:srgbClr val="F4F1EC"/>
                </a:solidFill>
                <a:latin typeface="Calibri" pitchFamily="34" charset="0"/>
                <a:ea typeface="Calibri" pitchFamily="34" charset="-122"/>
                <a:cs typeface="Calibri" pitchFamily="34" charset="-120"/>
              </a:rPr>
              <a:t>The state in which an allele reaches frequency 1.0 in a population — all individuals are homozygous for it. Can occur by selection (favoured allele) or drift (any allele in a small population). Once fixed, the other allele is lost unless new mutation occurs.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P8 — Height/Weight Data Analysis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Graphical Representation and Interpretation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DATA COLLECTION: measure height (cm, to nearest 0.5) and weight (kg, to nearest 0.5) from 100 human subjects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Record sex (M/F) and age (years) for each subject — these are the grouping variables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GRAPHICAL REPRESENTATIONS: frequency histogram for height distribution; scatter plot of height vs weight; separate curves for males and females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EXPECTED PATTERN: normal distribution for height within sex; positive correlation between height and weight; sex difference in mean height and weight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STATISTICAL ANALYSIS: mean, median, standard deviation for each sex-age group; t-test or Mann-Whitney for sex differences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EVOLUTIONARY INTERPRETATION: sexual dimorphism in body size → evidence for sexual selection; normal distribution → polygenic inheritance + stabilising selection</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P8 Analysis Checklist</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REQUIRED GRAPHS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 Frequency histogram: height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(separate bars for M and F, 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separate histograms)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2. Frequency histogram: weight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3. Scatter plot: height vs weight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(different symbols for M and F)</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SUMMARY STATISTICS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Mean ± SD for height and weight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Separate for male / female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Sample size N for each group</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STATISTICAL TEST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t-test for mean height M vs F</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State: t, df, p-value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Conclusion: significant sex difference?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EVOLUTIONARY INTERPRETATION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Is height normally distributed?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Yes → consistent with polygenic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inheritance + stabilising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Is there a sex difference in mean?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Yes → sexual selection / different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selective pressures by sex</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What does scatter plot shape show?</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Positive correlation → height and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weight both influenced by nutrition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and growth factors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Age Class Comparison: </a:t>
            </a:r>
            <a:pPr indent="0" marL="0">
              <a:buNone/>
            </a:pPr>
            <a:r>
              <a:rPr lang="en-US" sz="1100" dirty="0">
                <a:solidFill>
                  <a:srgbClr val="F4F1EC"/>
                </a:solidFill>
                <a:latin typeface="Calibri" pitchFamily="34" charset="0"/>
                <a:ea typeface="Calibri" pitchFamily="34" charset="-122"/>
                <a:cs typeface="Calibri" pitchFamily="34" charset="-120"/>
              </a:rPr>
              <a:t>A method of exploring developmental changes in biological measurements by comparing subjects grouped by age. In height/weight studies, separate analysis by age reveals growth curves and the timing of sex-specific divergence in body size.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P9 — Phylogenetic Tree Construction: Complete Workflow</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From Downloaded Sequences to Interpreted Tree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1: Obtain sequences from NCBI GenBank — search "Homo sapiens COX1" or equivalent gene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2: Include outgroup sequence (e.g., Mus musculus for primate analysis)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3: Align sequences in ClustalX — check alignment quality in conserved regions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4: Export aligned sequences in PHYLIP format (.phy)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5: Run PHYLIP NEIGHBOR — NJ algorithm; set bootstrap replicates to 1000</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6: Open tree in FigTree or TreeView — note bootstrap values; identify sister groups; verify outgroup placement</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Download sequences (NCBI/BOLD)</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Align (ClustalX MUSCLE)</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Export PHYLIP format (.phy)</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PHYLIP NEIGHBOR (1000 bootstrap)</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FigTree: visualise + interpret</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PHYLIP NEIGHBOR: </a:t>
            </a:r>
            <a:pPr indent="0" marL="0">
              <a:buNone/>
            </a:pPr>
            <a:r>
              <a:rPr lang="en-US" sz="1100" dirty="0">
                <a:solidFill>
                  <a:srgbClr val="F4F1EC"/>
                </a:solidFill>
                <a:latin typeface="Calibri" pitchFamily="34" charset="0"/>
                <a:ea typeface="Calibri" pitchFamily="34" charset="-122"/>
                <a:cs typeface="Calibri" pitchFamily="34" charset="-120"/>
              </a:rPr>
              <a:t>A program within the PHYLIP package that implements the Neighbour-Joining distance-based tree construction algorithm. Takes a distance matrix as input; produces an unrooted tree with bootstrap support values. Standard teaching tool for phylogenetics.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P9 — Interpreting Your Tree: Five Questions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to Look for in the Constructed Tree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QUESTION 1: Is the outgroup correctly placed as the most basal branch? If not, check the alignment and outgroup choice.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QUESTION 2: Are bootstrap values ≥70 at the key nodes? If &lt;70, that grouping is unreliable — do not interpret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QUESTION 3: Do the relationships match known biology? Human + chimp should cluster together; gorilla should be next; orangutan should be outgroup.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QUESTION 4: Are branch lengths consistent with known divergence times? Pan-Homo should be shorter than Gorilla-Homo; Pongo should have a long branch.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QUESTION 5: If topology differs from expected — WHY? Alignment error? Wrong outgroup? Insufficient sequence length? Saturation of substitutions?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Write your interpretation as if explaining the tree to someone who cannot see it — clarity of description = depth of understanding</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Expected Primate Tree Topology</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EXPECTED TREE (NJ, cytochrome b)</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[Mus musculus (outgroup)]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[Hominoidea]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Pongo pygmaeus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(orangutan — most basal)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 Gorilla gorilla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 Pan troglodytes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 Pan paniscus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Homo sapiens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Bootstrap values expected: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Pongo placement: &gt;95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Gorilla placement: &gt;85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Pan clade: &gt;99 (very recently diverged)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Pan + Homo: &gt;95</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If topology differs: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 Check alignment around gaps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2. Verify outgroup is correct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3. Check for saturated positions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(very long branches)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4. Consider using different gene 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adding more characters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Tree Topology: </a:t>
            </a:r>
            <a:pPr indent="0" marL="0">
              <a:buNone/>
            </a:pPr>
            <a:r>
              <a:rPr lang="en-US" sz="1100" dirty="0">
                <a:solidFill>
                  <a:srgbClr val="F4F1EC"/>
                </a:solidFill>
                <a:latin typeface="Calibri" pitchFamily="34" charset="0"/>
                <a:ea typeface="Calibri" pitchFamily="34" charset="-122"/>
                <a:cs typeface="Calibri" pitchFamily="34" charset="-120"/>
              </a:rPr>
              <a:t>The branching pattern of a phylogenetic tree, independent of branch lengths. The topology specifies which taxa are most closely related (share most recent common ancestor). The topology is the evolutionary hypothesis; branch lengths quantify the divergence.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P1–P9 — The Practical-to-Theory Connection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Each Practical Is Not Just a Lab Exercise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P1 (Collection): embodies the logic that method choice determines what question you can answer — methodological clarity is scientific clarity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P2 (Keys): embodies the distinction between hypothesis (key result) and confirmed identification (literature verification)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P3 (Preservation): embodies the permanent consequence of information loss — formalin destroys DNA; missing labels destroy locality data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P4 (Fossils): embodies Chapter 5 — reading evolutionary history from physical evidence; connecting the laboratory to geological time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P5 (Homology/Analogy): embodies Chapter 1 — the single most important distinction in comparative biology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P6–P9 (Quantitative): embodies Chapters 7 and 10 — mathematical and molecular approaches to evolutionary questions that are otherwise just words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Each Practical Connects to a Chapter</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P1 Collection → Ch. 2 (collection methods)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P2 Keys → Ch. 2 (identification as hypothesis)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P3 Preservation → Ch. 2 (irreversible decisions)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P4 Fossils → Ch. 5 (reading the rock record)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P5 Homology/Analogy → Ch. 1 (classification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evidence) + Ch. 5 (comparative anatomy)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P6 H-W chi-square → Ch. 7 (null model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forces disturbing equilibrium)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P7 Selection/drift → Ch. 7 (mathematical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models of allele frequency change)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P8 Height/weight → Ch. 7 (variation,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and inheritance in human populations)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P9 NJ tree → Ch. 10 (molecular phylogenetics,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primate tree construction + interpretation)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ALL PRACTICALS connect to Ch. 3:</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Barcoding and molecular taxonomy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require all skills developed in P1-P9</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Integrated Practical: </a:t>
            </a:r>
            <a:pPr indent="0" marL="0">
              <a:buNone/>
            </a:pPr>
            <a:r>
              <a:rPr lang="en-US" sz="1100" dirty="0">
                <a:solidFill>
                  <a:srgbClr val="F4F1EC"/>
                </a:solidFill>
                <a:latin typeface="Calibri" pitchFamily="34" charset="0"/>
                <a:ea typeface="Calibri" pitchFamily="34" charset="-122"/>
                <a:cs typeface="Calibri" pitchFamily="34" charset="-120"/>
              </a:rPr>
              <a:t>A practical exercise that operationalises a theoretical principle from the lecture course. The value of the practical is not the result but the process: working through the same reasoning that produced the published science.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student conducts P8 (height/weight analysis) on 50 male and 50 female undergraduate students in Bhubaneswar. She finds: Male mean height = 168 cm, SD = 6.5 cm; Female mean height = 157 cm, SD = 5.8 cm. The height distribution for males is approximately normally distributed; for females it shows a slight positive skew. (a) What does the normal distribution of male heights tell us about the genetic basis and selection history of height? (b) What might explain the skew in the female distribution, and how would you investigate? (c) The male-female mean difference of 11 cm is an example of sexual dimorphism. Using evolutionary theory from the course, propose TWO non-mutually exclusive explanations for the origin of this dimorphism.</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Why does polygenic inheritance with many loci produce a normal distribution? What does stabilising selection do to a distribution's shape? What evolutionary mechanisms produce sexual dimorphism in body size?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student conducts P8 (height/weight analysis) on 50 male and 50 female undergraduate students in Bhubaneswar. She finds: Male mean height = 168 cm, SD = 6.5 cm; Female mean height = 157 cm, SD = 5.8 cm. The height distribution for males is approximately normally distributed; for females it shows a slight positive skew. (a) What does the normal distribution of male heights tell us about the genetic basis and selection history of height? (b) What might explain the skew in the female distribution, and how would you investigate? (c) The male-female mean difference of 11 cm is an example of sexual dimorphism. Using evolutionary theory from the course, propose TWO non-mutually exclusive explanations for the origin of this dimorphism.</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Normal distribution of male heights and its genetic/evolutionary significance: The normal (Gaussian) distribution of height within a sex is the expected outcome when: (i) Many genetic loci (polygenic inheritance) each contribute small, approximately additive effects to the trait — this is the central limit theorem applied to genetics: the sum of many small independent effects produces a normal distribution regardless of the distribution of individual effects; (ii) Stabilising selection has acted on height — selection against both extreme values (very tall and very short individuals have reduced fitness compared to the intermediate range) reduces variance while maintaining the mean, producing the characteristic bell curve. Current estimates suggest 300,000+ genetic variants contribute to stature variation in humans. This polygenic architecture means: (a) the trait is quantitatively variable (no discrete classes); (b) heritability is moderate to high (~80% in adult populations); (c) the distribution is approximately normal. The approximate normality also tells us that there is no strong directional selection currently operating — directional selection would cause skewness as it pulled the distribution toward one extreme. (b) Female height skew and investigation: A positive skew in female heights (longer right tail — more unusually tall females than expected) could reflect: (i) Sampling bias: if the sample was drawn from a sports team or fitness programme, tall individuals would be overrepresented; (ii) Population mixture: if the sample includes students from different geographic regions with systematically different mean heights (some north Indian populations are taller than south Indian populations), mixing these into one sample can produce multimodality or skew; (iii) Nutritional heterogeneity: height is strongly influenced by childhood nutrition; if some students grew up in conditions of nutritional stress (reducing achieved height), this could compress the left tail relative to a nutritionally homogeneous population. Investigation: (i) Test for multimodality using Hartigan's dip test or mixture model analysis; (ii) Record geographic origin and family origin of students and analyse heights within geographic subgroups; (iii) Administer a brief nutritional history questionnaire; (iv) Increase sample size to N ≥ 200 to determine whether the skew persists. (c) Two evolutionary explanations for male-female height dimorphism: (1) Intrasexual selection (male-male competition): In ancestral human populations, male-male competition for resources and mates would have favoured larger, stronger males. Larger body size confers advantages in direct physical competition — higher fighting ability, more intimidating threat displays. Selection would therefore have systematically favoured height-increasing alleles in males while not imposing the same selection on females. This predicts that species with more intense male-male competition would show greater dimorphism — consistent with cross-species comparisons of primates (gorillas with extreme male-male competition show greater dimorphism than monogamous gibbons). (2) Intersexual selection (female mate choice): If females preferentially chose taller mates (possibly as a proxy for resource acquisition ability, health, or dominance), this would create directional selection on male height independently of direct competitive advantage. Evidence: surveys consistently show female mate preferences weighted toward male height in many contemporary populations. This is not necessarily an adaptive current preference but may be a remnant of ancestral selection pressures when height was more directly connected to fitness outcomes. Both mechanisms could operate simultaneously and in the same direction — intrasexual competition and intersexual choice both consistently favour taller males — producing the observed dimorphism.</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You are constructing a phylogenetic tree using 12S rRNA sequences of five Indian freshwater turtle species using the NJ method in PHYLIP. After running the analysis you get a tree where one turtle species (Pangshura smithii, brown roofed turtle) has an exceptionally long branch and clusters with a distantly related species (Chitra indica, narrow-headed softshell) rather than with its closest morphological relative (Pangshura tecta, Indian roofed turtle). Both species have bootstrap support of 52 for this grouping. (a) What is the most likely methodological explanation for this unexpected grouping? (b) Why is the bootstrap value of 52 important information here? (c) What three specific steps would you take to investigate and potentially correct the analysis?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does a very long branch indicate about a lineage's evolutionary rate? What artefact in phylogenetics is caused by long branches? What does bootstrap 52 tell you about how reliable this grouping is?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You are constructing a phylogenetic tree using 12S rRNA sequences of five Indian freshwater turtle species using the NJ method in PHYLIP. After running the analysis you get a tree where one turtle species (Pangshura smithii, brown roofed turtle) has an exceptionally long branch and clusters with a distantly related species (Chitra indica, narrow-headed softshell) rather than with its closest morphological relative (Pangshura tecta, Indian roofed turtle). Both species have bootstrap support of 52 for this grouping. (a) What is the most likely methodological explanation for this unexpected grouping? (b) Why is the bootstrap value of 52 important information here? (c) What three specific steps would you take to investigate and potentially correct the analysis?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Most likely explanation — Long-branch attraction: The exceptionally long branch of Pangshura smithii indicates that this lineage has an unusually high rate of molecular evolution in the 12S rRNA gene — many more substitutions per unit time than other lineages in the analysis. In distance-based (NJ) and parsimony methods, long-branch attraction (LBA) is a well-known artefact: two lineages with long branches independently accumulate similar substitutions at many positions by chance (convergent molecular evolution / homoplasy). When the tree is constructed, the algorithm groups them together because they look similar, even if they are not closely related. The grouping of P. smithii with C. indica (a different family — Trionychidae versus Geoemydidae) despite P. smithii's known morphological and systematic affiliation with P. tecta is exactly the pattern predicted by LBA: the distance method has been deceived by the accumulated convergent similarity. (b) Significance of bootstrap 52: Bootstrap support of 52% means that in only 52 out of 1000 bootstrap replicates, the same grouping was recovered. This is well below the conventional threshold of 70% for moderate support and 95% for strong support. A bootstrap value of 52 indicates that this particular grouping is statistically unreliable — it is approximately as likely as not to be wrong. The low support is consistent with the LBA interpretation: LBA groupings typically have low bootstrap support because the artefactual signal is inconsistent across subsets of the data. The conclusion is: do not interpret this grouping as a valid phylogenetic result. (c) Three investigative steps: (1) Use a model-based maximum likelihood (ML) method: ML methods with appropriate substitution models (GTR+Γ) are substantially more robust to LBA than NJ because they explicitly model rate variation across sites and lineages. Run the same alignment in RAxML or IQ-TREE and compare the topology. If the ML tree places P. smithii with P. tecta (as expected), this confirms that the NJ grouping was an LBA artefact. (2) Add sequences from related taxa to break up the long branch: Long-branch attraction is worsened when the long-branch lineage has no closely related sequences in the analysis. Adding 12S rRNA sequences from other Pangshura species (P. sylhetensis, P. flaviventer) would place relatives around P. smithii, providing more reference points and reducing the attraction. (3) Remove potentially saturated positions: Rapidly evolving 12S rRNA sites (variable loop regions) may have experienced multiple substitutions at the same position (saturation). Check for saturation by plotting uncorrected pairwise distances against corrected distances — saturation is indicated by a plateau in uncorrected distances. Remove saturated positions from the alignment (restricting analysis to stem regions) and repeat the NJ analysis; LBA artefacts often disappear when saturated sites are excluded.</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 (P6 worked calculation)</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In a study of polymorphism in the Indian mud crab Scylla serrata at Chilika Lake, Odisha, you genotype 200 individuals at a single enzyme locus (Glucose phosphate isomerase, GPI) and find: GPI-1/1 homozygotes = 108; GPI-1/2 heterozygotes = 62; GPI-2/2 homozygotes = 30. (a) Calculate allele frequencies for GPI-1 and GPI-2. (b) Calculate expected genotype frequencies and counts under H-W equilibrium. (c) Perform a chi-square goodness-of-fit test. (d) Interpret the biological significance of your result, proposing the most likely disturbing force based on the direction of deviation.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Work through each step: count alleles, compute p and q, calculate expected counts, compute chi-square, compare to 3.84. Look at the pattern — are there more or fewer heterozygotes than expected? What does that pattern suggest about which H-W condition is violated?</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In a study of polymorphism in the Indian mud crab Scylla serrata at Chilika Lake, Odisha, you genotype 200 individuals at a single enzyme locus (Glucose phosphate isomerase, GPI) and find: GPI-1/1 homozygotes = 108; GPI-1/2 heterozygotes = 62; GPI-2/2 homozygotes = 30. (a) Calculate allele frequencies for GPI-1 and GPI-2. (b) Calculate expected genotype frequencies and counts under H-W equilibrium. (c) Perform a chi-square goodness-of-fit test. (d) Interpret the biological significance of your result, proposing the most likely disturbing force based on the direction of deviation.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Allele frequencies: N = 200 individuals = 400 gene copies. p(GPI-1) = (2×108 + 62) / 400 = (216 + 62) / 400 = 278/400 = 0.695. q(GPI-2) = (2×30 + 62) / 400 = (60 + 62) / 400 = 122/400 = 0.305. Check: p + q = 0.695 + 0.305 = 1.000 ✓. (b) Expected H-W frequencies and counts: E(GPI-1/1) = p² × N = (0.695)² × 200 = 0.483 × 200 = 96.5. E(GPI-1/2) = 2pq × N = 2 × 0.695 × 0.305 × 200 = 0.424 × 200 = 84.8. E(GPI-2/2) = q² × N = (0.305)² × 200 = 0.093 × 200 = 18.6. Check: 96.5 + 84.8 + 18.6 = 199.9 ≈ 200 ✓. (c) Chi-square test: χ² contributions: GPI-1/1: (108 − 96.5)²/96.5 = (11.5)²/96.5 = 132.25/96.5 = 1.371. GPI-1/2: (62 − 84.8)²/84.8 = (−22.8)²/84.8 = 519.84/84.8 = 6.131. GPI-2/2: (30 − 18.6)²/18.6 = (11.4)²/18.6 = 129.96/18.6 = 6.987. Total χ² = 1.371 + 6.131 + 6.987 = 14.49. df = 1. Critical value = 3.84 (p = 0.05). Since 14.49 &gt;&gt; 3.84: REJECT the H-W null hypothesis at p &lt; 0.001. The population is significantly out of Hardy-Weinberg equilibrium. (d) Biological interpretation: Direction of deviation: Observed heterozygotes (62) are far fewer than expected (84.8) — a deficit of heterozygotes. Observed homozygotes of both classes exceed expected values. This pattern — excess homozygotes, deficit of heterozygotes — is the characteristic signature of: (i) Inbreeding: Chilika Lake represents a semi-enclosed brackish water lagoon system; mud crab populations within specific habitat patches may be breeding preferentially with genetically similar (closely related) individuals, either through philopatry (individuals returning to birth site) or through physical subdivision into small interbreeding units within the lagoon; OR (ii) Wahlund effect (population subdivision): if the sample of 200 crabs was drawn from multiple genetically differentiated sub-populations within Chilika (e.g., northern lagoon vs southern lagoon, or different depth zones), each with different allele frequencies, the pooled sample would show excess homozygotes even if each sub-population is in H-W equilibrium independently. Most likely force: the Wahlund effect is particularly plausible for Chilika Lake given its large geographic extent (1100 km²), habitat heterogeneity, and restricted water circulation between sectors. To distinguish inbreeding from Wahlund: genotype crabs from clearly defined spatial subunits (northern sector, central sector, southern sector separately); if each subunit is independently in H-W equilibrium, the Wahlund effect is the explanation; if each subunit still shows excess homozygotes, inbreeding within subunits is more likely.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Practical 7 asks you to simulate genetic drift using a random draw protocol in small populations. Two groups of students run the simulation with N=20 (small population) and N=200 (large population) for 20 generations, starting with both alleles at frequency 0.5. Predict: (a) the expected variance in allele frequency after 20 generations for each population size, using the formula Var(q) = pq/2N per generation; (b) what outcomes are likely for each population at generation 20 — what proportion of small-population replicates would you expect to have fixed or lost one allele by generation 20? (c) Why does the simulation matter for understanding real conservation scenarios such as the Simlipal tigers?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does variance in allele frequency per generation tell you about how unpredictable the trajectory will be? How does variance accumulate over multiple generations? What is the expected time to fixation for a neutral allele in a population of N?</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Practical 7 asks you to simulate genetic drift using a random draw protocol in small populations. Two groups of students run the simulation with N=20 (small population) and N=200 (large population) for 20 generations, starting with both alleles at frequency 0.5. Predict: (a) the expected variance in allele frequency after 20 generations for each population size, using the formula Var(q) = pq/2N per generation; (b) what outcomes are likely for each population at generation 20 — what proportion of small-population replicates would you expect to have fixed or lost one allele by generation 20? (c) Why does the simulation matter for understanding real conservation scenarios such as the Simlipal tigers?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Expected variance in allele frequency after 20 generations: Per generation variance: Var(Δq) = pq/2N = (0.5 × 0.5)/2N = 0.25/2N. For N = 20: Var per generation = 0.25/40 = 0.00625. After 20 independent generations (assuming independence, which is approximate): cumulative variance ≈ 20 × 0.00625 = 0.125. Standard deviation ≈ √0.125 ≈ 0.354. This means after 20 generations, allele frequency in a population of 20 can range approximately ±0.35 from the starting 0.5 — so from essentially 0 (lost) to 1.0 (fixed). For N = 200: Var per generation = 0.25/400 = 0.000625. After 20 generations: cumulative variance ≈ 20 × 0.000625 = 0.0125. SD ≈ √0.0125 ≈ 0.112. Range of ±0.11 around 0.5 — so from 0.39 to 0.61. The large population shows far less variance, remaining near the starting frequency. (b) Expected proportion of small-population replicates fixed by generation 20: The expected time to fixation for a neutral allele starting at frequency q₀ = 0.5 is approximately 2N generations for the favoured allele. For N = 20: 2 × 20 = 40 generations to expected fixation. At generation 20 (half the expected fixation time), many replicates will be on trajectories toward fixation or loss, but not all will have completed the process. Using the diffusion approximation, the probability of fixation or loss by generation t is approximately: for N = 20, after 20 generations, approximately 40–50% of replicates are expected to have fixed or lost one allele. For N = 200: 2 × 200 = 400 generations to expected fixation. After 20 generations (5% of the expected fixation time), essentially 0% of replicates will have fixed or lost one allele — the population will still show polymorphism near q = 0.5. (c) Conservation relevance for Simlipal tigers: The simulation directly illustrates why the Simlipal tiger population (census ~25–30, Nₑ ≈ 12–15) faces a genetic crisis. With Nₑ = 15, the per-generation variance in allele frequency = 0.25/30 = 0.0083, SD per generation ≈ 0.091. After 20 generations (roughly 40–60 years for tigers with ~2–3 year generation time), the cumulative variance is large enough that: (i) Many alleles currently at low frequency (rare adaptive variants) will have been lost by drift — irreversible reduction in adaptive potential; (ii) Mildly deleterious alleles (against which selection is weaker than drift, since Nₑs &lt;&lt; 1 for alleles with s &lt; 0.05) will be accumulating and some will fix — this is mutational meltdown in slow motion; (iii) Inbreeding depression will be measurable within 5–10 generations. The simulation makes these abstract population genetics principles visceral: you can see allele frequencies wandering and fixing unpredictably in small simulated populations, and you can then immediately apply that intuition to a real conservation problem 100 km from where you are sitting.</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Across all nine practicals in this course, you have engaged with collection, identification, preservation, fossil examination, comparative anatomy, population genetics calculations, evolutionary simulations, statistical analysis, and molecular phylogenetics. Reflect on and evaluate: (a) Which single practical, in your judgement, provides the most direct connection to the theoretical content of the course, and why? (b) Which practical requires the most critical thinking — one where the result is most easily misinterpreted if you do not understand the underlying theory — and explain the specific misinterpretation risk? (c) What would a genuinely publishable scientific result from any one of these practicals require that the classroom version does not provide?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Think about each practical not as a recipe but as a reasoning structure. Which one fails most badly if you follow the protocol without understanding why? What does the classroom version of a chi-square or tree construction exercise deliberately simplify that real science cannot simplify?</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Across all nine practicals in this course, you have engaged with collection, identification, preservation, fossil examination, comparative anatomy, population genetics calculations, evolutionary simulations, statistical analysis, and molecular phylogenetics. Reflect on and evaluate: (a) Which single practical, in your judgement, provides the most direct connection to the theoretical content of the course, and why? (b) Which practical requires the most critical thinking — one where the result is most easily misinterpreted if you do not understand the underlying theory — and explain the specific misinterpretation risk? (c) What would a genuinely publishable scientific result from any one of these practicals require that the classroom version does not provide?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Most direct connection to theoretical content: Practical 6 (Hardy-Weinberg chi-square analysis) provides the most direct operationalisation of core theoretical content. The test is not a statistical exercise loosely associated with evolution — it IS the formal test of the central null model of population genetics. When you calculate expected genotype frequencies from allele frequencies and compare with observed counts, you are implementing Hardy's 1908 algebra on real data. The chi-square value you calculate is not an abstract number — it is a quantified measure of how far a real population deviates from the idealised null model, and that deviation IS the evolutionary signal you are detecting. A significant chi-square means an evolutionary force is operating — which of the five conditions is violated corresponds directly to which of the five evolutionary forces is in operation. The connection between theory (H-W equilibrium, the five forces) and practice (observed vs expected calculation, chi-square test, interpretation of deviation) is one-to-one and bidirectional. Understanding the practical deeply requires understanding the theory; understanding the theory is tested by being able to correctly perform and interpret the practical. (b) Most critical thinking required — greatest misinterpretation risk: Practical 9 (NJ tree construction) carries the highest risk of confident misinterpretation by students who follow the protocol correctly but do not understand the theory. Specific misinterpretation risks: (i) "The tree shows the actual ancestors of modern species." The internal nodes in an NJ tree are HYPOTHETICAL common ancestors inferred from sequence data — they are not real organisms. Students who misread the tree may make claims about what ancestral organisms "looked like" or "did" based on an inferred node, when those nodes are statistical abstractions. (ii) "Low bootstrap support means the tree is wrong." Bootstrap support below 70 at a node means THAT NODE is unreliable — but the rest of the tree may be well-supported. Students who see one node with bootstrap 52 may reject the entire tree. (iii) "Longer branches mean more recent divergence." Branch lengths measure evolutionary rate × time — a long branch could mean either rapid evolution in a lineage of the same age as others, or greater age, or both. These misinterpretations are consequential because they lead to wrong biological conclusions from correctly performed analyses. (c) What a publishable result requires beyond the classroom version: (i) Sample size: classroom practicals use small samples (50–200 genotypes for H-W; 5 sequences for the tree). Publication-quality population genetics uses N ≥ 100 per population per locus for H-W, and typically multiple loci simultaneously. Publication-quality phylogenetics uses multiple genes, genome-level data, and multiple tree-building methods. (ii) Geographic and temporal replication: a classroom H-W analysis on one population at one time cannot establish a pattern. Publication requires comparison across multiple populations, across seasons, or across years. (iii) Controls and alternative explanations: the classroom version assumes the protocol is correct. A published study must demonstrate that the pattern is not an artefact of sampling strategy, preservation method, or genotyping error. (iv) Statistical rigour: classroom chi-square tests use expected values that may be &lt; 5 (the approximation breaks down) without alternative tests. A publication would use Fisher's exact test, Bayesian methods, or permutation tests as appropriate. (v) Biological follow-up: a significant chi-square in a classroom exercise ends with "inbreeding or Wahlund effect." A published study would follow up with isolation-by-distance analysis, FST calculations, parentage analysis, or demographic surveys to identify which mechanism is responsible. The classroom practical is a functional rehearsal of the reasoning; publication requires the reasoning to be applied exhaustively to a well-defined biological question.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Reaching the end of a dichotomous key confirms the identification.</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Reaching a terminal name in a key is a provisional identification — a hypothesis. Confirmation requires comparison with the original published species description and, where possible, type material images. Keys can be out-of-date, out-of-scope, or fail on damaged specimens. The key result tells you which species to look up and compare against, not which species you have found.</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A non-significant chi-square proves the population is in Hardy-Weinberg equilibrium.</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Failing to reject the H-W null hypothesis means the data are consistent with H-W equilibrium — it does not prove equilibrium. A small sample may fail to detect real deviations. Real populations are always deviating from H-W to some degree; whether those deviations are detectable depends on sample size and the magnitude of the force operating.</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In a phylogenetic tree, the internal nodes represent actual fossil ancestors.</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Internal nodes in a phylogenetic tree are hypothetical common ancestors inferred from the sequence data of extant taxa. They are statistical inferences, not sampled organisms. If a fossil is included in the analysis, it occupies a terminal node (tip), not an internal node. The internal topology of the tree is an evolutionary hypothesis about relationships, not a description of real ancestral organisms.</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Formalin-preserved specimens are suitable for DNA barcoding if the preservation is good quality.</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Formalin (formaldehyde) crosslinks proteins covalently to DNA, fragmenting the genome. This damage is irreversible regardless of preservation quality or time elapsed. DNA cannot be extracted for PCR amplification from formalin-fixed material. Only ethanol-preserved or specially treated specimens are suitable for molecular work. This is why the dual-preservation protocol (leg in 95% EtOH + body in 70% EtOH) is the modern standard.</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Collection method must match the target organism and habitat. Each method introduces systematic bias — a complete community survey requires multiple complementary methods deployed simultaneously.</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A dichotomous key result is a provisional identification requiring verification against the original species description. Keys fail for four specific reasons: out-of-scope specimens, outdated keys, damaged specimens, and high intraspecific variation.</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Hardy-Weinberg chi-square test (χ² = Σ(O−E)²/E, df = 1, critical value 3.84) is the formal test of the H-W null model. Significant deviation indicates at least one of the five conditions is violated. The direction of deviation (excess homozygotes vs deficit of heterozygotes) suggests which force is operating.</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Phylogenetic tree construction follows: sequence alignment (ClustalX) → distance matrix → NJ algorithm (PHYLIP NEIGHBOR) → bootstrap assessment → interpretation. Internal nodes are hypothetical ancestors; bootstrap ≥70 indicates reliable groupings.</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Each practical operationalises a specific theoretical framework from the course. P6 (H-W) operationalises Chapter 7; P9 (NJ tree) operationalises Chapter 10; P3 (preservation) operationalises the irreversibility principle from Chapter 2; P5 (homology/analogy) operationalises the classification logic of Chapter 1.</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1–10 — All theoretical content of the course converges in these practicals · The practicals are the course reduced to procedure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Publication and further research: each practical is a simplified version of a real scientific method used to produce primary literature</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11 — Lab Companion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2026-05-29T10:43:09Z</dcterms:created>
  <dcterms:modified xsi:type="dcterms:W3CDTF">2026-05-29T10:43:09Z</dcterms:modified>
</cp:coreProperties>
</file>