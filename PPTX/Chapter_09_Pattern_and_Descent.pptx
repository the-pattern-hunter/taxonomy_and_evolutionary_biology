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9</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From Variation to Species</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Species Concepts, Isolating Mechanisms, and Speciation Modes</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4 · Products of Evolution, Species Concept, Origin and Evolution of Man</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"A species is not created — it diverges. The question is not what a species is, but how the reproductive boundary between two populations becomes absolute rather than leaky."</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9.1 Species Concepts</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9.2 Intraspecific Variation: Clines and Subspecies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9.3 Isolating Mechanisms</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9.4 Reinforcement</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9.5 Allopatric Speciation</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9.6 Sympatric and Parapatric Speciation</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9.7 Adaptive Radiation</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 — BSC (Ch. 1) now explained mechanistically · T3 — Adaptive radiation (Galapagos finches) as product of speciation</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§9.1 The Biological Species Concept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Mayr (1942): The Dominant Definition in Zoology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Ernst Mayr (Systematics and the Origin of Species, 1942): a species is a group of actually or potentially interbreeding natural populations reproductively isolated from all others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BSC focuses on REPRODUCTIVE ISOLATION as the criterion — species are defined by what keeps them separate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Strengths: mechanistically grounded (isolation can be studied), links species to speciation process, widely applicable to sexually reproducing animals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Weakness 1: inapplicable to asexual organisms (bacteria, bdelloid rotifers) — no mating, so no isolation criterion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Weakness 2: inapplicable to fossil taxa — cannot test interbreeding potential across time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Weakness 3: ambiguous for allopatric populations — they cannot interbreed simply because they never meet</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BSC STRENGTHS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Mechanistically grounded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Links species to speciation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Testable (hybridisation)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Explains species boundaries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Most used in animal taxonomy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BSC WEAKNESSES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Fails for asexual organisms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Fails for fossil taxa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Ambiguous for allopatric pops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Hybridisation is common in nature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be applied in field</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Biological Species Concept: </a:t>
            </a:r>
            <a:pPr indent="0" marL="0">
              <a:buNone/>
            </a:pPr>
            <a:r>
              <a:rPr lang="en-US" sz="1100" dirty="0">
                <a:solidFill>
                  <a:srgbClr val="F4F1EC"/>
                </a:solidFill>
                <a:latin typeface="Calibri" pitchFamily="34" charset="0"/>
                <a:ea typeface="Calibri" pitchFamily="34" charset="-122"/>
                <a:cs typeface="Calibri" pitchFamily="34" charset="-120"/>
              </a:rPr>
              <a:t>Mayr's (1942) definition: a species is a group of actually or potentially interbreeding natural populations reproductively isolated from all others. The dominant species concept in zoology. Inapplicable to asexuals and fossils.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§9.1 Alternative Species Concepts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Three Other Major Definitions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PHYLOGENETIC SPECIES CONCEPT: smallest diagnosably distinct group with a unique combination of characters and common parentage — applicable to asexuals and fossils; recognises more species than BSC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ECOLOGICAL SPECIES CONCEPT: lineage occupying a distinct adaptive zone (ecological niche) — emphasises ecological differentiation; applicable to asexuals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MORPHOLOGICAL SPECIES CONCEPT: organisms classified as same species if they look the same — historically the only practical option; fails for cryptic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 species concept is universally adequate for all organisms — each captures a different aspect of the biological reality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 practice: zoologists typically use BSC for animals; palaeontologists use morphological; microbiologists use genomic similarity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species problem (Ch. 1) is not a failure of biology — it is a consequence of asking a discrete question about a continuous process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Four Species Concepts Compared</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BIOLOGICAL (Mayr 1942)</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Criterion: reproductive isolation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Best for: sexually reproducing animals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Fails for: asexuals, fossils, allopatric pops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PHYLOGENETIC (Cracraft 1983)</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Criterion: unique diagnosable characters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Best for: all organisms incl. asexuals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Limitation: recognises many more species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ECOLOGICAL (Van Valen 1976)</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Criterion: distinct adaptive zone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Best for: species in ecological research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Limitation: harder to apply to morphology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MORPHOLOGICAL (Linnaeus tradition)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Criterion: distinctive appearance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Best for: museum taxonomy, fossils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Fails for: cryptic species (look alike)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Each is a lens, not a truth</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Phylogenetic Species Concept: </a:t>
            </a:r>
            <a:pPr indent="0" marL="0">
              <a:buNone/>
            </a:pPr>
            <a:r>
              <a:rPr lang="en-US" sz="1100" dirty="0">
                <a:solidFill>
                  <a:srgbClr val="F4F1EC"/>
                </a:solidFill>
                <a:latin typeface="Calibri" pitchFamily="34" charset="0"/>
                <a:ea typeface="Calibri" pitchFamily="34" charset="-122"/>
                <a:cs typeface="Calibri" pitchFamily="34" charset="-120"/>
              </a:rPr>
              <a:t>A species defined as the smallest diagnosably distinct group of organisms with a unique combination of characters and common parentage. Applicable to asexual organisms and fossils. Tends to recognise more species than the BSC.</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§9.2 Clines: Continuous Geographic Variation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Gradual Character Change Along Environmental Gradients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Cline: a gradual, continuous change in a character or allele frequency along a geographic gradient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Produced by: locally varying selection pressure along the gradient (e.g. temperature, altitude, humidity)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cline is NOT a species boundary — interbreeding continues throughout the gradient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Bergmann's rule: body size tends to increase with latitude/altitude in endotherms — typically expressed as a cline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Allen's rule: appendage length (ears, limbs) tends to decrease with increasing cold — another clinal pattern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Human geographic variation is primarily clinal — allele frequencies change gradually, with no sharp boundaries between populations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Clinal Variation: Bergmann's Rule in Indian Birds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BERGMANN'S RULE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Body size tends to increase with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latitude/altitude in endotherms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PHYSICAL REASONING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Larger body → lower surface area: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volume ratio → less heat loss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Smaller body → higher ratio → more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heat loss (better in hot climates)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CLINAL PATTERN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a sharp north-south boundary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Gradual size increase across gradient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Interbreeding continues throughout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pressure varies with climate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INDIAN EXAMPLE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House crow (Corvus splendens):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Northwest Indian populations average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larger than southern populations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Consistent clinal variation, not subspecies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IMPORTANT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Clines demonstrate local adaptation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They are NOT early speciation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Gene flow continues throughout cline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Cline: </a:t>
            </a:r>
            <a:pPr indent="0" marL="0">
              <a:buNone/>
            </a:pPr>
            <a:r>
              <a:rPr lang="en-US" sz="1100" dirty="0">
                <a:solidFill>
                  <a:srgbClr val="F4F1EC"/>
                </a:solidFill>
                <a:latin typeface="Calibri" pitchFamily="34" charset="0"/>
                <a:ea typeface="Calibri" pitchFamily="34" charset="-122"/>
                <a:cs typeface="Calibri" pitchFamily="34" charset="-120"/>
              </a:rPr>
              <a:t>A gradual continuous change in a character or allele frequency along a geographic gradient, produced by locally varying selection. Not a species boundary — interbreeding continues throughout the cline.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§9.2 Subspecies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Geographically Bounded Morphological Races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Subspecies: a geographically bounded, morphologically distinct population or group of populations of the same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Interbreeding continues at boundary zones — subspecies are connected by gene flow at their edges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Formal nomenclature: trinomial — Panthera tigris tigris (Bengal), P. t. altaica (Amur/Siberian), P. t. sumatrae (Sumatran)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Subspecies differ in: body size, colouration, morphology, sometimes behaviour — but not in reproductive compatibility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subspecies concept is controversial: where exactly to draw the boundary is subjective; many recognized subspecies may not be genetically distinct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Conservation importance: if subspecies represent genetically distinct populations, their conservation may require separate management</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SPECIES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Reproductively isolated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successful interbreeding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 flow absent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Sharp genetic boundary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Distinct evolutionary trajectory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SUBSPECIES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Geographically separated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Interbreeding at boundaries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Some gene flow at edges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Graded morphological difference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Same evolutionary trajectory</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Subspecies: </a:t>
            </a:r>
            <a:pPr indent="0" marL="0">
              <a:buNone/>
            </a:pPr>
            <a:r>
              <a:rPr lang="en-US" sz="1100" dirty="0">
                <a:solidFill>
                  <a:srgbClr val="F4F1EC"/>
                </a:solidFill>
                <a:latin typeface="Calibri" pitchFamily="34" charset="0"/>
                <a:ea typeface="Calibri" pitchFamily="34" charset="-122"/>
                <a:cs typeface="Calibri" pitchFamily="34" charset="-120"/>
              </a:rPr>
              <a:t>A geographically bounded, morphologically distinct population of a species that intergrades with other populations of the same species at its geographic boundary. Interbreeding continues at contact zones — subspecies are connected by gene flow.</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§9.3 Pre-Zygotic Isolating Mechanisms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Barriers That Prevent Hybrid Zygote Formation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HABITAT ISOLATION: populations occupy different microhabitats even in the same geographic area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TEMPORAL ISOLATION: populations breed at different times (seasons, times of day)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BEHAVIOURAL ISOLATION: populations do not recognise each other as suitable mates — different songs, pheromones, displays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MECHANICAL ISOLATION: physical incompatibility between reproductive structures prevents gamete transfer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GAMETIC ISOLATION: gametes of one species fail to fertilise eggs of the other — recognition molecules fail to match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Pre-zygotic isolation is energetically "cheaper" than post-zygotic — prevents wasting resources on unviable hybrids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HABITAT Different microhabitats (no contact)</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TEMPORAL Different breeding seasons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BEHAVIOURAL Song / display not recognised as mate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MECHANICAL Reproductive structures incompatible</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GAMETIC Gametes fail to fuse (no zygote)</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Pre-Zygotic Isolation: </a:t>
            </a:r>
            <a:pPr indent="0" marL="0">
              <a:buNone/>
            </a:pPr>
            <a:r>
              <a:rPr lang="en-US" sz="1100" dirty="0">
                <a:solidFill>
                  <a:srgbClr val="F4F1EC"/>
                </a:solidFill>
                <a:latin typeface="Calibri" pitchFamily="34" charset="0"/>
                <a:ea typeface="Calibri" pitchFamily="34" charset="-122"/>
                <a:cs typeface="Calibri" pitchFamily="34" charset="-120"/>
              </a:rPr>
              <a:t>Reproductive isolating mechanisms that prevent the formation of a hybrid zygote: habitat, temporal, behavioural, mechanical, and gametic isolation. Energetically cheaper than post-zygotic isolation because no parental investment is wasted.</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§9.3 Post-Zygotic Isolating Mechanisms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Barriers That Reduce Hybrid Fitness After Fertilisation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HYBRID INVIABILITY: hybrid offspring die before reproducing — developmental incompatibilities between parental genomes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HYBRID STERILITY: hybrids are viable but infertile — chromosomes cannot pair at meiosis (mule: horse × donkey)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HYBRID BREAKDOWN: F1 hybrids are fertile, but F2 generation has reduced viability or fertility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Post-zygotic isolation imposes a direct fitness cost on heterospecific matings — energy wasted on non-reproducing offspring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cost provides the selective pressure that drives reinforcement of pre-zygotic isolation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Dobzhansky-Muller model: incompatibility arises from different allele combinations at interacting loci diverging independently in isolated populations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PRE-ZYGOTIC</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Prevents zygote formation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parental investment wasted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Habitat, temporal, behavioural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Mechanical, gametic</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Evolves more rapidly from reinforcement</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POST-ZYGOTIC</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Hybrid zygote forms but fitness reduced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Parental investment wasted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Inviability, sterility, breakdown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Dobzhansky-Muller incompatibilities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Drives reinforcement of pre-zygotic</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Hybrid Sterility: </a:t>
            </a:r>
            <a:pPr indent="0" marL="0">
              <a:buNone/>
            </a:pPr>
            <a:r>
              <a:rPr lang="en-US" sz="1100" dirty="0">
                <a:solidFill>
                  <a:srgbClr val="F4F1EC"/>
                </a:solidFill>
                <a:latin typeface="Calibri" pitchFamily="34" charset="0"/>
                <a:ea typeface="Calibri" pitchFamily="34" charset="-122"/>
                <a:cs typeface="Calibri" pitchFamily="34" charset="-120"/>
              </a:rPr>
              <a:t>A post-zygotic isolating mechanism in which hybrid offspring are viable but infertile. The mule (horse × donkey) is the classic example — chromosomes cannot pair at meiosis. Imposes a direct fitness cost that drives reinforcement.</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§9.4 Reinforcement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Selection Strengthening Pre-Zygotic Isolation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Reinforcement: when post-zygotic isolation imposes a fitness cost on heterospecific matings, selection favours any variant that reduces those matings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Mechanism: individuals who preferentially mate with conspecifics avoid wasting resources on unfit hybrids — they leave more surviving offspring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pre-zygotic isolation strengthens over time, driven by the cost of post-zygotic failure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Reinforcement requires: (1) secondary contact between partially isolated populations, (2) post-zygotic isolation already present, (3) sufficient gene flow that selection can act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species that co-occur (sympatric) often show stronger behavioural isolation than related species that are allopatric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prediction (character displacement in mate recognition signals at contact zones) has been tested and confirmed in Drosophila and some bird species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Populations diverge allopatrically</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Secondary contact: hybrids form but unfit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Post-zygotic cost: selection against heterospecific</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Variants that avoid hybrids survive better</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Pre-zygotic isolation strengthened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Reinforcement: </a:t>
            </a:r>
            <a:pPr indent="0" marL="0">
              <a:buNone/>
            </a:pPr>
            <a:r>
              <a:rPr lang="en-US" sz="1100" dirty="0">
                <a:solidFill>
                  <a:srgbClr val="F4F1EC"/>
                </a:solidFill>
                <a:latin typeface="Calibri" pitchFamily="34" charset="0"/>
                <a:ea typeface="Calibri" pitchFamily="34" charset="-122"/>
                <a:cs typeface="Calibri" pitchFamily="34" charset="-120"/>
              </a:rPr>
              <a:t>Evolutionary strengthening of pre-zygotic isolating mechanisms driven by natural selection when post-zygotic isolation imposes a fitness cost on heterospecific matings. Links post-zygotic and pre-zygotic isolation mechanisms during speciation.</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§9.5 Allopatric Speciation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Geographic Separation: The Default Speciation Mode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Allopatric speciation: populations separated by a geographic barrier — mountain range, river, sea — diverge independently until reproductive isolation accumulates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most extensively documented speciation mode in animals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Barrier types: vicariance (geological change splits existing range) vs dispersal (colonisation of isolated habitat)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Once separated: each population accumulates mutations, experiences different selection pressures, may differ in drift outcomes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Reproductive isolation accumulates as a BY-PRODUCT of divergence — not directly selected for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critical test: when barriers disappear (secondary contact), do populations interbreed freely, partially, or not at all?</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Single population (one gene pool)</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Geographic barrier isolates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Independent divergence: mutation, selection, drift</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Reproductive isolation accumulates (by-product)</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Barrier removed: no longer interbreed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Allopatric Speciation: </a:t>
            </a:r>
            <a:pPr indent="0" marL="0">
              <a:buNone/>
            </a:pPr>
            <a:r>
              <a:rPr lang="en-US" sz="1100" dirty="0">
                <a:solidFill>
                  <a:srgbClr val="F4F1EC"/>
                </a:solidFill>
                <a:latin typeface="Calibri" pitchFamily="34" charset="0"/>
                <a:ea typeface="Calibri" pitchFamily="34" charset="-122"/>
                <a:cs typeface="Calibri" pitchFamily="34" charset="-120"/>
              </a:rPr>
              <a:t>Speciation in populations geographically separated by a barrier preventing gene flow. The populations diverge independently through selection, mutation, and drift until reproductive isolation accumulates. The best-documented speciation mode in animals.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§9.5 Peripatric Speciation and the Founder Effect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Small Isolated Founder Populations Speciate Faster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Peripatric speciation: a variant of allopatric speciation in which a small founding population becomes isolated at the periphery of the parent range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small founding population undergoes extreme genetic drift (founder effect) — different initial allele frequencies from the parent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Mayr's genetic revolution hypothesis: the founder event restructures the gene pool so thoroughly that rapid speciation follows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island species often show rapid speciation from small founder populations — Hawaiian Drosophila (~800 species from few colonisation events)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Peripatric speciation is proposed to explain the "punctuated" appearance of the fossil record — rapid morphological change in small peripheral populations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Schistura freshwater fish — isolated hill stream populations in Eastern Ghats show morphological divergence consistent with peripatric origin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CLASSICAL ALLOPATRIC</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Large population split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Gradual divergence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Slow accumulation of isolation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populations persist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Vicariance (geological barrier)</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PERIPATRIC</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Small founder population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Rapid drift + selection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Faster speciation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Parent range largely unchanged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Colonisation of new area</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Peripatric Speciation: </a:t>
            </a:r>
            <a:pPr indent="0" marL="0">
              <a:buNone/>
            </a:pPr>
            <a:r>
              <a:rPr lang="en-US" sz="1100" dirty="0">
                <a:solidFill>
                  <a:srgbClr val="F4F1EC"/>
                </a:solidFill>
                <a:latin typeface="Calibri" pitchFamily="34" charset="0"/>
                <a:ea typeface="Calibri" pitchFamily="34" charset="-122"/>
                <a:cs typeface="Calibri" pitchFamily="34" charset="-120"/>
              </a:rPr>
              <a:t>Speciation from a small isolated founding population at the geographic periphery of the parent range. The founder effect dramatically alters initial allele frequencies; selection and drift in the new environment drive rapid divergence.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§9.6 Sympatric Speciation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Speciation Without Geographic Separation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Sympatric speciation: speciation within a single continuously interbreeding population, without geographic separation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most demanding mode — must overcome continuous gene flow while accumulating reproductive isolation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Requires SIMULTANEOUSLY: (1) disruptive selection on an ecological resource, (2) assortative mating based on the same resource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Classic candidate: Rhagoletis pomonella (apple maggot fly, USA) — shifted from hawthorn to apple hosts in the 1800s; now partially reproductively isolated from hawthorn population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Polyploidy: the most common form of sympatric speciation in plants — chromosome doubling creates instant reproductive isolation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Debate: how common is sympatric speciation? Many apparent cases may involve microallopatry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SYMPATRIC — WHAT IS NEEDED</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Disruptive selection on resource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Assortative mating by resource type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Both simultaneously in one population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 flow must be overcome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Very demanding: rare in animals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POLYPLOIDY — INSTANT VERSION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Chromosome doubling event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Polyploid cannot mate with diploid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Instant reproductive isolation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Common in plants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Wheat, cotton, most crop plants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Sympatric Speciation: </a:t>
            </a:r>
            <a:pPr indent="0" marL="0">
              <a:buNone/>
            </a:pPr>
            <a:r>
              <a:rPr lang="en-US" sz="1100" dirty="0">
                <a:solidFill>
                  <a:srgbClr val="F4F1EC"/>
                </a:solidFill>
                <a:latin typeface="Calibri" pitchFamily="34" charset="0"/>
                <a:ea typeface="Calibri" pitchFamily="34" charset="-122"/>
                <a:cs typeface="Calibri" pitchFamily="34" charset="-120"/>
              </a:rPr>
              <a:t>Speciation occurring within a single population with continuous gene flow, without geographic separation. Requires disruptive selection and assortative mating simultaneously. Rare in animals; common via polyploidy in plants.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§9.6 Parapatric Speciation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Adjacent Populations, Continuous Gene Flow, Diverging Anyway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Parapatric speciation: populations share a continuous geographic boundary and gene flow occurs across it — yet they diverge and accumulate reproductive isolation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Requires: divergent selection strong enough to overcome the homogenising effect of gene flow across the boundary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step clines — sharp transitions in character frequencies at the contact zone, sharper than expected from gene flow alone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Ring species: a population spread around a geographic barrier; adjacent populations interbreed but the two ends of the ring are reproductively isolated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Classic ring species: Larus gulls (herring gull / lesser black-backed gull) around the North Atlantic — each adjacent pair interbreeds, but the two ends (herring gull and LBBG in UK) do not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Ring species are living demonstrations of the speciation process frozen in progress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PARAPATRIC SPECIATION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Adjacent populations with shared boundary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 flow occurs across boundary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Divergent selection stronger than gene flow</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Step clines at contact zone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Intermediate between allopatric + sympatric</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RING SPECIES</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Population encircles a barrier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Each adjacent pair interbreeds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Two ends of ring = reproductively isolated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Full speciation visible at one end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Larus gulls: classic example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Parapatric Speciation: </a:t>
            </a:r>
            <a:pPr indent="0" marL="0">
              <a:buNone/>
            </a:pPr>
            <a:r>
              <a:rPr lang="en-US" sz="1100" dirty="0">
                <a:solidFill>
                  <a:srgbClr val="F4F1EC"/>
                </a:solidFill>
                <a:latin typeface="Calibri" pitchFamily="34" charset="0"/>
                <a:ea typeface="Calibri" pitchFamily="34" charset="-122"/>
                <a:cs typeface="Calibri" pitchFamily="34" charset="-120"/>
              </a:rPr>
              <a:t>Speciation in adjacent populations that maintain contact and exchange genes across a shared boundary, despite ongoing divergence. Requires divergent selection strong enough to overcome gene flow. Step clines are the characteristic evidence.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§9.7 Adaptive Radiation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Rapid Diversification into Vacant Ecological Space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Adaptive radiation: the rapid diversification of a single ancestral lineage into multiple descendants occupying distinct ecological niches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trigger: access to a new adaptive zone with available ecological space — colonisation of an island, mass extinction creating ecological vacancies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Galapagos finches: ~15 species from one South American ancestor, colonising islands ~3–5 Ma; beak morphology finely tuned to seed size, nectar, cactus, wood-boring insects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Peter and Rosemary Grant: direct measurement of beak evolution in response to drought — selection coefficient as high as 0.35 (30× normal)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Hawaiian Drosophila: ~800 species from probably one or few colonisation events — extreme radiation in an isolated archipelago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Adaptive radiation is cladogenesis + ecological diversification acting together</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6995160" y="1234440"/>
            <a:ext cx="0" cy="1463040"/>
          </a:xfrm>
          <a:prstGeom prst="line">
            <a:avLst/>
          </a:prstGeom>
          <a:noFill/>
          <a:ln w="15240">
            <a:solidFill>
              <a:srgbClr val="3D7A52"/>
            </a:solidFill>
            <a:prstDash val="solid"/>
          </a:ln>
        </p:spPr>
      </p:sp>
      <p:sp>
        <p:nvSpPr>
          <p:cNvPr id="9" name="Shape 7"/>
          <p:cNvSpPr/>
          <p:nvPr/>
        </p:nvSpPr>
        <p:spPr>
          <a:xfrm>
            <a:off x="6830568" y="1143000"/>
            <a:ext cx="329184" cy="201168"/>
          </a:xfrm>
          <a:prstGeom prst="ellipse">
            <a:avLst/>
          </a:prstGeom>
          <a:solidFill>
            <a:srgbClr val="C8791E"/>
          </a:solidFill>
          <a:ln w="12700">
            <a:solidFill>
              <a:srgbClr val="C8791E"/>
            </a:solidFill>
            <a:prstDash val="solid"/>
          </a:ln>
        </p:spPr>
      </p:sp>
      <p:sp>
        <p:nvSpPr>
          <p:cNvPr id="10" name="Text 8"/>
          <p:cNvSpPr/>
          <p:nvPr/>
        </p:nvSpPr>
        <p:spPr>
          <a:xfrm>
            <a:off x="6720840" y="941832"/>
            <a:ext cx="548640" cy="18288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S. American</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ancestor</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seed-eater</a:t>
            </a:r>
            <a:endParaRPr lang="en-US" sz="800" dirty="0"/>
          </a:p>
        </p:txBody>
      </p:sp>
      <p:sp>
        <p:nvSpPr>
          <p:cNvPr id="11" name="Shape 9"/>
          <p:cNvSpPr/>
          <p:nvPr/>
        </p:nvSpPr>
        <p:spPr>
          <a:xfrm>
            <a:off x="6170371" y="2697480"/>
            <a:ext cx="1649578" cy="0"/>
          </a:xfrm>
          <a:prstGeom prst="line">
            <a:avLst/>
          </a:prstGeom>
          <a:noFill/>
          <a:ln w="12700">
            <a:solidFill>
              <a:srgbClr val="3D7A52"/>
            </a:solidFill>
            <a:prstDash val="solid"/>
          </a:ln>
        </p:spPr>
      </p:sp>
      <p:sp>
        <p:nvSpPr>
          <p:cNvPr id="12" name="Shape 10"/>
          <p:cNvSpPr/>
          <p:nvPr/>
        </p:nvSpPr>
        <p:spPr>
          <a:xfrm>
            <a:off x="6170371" y="2697480"/>
            <a:ext cx="0" cy="1280160"/>
          </a:xfrm>
          <a:prstGeom prst="line">
            <a:avLst/>
          </a:prstGeom>
          <a:noFill/>
          <a:ln w="12700">
            <a:solidFill>
              <a:srgbClr val="3D7A52"/>
            </a:solidFill>
            <a:prstDash val="solid"/>
          </a:ln>
        </p:spPr>
      </p:sp>
      <p:sp>
        <p:nvSpPr>
          <p:cNvPr id="13" name="Shape 11"/>
          <p:cNvSpPr/>
          <p:nvPr/>
        </p:nvSpPr>
        <p:spPr>
          <a:xfrm>
            <a:off x="5804611" y="3977640"/>
            <a:ext cx="731520" cy="256032"/>
          </a:xfrm>
          <a:prstGeom prst="rect">
            <a:avLst/>
          </a:prstGeom>
          <a:solidFill>
            <a:srgbClr val="2D5A3D"/>
          </a:solidFill>
          <a:ln w="12700">
            <a:solidFill>
              <a:srgbClr val="3D7A52"/>
            </a:solidFill>
            <a:prstDash val="solid"/>
          </a:ln>
        </p:spPr>
      </p:sp>
      <p:sp>
        <p:nvSpPr>
          <p:cNvPr id="14" name="Text 12"/>
          <p:cNvSpPr/>
          <p:nvPr/>
        </p:nvSpPr>
        <p:spPr>
          <a:xfrm>
            <a:off x="5804611"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Ground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finches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(large seeds)</a:t>
            </a:r>
            <a:endParaRPr lang="en-US" sz="900" dirty="0"/>
          </a:p>
        </p:txBody>
      </p:sp>
      <p:sp>
        <p:nvSpPr>
          <p:cNvPr id="15" name="Shape 13"/>
          <p:cNvSpPr/>
          <p:nvPr/>
        </p:nvSpPr>
        <p:spPr>
          <a:xfrm>
            <a:off x="7819949" y="2697480"/>
            <a:ext cx="0" cy="1280160"/>
          </a:xfrm>
          <a:prstGeom prst="line">
            <a:avLst/>
          </a:prstGeom>
          <a:noFill/>
          <a:ln w="12700">
            <a:solidFill>
              <a:srgbClr val="3D7A52"/>
            </a:solidFill>
            <a:prstDash val="solid"/>
          </a:ln>
        </p:spPr>
      </p:sp>
      <p:sp>
        <p:nvSpPr>
          <p:cNvPr id="16" name="Shape 14"/>
          <p:cNvSpPr/>
          <p:nvPr/>
        </p:nvSpPr>
        <p:spPr>
          <a:xfrm>
            <a:off x="7454189" y="3977640"/>
            <a:ext cx="731520" cy="256032"/>
          </a:xfrm>
          <a:prstGeom prst="rect">
            <a:avLst/>
          </a:prstGeom>
          <a:solidFill>
            <a:srgbClr val="2D5A3D"/>
          </a:solidFill>
          <a:ln w="12700">
            <a:solidFill>
              <a:srgbClr val="3D7A52"/>
            </a:solidFill>
            <a:prstDash val="solid"/>
          </a:ln>
        </p:spPr>
      </p:sp>
      <p:sp>
        <p:nvSpPr>
          <p:cNvPr id="17" name="Text 15"/>
          <p:cNvSpPr/>
          <p:nvPr/>
        </p:nvSpPr>
        <p:spPr>
          <a:xfrm>
            <a:off x="7454189"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Tree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finches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(insects)</a:t>
            </a:r>
            <a:endParaRPr lang="en-US" sz="900" dirty="0"/>
          </a:p>
        </p:txBody>
      </p:sp>
      <p:sp>
        <p:nvSpPr>
          <p:cNvPr id="18" name="Shape 16"/>
          <p:cNvSpPr/>
          <p:nvPr/>
        </p:nvSpPr>
        <p:spPr>
          <a:xfrm>
            <a:off x="7445045" y="3355848"/>
            <a:ext cx="749808" cy="0"/>
          </a:xfrm>
          <a:prstGeom prst="line">
            <a:avLst/>
          </a:prstGeom>
          <a:noFill/>
          <a:ln w="11430">
            <a:solidFill>
              <a:srgbClr val="3D8C7A"/>
            </a:solidFill>
            <a:prstDash val="solid"/>
          </a:ln>
        </p:spPr>
      </p:sp>
      <p:sp>
        <p:nvSpPr>
          <p:cNvPr id="19" name="Shape 17"/>
          <p:cNvSpPr/>
          <p:nvPr/>
        </p:nvSpPr>
        <p:spPr>
          <a:xfrm>
            <a:off x="7445045" y="3355848"/>
            <a:ext cx="0" cy="621792"/>
          </a:xfrm>
          <a:prstGeom prst="line">
            <a:avLst/>
          </a:prstGeom>
          <a:noFill/>
          <a:ln w="11430">
            <a:solidFill>
              <a:srgbClr val="3D8C7A"/>
            </a:solidFill>
            <a:prstDash val="solid"/>
          </a:ln>
        </p:spPr>
      </p:sp>
      <p:sp>
        <p:nvSpPr>
          <p:cNvPr id="20" name="Shape 18"/>
          <p:cNvSpPr/>
          <p:nvPr/>
        </p:nvSpPr>
        <p:spPr>
          <a:xfrm>
            <a:off x="7152437" y="3977640"/>
            <a:ext cx="585216" cy="228600"/>
          </a:xfrm>
          <a:prstGeom prst="rect">
            <a:avLst/>
          </a:prstGeom>
          <a:solidFill>
            <a:srgbClr val="3D8C7A"/>
          </a:solidFill>
          <a:ln w="12700">
            <a:solidFill>
              <a:srgbClr val="3D8C7A"/>
            </a:solidFill>
            <a:prstDash val="solid"/>
          </a:ln>
        </p:spPr>
      </p:sp>
      <p:sp>
        <p:nvSpPr>
          <p:cNvPr id="21" name="Text 19"/>
          <p:cNvSpPr/>
          <p:nvPr/>
        </p:nvSpPr>
        <p:spPr>
          <a:xfrm>
            <a:off x="7152437"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Cactus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finches</a:t>
            </a:r>
            <a:endParaRPr lang="en-US" sz="800" dirty="0"/>
          </a:p>
        </p:txBody>
      </p:sp>
      <p:sp>
        <p:nvSpPr>
          <p:cNvPr id="22" name="Shape 20"/>
          <p:cNvSpPr/>
          <p:nvPr/>
        </p:nvSpPr>
        <p:spPr>
          <a:xfrm>
            <a:off x="8194853" y="3355848"/>
            <a:ext cx="0" cy="621792"/>
          </a:xfrm>
          <a:prstGeom prst="line">
            <a:avLst/>
          </a:prstGeom>
          <a:noFill/>
          <a:ln w="11430">
            <a:solidFill>
              <a:srgbClr val="3D8C7A"/>
            </a:solidFill>
            <a:prstDash val="solid"/>
          </a:ln>
        </p:spPr>
      </p:sp>
      <p:sp>
        <p:nvSpPr>
          <p:cNvPr id="23" name="Shape 21"/>
          <p:cNvSpPr/>
          <p:nvPr/>
        </p:nvSpPr>
        <p:spPr>
          <a:xfrm>
            <a:off x="7902245" y="3977640"/>
            <a:ext cx="585216" cy="228600"/>
          </a:xfrm>
          <a:prstGeom prst="rect">
            <a:avLst/>
          </a:prstGeom>
          <a:solidFill>
            <a:srgbClr val="3D8C7A"/>
          </a:solidFill>
          <a:ln w="12700">
            <a:solidFill>
              <a:srgbClr val="3D8C7A"/>
            </a:solidFill>
            <a:prstDash val="solid"/>
          </a:ln>
        </p:spPr>
      </p:sp>
      <p:sp>
        <p:nvSpPr>
          <p:cNvPr id="24" name="Text 22"/>
          <p:cNvSpPr/>
          <p:nvPr/>
        </p:nvSpPr>
        <p:spPr>
          <a:xfrm>
            <a:off x="7902245"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Warbler</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finch</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(nectar/insects)</a:t>
            </a:r>
            <a:endParaRPr lang="en-US" sz="800" dirty="0"/>
          </a:p>
        </p:txBody>
      </p:sp>
      <p:sp>
        <p:nvSpPr>
          <p:cNvPr id="25" name="Shape 23"/>
          <p:cNvSpPr/>
          <p:nvPr/>
        </p:nvSpPr>
        <p:spPr>
          <a:xfrm>
            <a:off x="274320" y="4297680"/>
            <a:ext cx="8595360" cy="621792"/>
          </a:xfrm>
          <a:prstGeom prst="rect">
            <a:avLst/>
          </a:prstGeom>
          <a:solidFill>
            <a:srgbClr val="1C2B1E"/>
          </a:solidFill>
          <a:ln w="12700">
            <a:solidFill>
              <a:srgbClr val="1C2B1E"/>
            </a:solidFill>
            <a:prstDash val="solid"/>
          </a:ln>
        </p:spPr>
      </p:sp>
      <p:sp>
        <p:nvSpPr>
          <p:cNvPr id="26" name="Text 2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Adaptive Radiation: </a:t>
            </a:r>
            <a:pPr indent="0" marL="0">
              <a:buNone/>
            </a:pPr>
            <a:r>
              <a:rPr lang="en-US" sz="1100" dirty="0">
                <a:solidFill>
                  <a:srgbClr val="F4F1EC"/>
                </a:solidFill>
                <a:latin typeface="Calibri" pitchFamily="34" charset="0"/>
                <a:ea typeface="Calibri" pitchFamily="34" charset="-122"/>
                <a:cs typeface="Calibri" pitchFamily="34" charset="-120"/>
              </a:rPr>
              <a:t>The rapid diversification of a single ancestral lineage into multiple descendants that occupy distinct ecological niches. Triggered by access to a new adaptive zone. The Galapagos finches from one South American ancestor are the canonical example.</a:t>
            </a:r>
            <a:endParaRPr lang="en-US" sz="1100" dirty="0"/>
          </a:p>
        </p:txBody>
      </p:sp>
      <p:sp>
        <p:nvSpPr>
          <p:cNvPr id="27" name="Text 2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28" name="Text 2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§9.7 The Galapagos Finches in Detail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Darwin's Finches as a Living Laboratory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 noticed 13 species of finch on the Galapagos — different beak shapes on different islands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Beak depth correlates with seed size: deep beaks crack large hard seeds; narrow beaks extract small seeds or nectar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Grants' (1973+) 40-year study of Geospiza fortis on Daphne Major: directly measured beak evolution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1977 drought: small soft seeds exhausted first; only large hard seeds remained; birds with deeper beaks survived; mean beak depth increased by 0.5mm in one generation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1983 El Niño: abundant rain, small seeds abundant; smaller beaks favoured; mean beak depth decreased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Selection coefficients measured: s = 0.35 (beak depth in 1977 drought) — 35% reduction in survival probability per unit beak depth deviation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Grants' Finch Data: Direct Selection Measurement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SPECIES: Geospiza fortis (medium ground finch)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SITE: Daphne Major, Galapagos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PERIOD: 1976-present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1977 DROUGHT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Drought reduced seed supply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Small soft seeds gone first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Large hard seeds remained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Deep-beaked birds survived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Mean beak depth: +0.5 mm in 1 year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coefficient s ≈ 0.35</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1983 EL NIÑO</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Heavy rains: small soft seeds abundant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Small-beaked birds flourished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Mean beak depth: decreased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Direction of selection reversed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LESSON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Evolution is not directional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Selection direction tracks environment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Large effect: visible in one generation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Character Displacement: </a:t>
            </a:r>
            <a:pPr indent="0" marL="0">
              <a:buNone/>
            </a:pPr>
            <a:r>
              <a:rPr lang="en-US" sz="1100" dirty="0">
                <a:solidFill>
                  <a:srgbClr val="F4F1EC"/>
                </a:solidFill>
                <a:latin typeface="Calibri" pitchFamily="34" charset="0"/>
                <a:ea typeface="Calibri" pitchFamily="34" charset="-122"/>
                <a:cs typeface="Calibri" pitchFamily="34" charset="-120"/>
              </a:rPr>
              <a:t>The evolutionary divergence of a character in two species where their ranges overlap (sympatry), driven by resource competition. Classic pattern in adaptive radiation: co-occurring species on the same island often show greater beak-size divergence than populations of the same species on different islands.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§9.7 Ecological Release and Island Biogeography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Islands Are Speciation Engines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Islands lack competitors and predators present on the mainland — ecological release: colonisers can expand into niches normally unavailable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Species-area relationship: larger islands have more species — each doubling of area roughly doubles species number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Theory of Island Biogeography (MacArthur &amp; Wilson, 1967): equilibrium species number = balance between colonisation rate and extinction 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Turnover: species composition on an island changes continuously — extinction balanced by new colonisation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Conservation application: habitat fragments = "islands" in a landscape — minimum size required to maintain species richness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Adaptive radiation accelerates on islands because: ecological space is available, gene flow from mainland is limited, selection pressures differ from mainland</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MAINLAND</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Many competitors present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Niches already occupied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Strong interspecific competition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Coloniser faces established fauna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Radiation constrained</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ISLAND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Few or no competitors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Ecological release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Niches available for colonisation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Rapid diversification possible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Radiation unconstrained: finches, honeycreepers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Ecological Release: </a:t>
            </a:r>
            <a:pPr indent="0" marL="0">
              <a:buNone/>
            </a:pPr>
            <a:r>
              <a:rPr lang="en-US" sz="1100" dirty="0">
                <a:solidFill>
                  <a:srgbClr val="F4F1EC"/>
                </a:solidFill>
                <a:latin typeface="Calibri" pitchFamily="34" charset="0"/>
                <a:ea typeface="Calibri" pitchFamily="34" charset="-122"/>
                <a:cs typeface="Calibri" pitchFamily="34" charset="-120"/>
              </a:rPr>
              <a:t>The expansion of a lineage into ecological niches normally unavailable on the mainland, occurring when colonisers arrive on islands or in ecologically vacated environments without the competitors and predators that constrain mainland populations.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§9.1–9.7 The Speciation Continuum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Geographic Variation to Full Species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Speciation is a CONTINUUM, not a switch — populations pass through a sequence of stages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Stage 1: Population divergence — local adaptation, clines, different allele frequencies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Stage 2: Subspecific differentiation — morphologically distinct, interbreeding at boundaries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Stage 3: Partial reproductive isolation — hybrids form but show some fitness reduction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Stage 4: Full reproductive isolation — no successful interbreeding; BSC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process is reversible at early stages (secondary contact can merge diverging populations) and irreversible at full isolation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 universal "speciation clock" — rates vary enormously from thousands to millions of years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GEOGRAPHIC VARIATION (clines, local alleles)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SUBSPECIES (morpho- logically distinct)</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PARTIAL ISOLATION (hybrids with reduced fitness)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REINFORCEMENT (pre-zygotic strengthened)</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FULL SPECIES (BSC: complete isolation)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Speciation Continuum: </a:t>
            </a:r>
            <a:pPr indent="0" marL="0">
              <a:buNone/>
            </a:pPr>
            <a:r>
              <a:rPr lang="en-US" sz="1100" dirty="0">
                <a:solidFill>
                  <a:srgbClr val="F4F1EC"/>
                </a:solidFill>
                <a:latin typeface="Calibri" pitchFamily="34" charset="0"/>
                <a:ea typeface="Calibri" pitchFamily="34" charset="-122"/>
                <a:cs typeface="Calibri" pitchFamily="34" charset="-120"/>
              </a:rPr>
              <a:t>The gradual progression from geographic population divergence through subspecific differentiation, partial reproductive isolation, and reinforcement to full species status. Reversible at early stages; irreversible once complete reproductive isolation is established.</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Biological Species Concept (BSC) is the most widely used species concept in zoology, yet it fails for organisms as important as bacteria, bdelloid rotifers, and all fossil taxa. (a) Why does the BSC fail for each of these three categories? (b) What alternative species concept would you apply to each, and why? (c) The BSC defines species by reproductive isolation — a property measured at one moment in time. What fundamental problem does this create when thinking about species in an evolutionary time frame?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mechanism does the BSC require that these three categories lack or make untestable? What is the reproductive mode of bacteria? Can you interbreed with a fossil? What happens to species defined by isolation if we take a long-term view?</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Biological Species Concept (BSC) is the most widely used species concept in zoology, yet it fails for organisms as important as bacteria, bdelloid rotifers, and all fossil taxa. (a) Why does the BSC fail for each of these three categories? (b) What alternative species concept would you apply to each, and why? (c) The BSC defines species by reproductive isolation — a property measured at one moment in time. What fundamental problem does this create when thinking about species in an evolutionary time frame?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Why BSC fails for each category: Bacteria: Bacteria reproduce primarily asexually — binary fission. The BSC requires "actually or potentially interbreeding" populations. Bacteria do not interbreed in the sense required by the BSC. They do exchange genetic material through horizontal gene transfer (conjugation, transformation, transduction) but this occurs promiscuously across what we call different species — it is not the species-bounded gene exchange the BSC describes. There is no mechanism that produces the gene-pool boundary the BSC is designed to detect. Bdelloid rotifers: Bdelloid rotifers are a large class of microscopic animals that have been asexual for at least 30–80 million years (no males have ever been found). Like bacteria, they reproduce without interbreeding, so the reproductive isolation criterion cannot be applied. Fossil taxa: The BSC requires testing interbreeding potential — an empirical test that requires living organisms. Fossils cannot be brought into contact to test whether they would interbreed. Furthermore, ancestor-descendant sequences in the fossil record represent a single lineage that changes over time — there is no point at which the BSC can be applied to decide when one temporal stage becomes a different species. (b) Alternative concepts: For bacteria: Phylogenetic Species Concept or genomic similarity (the current practical standard: strains sharing &gt;70% DNA-DNA hybridisation or &gt;95% 16S rRNA similarity are conventionally classified together). Also the Ecotype concept — genetically similar organisms that occupy the same ecological niche. For bdelloid rotifers: Morphological Species Concept (historically used; imperfect but operational), or Phylogenetic Species Concept using character-based diagnosis. For fossil taxa: Morphological Species Concept (the only practical option — fossil morphology is the only observable evidence), supplemented where possible by biostratigraphic context. (c) Temporal problem with BSC: The BSC defines species at one moment in time, but evolution is a continuous process. If we trace any modern species back far enough, we will reach its ancestor — which was the same species as its contemporaries that eventually gave rise to different modern species. The BSC cannot tell us when an ancestral lineage became a different species from its descendants. This is the problem of arbitrary temporal species boundaries — sometimes called "horizontal vs vertical" species concepts. In an evolutionary time frame, all species are connected by ancestor-descendant relationships, and the reproductive isolation that now separates them was absent at some past time. The BSC is a synchronic (single-time-slice) definition applied to a diachronic (time-spanning) process.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(Odisha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freshwater biologist studying the Brahmani river system in Odisha identifies two populations of the hillstream loach Schistura that are morphologically distinct: Population A from fast-flowing upper Brahmani tributaries in Sundargarh; Population B from slower mid-river reaches in Angul. Population A has a larger adhesive ventral disc and smaller eyes than Population B. Laboratory crosses produce fertile offspring. (a) What is the taxonomic status of these two populations under the BSC? (b) Where do they fall on the speciation continuum? (c) What natural mechanism might be driving their divergence? (d) What additional data would you collect to determine whether they are approaching the subspecies-to-species transition?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Fertile crosses mean reproductive isolation is not complete — so they are not yet separate species under BSC. But they are morphologically distinct and geographically separated. Where on the continuum does this put them? What selection pressures differ between fast and slow water?</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freshwater biologist studying the Brahmani river system in Odisha identifies two populations of the hillstream loach Schistura that are morphologically distinct: Population A from fast-flowing upper Brahmani tributaries in Sundargarh; Population B from slower mid-river reaches in Angul. Population A has a larger adhesive ventral disc and smaller eyes than Population B. Laboratory crosses produce fertile offspring. (a) What is the taxonomic status of these two populations under the BSC? (b) Where do they fall on the speciation continuum? (c) What natural mechanism might be driving their divergence? (d) What additional data would you collect to determine whether they are approaching the subspecies-to-species transition?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Taxonomic status under BSC: Since laboratory crosses produce fertile offspring, these two populations are NOT reproductively isolated. Under the Biological Species Concept, they are therefore the SAME species — conspecific. Population A and Population B are populations of the same species, regardless of their morphological differences. Morphological distinctiveness alone is not a criterion for species status under the BSC. (b) Position on the speciation continuum: The populations are currently at approximately Stage 1–2: geographic variation with incipient morphological differentiation. They show: morphological divergence (ventral disc size, eye size) suggesting local adaptation; geographic separation (upper vs mid-river); retained reproductive compatibility (fertile lab crosses). They have not yet reached subspecies status (which requires more consistent and greater morphological divergence across larger samples) and are well short of full reproductive isolation. They occupy the early divergence phase of the continuum. (c) Natural mechanism driving divergence: The morphological differences are consistent with ecological divergence driven by contrasting hydrodynamic environments: Population A (fast-flowing, upper reaches): Larger ventral adhesive disc is an adaptation to high-current environments — providing greater attachment force to prevent being swept away. Smaller eyes may reflect reduced light penetration through turbulent, silty fast-flow water, where vision is less useful than other senses. These are classic examples of ecomorphological adaptation to stream flow regime. Population B (slower mid-river): Less pronounced adhesive disc (lower attachment need), larger eyes consistent with clearer, calmer water where visual predator detection is more relevant. Selection for ecomorphological characters associated with flow regime is the most parsimonious driving mechanism. (d) Additional data for monitoring the subspecies-to-species transition: (1) Molecular genetic data: microsatellite or SNP genotyping of both populations — estimate FST (genetic differentiation), test for gene flow. If FST &gt; 0.15, populations are showing significant genetic divergence. (2) Morphometric analysis: larger sample sizes of both populations with quantitative morphological measurements — confirm that the observed differences are consistent and not just individual variation. (3) Habitat-specificity of mate choice: laboratory choice experiments — when given access to mates from both populations, do individuals prefer conspecifics (by population)? Assortative mating would indicate pre-zygotic isolation beginning to form. (4) Hybrid fitness: are F1 lab-cross offspring equally fit in both stream environments, or do they show intermediate performance? Hybrid disadvantage in either environment would indicate post-zygotic isolation beginning. (5) Contact zone: is there a contact zone where the two populations meet? Do natural hybrids exist there? Are they common or rare? Rarity of natural hybrids despite geographic contact would suggest behavioural isolation reinforcing genetic divergence.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Reinforcement is proposed as a mechanism by which post-zygotic isolation drives the evolution of stronger pre-zygotic isolation when two partially isolated populations come into secondary contact. (a) Explain the logical mechanism by which reinforcement works — why does post-zygotic isolation drive the evolution of pre-zygotic isolation? (b) What specific prediction does the reinforcement hypothesis make about populations in contact vs allopatric populations? (c) What evidence would both support and challenge the reinforcement hypothesis? (d) Why is reinforcement considered potentially important for the completion of the speciation process?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is the fitness cost of producing a hybrid that is sterile or inviable? Who bears that cost? How does selection act on individuals who avoid that cost? What would you expect to see in sympatric populations compared to allopatric ones if reinforcement has occurred?</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Reinforcement is proposed as a mechanism by which post-zygotic isolation drives the evolution of stronger pre-zygotic isolation when two partially isolated populations come into secondary contact. (a) Explain the logical mechanism by which reinforcement works — why does post-zygotic isolation drive the evolution of pre-zygotic isolation? (b) What specific prediction does the reinforcement hypothesis make about populations in contact vs allopatric populations? (c) What evidence would both support and challenge the reinforcement hypothesis? (d) Why is reinforcement considered potentially important for the completion of the speciation process?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The logical mechanism of reinforcement: When two partially isolated populations come into secondary contact, some individuals mate with members of the other population and produce hybrid offspring. If post-zygotic isolation is present — the hybrids are sterile, inviable, or have reduced fitness — then those matings represent a FITNESS COST to the parental individuals: they have invested reproductive effort (gametes, parental care, territory) in offspring that cannot reproduce. Individuals who, by chance, have a stronger preference for mating with conspecifics (their own population) avoid this fitness cost. They produce the same number of matings but a higher proportion of those matings produce reproductively successful offspring. Natural selection therefore favours alleles that cause conspecific preference. Over generations, the allele frequency of conspecific-preference alleles increases. The pre-zygotic isolating mechanism — behavioural preference for conspecifics — is thus driven to higher intensity by the cost of post-zygotic isolation. The mechanism operates independently of any initial pre-zygotic barrier; it only requires that heterospecific matings produce unfit offspring. (b) Specific prediction of reinforcement: Populations that co-occur geographically (sympatric) should show stronger pre-zygotic isolation (more intense assortative mating, more divergent mate recognition signals) than populations of the same species that are geographically separated (allopatric). This is because sympatric populations have been exposed to the selection pressure of post-zygotic costs; allopatric ones have not. This prediction is called "reproductive character displacement" — mate-recognition characters should be more divergent between co-occurring populations than between allopatric ones. (c) Evidence for and against: Supporting evidence: Drosophila melanogaster populations from Africa and non-Africa show stronger assortative mating when tested against each other in sympatry experiments than expected from allopatric divergence alone. Some bird species pairs (Ficedula flycatchers in Europe) show stronger song divergence in the zone of sympatry than in allopatry — consistent with character displacement driven by reinforcement. Against reinforcement: The conditions for reinforcement are quite restrictive — gene flow must be sufficient for selection to build up preference alleles, but not so high that it swamps them. Many apparent cases of reproductive character displacement might be explained by ecological character displacement (competition for resources, not mates) or may reflect founder effects. (d) Importance for completing speciation: Reinforcement is significant because it provides a mechanism for COMPLETING the speciation process when allopatric divergence has been insufficient to produce full isolation. Without reinforcement, two populations that come into secondary contact after partial divergence might fuse back together — gene flow would homogenise them and the speciation event would be reversed. Reinforcement allows partial post-zygotic isolation to generate stronger pre-zygotic isolation, pulling the populations across the threshold from partial to complete isolation. It is therefore a potential bridge between the initial geographic divergence phase and the final irreversible species boundary.</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Sympatric speciation is theoretically possible but considered rare in animals. The apple maggot fly (Rhagoletis pomonella) is the most commonly cited candidate. (a) What is the specific evidence that Rhagoletis represents ongoing sympatric speciation, and what makes this case convincing? (b) What specific conditions make sympatric speciation so difficult in animals? (c) How does polyploidy achieve sympatric speciation in plants without these difficulties? (d) Why might what looks like sympatric speciation often have a component of microallopatry?</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simultaneously needs to happen for sympatric speciation to work? Why is it difficult to accumulate reproductive isolation while gene flow is ongoing? Why does polyploidy bypass these requirements? What is microallopatry?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Sympatric speciation is theoretically possible but considered rare in animals. The apple maggot fly (Rhagoletis pomonella) is the most commonly cited candidate. (a) What is the specific evidence that Rhagoletis represents ongoing sympatric speciation, and what makes this case convincing? (b) What specific conditions make sympatric speciation so difficult in animals? (c) How does polyploidy achieve sympatric speciation in plants without these difficulties? (d) Why might what looks like sympatric speciation often have a component of microallopatry?</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Evidence from Rhagoletis pomonella: Rhagoletis pomonella is native to North America and historically fed exclusively on hawthorn (Crataegus). In the 1860s, it began colonising domestic apple (Malus domestica) — a host plant introduced to North America. The evidence for incipient sympatric speciation includes: (1) Host race differentiation: hawthorn and apple populations show allele frequency differences at multiple enzyme loci — they are genetically diverging despite occurring in the same geographic areas; (2) Assortative mating by host: adults mate on or near their host plant — apple-using flies prefer to mate on apples; hawthorn-using flies prefer hawthorn. This assortative mating based on host plant is providing the reproductive barrier while the populations coexist geographically; (3) Phenological divergence: apple and hawthorn fruit at different times — the fly populations have diverged in emergence timing, matching their host's fruiting season. This provides temporal as well as behavioural isolation; (4) Local adaptation: apple-strain flies survive better on apple; hawthorn-strain flies survive better on hawthorn — supporting the ecological divergence component. This case is convincing because it involves a recent, historical event with a known timeline, is occurring in a natural system, and multiple lines of evidence (genetic, behavioural, phenological) converge on the same conclusion. (b) Conditions making sympatric speciation difficult in animals: Sympatric speciation requires SIMULTANEOUSLY: (i) Disruptive selection strong enough that intermediate phenotypes are at a disadvantage; (ii) Assortative mating that is strongly tied to the selectively favoured character — so that individuals in each extreme of the distribution preferentially mate with each other. In animals, these two requirements are simultaneously met only in specific circumstances, because: gene flow is continuous and tends to merge the diverging phenotypic classes; assortative mating must evolve rapidly enough to prevent the disruptive selection signal from being diluted; modifier alleles that cause assortative mating must spread rapidly while the populations are still able to interbreed. The genetic architecture required — tight linkage or pleiotropic effects between ecological adaptation and mate preference — is uncommon but not impossible. (c) Polyploidy in plants: Allopolyploidy (hybridisation between two species followed by chromosome doubling) achieves instant reproductive isolation in one event. A diploid hybrid between species A (n=10) and species B (n=8) has 18 chromosomes and cannot pair them at meiosis — it is sterile. If chromosome doubling occurs, it produces a tetraploid (36 chromosomes) that can pair its chromosomes correctly and is fertile. But it cannot mate successfully with either parent species — it has twice as many chromosomes, making hybrid offspring have wrong chromosome numbers. This single event simultaneously creates a new reproductively isolated organism. No gradual accumulation is needed; no gene flow barrier needs to be maintained; the isolation is instantaneous and absolute. (d) Microallopatry: Many apparent cases of sympatric speciation may actually involve microallopatry — very small-scale geographic separation. Even within what appears to be a continuous habitat, microhabitats differ on the scale of metres. Different parts of a forest canopy, different depths in a lake, different surfaces in a tree — these may be occupied by different populations that rarely encounter each other, creating de facto partial geographic isolation at a scale not visible to the human observer. What looks like sympatric divergence may in fact be divergence in slightly different microhabitats with limited contact. Rhagoletis partly illustrates this: the "sympatric" populations are actually separated by host plant identity, which creates a form of habitat isolation at the microhabitat scale. True sympatry — where all individuals have equal probability of encountering all other individuals — may be less common than it appears.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Galapagos finches are the most famous example of adaptive radiation. Peter and Rosemary Grant's decades of fieldwork directly measured natural selection acting on beak morphology in response to changing food availability. (a) What did the Grants' measurements specifically show about the nature and speed of natural selection? (b) Some critics have argued: "The finches just show variation within species — they haven't actually speciated; all 15 species can potentially interbreed." How should this argument be evaluated? (c) What would constitute a complete mechanistic explanation of how the 15 Galapagos finch species arose from one South American ancestor? What steps are documented, what steps are inferred, and what remains unknown?</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How large were the selection coefficients measured by the Grants — how does this compare to typical values? Can potential interbreeding reverse speciation that has already occurred? What are the steps from one colonising ancestor to 15 species: what needs to happen at each step?</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Galapagos finches are the most famous example of adaptive radiation. Peter and Rosemary Grant's decades of fieldwork directly measured natural selection acting on beak morphology in response to changing food availability. (a) What did the Grants' measurements specifically show about the nature and speed of natural selection? (b) Some critics have argued: "The finches just show variation within species — they haven't actually speciated; all 15 species can potentially interbreed." How should this argument be evaluated? (c) What would constitute a complete mechanistic explanation of how the 15 Galapagos finch species arose from one South American ancestor? What steps are documented, what steps are inferred, and what remains unknown?</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What the Grants' measurements showed: The Grants' studies on Geospiza fortis at Daphne Major provide some of the most precise measurements of natural selection ever obtained. Specifically: (1) 1977 drought: A severe drought eliminated small, soft seeds; only large, hard Tribulus seeds remained. Mean beak depth in the surviving population increased by approximately 0.5 mm — approximately 4% of the mean beak depth. This change occurred in ONE GENERATION. The selection coefficient for beak depth during the drought was s ≈ 0.35 — meaning each additional unit (in standard deviations) of beak depth above the mean increased survival probability by 35%. This is an extremely large selection coefficient; typical values in nature are often &lt;0.05. (2) 1983 El Niño: Reversed conditions — small seeds abundant. Smaller-beaked birds had higher fitness; mean beak depth decreased. Selection direction had reversed within 6 years. These measurements demonstrate: (i) Natural selection acts rapidly on standing variation — morphological evolution is visible within a human lifetime; (ii) Selection is not directional toward an "improvement" — it tracks current environmental conditions; (iii) The selection coefficients are large enough to produce significant evolutionary change in tens of generations, not thousands. (b) Evaluating the "potential interbreeding" criticism: The criticism conflates reproductive potential under artificial conditions with evolutionary fate under natural conditions. Evaluation: Under natural conditions on the Galapagos islands, the 15 finch species maintain their distinctness across overlapping ranges — they do not merge. Individuals show assortative mating based on song (learned from parents) and beak morphology (used in mate choice). Whether they COULD interbreed in a laboratory is not the evolutionary question — the evolutionary question is whether they DO interbreed in nature and whether any gene flow is significant. The BSC's criterion is reproductive isolation in natural populations. Furthermore, the observation that some interbreeding is possible does not reverse the documented speciation event — a few hybrid individuals cannot undo the ecological, morphological, and behavioural divergence that characterises these species. The appropriate test is: do natural hybrids occur? Are they at the frequency expected from random mating, or rare? Do they have reduced fitness? The Grants have documented natural hybridisation in G. fortis/scandens crosses — but these are occasional, and hybrid fitness is context-dependent. (c) Complete mechanistic explanation: Steps that are documented: (i) Colonisation: Molecular phylogenetics confirms that all Galapagos Darwin's finches are monophyletic — derived from a single South American ancestor (most closely related to the grassquit Tiaris group). (ii) Beak morphology evolution: BMP4 and calmodulin expression patterns during development determine beak depth and length respectively — documented by Abzhanov et al. These genes show differential expression between species and are known to respond to selection. (iii) Selection on beak morphology: The Grants' data directly measure this. Steps that are inferred: (iv) Island-to-island dispersal and allopatric divergence: The inter-island geography is consistent with peripatric speciation events on each major island, followed by secondary dispersal back to occupied islands. This is inferred from phylogeographic analysis but individual dispersal events are not directly documented. (v) Assortative mating evolution: Song divergence is documented, and song is a mate-recognition signal. The inference is that song divergence accumulated alongside morphological divergence, contributing to reproductive isolation. Steps that remain unknown: (vi) The sequence and timing of island colonisations is incompletely resolved. (vii) The precise mechanism by which populations transitioned from morphological subspecific differentiation to full reproductive isolation — what specifically constituted the critical isolating mechanism in each pair. (viii) Why 15 species and not 5 or 50 — what ecological constraints set the equilibrium species diversity in this radiation. The Galapagos finches are extraordinarily well-studied but remain a research system where important questions are still open.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Reproductive isolation between two populations means they have become separate species.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Reproductive isolation is a matter of degree and can be partial. Two populations showing partial hybrid sterility or reduced hybrid fitness are on the speciation continuum but may not yet be full BSC species. The speciation process is gradual; the BSC defines an endpoint, not a threshold. Reinforcement may strengthen isolation further. Whether partial isolation constitutes "species status" depends on convention.</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Allopatric speciation is the only route to new species — all speciation requires geographic separation.</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Allopatric speciation is the most common and best-documented mode in animals, but it is not the only route. Sympatric speciation has been demonstrated or strongly supported in some systems (Rhagoletis, cichlid fish). Polyploidy produces instant sympatric speciation in plants. Parapatric speciation occurs without complete geographic separation. The frequency of non-allopatric modes relative to allopatric modes is debated.</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Adaptive radiation is random diversification — species radiate in all available directions equally.</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Adaptive radiation is ecologically structured — lineages diversify to fill available ecological niches, not randomly. The direction and rate of radiation is constrained by: the ecological space available, the morphological and developmental capacity of the lineage, interspecific competition from resident species, and the selective pressures in each niche. Galapagos finches show beak morphology closely matched to food type — the diversification is precise ecological adaptation, not random divergence.</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Clines are evidence of speciation in progress.</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Clines represent continuous geographic variation within a species, maintained by a balance of local selection and gene flow. They are stable patterns, not transitions toward speciation. Interbreeding continues throughout a cline. Speciation requires reproductive isolation; clines explicitly involve continuous gene flow. Clines can persist for millions of years without speciation occurring.</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Biological Species Concept (Mayr, 1942) defines species by reproductive isolation. It is the dominant concept in zoology but inapplicable to asexual organisms, fossil taxa, and ambiguous for allopatric populations.</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Isolating mechanisms are either pre-zygotic (preventing hybrid formation: habitat, temporal, behavioural, mechanical, gametic) or post-zygotic (reducing hybrid fitness: inviability, sterility, breakdown). Post-zygotic costs drive reinforcement of pre-zygotic isolation.</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Allopatric speciation (divergence in geographically separated populations) is the best-documented speciation mode in animals. Sympatric speciation without geographic separation is rare in animals but occurs via polyploidy in plants.</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Adaptive radiation is rapid diversification into vacant ecological niches. The Galapagos finches (15 species from one South American ancestor) show ecomorphological evolution directly driven by food availability — the Grants measured selection coefficients as high as s = 0.35 in one generation.</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Speciation is a continuum from geographic variation through subspecific differentiation and partial isolation to full reproductive isolation. The process is reversible at early stages and irreversible once complete isolation is established.</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7 (population genetics — genetic drift, gene flow, and selection all drive the divergence that leads to speciation) · Ch. 8 (sexual selection — can be a driver of rapid behavioural isolation)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10 (human evolution — the speciation events and adaptive radiation that produced modern Homo sapiens from an African ape ancestor)</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9 — Speciation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2026-05-29T10:31:05Z</dcterms:created>
  <dcterms:modified xsi:type="dcterms:W3CDTF">2026-05-29T10:31:05Z</dcterms:modified>
</cp:coreProperties>
</file>