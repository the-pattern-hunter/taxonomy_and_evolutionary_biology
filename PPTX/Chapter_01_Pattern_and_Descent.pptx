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3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91" r:id="rId42"/>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 Id="rId42" Type="http://schemas.openxmlformats.org/officeDocument/2006/relationships/slide" Target="slides/slide36.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8791E"/>
          </a:solidFill>
          <a:ln w="12700">
            <a:solidFill>
              <a:srgbClr val="C8791E"/>
            </a:solidFill>
            <a:prstDash val="solid"/>
          </a:ln>
        </p:spPr>
      </p:sp>
      <p:sp>
        <p:nvSpPr>
          <p:cNvPr id="3" name="Shape 1"/>
          <p:cNvSpPr/>
          <p:nvPr/>
        </p:nvSpPr>
        <p:spPr>
          <a:xfrm>
            <a:off x="0" y="73152"/>
            <a:ext cx="54864" cy="5070348"/>
          </a:xfrm>
          <a:prstGeom prst="rect">
            <a:avLst/>
          </a:prstGeom>
          <a:solidFill>
            <a:srgbClr val="3D7A52"/>
          </a:solidFill>
          <a:ln w="12700">
            <a:solidFill>
              <a:srgbClr val="3D7A52"/>
            </a:solidFill>
            <a:prstDash val="solid"/>
          </a:ln>
        </p:spPr>
      </p:sp>
      <p:sp>
        <p:nvSpPr>
          <p:cNvPr id="4" name="Text 2"/>
          <p:cNvSpPr/>
          <p:nvPr/>
        </p:nvSpPr>
        <p:spPr>
          <a:xfrm>
            <a:off x="274320" y="164592"/>
            <a:ext cx="8595360" cy="274320"/>
          </a:xfrm>
          <a:prstGeom prst="rect">
            <a:avLst/>
          </a:prstGeom>
          <a:noFill/>
          <a:ln/>
        </p:spPr>
        <p:txBody>
          <a:bodyPr wrap="square" rtlCol="0" anchor="ctr"/>
          <a:lstStyle/>
          <a:p>
            <a:pPr algn="l" indent="0" marL="0">
              <a:buNone/>
            </a:pPr>
            <a:r>
              <a:rPr lang="en-US" sz="900" spc="200" kern="0" dirty="0">
                <a:solidFill>
                  <a:srgbClr val="8FA898"/>
                </a:solidFill>
                <a:latin typeface="Calibri" pitchFamily="34" charset="0"/>
                <a:ea typeface="Calibri" pitchFamily="34" charset="-122"/>
                <a:cs typeface="Calibri" pitchFamily="34" charset="-120"/>
              </a:rPr>
              <a:t>BSc Zoology · Core I · Paper XV · NEP 2025–28</a:t>
            </a:r>
            <a:endParaRPr lang="en-US" sz="900" dirty="0"/>
          </a:p>
        </p:txBody>
      </p:sp>
      <p:sp>
        <p:nvSpPr>
          <p:cNvPr id="5" name="Text 3"/>
          <p:cNvSpPr/>
          <p:nvPr/>
        </p:nvSpPr>
        <p:spPr>
          <a:xfrm>
            <a:off x="274320" y="640080"/>
            <a:ext cx="8595360" cy="457200"/>
          </a:xfrm>
          <a:prstGeom prst="rect">
            <a:avLst/>
          </a:prstGeom>
          <a:noFill/>
          <a:ln/>
        </p:spPr>
        <p:txBody>
          <a:bodyPr wrap="square" rtlCol="0" anchor="ctr"/>
          <a:lstStyle/>
          <a:p>
            <a:pPr algn="l" indent="0" marL="0">
              <a:buNone/>
            </a:pPr>
            <a:r>
              <a:rPr lang="en-US" sz="1400" b="1" spc="300" kern="0" dirty="0">
                <a:solidFill>
                  <a:srgbClr val="C8791E"/>
                </a:solidFill>
                <a:latin typeface="Calibri" pitchFamily="34" charset="0"/>
                <a:ea typeface="Calibri" pitchFamily="34" charset="-122"/>
                <a:cs typeface="Calibri" pitchFamily="34" charset="-120"/>
              </a:rPr>
              <a:t>Chapter 1</a:t>
            </a:r>
            <a:endParaRPr lang="en-US" sz="1400" dirty="0"/>
          </a:p>
        </p:txBody>
      </p:sp>
      <p:sp>
        <p:nvSpPr>
          <p:cNvPr id="6" name="Text 4"/>
          <p:cNvSpPr/>
          <p:nvPr/>
        </p:nvSpPr>
        <p:spPr>
          <a:xfrm>
            <a:off x="274320" y="1051560"/>
            <a:ext cx="8595360" cy="1280160"/>
          </a:xfrm>
          <a:prstGeom prst="rect">
            <a:avLst/>
          </a:prstGeom>
          <a:noFill/>
          <a:ln/>
        </p:spPr>
        <p:txBody>
          <a:bodyPr wrap="square" rtlCol="0" anchor="ctr"/>
          <a:lstStyle/>
          <a:p>
            <a:pPr algn="l" indent="0" marL="0">
              <a:buNone/>
            </a:pPr>
            <a:r>
              <a:rPr lang="en-US" sz="3600" dirty="0">
                <a:solidFill>
                  <a:srgbClr val="F4F1EC"/>
                </a:solidFill>
                <a:latin typeface="Georgia" pitchFamily="34" charset="0"/>
                <a:ea typeface="Georgia" pitchFamily="34" charset="-122"/>
                <a:cs typeface="Georgia" pitchFamily="34" charset="-120"/>
              </a:rPr>
              <a:t>The Logic of Classification</a:t>
            </a:r>
            <a:endParaRPr lang="en-US" sz="3600" dirty="0"/>
          </a:p>
        </p:txBody>
      </p:sp>
      <p:sp>
        <p:nvSpPr>
          <p:cNvPr id="7" name="Text 5"/>
          <p:cNvSpPr/>
          <p:nvPr/>
        </p:nvSpPr>
        <p:spPr>
          <a:xfrm>
            <a:off x="274320" y="2331720"/>
            <a:ext cx="8595360" cy="457200"/>
          </a:xfrm>
          <a:prstGeom prst="rect">
            <a:avLst/>
          </a:prstGeom>
          <a:noFill/>
          <a:ln/>
        </p:spPr>
        <p:txBody>
          <a:bodyPr wrap="square" rtlCol="0" anchor="ctr"/>
          <a:lstStyle/>
          <a:p>
            <a:pPr algn="l" indent="0" marL="0">
              <a:buNone/>
            </a:pPr>
            <a:r>
              <a:rPr lang="en-US" sz="1600" i="1" dirty="0">
                <a:solidFill>
                  <a:srgbClr val="8FA898"/>
                </a:solidFill>
                <a:latin typeface="Calibri" pitchFamily="34" charset="0"/>
                <a:ea typeface="Calibri" pitchFamily="34" charset="-122"/>
                <a:cs typeface="Calibri" pitchFamily="34" charset="-120"/>
              </a:rPr>
              <a:t>Why We Name What We Name</a:t>
            </a:r>
            <a:endParaRPr lang="en-US" sz="1600" dirty="0"/>
          </a:p>
        </p:txBody>
      </p:sp>
      <p:sp>
        <p:nvSpPr>
          <p:cNvPr id="8" name="Shape 6"/>
          <p:cNvSpPr/>
          <p:nvPr/>
        </p:nvSpPr>
        <p:spPr>
          <a:xfrm>
            <a:off x="274320" y="2880360"/>
            <a:ext cx="8595360" cy="13716"/>
          </a:xfrm>
          <a:prstGeom prst="rect">
            <a:avLst/>
          </a:prstGeom>
          <a:solidFill>
            <a:srgbClr val="2D5A3D"/>
          </a:solidFill>
          <a:ln w="12700">
            <a:solidFill>
              <a:srgbClr val="2D5A3D"/>
            </a:solidFill>
            <a:prstDash val="solid"/>
          </a:ln>
        </p:spPr>
      </p:sp>
      <p:sp>
        <p:nvSpPr>
          <p:cNvPr id="9" name="Text 7"/>
          <p:cNvSpPr/>
          <p:nvPr/>
        </p:nvSpPr>
        <p:spPr>
          <a:xfrm>
            <a:off x="274320" y="2971800"/>
            <a:ext cx="8595360" cy="274320"/>
          </a:xfrm>
          <a:prstGeom prst="rect">
            <a:avLst/>
          </a:prstGeom>
          <a:noFill/>
          <a:ln/>
        </p:spPr>
        <p:txBody>
          <a:bodyPr wrap="square" rtlCol="0" anchor="ctr"/>
          <a:lstStyle/>
          <a:p>
            <a:pPr algn="l" indent="0" marL="0">
              <a:buNone/>
            </a:pPr>
            <a:r>
              <a:rPr lang="en-US" sz="1100" dirty="0">
                <a:solidFill>
                  <a:srgbClr val="8FA898"/>
                </a:solidFill>
                <a:latin typeface="Calibri" pitchFamily="34" charset="0"/>
                <a:ea typeface="Calibri" pitchFamily="34" charset="-122"/>
                <a:cs typeface="Calibri" pitchFamily="34" charset="-120"/>
              </a:rPr>
              <a:t>Unit 1 · Concepts of Taxonomy</a:t>
            </a:r>
            <a:endParaRPr lang="en-US" sz="1100" dirty="0"/>
          </a:p>
        </p:txBody>
      </p:sp>
      <p:sp>
        <p:nvSpPr>
          <p:cNvPr id="10" name="Text 8"/>
          <p:cNvSpPr/>
          <p:nvPr/>
        </p:nvSpPr>
        <p:spPr>
          <a:xfrm>
            <a:off x="274320" y="3337560"/>
            <a:ext cx="8595360" cy="1005840"/>
          </a:xfrm>
          <a:prstGeom prst="rect">
            <a:avLst/>
          </a:prstGeom>
          <a:noFill/>
          <a:ln/>
        </p:spPr>
        <p:txBody>
          <a:bodyPr wrap="square" lIns="91440" tIns="91440" rIns="91440" bIns="91440" rtlCol="0" anchor="ctr"/>
          <a:lstStyle/>
          <a:p>
            <a:pPr algn="l" indent="0" marL="0">
              <a:buNone/>
            </a:pPr>
            <a:r>
              <a:rPr lang="en-US" sz="1300" i="1" dirty="0">
                <a:solidFill>
                  <a:srgbClr val="E8F0EB"/>
                </a:solidFill>
                <a:latin typeface="Georgia" pitchFamily="34" charset="0"/>
                <a:ea typeface="Georgia" pitchFamily="34" charset="-122"/>
                <a:cs typeface="Georgia" pitchFamily="34" charset="-120"/>
              </a:rPr>
              <a:t>"Classification is not imposed on nature from outside. It discovers the structure that evolution has already produced."</a:t>
            </a:r>
            <a:endParaRPr lang="en-US" sz="1300" dirty="0"/>
          </a:p>
        </p:txBody>
      </p:sp>
      <p:sp>
        <p:nvSpPr>
          <p:cNvPr id="11" name="Shape 9"/>
          <p:cNvSpPr/>
          <p:nvPr/>
        </p:nvSpPr>
        <p:spPr>
          <a:xfrm>
            <a:off x="0" y="5070348"/>
            <a:ext cx="9144000" cy="73152"/>
          </a:xfrm>
          <a:prstGeom prst="rect">
            <a:avLst/>
          </a:prstGeom>
          <a:solidFill>
            <a:srgbClr val="3D7A52"/>
          </a:solidFill>
          <a:ln w="12700">
            <a:solidFill>
              <a:srgbClr val="3D7A5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0EB"/>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C8791E"/>
          </a:solidFill>
          <a:ln w="12700">
            <a:solidFill>
              <a:srgbClr val="C8791E"/>
            </a:solidFill>
            <a:prstDash val="solid"/>
          </a:ln>
        </p:spPr>
      </p:sp>
      <p:sp>
        <p:nvSpPr>
          <p:cNvPr id="3" name="Text 1"/>
          <p:cNvSpPr/>
          <p:nvPr/>
        </p:nvSpPr>
        <p:spPr>
          <a:xfrm>
            <a:off x="274320" y="228600"/>
            <a:ext cx="8595360" cy="502920"/>
          </a:xfrm>
          <a:prstGeom prst="rect">
            <a:avLst/>
          </a:prstGeom>
          <a:noFill/>
          <a:ln/>
        </p:spPr>
        <p:txBody>
          <a:bodyPr wrap="square" rtlCol="0" anchor="ctr"/>
          <a:lstStyle/>
          <a:p>
            <a:pPr indent="0" marL="0">
              <a:buNone/>
            </a:pPr>
            <a:r>
              <a:rPr lang="en-US" sz="2600" b="1" dirty="0">
                <a:solidFill>
                  <a:srgbClr val="1C2B1E"/>
                </a:solidFill>
                <a:latin typeface="Georgia" pitchFamily="34" charset="0"/>
                <a:ea typeface="Georgia" pitchFamily="34" charset="-122"/>
                <a:cs typeface="Georgia" pitchFamily="34" charset="-120"/>
              </a:rPr>
              <a:t>Chapter Overview</a:t>
            </a:r>
            <a:endParaRPr lang="en-US" sz="2600" dirty="0"/>
          </a:p>
        </p:txBody>
      </p:sp>
      <p:sp>
        <p:nvSpPr>
          <p:cNvPr id="4" name="Shape 2"/>
          <p:cNvSpPr/>
          <p:nvPr/>
        </p:nvSpPr>
        <p:spPr>
          <a:xfrm>
            <a:off x="274320" y="841248"/>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841248"/>
            <a:ext cx="347472" cy="475488"/>
          </a:xfrm>
          <a:prstGeom prst="rect">
            <a:avLst/>
          </a:prstGeom>
          <a:solidFill>
            <a:srgbClr val="2D5A3D"/>
          </a:solidFill>
          <a:ln w="12700">
            <a:solidFill>
              <a:srgbClr val="2D5A3D"/>
            </a:solidFill>
            <a:prstDash val="solid"/>
          </a:ln>
        </p:spPr>
      </p:sp>
      <p:sp>
        <p:nvSpPr>
          <p:cNvPr id="6" name="Text 4"/>
          <p:cNvSpPr/>
          <p:nvPr/>
        </p:nvSpPr>
        <p:spPr>
          <a:xfrm>
            <a:off x="274320" y="841248"/>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658368" y="841248"/>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1.1 Why Life Can Be Classified</a:t>
            </a:r>
            <a:endParaRPr lang="en-US" sz="1150" dirty="0"/>
          </a:p>
        </p:txBody>
      </p:sp>
      <p:sp>
        <p:nvSpPr>
          <p:cNvPr id="8" name="Shape 6"/>
          <p:cNvSpPr/>
          <p:nvPr/>
        </p:nvSpPr>
        <p:spPr>
          <a:xfrm>
            <a:off x="4590288" y="841248"/>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9" name="Shape 7"/>
          <p:cNvSpPr/>
          <p:nvPr/>
        </p:nvSpPr>
        <p:spPr>
          <a:xfrm>
            <a:off x="4590288" y="841248"/>
            <a:ext cx="347472" cy="475488"/>
          </a:xfrm>
          <a:prstGeom prst="rect">
            <a:avLst/>
          </a:prstGeom>
          <a:solidFill>
            <a:srgbClr val="2D5A3D"/>
          </a:solidFill>
          <a:ln w="12700">
            <a:solidFill>
              <a:srgbClr val="2D5A3D"/>
            </a:solidFill>
            <a:prstDash val="solid"/>
          </a:ln>
        </p:spPr>
      </p:sp>
      <p:sp>
        <p:nvSpPr>
          <p:cNvPr id="10" name="Text 8"/>
          <p:cNvSpPr/>
          <p:nvPr/>
        </p:nvSpPr>
        <p:spPr>
          <a:xfrm>
            <a:off x="4590288" y="841248"/>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4974336" y="841248"/>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1.2 Biosystematics and Applications</a:t>
            </a:r>
            <a:endParaRPr lang="en-US" sz="1150" dirty="0"/>
          </a:p>
        </p:txBody>
      </p:sp>
      <p:sp>
        <p:nvSpPr>
          <p:cNvPr id="12" name="Shape 10"/>
          <p:cNvSpPr/>
          <p:nvPr/>
        </p:nvSpPr>
        <p:spPr>
          <a:xfrm>
            <a:off x="274320" y="1426464"/>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274320" y="1426464"/>
            <a:ext cx="347472" cy="475488"/>
          </a:xfrm>
          <a:prstGeom prst="rect">
            <a:avLst/>
          </a:prstGeom>
          <a:solidFill>
            <a:srgbClr val="2D5A3D"/>
          </a:solidFill>
          <a:ln w="12700">
            <a:solidFill>
              <a:srgbClr val="2D5A3D"/>
            </a:solidFill>
            <a:prstDash val="solid"/>
          </a:ln>
        </p:spPr>
      </p:sp>
      <p:sp>
        <p:nvSpPr>
          <p:cNvPr id="14" name="Text 12"/>
          <p:cNvSpPr/>
          <p:nvPr/>
        </p:nvSpPr>
        <p:spPr>
          <a:xfrm>
            <a:off x="274320" y="1426464"/>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658368" y="1426464"/>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1.3 Taxonomic Characters &amp; Primitive/Derived</a:t>
            </a:r>
            <a:endParaRPr lang="en-US" sz="1150" dirty="0"/>
          </a:p>
        </p:txBody>
      </p:sp>
      <p:sp>
        <p:nvSpPr>
          <p:cNvPr id="16" name="Shape 14"/>
          <p:cNvSpPr/>
          <p:nvPr/>
        </p:nvSpPr>
        <p:spPr>
          <a:xfrm>
            <a:off x="4590288" y="1426464"/>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17" name="Shape 15"/>
          <p:cNvSpPr/>
          <p:nvPr/>
        </p:nvSpPr>
        <p:spPr>
          <a:xfrm>
            <a:off x="4590288" y="1426464"/>
            <a:ext cx="347472" cy="475488"/>
          </a:xfrm>
          <a:prstGeom prst="rect">
            <a:avLst/>
          </a:prstGeom>
          <a:solidFill>
            <a:srgbClr val="2D5A3D"/>
          </a:solidFill>
          <a:ln w="12700">
            <a:solidFill>
              <a:srgbClr val="2D5A3D"/>
            </a:solidFill>
            <a:prstDash val="solid"/>
          </a:ln>
        </p:spPr>
      </p:sp>
      <p:sp>
        <p:nvSpPr>
          <p:cNvPr id="18" name="Text 16"/>
          <p:cNvSpPr/>
          <p:nvPr/>
        </p:nvSpPr>
        <p:spPr>
          <a:xfrm>
            <a:off x="4590288" y="1426464"/>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4974336" y="1426464"/>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1.4 The Linnaean Hierarchy</a:t>
            </a:r>
            <a:endParaRPr lang="en-US" sz="1150" dirty="0"/>
          </a:p>
        </p:txBody>
      </p:sp>
      <p:sp>
        <p:nvSpPr>
          <p:cNvPr id="20" name="Shape 18"/>
          <p:cNvSpPr/>
          <p:nvPr/>
        </p:nvSpPr>
        <p:spPr>
          <a:xfrm>
            <a:off x="274320" y="2011680"/>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21" name="Shape 19"/>
          <p:cNvSpPr/>
          <p:nvPr/>
        </p:nvSpPr>
        <p:spPr>
          <a:xfrm>
            <a:off x="274320" y="2011680"/>
            <a:ext cx="347472" cy="475488"/>
          </a:xfrm>
          <a:prstGeom prst="rect">
            <a:avLst/>
          </a:prstGeom>
          <a:solidFill>
            <a:srgbClr val="2D5A3D"/>
          </a:solidFill>
          <a:ln w="12700">
            <a:solidFill>
              <a:srgbClr val="2D5A3D"/>
            </a:solidFill>
            <a:prstDash val="solid"/>
          </a:ln>
        </p:spPr>
      </p:sp>
      <p:sp>
        <p:nvSpPr>
          <p:cNvPr id="22" name="Text 20"/>
          <p:cNvSpPr/>
          <p:nvPr/>
        </p:nvSpPr>
        <p:spPr>
          <a:xfrm>
            <a:off x="274320" y="2011680"/>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658368" y="2011680"/>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1.5 Natural, Artificial, Phylogenetic Classification</a:t>
            </a:r>
            <a:endParaRPr lang="en-US" sz="1150" dirty="0"/>
          </a:p>
        </p:txBody>
      </p:sp>
      <p:sp>
        <p:nvSpPr>
          <p:cNvPr id="24" name="Shape 22"/>
          <p:cNvSpPr/>
          <p:nvPr/>
        </p:nvSpPr>
        <p:spPr>
          <a:xfrm>
            <a:off x="4590288" y="2011680"/>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25" name="Shape 23"/>
          <p:cNvSpPr/>
          <p:nvPr/>
        </p:nvSpPr>
        <p:spPr>
          <a:xfrm>
            <a:off x="4590288" y="2011680"/>
            <a:ext cx="347472" cy="475488"/>
          </a:xfrm>
          <a:prstGeom prst="rect">
            <a:avLst/>
          </a:prstGeom>
          <a:solidFill>
            <a:srgbClr val="2D5A3D"/>
          </a:solidFill>
          <a:ln w="12700">
            <a:solidFill>
              <a:srgbClr val="2D5A3D"/>
            </a:solidFill>
            <a:prstDash val="solid"/>
          </a:ln>
        </p:spPr>
      </p:sp>
      <p:sp>
        <p:nvSpPr>
          <p:cNvPr id="26" name="Text 24"/>
          <p:cNvSpPr/>
          <p:nvPr/>
        </p:nvSpPr>
        <p:spPr>
          <a:xfrm>
            <a:off x="4590288" y="2011680"/>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4974336" y="2011680"/>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1.6 Major Classification Systems</a:t>
            </a:r>
            <a:endParaRPr lang="en-US" sz="1150" dirty="0"/>
          </a:p>
        </p:txBody>
      </p:sp>
      <p:sp>
        <p:nvSpPr>
          <p:cNvPr id="28" name="Shape 26"/>
          <p:cNvSpPr/>
          <p:nvPr/>
        </p:nvSpPr>
        <p:spPr>
          <a:xfrm>
            <a:off x="274320" y="2596896"/>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29" name="Shape 27"/>
          <p:cNvSpPr/>
          <p:nvPr/>
        </p:nvSpPr>
        <p:spPr>
          <a:xfrm>
            <a:off x="274320" y="2596896"/>
            <a:ext cx="347472" cy="475488"/>
          </a:xfrm>
          <a:prstGeom prst="rect">
            <a:avLst/>
          </a:prstGeom>
          <a:solidFill>
            <a:srgbClr val="2D5A3D"/>
          </a:solidFill>
          <a:ln w="12700">
            <a:solidFill>
              <a:srgbClr val="2D5A3D"/>
            </a:solidFill>
            <a:prstDash val="solid"/>
          </a:ln>
        </p:spPr>
      </p:sp>
      <p:sp>
        <p:nvSpPr>
          <p:cNvPr id="30" name="Text 28"/>
          <p:cNvSpPr/>
          <p:nvPr/>
        </p:nvSpPr>
        <p:spPr>
          <a:xfrm>
            <a:off x="274320" y="2596896"/>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1" name="Text 29"/>
          <p:cNvSpPr/>
          <p:nvPr/>
        </p:nvSpPr>
        <p:spPr>
          <a:xfrm>
            <a:off x="658368" y="2596896"/>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1.7 Classification as a Discipline</a:t>
            </a:r>
            <a:endParaRPr lang="en-US" sz="1150" dirty="0"/>
          </a:p>
        </p:txBody>
      </p:sp>
      <p:sp>
        <p:nvSpPr>
          <p:cNvPr id="32" name="Shape 30"/>
          <p:cNvSpPr/>
          <p:nvPr/>
        </p:nvSpPr>
        <p:spPr>
          <a:xfrm>
            <a:off x="4590288" y="2596896"/>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33" name="Shape 31"/>
          <p:cNvSpPr/>
          <p:nvPr/>
        </p:nvSpPr>
        <p:spPr>
          <a:xfrm>
            <a:off x="4590288" y="2596896"/>
            <a:ext cx="347472" cy="475488"/>
          </a:xfrm>
          <a:prstGeom prst="rect">
            <a:avLst/>
          </a:prstGeom>
          <a:solidFill>
            <a:srgbClr val="2D5A3D"/>
          </a:solidFill>
          <a:ln w="12700">
            <a:solidFill>
              <a:srgbClr val="2D5A3D"/>
            </a:solidFill>
            <a:prstDash val="solid"/>
          </a:ln>
        </p:spPr>
      </p:sp>
      <p:sp>
        <p:nvSpPr>
          <p:cNvPr id="34" name="Text 32"/>
          <p:cNvSpPr/>
          <p:nvPr/>
        </p:nvSpPr>
        <p:spPr>
          <a:xfrm>
            <a:off x="4590288" y="2596896"/>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5" name="Text 33"/>
          <p:cNvSpPr/>
          <p:nvPr/>
        </p:nvSpPr>
        <p:spPr>
          <a:xfrm>
            <a:off x="4974336" y="2596896"/>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1.8 The Species Problem</a:t>
            </a:r>
            <a:endParaRPr lang="en-US" sz="1150" dirty="0"/>
          </a:p>
        </p:txBody>
      </p:sp>
      <p:sp>
        <p:nvSpPr>
          <p:cNvPr id="36" name="Shape 34"/>
          <p:cNvSpPr/>
          <p:nvPr/>
        </p:nvSpPr>
        <p:spPr>
          <a:xfrm>
            <a:off x="274320" y="3273552"/>
            <a:ext cx="8595360" cy="566928"/>
          </a:xfrm>
          <a:prstGeom prst="rect">
            <a:avLst/>
          </a:prstGeom>
          <a:solidFill>
            <a:srgbClr val="1C2B1E"/>
          </a:solidFill>
          <a:ln w="12700">
            <a:solidFill>
              <a:srgbClr val="1C2B1E"/>
            </a:solidFill>
            <a:prstDash val="solid"/>
          </a:ln>
        </p:spPr>
      </p:sp>
      <p:sp>
        <p:nvSpPr>
          <p:cNvPr id="37" name="Text 35"/>
          <p:cNvSpPr/>
          <p:nvPr/>
        </p:nvSpPr>
        <p:spPr>
          <a:xfrm>
            <a:off x="274320" y="3273552"/>
            <a:ext cx="8595360" cy="566928"/>
          </a:xfrm>
          <a:prstGeom prst="rect">
            <a:avLst/>
          </a:prstGeom>
          <a:noFill/>
          <a:ln/>
        </p:spPr>
        <p:txBody>
          <a:bodyPr wrap="square" lIns="1524" tIns="1524" rIns="1524" bIns="1524" rtlCol="0" anchor="ctr"/>
          <a:lstStyle/>
          <a:p>
            <a:pPr indent="0" marL="0">
              <a:buNone/>
            </a:pPr>
            <a:r>
              <a:rPr lang="en-US" sz="1050" b="1" dirty="0">
                <a:solidFill>
                  <a:srgbClr val="C8791E"/>
                </a:solidFill>
                <a:latin typeface="Calibri" pitchFamily="34" charset="0"/>
                <a:ea typeface="Calibri" pitchFamily="34" charset="-122"/>
                <a:cs typeface="Calibri" pitchFamily="34" charset="-120"/>
              </a:rPr>
              <a:t xml:space="preserve">Threads carried: </a:t>
            </a:r>
            <a:pPr indent="0" marL="0">
              <a:buNone/>
            </a:pPr>
            <a:r>
              <a:rPr lang="en-US" sz="1050" dirty="0">
                <a:solidFill>
                  <a:srgbClr val="F4F1EC"/>
                </a:solidFill>
                <a:latin typeface="Calibri" pitchFamily="34" charset="0"/>
                <a:ea typeface="Calibri" pitchFamily="34" charset="-122"/>
                <a:cs typeface="Calibri" pitchFamily="34" charset="-120"/>
              </a:rPr>
              <a:t>T1 — Species problem introduced · T4 — Scale from subspecies to domain</a:t>
            </a:r>
            <a:endParaRPr lang="en-US" sz="1050" dirty="0"/>
          </a:p>
        </p:txBody>
      </p:sp>
      <p:sp>
        <p:nvSpPr>
          <p:cNvPr id="38" name="Text 36"/>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 / 99</a:t>
            </a:r>
            <a:endParaRPr lang="en-US" sz="900" dirty="0"/>
          </a:p>
        </p:txBody>
      </p:sp>
      <p:sp>
        <p:nvSpPr>
          <p:cNvPr id="39" name="Text 37"/>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 — Classification</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§1.1 Why Classification Is Possible</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Branching Evolution Produces Nested Similarity</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Life evolves by branching — each speciation event produces a node in a tree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Branching creates nested similarity: every group contains subgroups sharing more recent ancestry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This nested structure exists in nature independently of human observation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Taxonomy discovers the structure; it does not impose it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 natural classification is possible because evolution is the mechanism that creates natural groups</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2D5A3D"/>
            </a:solidFill>
            <a:prstDash val="solid"/>
          </a:ln>
        </p:spPr>
      </p:sp>
      <p:sp>
        <p:nvSpPr>
          <p:cNvPr id="8" name="Shape 6"/>
          <p:cNvSpPr/>
          <p:nvPr/>
        </p:nvSpPr>
        <p:spPr>
          <a:xfrm>
            <a:off x="6995160" y="1234440"/>
            <a:ext cx="0" cy="1463040"/>
          </a:xfrm>
          <a:prstGeom prst="line">
            <a:avLst/>
          </a:prstGeom>
          <a:noFill/>
          <a:ln w="15240">
            <a:solidFill>
              <a:srgbClr val="3D7A52"/>
            </a:solidFill>
            <a:prstDash val="solid"/>
          </a:ln>
        </p:spPr>
      </p:sp>
      <p:sp>
        <p:nvSpPr>
          <p:cNvPr id="9" name="Shape 7"/>
          <p:cNvSpPr/>
          <p:nvPr/>
        </p:nvSpPr>
        <p:spPr>
          <a:xfrm>
            <a:off x="6830568" y="1143000"/>
            <a:ext cx="329184" cy="201168"/>
          </a:xfrm>
          <a:prstGeom prst="ellipse">
            <a:avLst/>
          </a:prstGeom>
          <a:solidFill>
            <a:srgbClr val="C8791E"/>
          </a:solidFill>
          <a:ln w="12700">
            <a:solidFill>
              <a:srgbClr val="C8791E"/>
            </a:solidFill>
            <a:prstDash val="solid"/>
          </a:ln>
        </p:spPr>
      </p:sp>
      <p:sp>
        <p:nvSpPr>
          <p:cNvPr id="10" name="Text 8"/>
          <p:cNvSpPr/>
          <p:nvPr/>
        </p:nvSpPr>
        <p:spPr>
          <a:xfrm>
            <a:off x="6720840" y="941832"/>
            <a:ext cx="548640" cy="18288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Common</a:t>
            </a:r>
            <a:endParaRPr lang="en-US" sz="800" dirty="0"/>
          </a:p>
          <a:p>
            <a:pPr algn="ctr" indent="0" marL="0">
              <a:buNone/>
            </a:pPr>
            <a:r>
              <a:rPr lang="en-US" sz="800" dirty="0">
                <a:solidFill>
                  <a:srgbClr val="8FA898"/>
                </a:solidFill>
                <a:latin typeface="Calibri" pitchFamily="34" charset="0"/>
                <a:ea typeface="Calibri" pitchFamily="34" charset="-122"/>
                <a:cs typeface="Calibri" pitchFamily="34" charset="-120"/>
              </a:rPr>
              <a:t>Ancestor</a:t>
            </a:r>
            <a:endParaRPr lang="en-US" sz="800" dirty="0"/>
          </a:p>
        </p:txBody>
      </p:sp>
      <p:sp>
        <p:nvSpPr>
          <p:cNvPr id="11" name="Shape 9"/>
          <p:cNvSpPr/>
          <p:nvPr/>
        </p:nvSpPr>
        <p:spPr>
          <a:xfrm>
            <a:off x="6170371" y="2697480"/>
            <a:ext cx="1649578" cy="0"/>
          </a:xfrm>
          <a:prstGeom prst="line">
            <a:avLst/>
          </a:prstGeom>
          <a:noFill/>
          <a:ln w="12700">
            <a:solidFill>
              <a:srgbClr val="3D7A52"/>
            </a:solidFill>
            <a:prstDash val="solid"/>
          </a:ln>
        </p:spPr>
      </p:sp>
      <p:sp>
        <p:nvSpPr>
          <p:cNvPr id="12" name="Shape 10"/>
          <p:cNvSpPr/>
          <p:nvPr/>
        </p:nvSpPr>
        <p:spPr>
          <a:xfrm>
            <a:off x="6170371" y="2697480"/>
            <a:ext cx="0" cy="1280160"/>
          </a:xfrm>
          <a:prstGeom prst="line">
            <a:avLst/>
          </a:prstGeom>
          <a:noFill/>
          <a:ln w="12700">
            <a:solidFill>
              <a:srgbClr val="3D7A52"/>
            </a:solidFill>
            <a:prstDash val="solid"/>
          </a:ln>
        </p:spPr>
      </p:sp>
      <p:sp>
        <p:nvSpPr>
          <p:cNvPr id="13" name="Shape 11"/>
          <p:cNvSpPr/>
          <p:nvPr/>
        </p:nvSpPr>
        <p:spPr>
          <a:xfrm>
            <a:off x="5804611" y="3977640"/>
            <a:ext cx="731520" cy="256032"/>
          </a:xfrm>
          <a:prstGeom prst="rect">
            <a:avLst/>
          </a:prstGeom>
          <a:solidFill>
            <a:srgbClr val="2D5A3D"/>
          </a:solidFill>
          <a:ln w="12700">
            <a:solidFill>
              <a:srgbClr val="3D7A52"/>
            </a:solidFill>
            <a:prstDash val="solid"/>
          </a:ln>
        </p:spPr>
      </p:sp>
      <p:sp>
        <p:nvSpPr>
          <p:cNvPr id="14" name="Text 12"/>
          <p:cNvSpPr/>
          <p:nvPr/>
        </p:nvSpPr>
        <p:spPr>
          <a:xfrm>
            <a:off x="5804611" y="3977640"/>
            <a:ext cx="7315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Clade A</a:t>
            </a:r>
            <a:endParaRPr lang="en-US" sz="900" dirty="0"/>
          </a:p>
        </p:txBody>
      </p:sp>
      <p:sp>
        <p:nvSpPr>
          <p:cNvPr id="15" name="Shape 13"/>
          <p:cNvSpPr/>
          <p:nvPr/>
        </p:nvSpPr>
        <p:spPr>
          <a:xfrm>
            <a:off x="7819949" y="2697480"/>
            <a:ext cx="0" cy="1280160"/>
          </a:xfrm>
          <a:prstGeom prst="line">
            <a:avLst/>
          </a:prstGeom>
          <a:noFill/>
          <a:ln w="12700">
            <a:solidFill>
              <a:srgbClr val="3D7A52"/>
            </a:solidFill>
            <a:prstDash val="solid"/>
          </a:ln>
        </p:spPr>
      </p:sp>
      <p:sp>
        <p:nvSpPr>
          <p:cNvPr id="16" name="Shape 14"/>
          <p:cNvSpPr/>
          <p:nvPr/>
        </p:nvSpPr>
        <p:spPr>
          <a:xfrm>
            <a:off x="7454189" y="3977640"/>
            <a:ext cx="731520" cy="256032"/>
          </a:xfrm>
          <a:prstGeom prst="rect">
            <a:avLst/>
          </a:prstGeom>
          <a:solidFill>
            <a:srgbClr val="2D5A3D"/>
          </a:solidFill>
          <a:ln w="12700">
            <a:solidFill>
              <a:srgbClr val="3D7A52"/>
            </a:solidFill>
            <a:prstDash val="solid"/>
          </a:ln>
        </p:spPr>
      </p:sp>
      <p:sp>
        <p:nvSpPr>
          <p:cNvPr id="17" name="Text 15"/>
          <p:cNvSpPr/>
          <p:nvPr/>
        </p:nvSpPr>
        <p:spPr>
          <a:xfrm>
            <a:off x="7454189" y="3977640"/>
            <a:ext cx="7315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Clade B</a:t>
            </a:r>
            <a:endParaRPr lang="en-US" sz="900" dirty="0"/>
          </a:p>
        </p:txBody>
      </p:sp>
      <p:sp>
        <p:nvSpPr>
          <p:cNvPr id="18" name="Shape 16"/>
          <p:cNvSpPr/>
          <p:nvPr/>
        </p:nvSpPr>
        <p:spPr>
          <a:xfrm>
            <a:off x="7445045" y="3355848"/>
            <a:ext cx="749808" cy="0"/>
          </a:xfrm>
          <a:prstGeom prst="line">
            <a:avLst/>
          </a:prstGeom>
          <a:noFill/>
          <a:ln w="11430">
            <a:solidFill>
              <a:srgbClr val="3D8C7A"/>
            </a:solidFill>
            <a:prstDash val="solid"/>
          </a:ln>
        </p:spPr>
      </p:sp>
      <p:sp>
        <p:nvSpPr>
          <p:cNvPr id="19" name="Shape 17"/>
          <p:cNvSpPr/>
          <p:nvPr/>
        </p:nvSpPr>
        <p:spPr>
          <a:xfrm>
            <a:off x="7445045" y="3355848"/>
            <a:ext cx="0" cy="621792"/>
          </a:xfrm>
          <a:prstGeom prst="line">
            <a:avLst/>
          </a:prstGeom>
          <a:noFill/>
          <a:ln w="11430">
            <a:solidFill>
              <a:srgbClr val="3D8C7A"/>
            </a:solidFill>
            <a:prstDash val="solid"/>
          </a:ln>
        </p:spPr>
      </p:sp>
      <p:sp>
        <p:nvSpPr>
          <p:cNvPr id="20" name="Shape 18"/>
          <p:cNvSpPr/>
          <p:nvPr/>
        </p:nvSpPr>
        <p:spPr>
          <a:xfrm>
            <a:off x="7152437" y="3977640"/>
            <a:ext cx="585216" cy="228600"/>
          </a:xfrm>
          <a:prstGeom prst="rect">
            <a:avLst/>
          </a:prstGeom>
          <a:solidFill>
            <a:srgbClr val="3D8C7A"/>
          </a:solidFill>
          <a:ln w="12700">
            <a:solidFill>
              <a:srgbClr val="3D8C7A"/>
            </a:solidFill>
            <a:prstDash val="solid"/>
          </a:ln>
        </p:spPr>
      </p:sp>
      <p:sp>
        <p:nvSpPr>
          <p:cNvPr id="21" name="Text 19"/>
          <p:cNvSpPr/>
          <p:nvPr/>
        </p:nvSpPr>
        <p:spPr>
          <a:xfrm>
            <a:off x="7152437" y="3977640"/>
            <a:ext cx="585216" cy="22860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Sub-clade</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C</a:t>
            </a:r>
            <a:endParaRPr lang="en-US" sz="800" dirty="0"/>
          </a:p>
        </p:txBody>
      </p:sp>
      <p:sp>
        <p:nvSpPr>
          <p:cNvPr id="22" name="Shape 20"/>
          <p:cNvSpPr/>
          <p:nvPr/>
        </p:nvSpPr>
        <p:spPr>
          <a:xfrm>
            <a:off x="8194853" y="3355848"/>
            <a:ext cx="0" cy="621792"/>
          </a:xfrm>
          <a:prstGeom prst="line">
            <a:avLst/>
          </a:prstGeom>
          <a:noFill/>
          <a:ln w="11430">
            <a:solidFill>
              <a:srgbClr val="3D8C7A"/>
            </a:solidFill>
            <a:prstDash val="solid"/>
          </a:ln>
        </p:spPr>
      </p:sp>
      <p:sp>
        <p:nvSpPr>
          <p:cNvPr id="23" name="Shape 21"/>
          <p:cNvSpPr/>
          <p:nvPr/>
        </p:nvSpPr>
        <p:spPr>
          <a:xfrm>
            <a:off x="7902245" y="3977640"/>
            <a:ext cx="585216" cy="228600"/>
          </a:xfrm>
          <a:prstGeom prst="rect">
            <a:avLst/>
          </a:prstGeom>
          <a:solidFill>
            <a:srgbClr val="3D8C7A"/>
          </a:solidFill>
          <a:ln w="12700">
            <a:solidFill>
              <a:srgbClr val="3D8C7A"/>
            </a:solidFill>
            <a:prstDash val="solid"/>
          </a:ln>
        </p:spPr>
      </p:sp>
      <p:sp>
        <p:nvSpPr>
          <p:cNvPr id="24" name="Text 22"/>
          <p:cNvSpPr/>
          <p:nvPr/>
        </p:nvSpPr>
        <p:spPr>
          <a:xfrm>
            <a:off x="7902245" y="3977640"/>
            <a:ext cx="585216" cy="22860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Sub-clade</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D</a:t>
            </a:r>
            <a:endParaRPr lang="en-US" sz="800" dirty="0"/>
          </a:p>
        </p:txBody>
      </p:sp>
      <p:sp>
        <p:nvSpPr>
          <p:cNvPr id="25" name="Shape 23"/>
          <p:cNvSpPr/>
          <p:nvPr/>
        </p:nvSpPr>
        <p:spPr>
          <a:xfrm>
            <a:off x="274320" y="4297680"/>
            <a:ext cx="8595360" cy="621792"/>
          </a:xfrm>
          <a:prstGeom prst="rect">
            <a:avLst/>
          </a:prstGeom>
          <a:solidFill>
            <a:srgbClr val="1C2B1E"/>
          </a:solidFill>
          <a:ln w="12700">
            <a:solidFill>
              <a:srgbClr val="1C2B1E"/>
            </a:solidFill>
            <a:prstDash val="solid"/>
          </a:ln>
        </p:spPr>
      </p:sp>
      <p:sp>
        <p:nvSpPr>
          <p:cNvPr id="26" name="Text 2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 xml:space="preserve">Natural Group: </a:t>
            </a:r>
            <a:pPr indent="0" marL="0">
              <a:buNone/>
            </a:pPr>
            <a:r>
              <a:rPr lang="en-US" sz="1100" dirty="0">
                <a:solidFill>
                  <a:srgbClr val="F4F1EC"/>
                </a:solidFill>
                <a:latin typeface="Calibri" pitchFamily="34" charset="0"/>
                <a:ea typeface="Calibri" pitchFamily="34" charset="-122"/>
                <a:cs typeface="Calibri" pitchFamily="34" charset="-120"/>
              </a:rPr>
              <a:t>A group whose members share all and only the characters inherited from a single common ancestor — defined by evolutionary history, not human convenience.</a:t>
            </a:r>
            <a:endParaRPr lang="en-US" sz="1100" dirty="0"/>
          </a:p>
        </p:txBody>
      </p:sp>
      <p:sp>
        <p:nvSpPr>
          <p:cNvPr id="27" name="Text 2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3 / 99</a:t>
            </a:r>
            <a:endParaRPr lang="en-US" sz="900" dirty="0"/>
          </a:p>
        </p:txBody>
      </p:sp>
      <p:sp>
        <p:nvSpPr>
          <p:cNvPr id="28" name="Text 2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 — Classification</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§1.1 Group Types: Mono-, Para-, Polyphyletic</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Only Monophyletic Groups Are Valid in Modern Classification</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Monophyletic (clade): ancestor + ALL descendants — valid and natural</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Paraphyletic: ancestor + SOME descendants (e.g. Reptilia, excluding birds) — invalid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Polyphyletic: members from SEPARATE ancestors (e.g. "warm-blooded animals") — invalid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Traditional "Reptilia" is paraphyletic: birds are closer to crocodilians than to lizards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Recognising a paraphyletic group is actively misleading about evolutionary history</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MONOPHYLETIC ✓</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Ancestor + ALL descendants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Defined by synapomorphy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Predictive and informative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Example: Mammalia</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The only valid grouping in cladistics</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PARAPHYLETIC ✗</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Ancestor + SOME descendants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Defined by absence of derived char</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Misleads about relationships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Example: Reptilia (excl. birds)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Must be broken up or redefined</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 xml:space="preserve">Paraphyletic Group: </a:t>
            </a:r>
            <a:pPr indent="0" marL="0">
              <a:buNone/>
            </a:pPr>
            <a:r>
              <a:rPr lang="en-US" sz="1100" dirty="0">
                <a:solidFill>
                  <a:srgbClr val="F4F1EC"/>
                </a:solidFill>
                <a:latin typeface="Calibri" pitchFamily="34" charset="0"/>
                <a:ea typeface="Calibri" pitchFamily="34" charset="-122"/>
                <a:cs typeface="Calibri" pitchFamily="34" charset="-120"/>
              </a:rPr>
              <a:t>A group that includes an ancestor and some but not all of its descendants. Misleads classification because it implies a boundary where none evolutionarily exists.</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4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 — Classification</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§1.2 Biosystematics: Scope and Applications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Why Biosystematics Matters Beyond the Museum</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Conservation: accurate species identification is prerequisite for effective protection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Agriculture: pest identification determines which pesticide or biocontrol agent to apply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Medicine: disease vector identification (mosquito species, tick species) governs control strategy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Forensic science: CITES enforcement, wildlife trade, timber identification from DNA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Evolutionary biology: every comparative analysis requires a reliable phylogeny</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Collect (Field)</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Preserve (95% EtOH)</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Identify (Key + DNA)</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Classify (Evidence)</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Publish (Record)</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 xml:space="preserve">Biosystematics: </a:t>
            </a:r>
            <a:pPr indent="0" marL="0">
              <a:buNone/>
            </a:pPr>
            <a:r>
              <a:rPr lang="en-US" sz="1100" dirty="0">
                <a:solidFill>
                  <a:srgbClr val="F4F1EC"/>
                </a:solidFill>
                <a:latin typeface="Calibri" pitchFamily="34" charset="0"/>
                <a:ea typeface="Calibri" pitchFamily="34" charset="-122"/>
                <a:cs typeface="Calibri" pitchFamily="34" charset="-120"/>
              </a:rPr>
              <a:t>The scientific study of biological diversity — its description, classification, and evolutionary relationships. Not equivalent to taxonomy alone; includes evolutionary and ecological context.</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5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 — Classification</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§1.2 Taxonomic Procedures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The Five Taxonomic Procedures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(1) Collection: method matched to organism and environment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(2) Preservation: chemistry matched to purpose (morphology vs molecular)</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(3) Curation: long-term management of specimens in institutional repositories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(4) Identification: matching specimen to a described taxon using keys and literature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(5) Publication: transforming private results into public scientific record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Each step is indispensable — a breakdown at any point compromises all subsequent work</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Collection</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Preservation</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Curation</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Identification</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Publication</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 xml:space="preserve">Voucher Specimen: </a:t>
            </a:r>
            <a:pPr indent="0" marL="0">
              <a:buNone/>
            </a:pPr>
            <a:r>
              <a:rPr lang="en-US" sz="1100" dirty="0">
                <a:solidFill>
                  <a:srgbClr val="F4F1EC"/>
                </a:solidFill>
                <a:latin typeface="Calibri" pitchFamily="34" charset="0"/>
                <a:ea typeface="Calibri" pitchFamily="34" charset="-122"/>
                <a:cs typeface="Calibri" pitchFamily="34" charset="-120"/>
              </a:rPr>
              <a:t>A preserved, labelled specimen deposited in an institutional collection that serves as the permanent physical evidence behind a published identification or record.</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6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 — Classification</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§1.3 Taxonomic Characters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What Counts as Taxonomic Evidence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 taxonomic character is any attribute of an organism that can be observed and varies between taxa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Morphological: external structure, anatomy, histology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Molecular: DNA sequences, protein structure, karyotype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Behavioural: mating calls, nest architecture, foraging patterns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Ecological: host specificity, habitat preference, phenology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Not all characters are equally informative — the character must be heritable, homologous, and variable</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Character Types in Practice</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MORPHOLOGICAL</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xml:space="preserve">  External: colour, shape, size, scalation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xml:space="preserve">  Internal: bone counts, dentition, organ structure</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MOLECULAR</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xml:space="preserve">  DNA sequences (COI, rRNA, nuclear genes)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xml:space="preserve">  Chromosome number and banding (karyotype)</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BEHAVIOURAL</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xml:space="preserve">  Advertisement calls (frogs, birds)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xml:space="preserve">  Pheromone composition</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ECOLOGICAL</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xml:space="preserve">  Host plant specificity in insects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xml:space="preserve">  Microhabitat preference</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 xml:space="preserve">Taxonomic Character: </a:t>
            </a:r>
            <a:pPr indent="0" marL="0">
              <a:buNone/>
            </a:pPr>
            <a:r>
              <a:rPr lang="en-US" sz="1100" dirty="0">
                <a:solidFill>
                  <a:srgbClr val="F4F1EC"/>
                </a:solidFill>
                <a:latin typeface="Calibri" pitchFamily="34" charset="0"/>
                <a:ea typeface="Calibri" pitchFamily="34" charset="-122"/>
                <a:cs typeface="Calibri" pitchFamily="34" charset="-120"/>
              </a:rPr>
              <a:t>Any heritable, observable attribute that varies among the organisms being compared and can serve as evidence for or against a proposed grouping.</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7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 — Classification</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§1.3 Homology vs Analogy</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The Most Important Distinction in Comparative Biology</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HOMOLOGY: structures derived from the same ancestral structure — regardless of current function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All tetrapod forelimbs (human arm, bat wing, whale flipper) contain the same bones: humerus, radius, ulna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Radically different functions — but a single structural plan inherited from the first tetrapod ancestor</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ANALOGY: similar function, independent evolutionary origin — convergent evolution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Bat wing and butterfly wing both enable flight — but are structurally unrelated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ONLY homologous characters are valid evidence for classification</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HOMOLOGY</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Same evolutionary origin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Same bones — different functions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Valid classification evidence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Example: all tetrapod forelimbs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Key term: synapomorphy</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ANALOGY</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Independent origin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Same function — different bones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NOT valid evidence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Example: bat wing + butterfly wing</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Key term: convergent evolution</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 xml:space="preserve">Synapomorphy: </a:t>
            </a:r>
            <a:pPr indent="0" marL="0">
              <a:buNone/>
            </a:pPr>
            <a:r>
              <a:rPr lang="en-US" sz="1100" dirty="0">
                <a:solidFill>
                  <a:srgbClr val="F4F1EC"/>
                </a:solidFill>
                <a:latin typeface="Calibri" pitchFamily="34" charset="0"/>
                <a:ea typeface="Calibri" pitchFamily="34" charset="-122"/>
                <a:cs typeface="Calibri" pitchFamily="34" charset="-120"/>
              </a:rPr>
              <a:t>A shared derived character state inherited from a common ancestor — the primary evidence in cladistic analysis for defining a monophyletic group.</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8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 — Classification</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§1.4 The Linnaean Hierarchy</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Eight Ranks as Eight Nested Sets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Domain &gt; Kingdom &gt; Phylum &gt; Class &gt; Order &gt; Family &gt; Genus &gt; Species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Each rank is a node in the evolutionary tree — higher rank = older common ancestor</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MNEMONIC: Dear King Philip Came Over For Good Soup</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Ranks above species are conventional labels, not biologically defined entities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same organisms grouped at different rank levels = the same history, different labels</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2D5A3D"/>
            </a:solidFill>
            <a:prstDash val="solid"/>
          </a:ln>
        </p:spPr>
      </p:sp>
      <p:sp>
        <p:nvSpPr>
          <p:cNvPr id="8" name="Shape 6"/>
          <p:cNvSpPr/>
          <p:nvPr/>
        </p:nvSpPr>
        <p:spPr>
          <a:xfrm>
            <a:off x="5212080" y="1097280"/>
            <a:ext cx="3566160" cy="328041"/>
          </a:xfrm>
          <a:prstGeom prst="rect">
            <a:avLst/>
          </a:prstGeom>
          <a:solidFill>
            <a:srgbClr val="C8791E"/>
          </a:solidFill>
          <a:ln w="12700">
            <a:solidFill>
              <a:srgbClr val="000000"/>
            </a:solidFill>
            <a:prstDash val="solid"/>
          </a:ln>
        </p:spPr>
      </p:sp>
      <p:sp>
        <p:nvSpPr>
          <p:cNvPr id="9" name="Text 7"/>
          <p:cNvSpPr/>
          <p:nvPr/>
        </p:nvSpPr>
        <p:spPr>
          <a:xfrm>
            <a:off x="5212080" y="1097280"/>
            <a:ext cx="3566160" cy="328041"/>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Domain</a:t>
            </a:r>
            <a:endParaRPr lang="en-US" sz="1000" dirty="0"/>
          </a:p>
        </p:txBody>
      </p:sp>
      <p:sp>
        <p:nvSpPr>
          <p:cNvPr id="10" name="Shape 8"/>
          <p:cNvSpPr/>
          <p:nvPr/>
        </p:nvSpPr>
        <p:spPr>
          <a:xfrm>
            <a:off x="5276088" y="1497330"/>
            <a:ext cx="3438144" cy="328041"/>
          </a:xfrm>
          <a:prstGeom prst="rect">
            <a:avLst/>
          </a:prstGeom>
          <a:solidFill>
            <a:srgbClr val="2D5A3D"/>
          </a:solidFill>
          <a:ln w="12700">
            <a:solidFill>
              <a:srgbClr val="000000"/>
            </a:solidFill>
            <a:prstDash val="solid"/>
          </a:ln>
        </p:spPr>
      </p:sp>
      <p:sp>
        <p:nvSpPr>
          <p:cNvPr id="11" name="Text 9"/>
          <p:cNvSpPr/>
          <p:nvPr/>
        </p:nvSpPr>
        <p:spPr>
          <a:xfrm>
            <a:off x="5276088" y="1497330"/>
            <a:ext cx="3438144" cy="328041"/>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Kingdom</a:t>
            </a:r>
            <a:endParaRPr lang="en-US" sz="1000" dirty="0"/>
          </a:p>
        </p:txBody>
      </p:sp>
      <p:sp>
        <p:nvSpPr>
          <p:cNvPr id="12" name="Shape 10"/>
          <p:cNvSpPr/>
          <p:nvPr/>
        </p:nvSpPr>
        <p:spPr>
          <a:xfrm>
            <a:off x="5340096" y="1897380"/>
            <a:ext cx="3310128" cy="328041"/>
          </a:xfrm>
          <a:prstGeom prst="rect">
            <a:avLst/>
          </a:prstGeom>
          <a:solidFill>
            <a:srgbClr val="3D7A52"/>
          </a:solidFill>
          <a:ln w="12700">
            <a:solidFill>
              <a:srgbClr val="000000"/>
            </a:solidFill>
            <a:prstDash val="solid"/>
          </a:ln>
        </p:spPr>
      </p:sp>
      <p:sp>
        <p:nvSpPr>
          <p:cNvPr id="13" name="Text 11"/>
          <p:cNvSpPr/>
          <p:nvPr/>
        </p:nvSpPr>
        <p:spPr>
          <a:xfrm>
            <a:off x="5340096" y="1897380"/>
            <a:ext cx="3310128" cy="328041"/>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Phylum</a:t>
            </a:r>
            <a:endParaRPr lang="en-US" sz="1000" dirty="0"/>
          </a:p>
        </p:txBody>
      </p:sp>
      <p:sp>
        <p:nvSpPr>
          <p:cNvPr id="14" name="Shape 12"/>
          <p:cNvSpPr/>
          <p:nvPr/>
        </p:nvSpPr>
        <p:spPr>
          <a:xfrm>
            <a:off x="5404104" y="2297430"/>
            <a:ext cx="3182112" cy="328041"/>
          </a:xfrm>
          <a:prstGeom prst="rect">
            <a:avLst/>
          </a:prstGeom>
          <a:solidFill>
            <a:srgbClr val="4A8C60"/>
          </a:solidFill>
          <a:ln w="12700">
            <a:solidFill>
              <a:srgbClr val="000000"/>
            </a:solidFill>
            <a:prstDash val="solid"/>
          </a:ln>
        </p:spPr>
      </p:sp>
      <p:sp>
        <p:nvSpPr>
          <p:cNvPr id="15" name="Text 13"/>
          <p:cNvSpPr/>
          <p:nvPr/>
        </p:nvSpPr>
        <p:spPr>
          <a:xfrm>
            <a:off x="5404104" y="2297430"/>
            <a:ext cx="3182112" cy="328041"/>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Class</a:t>
            </a:r>
            <a:endParaRPr lang="en-US" sz="1000" dirty="0"/>
          </a:p>
        </p:txBody>
      </p:sp>
      <p:sp>
        <p:nvSpPr>
          <p:cNvPr id="16" name="Shape 14"/>
          <p:cNvSpPr/>
          <p:nvPr/>
        </p:nvSpPr>
        <p:spPr>
          <a:xfrm>
            <a:off x="5468112" y="2697480"/>
            <a:ext cx="3054096" cy="328041"/>
          </a:xfrm>
          <a:prstGeom prst="rect">
            <a:avLst/>
          </a:prstGeom>
          <a:solidFill>
            <a:srgbClr val="5A9C70"/>
          </a:solidFill>
          <a:ln w="12700">
            <a:solidFill>
              <a:srgbClr val="000000"/>
            </a:solidFill>
            <a:prstDash val="solid"/>
          </a:ln>
        </p:spPr>
      </p:sp>
      <p:sp>
        <p:nvSpPr>
          <p:cNvPr id="17" name="Text 15"/>
          <p:cNvSpPr/>
          <p:nvPr/>
        </p:nvSpPr>
        <p:spPr>
          <a:xfrm>
            <a:off x="5468112" y="2697480"/>
            <a:ext cx="3054096" cy="328041"/>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Order</a:t>
            </a:r>
            <a:endParaRPr lang="en-US" sz="1000" dirty="0"/>
          </a:p>
        </p:txBody>
      </p:sp>
      <p:sp>
        <p:nvSpPr>
          <p:cNvPr id="18" name="Shape 16"/>
          <p:cNvSpPr/>
          <p:nvPr/>
        </p:nvSpPr>
        <p:spPr>
          <a:xfrm>
            <a:off x="5532120" y="3097530"/>
            <a:ext cx="2926080" cy="328041"/>
          </a:xfrm>
          <a:prstGeom prst="rect">
            <a:avLst/>
          </a:prstGeom>
          <a:solidFill>
            <a:srgbClr val="6AAC80"/>
          </a:solidFill>
          <a:ln w="12700">
            <a:solidFill>
              <a:srgbClr val="000000"/>
            </a:solidFill>
            <a:prstDash val="solid"/>
          </a:ln>
        </p:spPr>
      </p:sp>
      <p:sp>
        <p:nvSpPr>
          <p:cNvPr id="19" name="Text 17"/>
          <p:cNvSpPr/>
          <p:nvPr/>
        </p:nvSpPr>
        <p:spPr>
          <a:xfrm>
            <a:off x="5532120" y="3097530"/>
            <a:ext cx="2926080" cy="328041"/>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Family</a:t>
            </a:r>
            <a:endParaRPr lang="en-US" sz="1000" dirty="0"/>
          </a:p>
        </p:txBody>
      </p:sp>
      <p:sp>
        <p:nvSpPr>
          <p:cNvPr id="20" name="Shape 18"/>
          <p:cNvSpPr/>
          <p:nvPr/>
        </p:nvSpPr>
        <p:spPr>
          <a:xfrm>
            <a:off x="5596128" y="3497580"/>
            <a:ext cx="2798064" cy="328041"/>
          </a:xfrm>
          <a:prstGeom prst="rect">
            <a:avLst/>
          </a:prstGeom>
          <a:solidFill>
            <a:srgbClr val="7ABC90"/>
          </a:solidFill>
          <a:ln w="12700">
            <a:solidFill>
              <a:srgbClr val="000000"/>
            </a:solidFill>
            <a:prstDash val="solid"/>
          </a:ln>
        </p:spPr>
      </p:sp>
      <p:sp>
        <p:nvSpPr>
          <p:cNvPr id="21" name="Text 19"/>
          <p:cNvSpPr/>
          <p:nvPr/>
        </p:nvSpPr>
        <p:spPr>
          <a:xfrm>
            <a:off x="5596128" y="3497580"/>
            <a:ext cx="2798064" cy="328041"/>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Genus</a:t>
            </a:r>
            <a:endParaRPr lang="en-US" sz="1000" dirty="0"/>
          </a:p>
        </p:txBody>
      </p:sp>
      <p:sp>
        <p:nvSpPr>
          <p:cNvPr id="22" name="Shape 20"/>
          <p:cNvSpPr/>
          <p:nvPr/>
        </p:nvSpPr>
        <p:spPr>
          <a:xfrm>
            <a:off x="5660136" y="3897630"/>
            <a:ext cx="2670048" cy="328041"/>
          </a:xfrm>
          <a:prstGeom prst="rect">
            <a:avLst/>
          </a:prstGeom>
          <a:solidFill>
            <a:srgbClr val="3D8C7A"/>
          </a:solidFill>
          <a:ln w="12700">
            <a:solidFill>
              <a:srgbClr val="000000"/>
            </a:solidFill>
            <a:prstDash val="solid"/>
          </a:ln>
        </p:spPr>
      </p:sp>
      <p:sp>
        <p:nvSpPr>
          <p:cNvPr id="23" name="Text 21"/>
          <p:cNvSpPr/>
          <p:nvPr/>
        </p:nvSpPr>
        <p:spPr>
          <a:xfrm>
            <a:off x="5660136" y="3897630"/>
            <a:ext cx="2670048" cy="328041"/>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Species</a:t>
            </a:r>
            <a:endParaRPr lang="en-US" sz="1000" dirty="0"/>
          </a:p>
        </p:txBody>
      </p:sp>
      <p:sp>
        <p:nvSpPr>
          <p:cNvPr id="24" name="Shape 22"/>
          <p:cNvSpPr/>
          <p:nvPr/>
        </p:nvSpPr>
        <p:spPr>
          <a:xfrm>
            <a:off x="274320" y="4297680"/>
            <a:ext cx="8595360" cy="621792"/>
          </a:xfrm>
          <a:prstGeom prst="rect">
            <a:avLst/>
          </a:prstGeom>
          <a:solidFill>
            <a:srgbClr val="1C2B1E"/>
          </a:solidFill>
          <a:ln w="12700">
            <a:solidFill>
              <a:srgbClr val="1C2B1E"/>
            </a:solidFill>
            <a:prstDash val="solid"/>
          </a:ln>
        </p:spPr>
      </p:sp>
      <p:sp>
        <p:nvSpPr>
          <p:cNvPr id="25" name="Text 23"/>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 xml:space="preserve">Linnaean Hierarchy: </a:t>
            </a:r>
            <a:pPr indent="0" marL="0">
              <a:buNone/>
            </a:pPr>
            <a:r>
              <a:rPr lang="en-US" sz="1100" dirty="0">
                <a:solidFill>
                  <a:srgbClr val="F4F1EC"/>
                </a:solidFill>
                <a:latin typeface="Calibri" pitchFamily="34" charset="0"/>
                <a:ea typeface="Calibri" pitchFamily="34" charset="-122"/>
                <a:cs typeface="Calibri" pitchFamily="34" charset="-120"/>
              </a:rPr>
              <a:t>The nested system of eight standard ranks introduced by Linnaeus, each representing a node in evolutionary history. Higher ranks = more ancient nodes. Only species has a widely accepted biological definition.</a:t>
            </a:r>
            <a:endParaRPr lang="en-US" sz="1100" dirty="0"/>
          </a:p>
        </p:txBody>
      </p:sp>
      <p:sp>
        <p:nvSpPr>
          <p:cNvPr id="26" name="Text 24"/>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9 / 99</a:t>
            </a:r>
            <a:endParaRPr lang="en-US" sz="900" dirty="0"/>
          </a:p>
        </p:txBody>
      </p:sp>
      <p:sp>
        <p:nvSpPr>
          <p:cNvPr id="27" name="Text 25"/>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 — Classification</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§1.4 Worked Example: The Indian Tiger</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Reading the Tiger's Classification as Evolutionary History</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Species: Panthera tigris — separated from other big cats most recently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Genus: Panthera — shared with lion (P. leo), leopard (P. pardus), jaguar (P. onca)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Family: Felidae — all cats; branched from other Carnivora ~30 Ma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Order: Carnivora — shared with dogs, bears, seals; ancient common ancestor</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Class: Mammalia — hair, endothermy, mammary glands; ~310 Ma common ancestor</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Each rank is a real branching event in evolutionary history — not an arbitrary label</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2D5A3D"/>
            </a:solidFill>
            <a:prstDash val="solid"/>
          </a:ln>
        </p:spPr>
      </p:sp>
      <p:sp>
        <p:nvSpPr>
          <p:cNvPr id="8" name="Shape 6"/>
          <p:cNvSpPr/>
          <p:nvPr/>
        </p:nvSpPr>
        <p:spPr>
          <a:xfrm>
            <a:off x="5212080" y="1097280"/>
            <a:ext cx="3566160" cy="374904"/>
          </a:xfrm>
          <a:prstGeom prst="rect">
            <a:avLst/>
          </a:prstGeom>
          <a:solidFill>
            <a:srgbClr val="C8791E"/>
          </a:solidFill>
          <a:ln w="12700">
            <a:solidFill>
              <a:srgbClr val="000000"/>
            </a:solidFill>
            <a:prstDash val="solid"/>
          </a:ln>
        </p:spPr>
      </p:sp>
      <p:sp>
        <p:nvSpPr>
          <p:cNvPr id="9" name="Text 7"/>
          <p:cNvSpPr/>
          <p:nvPr/>
        </p:nvSpPr>
        <p:spPr>
          <a:xfrm>
            <a:off x="5212080" y="1097280"/>
            <a:ext cx="3566160" cy="37490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Animalia</a:t>
            </a:r>
            <a:endParaRPr lang="en-US" sz="1000" dirty="0"/>
          </a:p>
        </p:txBody>
      </p:sp>
      <p:sp>
        <p:nvSpPr>
          <p:cNvPr id="10" name="Shape 8"/>
          <p:cNvSpPr/>
          <p:nvPr/>
        </p:nvSpPr>
        <p:spPr>
          <a:xfrm>
            <a:off x="5276088" y="1554480"/>
            <a:ext cx="3438144" cy="374904"/>
          </a:xfrm>
          <a:prstGeom prst="rect">
            <a:avLst/>
          </a:prstGeom>
          <a:solidFill>
            <a:srgbClr val="2D5A3D"/>
          </a:solidFill>
          <a:ln w="12700">
            <a:solidFill>
              <a:srgbClr val="000000"/>
            </a:solidFill>
            <a:prstDash val="solid"/>
          </a:ln>
        </p:spPr>
      </p:sp>
      <p:sp>
        <p:nvSpPr>
          <p:cNvPr id="11" name="Text 9"/>
          <p:cNvSpPr/>
          <p:nvPr/>
        </p:nvSpPr>
        <p:spPr>
          <a:xfrm>
            <a:off x="5276088" y="1554480"/>
            <a:ext cx="3438144" cy="37490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Chordata</a:t>
            </a:r>
            <a:endParaRPr lang="en-US" sz="1000" dirty="0"/>
          </a:p>
        </p:txBody>
      </p:sp>
      <p:sp>
        <p:nvSpPr>
          <p:cNvPr id="12" name="Shape 10"/>
          <p:cNvSpPr/>
          <p:nvPr/>
        </p:nvSpPr>
        <p:spPr>
          <a:xfrm>
            <a:off x="5340096" y="2011680"/>
            <a:ext cx="3310128" cy="374904"/>
          </a:xfrm>
          <a:prstGeom prst="rect">
            <a:avLst/>
          </a:prstGeom>
          <a:solidFill>
            <a:srgbClr val="3D7A52"/>
          </a:solidFill>
          <a:ln w="12700">
            <a:solidFill>
              <a:srgbClr val="000000"/>
            </a:solidFill>
            <a:prstDash val="solid"/>
          </a:ln>
        </p:spPr>
      </p:sp>
      <p:sp>
        <p:nvSpPr>
          <p:cNvPr id="13" name="Text 11"/>
          <p:cNvSpPr/>
          <p:nvPr/>
        </p:nvSpPr>
        <p:spPr>
          <a:xfrm>
            <a:off x="5340096" y="2011680"/>
            <a:ext cx="3310128" cy="37490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Mammalia</a:t>
            </a:r>
            <a:endParaRPr lang="en-US" sz="1000" dirty="0"/>
          </a:p>
        </p:txBody>
      </p:sp>
      <p:sp>
        <p:nvSpPr>
          <p:cNvPr id="14" name="Shape 12"/>
          <p:cNvSpPr/>
          <p:nvPr/>
        </p:nvSpPr>
        <p:spPr>
          <a:xfrm>
            <a:off x="5404104" y="2468880"/>
            <a:ext cx="3182112" cy="374904"/>
          </a:xfrm>
          <a:prstGeom prst="rect">
            <a:avLst/>
          </a:prstGeom>
          <a:solidFill>
            <a:srgbClr val="4A8C60"/>
          </a:solidFill>
          <a:ln w="12700">
            <a:solidFill>
              <a:srgbClr val="000000"/>
            </a:solidFill>
            <a:prstDash val="solid"/>
          </a:ln>
        </p:spPr>
      </p:sp>
      <p:sp>
        <p:nvSpPr>
          <p:cNvPr id="15" name="Text 13"/>
          <p:cNvSpPr/>
          <p:nvPr/>
        </p:nvSpPr>
        <p:spPr>
          <a:xfrm>
            <a:off x="5404104" y="2468880"/>
            <a:ext cx="3182112" cy="37490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Carnivora</a:t>
            </a:r>
            <a:endParaRPr lang="en-US" sz="1000" dirty="0"/>
          </a:p>
        </p:txBody>
      </p:sp>
      <p:sp>
        <p:nvSpPr>
          <p:cNvPr id="16" name="Shape 14"/>
          <p:cNvSpPr/>
          <p:nvPr/>
        </p:nvSpPr>
        <p:spPr>
          <a:xfrm>
            <a:off x="5468112" y="2926080"/>
            <a:ext cx="3054096" cy="374904"/>
          </a:xfrm>
          <a:prstGeom prst="rect">
            <a:avLst/>
          </a:prstGeom>
          <a:solidFill>
            <a:srgbClr val="5A9C70"/>
          </a:solidFill>
          <a:ln w="12700">
            <a:solidFill>
              <a:srgbClr val="000000"/>
            </a:solidFill>
            <a:prstDash val="solid"/>
          </a:ln>
        </p:spPr>
      </p:sp>
      <p:sp>
        <p:nvSpPr>
          <p:cNvPr id="17" name="Text 15"/>
          <p:cNvSpPr/>
          <p:nvPr/>
        </p:nvSpPr>
        <p:spPr>
          <a:xfrm>
            <a:off x="5468112" y="2926080"/>
            <a:ext cx="3054096" cy="37490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Felidae</a:t>
            </a:r>
            <a:endParaRPr lang="en-US" sz="1000" dirty="0"/>
          </a:p>
        </p:txBody>
      </p:sp>
      <p:sp>
        <p:nvSpPr>
          <p:cNvPr id="18" name="Shape 16"/>
          <p:cNvSpPr/>
          <p:nvPr/>
        </p:nvSpPr>
        <p:spPr>
          <a:xfrm>
            <a:off x="5532120" y="3383280"/>
            <a:ext cx="2926080" cy="374904"/>
          </a:xfrm>
          <a:prstGeom prst="rect">
            <a:avLst/>
          </a:prstGeom>
          <a:solidFill>
            <a:srgbClr val="6AAC80"/>
          </a:solidFill>
          <a:ln w="12700">
            <a:solidFill>
              <a:srgbClr val="000000"/>
            </a:solidFill>
            <a:prstDash val="solid"/>
          </a:ln>
        </p:spPr>
      </p:sp>
      <p:sp>
        <p:nvSpPr>
          <p:cNvPr id="19" name="Text 17"/>
          <p:cNvSpPr/>
          <p:nvPr/>
        </p:nvSpPr>
        <p:spPr>
          <a:xfrm>
            <a:off x="5532120" y="3383280"/>
            <a:ext cx="2926080" cy="37490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Panthera</a:t>
            </a:r>
            <a:endParaRPr lang="en-US" sz="1000" dirty="0"/>
          </a:p>
        </p:txBody>
      </p:sp>
      <p:sp>
        <p:nvSpPr>
          <p:cNvPr id="20" name="Shape 18"/>
          <p:cNvSpPr/>
          <p:nvPr/>
        </p:nvSpPr>
        <p:spPr>
          <a:xfrm>
            <a:off x="5596128" y="3840480"/>
            <a:ext cx="2798064" cy="374904"/>
          </a:xfrm>
          <a:prstGeom prst="rect">
            <a:avLst/>
          </a:prstGeom>
          <a:solidFill>
            <a:srgbClr val="7ABC90"/>
          </a:solidFill>
          <a:ln w="12700">
            <a:solidFill>
              <a:srgbClr val="000000"/>
            </a:solidFill>
            <a:prstDash val="solid"/>
          </a:ln>
        </p:spPr>
      </p:sp>
      <p:sp>
        <p:nvSpPr>
          <p:cNvPr id="21" name="Text 19"/>
          <p:cNvSpPr/>
          <p:nvPr/>
        </p:nvSpPr>
        <p:spPr>
          <a:xfrm>
            <a:off x="5596128" y="3840480"/>
            <a:ext cx="2798064" cy="37490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P. tigris</a:t>
            </a:r>
            <a:endParaRPr lang="en-US" sz="1000" dirty="0"/>
          </a:p>
        </p:txBody>
      </p:sp>
      <p:sp>
        <p:nvSpPr>
          <p:cNvPr id="22" name="Shape 20"/>
          <p:cNvSpPr/>
          <p:nvPr/>
        </p:nvSpPr>
        <p:spPr>
          <a:xfrm>
            <a:off x="274320" y="4297680"/>
            <a:ext cx="8595360" cy="621792"/>
          </a:xfrm>
          <a:prstGeom prst="rect">
            <a:avLst/>
          </a:prstGeom>
          <a:solidFill>
            <a:srgbClr val="1C2B1E"/>
          </a:solidFill>
          <a:ln w="12700">
            <a:solidFill>
              <a:srgbClr val="1C2B1E"/>
            </a:solidFill>
            <a:prstDash val="solid"/>
          </a:ln>
        </p:spPr>
      </p:sp>
      <p:sp>
        <p:nvSpPr>
          <p:cNvPr id="23" name="Text 21"/>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 xml:space="preserve">Taxon: </a:t>
            </a:r>
            <a:pPr indent="0" marL="0">
              <a:buNone/>
            </a:pPr>
            <a:r>
              <a:rPr lang="en-US" sz="1100" dirty="0">
                <a:solidFill>
                  <a:srgbClr val="F4F1EC"/>
                </a:solidFill>
                <a:latin typeface="Calibri" pitchFamily="34" charset="0"/>
                <a:ea typeface="Calibri" pitchFamily="34" charset="-122"/>
                <a:cs typeface="Calibri" pitchFamily="34" charset="-120"/>
              </a:rPr>
              <a:t>Any named group of organisms at any rank in the Linnaean hierarchy. A species, genus, family, and order are all taxa. Modern classification aims exclusively for monophyletic taxa.</a:t>
            </a:r>
            <a:endParaRPr lang="en-US" sz="1100" dirty="0"/>
          </a:p>
        </p:txBody>
      </p:sp>
      <p:sp>
        <p:nvSpPr>
          <p:cNvPr id="24" name="Text 22"/>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10 / 99</a:t>
            </a:r>
            <a:endParaRPr lang="en-US" sz="900" dirty="0"/>
          </a:p>
        </p:txBody>
      </p:sp>
      <p:sp>
        <p:nvSpPr>
          <p:cNvPr id="25" name="Text 23"/>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 — Classification</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§1.5 Natural vs Artificial vs Phylogenetic Classification</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Three Approaches to Grouping Organisms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ARTIFICIAL: single convenient criterion — "all red organisms", "all aquatic animals"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Produces practically useful groups with no predictive power beyond that criterion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NATURAL: multiple homologous characters — represents evolutionary history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Predictive: knowing one member predicts characters of all others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PHYLOGENETIC (cladistic): exclusively synapomorphies — explicitly testable and revisable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history of biological classification is a progressive move from artificial → natural → phylogenetic</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ARTIFICIAL</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Single criterion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No predictive power</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Convenient but misleading</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"Warm-blooded animals" (birds + mammals)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Polyphyletic groups typical</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PHYLOGENETIC</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Synapomorphies only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Explicitly testable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Predictive and informative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Monophyletic groups only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Revised as evidence improves</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 xml:space="preserve">Cladistics: </a:t>
            </a:r>
            <a:pPr indent="0" marL="0">
              <a:buNone/>
            </a:pPr>
            <a:r>
              <a:rPr lang="en-US" sz="1100" dirty="0">
                <a:solidFill>
                  <a:srgbClr val="F4F1EC"/>
                </a:solidFill>
                <a:latin typeface="Calibri" pitchFamily="34" charset="0"/>
                <a:ea typeface="Calibri" pitchFamily="34" charset="-122"/>
                <a:cs typeface="Calibri" pitchFamily="34" charset="-120"/>
              </a:rPr>
              <a:t>A method of classification using only shared derived characters (synapomorphies) to define monophyletic groups. Produces cladograms representing branching evolutionary history.</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11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 — Classification</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§1.6 From Two Kingdoms to Three Domains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Three Revolutions in How We Classify All Life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TWO-KINGDOM (Linnaeus, 1758): Plantae + Animalia — fails for bacteria, fungi, protists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FIVE-KINGDOM (Whittaker, 1969): Monera, Protista, Fungi, Plantae, Animalia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THREE-DOMAIN (Woese &amp; Fox, 1990): Bacteria · Archaea · Eukarya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Molecular evidence: Archaea rRNA sequences are more similar to Eukarya than to Bacteria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Monera was paraphyletic — two fundamentally different lineages grouped together</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Each revision was driven by new evidence, not preference — the hallmark of science</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Shape 6"/>
          <p:cNvSpPr/>
          <p:nvPr/>
        </p:nvSpPr>
        <p:spPr>
          <a:xfrm>
            <a:off x="5303520" y="2419502"/>
            <a:ext cx="3383280" cy="0"/>
          </a:xfrm>
          <a:prstGeom prst="line">
            <a:avLst/>
          </a:prstGeom>
          <a:noFill/>
          <a:ln w="19050">
            <a:solidFill>
              <a:srgbClr val="C8791E"/>
            </a:solidFill>
            <a:prstDash val="solid"/>
          </a:ln>
        </p:spPr>
      </p:sp>
      <p:sp>
        <p:nvSpPr>
          <p:cNvPr id="9" name="Shape 7"/>
          <p:cNvSpPr/>
          <p:nvPr/>
        </p:nvSpPr>
        <p:spPr>
          <a:xfrm>
            <a:off x="5193792" y="2309774"/>
            <a:ext cx="219456" cy="219456"/>
          </a:xfrm>
          <a:prstGeom prst="ellipse">
            <a:avLst/>
          </a:prstGeom>
          <a:solidFill>
            <a:srgbClr val="C8791E"/>
          </a:solidFill>
          <a:ln w="6350">
            <a:solidFill>
              <a:srgbClr val="FFFFFF"/>
            </a:solidFill>
            <a:prstDash val="solid"/>
          </a:ln>
        </p:spPr>
      </p:sp>
      <p:sp>
        <p:nvSpPr>
          <p:cNvPr id="10" name="Text 8"/>
          <p:cNvSpPr/>
          <p:nvPr/>
        </p:nvSpPr>
        <p:spPr>
          <a:xfrm>
            <a:off x="484632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2-Kingdom</a:t>
            </a:r>
            <a:endParaRPr lang="en-US" sz="900" dirty="0"/>
          </a:p>
        </p:txBody>
      </p:sp>
      <p:sp>
        <p:nvSpPr>
          <p:cNvPr id="11" name="Text 9"/>
          <p:cNvSpPr/>
          <p:nvPr/>
        </p:nvSpPr>
        <p:spPr>
          <a:xfrm>
            <a:off x="484632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Linnaeus</a:t>
            </a:r>
            <a:endParaRPr lang="en-US" sz="800" dirty="0"/>
          </a:p>
          <a:p>
            <a:pPr algn="ctr" indent="0" marL="0">
              <a:buNone/>
            </a:pPr>
            <a:r>
              <a:rPr lang="en-US" sz="800" dirty="0">
                <a:solidFill>
                  <a:srgbClr val="8FA898"/>
                </a:solidFill>
                <a:latin typeface="Calibri" pitchFamily="34" charset="0"/>
                <a:ea typeface="Calibri" pitchFamily="34" charset="-122"/>
                <a:cs typeface="Calibri" pitchFamily="34" charset="-120"/>
              </a:rPr>
              <a:t>1758</a:t>
            </a:r>
            <a:endParaRPr lang="en-US" sz="800" dirty="0"/>
          </a:p>
        </p:txBody>
      </p:sp>
      <p:sp>
        <p:nvSpPr>
          <p:cNvPr id="12" name="Shape 10"/>
          <p:cNvSpPr/>
          <p:nvPr/>
        </p:nvSpPr>
        <p:spPr>
          <a:xfrm>
            <a:off x="6885432" y="2309774"/>
            <a:ext cx="219456" cy="219456"/>
          </a:xfrm>
          <a:prstGeom prst="ellipse">
            <a:avLst/>
          </a:prstGeom>
          <a:solidFill>
            <a:srgbClr val="C8791E"/>
          </a:solidFill>
          <a:ln w="6350">
            <a:solidFill>
              <a:srgbClr val="FFFFFF"/>
            </a:solidFill>
            <a:prstDash val="solid"/>
          </a:ln>
        </p:spPr>
      </p:sp>
      <p:sp>
        <p:nvSpPr>
          <p:cNvPr id="13" name="Text 11"/>
          <p:cNvSpPr/>
          <p:nvPr/>
        </p:nvSpPr>
        <p:spPr>
          <a:xfrm>
            <a:off x="6537960" y="2620670"/>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5-Kingdom</a:t>
            </a:r>
            <a:endParaRPr lang="en-US" sz="900" dirty="0"/>
          </a:p>
        </p:txBody>
      </p:sp>
      <p:sp>
        <p:nvSpPr>
          <p:cNvPr id="14" name="Text 12"/>
          <p:cNvSpPr/>
          <p:nvPr/>
        </p:nvSpPr>
        <p:spPr>
          <a:xfrm>
            <a:off x="6537960" y="2876702"/>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Whittaker</a:t>
            </a:r>
            <a:endParaRPr lang="en-US" sz="800" dirty="0"/>
          </a:p>
          <a:p>
            <a:pPr algn="ctr" indent="0" marL="0">
              <a:buNone/>
            </a:pPr>
            <a:r>
              <a:rPr lang="en-US" sz="800" dirty="0">
                <a:solidFill>
                  <a:srgbClr val="8FA898"/>
                </a:solidFill>
                <a:latin typeface="Calibri" pitchFamily="34" charset="0"/>
                <a:ea typeface="Calibri" pitchFamily="34" charset="-122"/>
                <a:cs typeface="Calibri" pitchFamily="34" charset="-120"/>
              </a:rPr>
              <a:t>1969</a:t>
            </a:r>
            <a:endParaRPr lang="en-US" sz="800" dirty="0"/>
          </a:p>
        </p:txBody>
      </p:sp>
      <p:sp>
        <p:nvSpPr>
          <p:cNvPr id="15" name="Shape 13"/>
          <p:cNvSpPr/>
          <p:nvPr/>
        </p:nvSpPr>
        <p:spPr>
          <a:xfrm>
            <a:off x="8577072" y="2309774"/>
            <a:ext cx="219456" cy="219456"/>
          </a:xfrm>
          <a:prstGeom prst="ellipse">
            <a:avLst/>
          </a:prstGeom>
          <a:solidFill>
            <a:srgbClr val="3D8C7A"/>
          </a:solidFill>
          <a:ln w="6350">
            <a:solidFill>
              <a:srgbClr val="FFFFFF"/>
            </a:solidFill>
            <a:prstDash val="solid"/>
          </a:ln>
        </p:spPr>
      </p:sp>
      <p:sp>
        <p:nvSpPr>
          <p:cNvPr id="16" name="Text 14"/>
          <p:cNvSpPr/>
          <p:nvPr/>
        </p:nvSpPr>
        <p:spPr>
          <a:xfrm>
            <a:off x="822960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3-Domain</a:t>
            </a:r>
            <a:endParaRPr lang="en-US" sz="900" dirty="0"/>
          </a:p>
        </p:txBody>
      </p:sp>
      <p:sp>
        <p:nvSpPr>
          <p:cNvPr id="17" name="Text 15"/>
          <p:cNvSpPr/>
          <p:nvPr/>
        </p:nvSpPr>
        <p:spPr>
          <a:xfrm>
            <a:off x="822960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Woese</a:t>
            </a:r>
            <a:endParaRPr lang="en-US" sz="800" dirty="0"/>
          </a:p>
          <a:p>
            <a:pPr algn="ctr" indent="0" marL="0">
              <a:buNone/>
            </a:pPr>
            <a:r>
              <a:rPr lang="en-US" sz="800" dirty="0">
                <a:solidFill>
                  <a:srgbClr val="8FA898"/>
                </a:solidFill>
                <a:latin typeface="Calibri" pitchFamily="34" charset="0"/>
                <a:ea typeface="Calibri" pitchFamily="34" charset="-122"/>
                <a:cs typeface="Calibri" pitchFamily="34" charset="-120"/>
              </a:rPr>
              <a:t>1990</a:t>
            </a:r>
            <a:endParaRPr lang="en-US" sz="800" dirty="0"/>
          </a:p>
        </p:txBody>
      </p:sp>
      <p:sp>
        <p:nvSpPr>
          <p:cNvPr id="18" name="Shape 16"/>
          <p:cNvSpPr/>
          <p:nvPr/>
        </p:nvSpPr>
        <p:spPr>
          <a:xfrm>
            <a:off x="274320" y="4297680"/>
            <a:ext cx="8595360" cy="621792"/>
          </a:xfrm>
          <a:prstGeom prst="rect">
            <a:avLst/>
          </a:prstGeom>
          <a:solidFill>
            <a:srgbClr val="1C2B1E"/>
          </a:solidFill>
          <a:ln w="12700">
            <a:solidFill>
              <a:srgbClr val="1C2B1E"/>
            </a:solidFill>
            <a:prstDash val="solid"/>
          </a:ln>
        </p:spPr>
      </p:sp>
      <p:sp>
        <p:nvSpPr>
          <p:cNvPr id="19" name="Text 17"/>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 xml:space="preserve">Three-Domain System: </a:t>
            </a:r>
            <a:pPr indent="0" marL="0">
              <a:buNone/>
            </a:pPr>
            <a:r>
              <a:rPr lang="en-US" sz="1100" dirty="0">
                <a:solidFill>
                  <a:srgbClr val="F4F1EC"/>
                </a:solidFill>
                <a:latin typeface="Calibri" pitchFamily="34" charset="0"/>
                <a:ea typeface="Calibri" pitchFamily="34" charset="-122"/>
                <a:cs typeface="Calibri" pitchFamily="34" charset="-120"/>
              </a:rPr>
              <a:t>Woese's 1990 classification of all life into Bacteria, Archaea, and Eukarya based on rRNA sequences. Replaced the five-kingdom system by demonstrating that Archaea are a distinct lineage closer to Eukarya than to Bacteria.</a:t>
            </a:r>
            <a:endParaRPr lang="en-US" sz="1100" dirty="0"/>
          </a:p>
        </p:txBody>
      </p:sp>
      <p:sp>
        <p:nvSpPr>
          <p:cNvPr id="20" name="Text 18"/>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12 / 99</a:t>
            </a:r>
            <a:endParaRPr lang="en-US" sz="900" dirty="0"/>
          </a:p>
        </p:txBody>
      </p:sp>
      <p:sp>
        <p:nvSpPr>
          <p:cNvPr id="21" name="Text 19"/>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 — Classification</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§1.6 Why Monera Was Paraphyletic</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The rRNA Revolution and the Fall of Monera</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Carl Woese sequenced ribosomal RNA (16S rRNA) from hundreds of organisms (1970s–1990s)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Expected: bacteria form one group, all other life another</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Found: bacteria split into TWO deeply divergent lineages — Bacteria and Archaea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Archaea are more similar to Eukarya in transcription, translation, and membrane chemistry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Monera grouped both lineages together — a paraphyletic mistake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rRNA is the ideal molecule: universally present, functionally conserved, slowly evolving</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2D5A3D"/>
            </a:solidFill>
            <a:prstDash val="solid"/>
          </a:ln>
        </p:spPr>
      </p:sp>
      <p:sp>
        <p:nvSpPr>
          <p:cNvPr id="8" name="Shape 6"/>
          <p:cNvSpPr/>
          <p:nvPr/>
        </p:nvSpPr>
        <p:spPr>
          <a:xfrm>
            <a:off x="6995160" y="1234440"/>
            <a:ext cx="0" cy="1463040"/>
          </a:xfrm>
          <a:prstGeom prst="line">
            <a:avLst/>
          </a:prstGeom>
          <a:noFill/>
          <a:ln w="15240">
            <a:solidFill>
              <a:srgbClr val="3D7A52"/>
            </a:solidFill>
            <a:prstDash val="solid"/>
          </a:ln>
        </p:spPr>
      </p:sp>
      <p:sp>
        <p:nvSpPr>
          <p:cNvPr id="9" name="Shape 7"/>
          <p:cNvSpPr/>
          <p:nvPr/>
        </p:nvSpPr>
        <p:spPr>
          <a:xfrm>
            <a:off x="6830568" y="1143000"/>
            <a:ext cx="329184" cy="201168"/>
          </a:xfrm>
          <a:prstGeom prst="ellipse">
            <a:avLst/>
          </a:prstGeom>
          <a:solidFill>
            <a:srgbClr val="C8791E"/>
          </a:solidFill>
          <a:ln w="12700">
            <a:solidFill>
              <a:srgbClr val="C8791E"/>
            </a:solidFill>
            <a:prstDash val="solid"/>
          </a:ln>
        </p:spPr>
      </p:sp>
      <p:sp>
        <p:nvSpPr>
          <p:cNvPr id="10" name="Text 8"/>
          <p:cNvSpPr/>
          <p:nvPr/>
        </p:nvSpPr>
        <p:spPr>
          <a:xfrm>
            <a:off x="6720840" y="941832"/>
            <a:ext cx="548640" cy="18288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Universal</a:t>
            </a:r>
            <a:endParaRPr lang="en-US" sz="800" dirty="0"/>
          </a:p>
          <a:p>
            <a:pPr algn="ctr" indent="0" marL="0">
              <a:buNone/>
            </a:pPr>
            <a:r>
              <a:rPr lang="en-US" sz="800" dirty="0">
                <a:solidFill>
                  <a:srgbClr val="8FA898"/>
                </a:solidFill>
                <a:latin typeface="Calibri" pitchFamily="34" charset="0"/>
                <a:ea typeface="Calibri" pitchFamily="34" charset="-122"/>
                <a:cs typeface="Calibri" pitchFamily="34" charset="-120"/>
              </a:rPr>
              <a:t>Ancestor</a:t>
            </a:r>
            <a:endParaRPr lang="en-US" sz="800" dirty="0"/>
          </a:p>
        </p:txBody>
      </p:sp>
      <p:sp>
        <p:nvSpPr>
          <p:cNvPr id="11" name="Shape 9"/>
          <p:cNvSpPr/>
          <p:nvPr/>
        </p:nvSpPr>
        <p:spPr>
          <a:xfrm>
            <a:off x="6170371" y="2697480"/>
            <a:ext cx="1649578" cy="0"/>
          </a:xfrm>
          <a:prstGeom prst="line">
            <a:avLst/>
          </a:prstGeom>
          <a:noFill/>
          <a:ln w="12700">
            <a:solidFill>
              <a:srgbClr val="3D7A52"/>
            </a:solidFill>
            <a:prstDash val="solid"/>
          </a:ln>
        </p:spPr>
      </p:sp>
      <p:sp>
        <p:nvSpPr>
          <p:cNvPr id="12" name="Shape 10"/>
          <p:cNvSpPr/>
          <p:nvPr/>
        </p:nvSpPr>
        <p:spPr>
          <a:xfrm>
            <a:off x="6170371" y="2697480"/>
            <a:ext cx="0" cy="1280160"/>
          </a:xfrm>
          <a:prstGeom prst="line">
            <a:avLst/>
          </a:prstGeom>
          <a:noFill/>
          <a:ln w="12700">
            <a:solidFill>
              <a:srgbClr val="3D7A52"/>
            </a:solidFill>
            <a:prstDash val="solid"/>
          </a:ln>
        </p:spPr>
      </p:sp>
      <p:sp>
        <p:nvSpPr>
          <p:cNvPr id="13" name="Shape 11"/>
          <p:cNvSpPr/>
          <p:nvPr/>
        </p:nvSpPr>
        <p:spPr>
          <a:xfrm>
            <a:off x="5804611" y="3977640"/>
            <a:ext cx="731520" cy="256032"/>
          </a:xfrm>
          <a:prstGeom prst="rect">
            <a:avLst/>
          </a:prstGeom>
          <a:solidFill>
            <a:srgbClr val="2D5A3D"/>
          </a:solidFill>
          <a:ln w="12700">
            <a:solidFill>
              <a:srgbClr val="3D7A52"/>
            </a:solidFill>
            <a:prstDash val="solid"/>
          </a:ln>
        </p:spPr>
      </p:sp>
      <p:sp>
        <p:nvSpPr>
          <p:cNvPr id="14" name="Text 12"/>
          <p:cNvSpPr/>
          <p:nvPr/>
        </p:nvSpPr>
        <p:spPr>
          <a:xfrm>
            <a:off x="5804611" y="3977640"/>
            <a:ext cx="7315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Bacteria</a:t>
            </a:r>
            <a:endParaRPr lang="en-US" sz="900" dirty="0"/>
          </a:p>
        </p:txBody>
      </p:sp>
      <p:sp>
        <p:nvSpPr>
          <p:cNvPr id="15" name="Shape 13"/>
          <p:cNvSpPr/>
          <p:nvPr/>
        </p:nvSpPr>
        <p:spPr>
          <a:xfrm>
            <a:off x="7819949" y="2697480"/>
            <a:ext cx="0" cy="1280160"/>
          </a:xfrm>
          <a:prstGeom prst="line">
            <a:avLst/>
          </a:prstGeom>
          <a:noFill/>
          <a:ln w="12700">
            <a:solidFill>
              <a:srgbClr val="3D7A52"/>
            </a:solidFill>
            <a:prstDash val="solid"/>
          </a:ln>
        </p:spPr>
      </p:sp>
      <p:sp>
        <p:nvSpPr>
          <p:cNvPr id="16" name="Shape 14"/>
          <p:cNvSpPr/>
          <p:nvPr/>
        </p:nvSpPr>
        <p:spPr>
          <a:xfrm>
            <a:off x="7454189" y="3977640"/>
            <a:ext cx="731520" cy="256032"/>
          </a:xfrm>
          <a:prstGeom prst="rect">
            <a:avLst/>
          </a:prstGeom>
          <a:solidFill>
            <a:srgbClr val="2D5A3D"/>
          </a:solidFill>
          <a:ln w="12700">
            <a:solidFill>
              <a:srgbClr val="3D7A52"/>
            </a:solidFill>
            <a:prstDash val="solid"/>
          </a:ln>
        </p:spPr>
      </p:sp>
      <p:sp>
        <p:nvSpPr>
          <p:cNvPr id="17" name="Text 15"/>
          <p:cNvSpPr/>
          <p:nvPr/>
        </p:nvSpPr>
        <p:spPr>
          <a:xfrm>
            <a:off x="7454189" y="3977640"/>
            <a:ext cx="7315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Arch+Euk</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Clade</a:t>
            </a:r>
            <a:endParaRPr lang="en-US" sz="900" dirty="0"/>
          </a:p>
        </p:txBody>
      </p:sp>
      <p:sp>
        <p:nvSpPr>
          <p:cNvPr id="18" name="Shape 16"/>
          <p:cNvSpPr/>
          <p:nvPr/>
        </p:nvSpPr>
        <p:spPr>
          <a:xfrm>
            <a:off x="7445045" y="3355848"/>
            <a:ext cx="749808" cy="0"/>
          </a:xfrm>
          <a:prstGeom prst="line">
            <a:avLst/>
          </a:prstGeom>
          <a:noFill/>
          <a:ln w="11430">
            <a:solidFill>
              <a:srgbClr val="3D8C7A"/>
            </a:solidFill>
            <a:prstDash val="solid"/>
          </a:ln>
        </p:spPr>
      </p:sp>
      <p:sp>
        <p:nvSpPr>
          <p:cNvPr id="19" name="Shape 17"/>
          <p:cNvSpPr/>
          <p:nvPr/>
        </p:nvSpPr>
        <p:spPr>
          <a:xfrm>
            <a:off x="7445045" y="3355848"/>
            <a:ext cx="0" cy="621792"/>
          </a:xfrm>
          <a:prstGeom prst="line">
            <a:avLst/>
          </a:prstGeom>
          <a:noFill/>
          <a:ln w="11430">
            <a:solidFill>
              <a:srgbClr val="3D8C7A"/>
            </a:solidFill>
            <a:prstDash val="solid"/>
          </a:ln>
        </p:spPr>
      </p:sp>
      <p:sp>
        <p:nvSpPr>
          <p:cNvPr id="20" name="Shape 18"/>
          <p:cNvSpPr/>
          <p:nvPr/>
        </p:nvSpPr>
        <p:spPr>
          <a:xfrm>
            <a:off x="7152437" y="3977640"/>
            <a:ext cx="585216" cy="228600"/>
          </a:xfrm>
          <a:prstGeom prst="rect">
            <a:avLst/>
          </a:prstGeom>
          <a:solidFill>
            <a:srgbClr val="3D8C7A"/>
          </a:solidFill>
          <a:ln w="12700">
            <a:solidFill>
              <a:srgbClr val="3D8C7A"/>
            </a:solidFill>
            <a:prstDash val="solid"/>
          </a:ln>
        </p:spPr>
      </p:sp>
      <p:sp>
        <p:nvSpPr>
          <p:cNvPr id="21" name="Text 19"/>
          <p:cNvSpPr/>
          <p:nvPr/>
        </p:nvSpPr>
        <p:spPr>
          <a:xfrm>
            <a:off x="7152437" y="3977640"/>
            <a:ext cx="585216" cy="22860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Archaea</a:t>
            </a:r>
            <a:endParaRPr lang="en-US" sz="800" dirty="0"/>
          </a:p>
        </p:txBody>
      </p:sp>
      <p:sp>
        <p:nvSpPr>
          <p:cNvPr id="22" name="Shape 20"/>
          <p:cNvSpPr/>
          <p:nvPr/>
        </p:nvSpPr>
        <p:spPr>
          <a:xfrm>
            <a:off x="8194853" y="3355848"/>
            <a:ext cx="0" cy="621792"/>
          </a:xfrm>
          <a:prstGeom prst="line">
            <a:avLst/>
          </a:prstGeom>
          <a:noFill/>
          <a:ln w="11430">
            <a:solidFill>
              <a:srgbClr val="3D8C7A"/>
            </a:solidFill>
            <a:prstDash val="solid"/>
          </a:ln>
        </p:spPr>
      </p:sp>
      <p:sp>
        <p:nvSpPr>
          <p:cNvPr id="23" name="Shape 21"/>
          <p:cNvSpPr/>
          <p:nvPr/>
        </p:nvSpPr>
        <p:spPr>
          <a:xfrm>
            <a:off x="7902245" y="3977640"/>
            <a:ext cx="585216" cy="228600"/>
          </a:xfrm>
          <a:prstGeom prst="rect">
            <a:avLst/>
          </a:prstGeom>
          <a:solidFill>
            <a:srgbClr val="3D8C7A"/>
          </a:solidFill>
          <a:ln w="12700">
            <a:solidFill>
              <a:srgbClr val="3D8C7A"/>
            </a:solidFill>
            <a:prstDash val="solid"/>
          </a:ln>
        </p:spPr>
      </p:sp>
      <p:sp>
        <p:nvSpPr>
          <p:cNvPr id="24" name="Text 22"/>
          <p:cNvSpPr/>
          <p:nvPr/>
        </p:nvSpPr>
        <p:spPr>
          <a:xfrm>
            <a:off x="7902245" y="3977640"/>
            <a:ext cx="585216" cy="22860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Eukarya</a:t>
            </a:r>
            <a:endParaRPr lang="en-US" sz="800" dirty="0"/>
          </a:p>
        </p:txBody>
      </p:sp>
      <p:sp>
        <p:nvSpPr>
          <p:cNvPr id="25" name="Shape 23"/>
          <p:cNvSpPr/>
          <p:nvPr/>
        </p:nvSpPr>
        <p:spPr>
          <a:xfrm>
            <a:off x="274320" y="4297680"/>
            <a:ext cx="8595360" cy="621792"/>
          </a:xfrm>
          <a:prstGeom prst="rect">
            <a:avLst/>
          </a:prstGeom>
          <a:solidFill>
            <a:srgbClr val="1C2B1E"/>
          </a:solidFill>
          <a:ln w="12700">
            <a:solidFill>
              <a:srgbClr val="1C2B1E"/>
            </a:solidFill>
            <a:prstDash val="solid"/>
          </a:ln>
        </p:spPr>
      </p:sp>
      <p:sp>
        <p:nvSpPr>
          <p:cNvPr id="26" name="Text 2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 xml:space="preserve">rRNA Phylogenetics: </a:t>
            </a:r>
            <a:pPr indent="0" marL="0">
              <a:buNone/>
            </a:pPr>
            <a:r>
              <a:rPr lang="en-US" sz="1100" dirty="0">
                <a:solidFill>
                  <a:srgbClr val="F4F1EC"/>
                </a:solidFill>
                <a:latin typeface="Calibri" pitchFamily="34" charset="0"/>
                <a:ea typeface="Calibri" pitchFamily="34" charset="-122"/>
                <a:cs typeface="Calibri" pitchFamily="34" charset="-120"/>
              </a:rPr>
              <a:t>The use of ribosomal RNA sequences (especially 16S/18S rRNA) to infer evolutionary relationships. Woese's rRNA analysis established the three-domain system and revealed the paraphyly of Monera.</a:t>
            </a:r>
            <a:endParaRPr lang="en-US" sz="1100" dirty="0"/>
          </a:p>
        </p:txBody>
      </p:sp>
      <p:sp>
        <p:nvSpPr>
          <p:cNvPr id="27" name="Text 2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13 / 99</a:t>
            </a:r>
            <a:endParaRPr lang="en-US" sz="900" dirty="0"/>
          </a:p>
        </p:txBody>
      </p:sp>
      <p:sp>
        <p:nvSpPr>
          <p:cNvPr id="28" name="Text 2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 — Classification</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§1.7 Classification as a Scientific Discipline</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Identification, Classification, Nomenclature — Three Distinct Activities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IDENTIFICATION: matching a specimen to a previously described taxon using keys and descriptions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CLASSIFICATION: grouping organisms into taxa based on evidence of shared evolutionary history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NOMENCLATURE: formal rules for naming taxa (governed by ICZN for animals)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These three activities are interdependent but conceptually separate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 name can be valid (nomenclatural) while the classification is disputed (taxonomic)</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Classification is a hypothesis about history — revisable as new evidence accumulates</a:t>
            </a:r>
            <a:endParaRPr lang="en-US" sz="1300" dirty="0"/>
          </a:p>
        </p:txBody>
      </p:sp>
      <p:sp>
        <p:nvSpPr>
          <p:cNvPr id="7" name="Shape 5"/>
          <p:cNvSpPr/>
          <p:nvPr/>
        </p:nvSpPr>
        <p:spPr>
          <a:xfrm>
            <a:off x="5120640" y="960120"/>
            <a:ext cx="3749040" cy="742950"/>
          </a:xfrm>
          <a:prstGeom prst="rect">
            <a:avLst/>
          </a:prstGeom>
          <a:solidFill>
            <a:srgbClr val="2D5A3D"/>
          </a:solidFill>
          <a:ln w="12700">
            <a:solidFill>
              <a:srgbClr val="3D7A52"/>
            </a:solidFill>
            <a:prstDash val="solid"/>
          </a:ln>
        </p:spPr>
      </p:sp>
      <p:sp>
        <p:nvSpPr>
          <p:cNvPr id="8" name="Shape 6"/>
          <p:cNvSpPr/>
          <p:nvPr/>
        </p:nvSpPr>
        <p:spPr>
          <a:xfrm>
            <a:off x="5120640" y="960120"/>
            <a:ext cx="347472" cy="742950"/>
          </a:xfrm>
          <a:prstGeom prst="rect">
            <a:avLst/>
          </a:prstGeom>
          <a:solidFill>
            <a:srgbClr val="1C2B1E"/>
          </a:solidFill>
          <a:ln w="12700">
            <a:solidFill>
              <a:srgbClr val="1C2B1E"/>
            </a:solidFill>
            <a:prstDash val="solid"/>
          </a:ln>
        </p:spPr>
      </p:sp>
      <p:sp>
        <p:nvSpPr>
          <p:cNvPr id="9" name="Text 7"/>
          <p:cNvSpPr/>
          <p:nvPr/>
        </p:nvSpPr>
        <p:spPr>
          <a:xfrm>
            <a:off x="5120640" y="960120"/>
            <a:ext cx="347472" cy="742950"/>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669798"/>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IDENTIFICATION (Does this specimen fit a known taxon?)</a:t>
            </a:r>
            <a:endParaRPr lang="en-US" sz="1050" dirty="0"/>
          </a:p>
        </p:txBody>
      </p:sp>
      <p:sp>
        <p:nvSpPr>
          <p:cNvPr id="11" name="Shape 9"/>
          <p:cNvSpPr/>
          <p:nvPr/>
        </p:nvSpPr>
        <p:spPr>
          <a:xfrm>
            <a:off x="6995160" y="1703070"/>
            <a:ext cx="0" cy="91440"/>
          </a:xfrm>
          <a:prstGeom prst="line">
            <a:avLst/>
          </a:prstGeom>
          <a:noFill/>
          <a:ln w="19050">
            <a:solidFill>
              <a:srgbClr val="C8791E"/>
            </a:solidFill>
            <a:prstDash val="solid"/>
          </a:ln>
        </p:spPr>
      </p:sp>
      <p:sp>
        <p:nvSpPr>
          <p:cNvPr id="12" name="Shape 10"/>
          <p:cNvSpPr/>
          <p:nvPr/>
        </p:nvSpPr>
        <p:spPr>
          <a:xfrm>
            <a:off x="5120640" y="1794510"/>
            <a:ext cx="3749040" cy="742950"/>
          </a:xfrm>
          <a:prstGeom prst="rect">
            <a:avLst/>
          </a:prstGeom>
          <a:solidFill>
            <a:srgbClr val="2D5A3D"/>
          </a:solidFill>
          <a:ln w="12700">
            <a:solidFill>
              <a:srgbClr val="3D7A52"/>
            </a:solidFill>
            <a:prstDash val="solid"/>
          </a:ln>
        </p:spPr>
      </p:sp>
      <p:sp>
        <p:nvSpPr>
          <p:cNvPr id="13" name="Shape 11"/>
          <p:cNvSpPr/>
          <p:nvPr/>
        </p:nvSpPr>
        <p:spPr>
          <a:xfrm>
            <a:off x="5120640" y="1794510"/>
            <a:ext cx="347472" cy="742950"/>
          </a:xfrm>
          <a:prstGeom prst="rect">
            <a:avLst/>
          </a:prstGeom>
          <a:solidFill>
            <a:srgbClr val="1C2B1E"/>
          </a:solidFill>
          <a:ln w="12700">
            <a:solidFill>
              <a:srgbClr val="1C2B1E"/>
            </a:solidFill>
            <a:prstDash val="solid"/>
          </a:ln>
        </p:spPr>
      </p:sp>
      <p:sp>
        <p:nvSpPr>
          <p:cNvPr id="14" name="Text 12"/>
          <p:cNvSpPr/>
          <p:nvPr/>
        </p:nvSpPr>
        <p:spPr>
          <a:xfrm>
            <a:off x="5120640" y="1794510"/>
            <a:ext cx="347472" cy="742950"/>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831086"/>
            <a:ext cx="3291840" cy="669798"/>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CLASSIFICATION (What group does it belong to?)</a:t>
            </a:r>
            <a:endParaRPr lang="en-US" sz="1050" dirty="0"/>
          </a:p>
        </p:txBody>
      </p:sp>
      <p:sp>
        <p:nvSpPr>
          <p:cNvPr id="16" name="Shape 14"/>
          <p:cNvSpPr/>
          <p:nvPr/>
        </p:nvSpPr>
        <p:spPr>
          <a:xfrm>
            <a:off x="6995160" y="2537460"/>
            <a:ext cx="0" cy="91440"/>
          </a:xfrm>
          <a:prstGeom prst="line">
            <a:avLst/>
          </a:prstGeom>
          <a:noFill/>
          <a:ln w="19050">
            <a:solidFill>
              <a:srgbClr val="C8791E"/>
            </a:solidFill>
            <a:prstDash val="solid"/>
          </a:ln>
        </p:spPr>
      </p:sp>
      <p:sp>
        <p:nvSpPr>
          <p:cNvPr id="17" name="Shape 15"/>
          <p:cNvSpPr/>
          <p:nvPr/>
        </p:nvSpPr>
        <p:spPr>
          <a:xfrm>
            <a:off x="5120640" y="2628900"/>
            <a:ext cx="3749040" cy="742950"/>
          </a:xfrm>
          <a:prstGeom prst="rect">
            <a:avLst/>
          </a:prstGeom>
          <a:solidFill>
            <a:srgbClr val="2D5A3D"/>
          </a:solidFill>
          <a:ln w="12700">
            <a:solidFill>
              <a:srgbClr val="3D7A52"/>
            </a:solidFill>
            <a:prstDash val="solid"/>
          </a:ln>
        </p:spPr>
      </p:sp>
      <p:sp>
        <p:nvSpPr>
          <p:cNvPr id="18" name="Shape 16"/>
          <p:cNvSpPr/>
          <p:nvPr/>
        </p:nvSpPr>
        <p:spPr>
          <a:xfrm>
            <a:off x="5120640" y="2628900"/>
            <a:ext cx="347472" cy="742950"/>
          </a:xfrm>
          <a:prstGeom prst="rect">
            <a:avLst/>
          </a:prstGeom>
          <a:solidFill>
            <a:srgbClr val="1C2B1E"/>
          </a:solidFill>
          <a:ln w="12700">
            <a:solidFill>
              <a:srgbClr val="1C2B1E"/>
            </a:solidFill>
            <a:prstDash val="solid"/>
          </a:ln>
        </p:spPr>
      </p:sp>
      <p:sp>
        <p:nvSpPr>
          <p:cNvPr id="19" name="Text 17"/>
          <p:cNvSpPr/>
          <p:nvPr/>
        </p:nvSpPr>
        <p:spPr>
          <a:xfrm>
            <a:off x="5120640" y="2628900"/>
            <a:ext cx="347472" cy="742950"/>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665476"/>
            <a:ext cx="3291840" cy="669798"/>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NOMENCLATURE (What is the correct name?)</a:t>
            </a:r>
            <a:endParaRPr lang="en-US" sz="1050" dirty="0"/>
          </a:p>
        </p:txBody>
      </p:sp>
      <p:sp>
        <p:nvSpPr>
          <p:cNvPr id="21" name="Shape 19"/>
          <p:cNvSpPr/>
          <p:nvPr/>
        </p:nvSpPr>
        <p:spPr>
          <a:xfrm>
            <a:off x="6995160" y="3371850"/>
            <a:ext cx="0" cy="91440"/>
          </a:xfrm>
          <a:prstGeom prst="line">
            <a:avLst/>
          </a:prstGeom>
          <a:noFill/>
          <a:ln w="19050">
            <a:solidFill>
              <a:srgbClr val="C8791E"/>
            </a:solidFill>
            <a:prstDash val="solid"/>
          </a:ln>
        </p:spPr>
      </p:sp>
      <p:sp>
        <p:nvSpPr>
          <p:cNvPr id="22" name="Shape 20"/>
          <p:cNvSpPr/>
          <p:nvPr/>
        </p:nvSpPr>
        <p:spPr>
          <a:xfrm>
            <a:off x="5120640" y="3463290"/>
            <a:ext cx="3749040" cy="742950"/>
          </a:xfrm>
          <a:prstGeom prst="rect">
            <a:avLst/>
          </a:prstGeom>
          <a:solidFill>
            <a:srgbClr val="2D5A3D"/>
          </a:solidFill>
          <a:ln w="12700">
            <a:solidFill>
              <a:srgbClr val="3D7A52"/>
            </a:solidFill>
            <a:prstDash val="solid"/>
          </a:ln>
        </p:spPr>
      </p:sp>
      <p:sp>
        <p:nvSpPr>
          <p:cNvPr id="23" name="Shape 21"/>
          <p:cNvSpPr/>
          <p:nvPr/>
        </p:nvSpPr>
        <p:spPr>
          <a:xfrm>
            <a:off x="5120640" y="3463290"/>
            <a:ext cx="347472" cy="742950"/>
          </a:xfrm>
          <a:prstGeom prst="rect">
            <a:avLst/>
          </a:prstGeom>
          <a:solidFill>
            <a:srgbClr val="1C2B1E"/>
          </a:solidFill>
          <a:ln w="12700">
            <a:solidFill>
              <a:srgbClr val="1C2B1E"/>
            </a:solidFill>
            <a:prstDash val="solid"/>
          </a:ln>
        </p:spPr>
      </p:sp>
      <p:sp>
        <p:nvSpPr>
          <p:cNvPr id="24" name="Text 22"/>
          <p:cNvSpPr/>
          <p:nvPr/>
        </p:nvSpPr>
        <p:spPr>
          <a:xfrm>
            <a:off x="5120640" y="3463290"/>
            <a:ext cx="347472" cy="742950"/>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3499866"/>
            <a:ext cx="3291840" cy="669798"/>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PUBLICATION (Scientific record created)</a:t>
            </a:r>
            <a:endParaRPr lang="en-US" sz="1050" dirty="0"/>
          </a:p>
        </p:txBody>
      </p:sp>
      <p:sp>
        <p:nvSpPr>
          <p:cNvPr id="26" name="Shape 24"/>
          <p:cNvSpPr/>
          <p:nvPr/>
        </p:nvSpPr>
        <p:spPr>
          <a:xfrm>
            <a:off x="274320" y="4297680"/>
            <a:ext cx="8595360" cy="621792"/>
          </a:xfrm>
          <a:prstGeom prst="rect">
            <a:avLst/>
          </a:prstGeom>
          <a:solidFill>
            <a:srgbClr val="1C2B1E"/>
          </a:solidFill>
          <a:ln w="12700">
            <a:solidFill>
              <a:srgbClr val="1C2B1E"/>
            </a:solidFill>
            <a:prstDash val="solid"/>
          </a:ln>
        </p:spPr>
      </p:sp>
      <p:sp>
        <p:nvSpPr>
          <p:cNvPr id="27" name="Text 25"/>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 xml:space="preserve">Classification Hypothesis: </a:t>
            </a:r>
            <a:pPr indent="0" marL="0">
              <a:buNone/>
            </a:pPr>
            <a:r>
              <a:rPr lang="en-US" sz="1100" dirty="0">
                <a:solidFill>
                  <a:srgbClr val="F4F1EC"/>
                </a:solidFill>
                <a:latin typeface="Calibri" pitchFamily="34" charset="0"/>
                <a:ea typeface="Calibri" pitchFamily="34" charset="-122"/>
                <a:cs typeface="Calibri" pitchFamily="34" charset="-120"/>
              </a:rPr>
              <a:t>Classification is not a fact but a hypothesis about evolutionary history — explicitly revisable as new morphological, molecular, or developmental evidence becomes available.</a:t>
            </a:r>
            <a:endParaRPr lang="en-US" sz="1100" dirty="0"/>
          </a:p>
        </p:txBody>
      </p:sp>
      <p:sp>
        <p:nvSpPr>
          <p:cNvPr id="28" name="Text 26"/>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14 / 99</a:t>
            </a:r>
            <a:endParaRPr lang="en-US" sz="900" dirty="0"/>
          </a:p>
        </p:txBody>
      </p:sp>
      <p:sp>
        <p:nvSpPr>
          <p:cNvPr id="29" name="Text 27"/>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 — Classification</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§1.3 Molecular Taxonomy: Four Approaches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Molecular Taxonomy: Four Approaches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CHEMOTAXONOMY: secondary metabolites (alkaloids, terpenoids) as taxonomic markers — useful in plants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SEROTAXONOMY: immunological cross-reactions between proteins — established human-chimp relationship before DNA sequencing</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CYTOTAXONOMY: karyotype characters (chromosome number, banding, NF) — detects cryptic species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DNA BARCODING: 648-bp COI gene standardised — rapid identification of any life stage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All four ask the same molecular question — barcoding answers it most directly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Serotaxonomy and cytotaxonomy were precursors; barcoding is the current standard for identification</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Shape 6"/>
          <p:cNvSpPr/>
          <p:nvPr/>
        </p:nvSpPr>
        <p:spPr>
          <a:xfrm>
            <a:off x="5303520" y="2419502"/>
            <a:ext cx="3383280" cy="0"/>
          </a:xfrm>
          <a:prstGeom prst="line">
            <a:avLst/>
          </a:prstGeom>
          <a:noFill/>
          <a:ln w="19050">
            <a:solidFill>
              <a:srgbClr val="C8791E"/>
            </a:solidFill>
            <a:prstDash val="solid"/>
          </a:ln>
        </p:spPr>
      </p:sp>
      <p:sp>
        <p:nvSpPr>
          <p:cNvPr id="9" name="Shape 7"/>
          <p:cNvSpPr/>
          <p:nvPr/>
        </p:nvSpPr>
        <p:spPr>
          <a:xfrm>
            <a:off x="5193792" y="2309774"/>
            <a:ext cx="219456" cy="219456"/>
          </a:xfrm>
          <a:prstGeom prst="ellipse">
            <a:avLst/>
          </a:prstGeom>
          <a:solidFill>
            <a:srgbClr val="C8791E"/>
          </a:solidFill>
          <a:ln w="6350">
            <a:solidFill>
              <a:srgbClr val="FFFFFF"/>
            </a:solidFill>
            <a:prstDash val="solid"/>
          </a:ln>
        </p:spPr>
      </p:sp>
      <p:sp>
        <p:nvSpPr>
          <p:cNvPr id="10" name="Text 8"/>
          <p:cNvSpPr/>
          <p:nvPr/>
        </p:nvSpPr>
        <p:spPr>
          <a:xfrm>
            <a:off x="484632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Chemo-</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taxonomy</a:t>
            </a:r>
            <a:endParaRPr lang="en-US" sz="900" dirty="0"/>
          </a:p>
        </p:txBody>
      </p:sp>
      <p:sp>
        <p:nvSpPr>
          <p:cNvPr id="11" name="Text 9"/>
          <p:cNvSpPr/>
          <p:nvPr/>
        </p:nvSpPr>
        <p:spPr>
          <a:xfrm>
            <a:off x="484632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1950s</a:t>
            </a:r>
            <a:endParaRPr lang="en-US" sz="800" dirty="0"/>
          </a:p>
        </p:txBody>
      </p:sp>
      <p:sp>
        <p:nvSpPr>
          <p:cNvPr id="12" name="Shape 10"/>
          <p:cNvSpPr/>
          <p:nvPr/>
        </p:nvSpPr>
        <p:spPr>
          <a:xfrm>
            <a:off x="6321552" y="2309774"/>
            <a:ext cx="219456" cy="219456"/>
          </a:xfrm>
          <a:prstGeom prst="ellipse">
            <a:avLst/>
          </a:prstGeom>
          <a:solidFill>
            <a:srgbClr val="C8791E"/>
          </a:solidFill>
          <a:ln w="6350">
            <a:solidFill>
              <a:srgbClr val="FFFFFF"/>
            </a:solidFill>
            <a:prstDash val="solid"/>
          </a:ln>
        </p:spPr>
      </p:sp>
      <p:sp>
        <p:nvSpPr>
          <p:cNvPr id="13" name="Text 11"/>
          <p:cNvSpPr/>
          <p:nvPr/>
        </p:nvSpPr>
        <p:spPr>
          <a:xfrm>
            <a:off x="5974080" y="2620670"/>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Sero-</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taxonomy</a:t>
            </a:r>
            <a:endParaRPr lang="en-US" sz="900" dirty="0"/>
          </a:p>
        </p:txBody>
      </p:sp>
      <p:sp>
        <p:nvSpPr>
          <p:cNvPr id="14" name="Text 12"/>
          <p:cNvSpPr/>
          <p:nvPr/>
        </p:nvSpPr>
        <p:spPr>
          <a:xfrm>
            <a:off x="5974080" y="2876702"/>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1960s</a:t>
            </a:r>
            <a:endParaRPr lang="en-US" sz="800" dirty="0"/>
          </a:p>
        </p:txBody>
      </p:sp>
      <p:sp>
        <p:nvSpPr>
          <p:cNvPr id="15" name="Shape 13"/>
          <p:cNvSpPr/>
          <p:nvPr/>
        </p:nvSpPr>
        <p:spPr>
          <a:xfrm>
            <a:off x="7449312" y="2309774"/>
            <a:ext cx="219456" cy="219456"/>
          </a:xfrm>
          <a:prstGeom prst="ellipse">
            <a:avLst/>
          </a:prstGeom>
          <a:solidFill>
            <a:srgbClr val="C8791E"/>
          </a:solidFill>
          <a:ln w="6350">
            <a:solidFill>
              <a:srgbClr val="FFFFFF"/>
            </a:solidFill>
            <a:prstDash val="solid"/>
          </a:ln>
        </p:spPr>
      </p:sp>
      <p:sp>
        <p:nvSpPr>
          <p:cNvPr id="16" name="Text 14"/>
          <p:cNvSpPr/>
          <p:nvPr/>
        </p:nvSpPr>
        <p:spPr>
          <a:xfrm>
            <a:off x="710184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Cyto-</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taxonomy</a:t>
            </a:r>
            <a:endParaRPr lang="en-US" sz="900" dirty="0"/>
          </a:p>
        </p:txBody>
      </p:sp>
      <p:sp>
        <p:nvSpPr>
          <p:cNvPr id="17" name="Text 15"/>
          <p:cNvSpPr/>
          <p:nvPr/>
        </p:nvSpPr>
        <p:spPr>
          <a:xfrm>
            <a:off x="710184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1970s</a:t>
            </a:r>
            <a:endParaRPr lang="en-US" sz="800" dirty="0"/>
          </a:p>
        </p:txBody>
      </p:sp>
      <p:sp>
        <p:nvSpPr>
          <p:cNvPr id="18" name="Shape 16"/>
          <p:cNvSpPr/>
          <p:nvPr/>
        </p:nvSpPr>
        <p:spPr>
          <a:xfrm>
            <a:off x="8577072" y="2309774"/>
            <a:ext cx="219456" cy="219456"/>
          </a:xfrm>
          <a:prstGeom prst="ellipse">
            <a:avLst/>
          </a:prstGeom>
          <a:solidFill>
            <a:srgbClr val="3D8C7A"/>
          </a:solidFill>
          <a:ln w="6350">
            <a:solidFill>
              <a:srgbClr val="FFFFFF"/>
            </a:solidFill>
            <a:prstDash val="solid"/>
          </a:ln>
        </p:spPr>
      </p:sp>
      <p:sp>
        <p:nvSpPr>
          <p:cNvPr id="19" name="Text 17"/>
          <p:cNvSpPr/>
          <p:nvPr/>
        </p:nvSpPr>
        <p:spPr>
          <a:xfrm>
            <a:off x="8229600" y="2620670"/>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DNA</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Barcoding</a:t>
            </a:r>
            <a:endParaRPr lang="en-US" sz="900" dirty="0"/>
          </a:p>
        </p:txBody>
      </p:sp>
      <p:sp>
        <p:nvSpPr>
          <p:cNvPr id="20" name="Text 18"/>
          <p:cNvSpPr/>
          <p:nvPr/>
        </p:nvSpPr>
        <p:spPr>
          <a:xfrm>
            <a:off x="8229600" y="2876702"/>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2003+</a:t>
            </a:r>
            <a:endParaRPr lang="en-US" sz="800" dirty="0"/>
          </a:p>
        </p:txBody>
      </p:sp>
      <p:sp>
        <p:nvSpPr>
          <p:cNvPr id="21" name="Shape 19"/>
          <p:cNvSpPr/>
          <p:nvPr/>
        </p:nvSpPr>
        <p:spPr>
          <a:xfrm>
            <a:off x="274320" y="4297680"/>
            <a:ext cx="8595360" cy="621792"/>
          </a:xfrm>
          <a:prstGeom prst="rect">
            <a:avLst/>
          </a:prstGeom>
          <a:solidFill>
            <a:srgbClr val="1C2B1E"/>
          </a:solidFill>
          <a:ln w="12700">
            <a:solidFill>
              <a:srgbClr val="1C2B1E"/>
            </a:solidFill>
            <a:prstDash val="solid"/>
          </a:ln>
        </p:spPr>
      </p:sp>
      <p:sp>
        <p:nvSpPr>
          <p:cNvPr id="22" name="Text 2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 xml:space="preserve">DNA Barcoding: </a:t>
            </a:r>
            <a:pPr indent="0" marL="0">
              <a:buNone/>
            </a:pPr>
            <a:r>
              <a:rPr lang="en-US" sz="1100" dirty="0">
                <a:solidFill>
                  <a:srgbClr val="F4F1EC"/>
                </a:solidFill>
                <a:latin typeface="Calibri" pitchFamily="34" charset="0"/>
                <a:ea typeface="Calibri" pitchFamily="34" charset="-122"/>
                <a:cs typeface="Calibri" pitchFamily="34" charset="-120"/>
              </a:rPr>
              <a:t>Rapid species identification using a standardised 648-bp segment of mitochondrial COI gene matched against the BOLD reference library. Identifies any life stage or fragmentary material.</a:t>
            </a:r>
            <a:endParaRPr lang="en-US" sz="1100" dirty="0"/>
          </a:p>
        </p:txBody>
      </p:sp>
      <p:sp>
        <p:nvSpPr>
          <p:cNvPr id="23" name="Text 2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15 / 99</a:t>
            </a:r>
            <a:endParaRPr lang="en-US" sz="900" dirty="0"/>
          </a:p>
        </p:txBody>
      </p:sp>
      <p:sp>
        <p:nvSpPr>
          <p:cNvPr id="24" name="Text 2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 — Classification</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§1.8 The Species Problem</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Why No Single Species Definition Works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Biological Species Concept (Mayr 1942): actually or potentially interbreeding populations, reproductively isolated from others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Problem: inapplicable to asexual organisms (bacteria, bdelloid rotifers)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Problem: inapplicable to fossil taxa — reproductive compatibility cannot be tested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Problem: ambiguous for allopatric populations — they cannot interbreed simply because they never meet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Phylogenetic Species Concept: smallest diagnosably distinct group — tends to recognise more species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species problem exists because species are real entities produced by a continuous process</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BSC STRENGTHS</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Mechanistically grounded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Empirically testable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Explains species coherence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Links species to speciation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Mayr 1942 — still dominant</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BSC LIMITS</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Fails for asexual organisms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Fails for fossil taxa</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Ambiguous for allopatric pops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Hybridisation is common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Cannot be applied in field</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 xml:space="preserve">Biological Species Concept: </a:t>
            </a:r>
            <a:pPr indent="0" marL="0">
              <a:buNone/>
            </a:pPr>
            <a:r>
              <a:rPr lang="en-US" sz="1100" dirty="0">
                <a:solidFill>
                  <a:srgbClr val="F4F1EC"/>
                </a:solidFill>
                <a:latin typeface="Calibri" pitchFamily="34" charset="0"/>
                <a:ea typeface="Calibri" pitchFamily="34" charset="-122"/>
                <a:cs typeface="Calibri" pitchFamily="34" charset="-120"/>
              </a:rPr>
              <a:t>Mayr (1942): a species is a group of actually or potentially interbreeding natural populations reproductively isolated from all others. Dominant in zoology; inapplicable to asexuals and fossils.</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16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 — Classification</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§1.8 Why the Species Problem Cannot Be Resolved</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Species Are Real — and Were Produced by a Continuous Process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At any moment: species are discrete, real, non-interbreeding units — the BSC captures this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Across time: the process producing species is gradual and continuous — no sharp boundary exists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Two populations diverging are simultaneously "same species" and "not yet different species"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species problem is not a failure of biology — it is a consequence of asking a discrete question about a continuous process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Analogy: "When does a child become an adult?" — real categories, no sharp boundary in the process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Every species concept captures a different aspect of this same fundamental reality</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Single population</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Geographic isolation</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Divergence begins</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Partial isolation</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Full species</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 xml:space="preserve">Species Problem: </a:t>
            </a:r>
            <a:pPr indent="0" marL="0">
              <a:buNone/>
            </a:pPr>
            <a:r>
              <a:rPr lang="en-US" sz="1100" dirty="0">
                <a:solidFill>
                  <a:srgbClr val="F4F1EC"/>
                </a:solidFill>
                <a:latin typeface="Calibri" pitchFamily="34" charset="0"/>
                <a:ea typeface="Calibri" pitchFamily="34" charset="-122"/>
                <a:cs typeface="Calibri" pitchFamily="34" charset="-120"/>
              </a:rPr>
              <a:t>The unresolved difficulty of defining species in a way that is both theoretically satisfying and universally applicable — arising because species are discrete at any moment but produced by a continuous evolutionary process.</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17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 — Classification</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§1.9 Scale in Classification</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From Varieties to Domains: A Continuous Spectrum</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Variety/cultivar: genetically distinct but freely interbreeding within a species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Subspecies: geographically isolated, morphologically distinct — intergrading at boundaries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Species: reproductively isolated (under BSC) — the fundamental unit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Genus/Family/Order/Class/Phylum/Kingdom/Domain: successively older common ancestors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boundaries between these categories are conventions, not biological boundaries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Scale matters: what looks like variation at one scale looks like speciation at another</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2D5A3D"/>
            </a:solidFill>
            <a:prstDash val="solid"/>
          </a:ln>
        </p:spPr>
      </p:sp>
      <p:sp>
        <p:nvSpPr>
          <p:cNvPr id="8" name="Shape 6"/>
          <p:cNvSpPr/>
          <p:nvPr/>
        </p:nvSpPr>
        <p:spPr>
          <a:xfrm>
            <a:off x="5212080" y="1097280"/>
            <a:ext cx="3566160" cy="328041"/>
          </a:xfrm>
          <a:prstGeom prst="rect">
            <a:avLst/>
          </a:prstGeom>
          <a:solidFill>
            <a:srgbClr val="C8791E"/>
          </a:solidFill>
          <a:ln w="12700">
            <a:solidFill>
              <a:srgbClr val="000000"/>
            </a:solidFill>
            <a:prstDash val="solid"/>
          </a:ln>
        </p:spPr>
      </p:sp>
      <p:sp>
        <p:nvSpPr>
          <p:cNvPr id="9" name="Text 7"/>
          <p:cNvSpPr/>
          <p:nvPr/>
        </p:nvSpPr>
        <p:spPr>
          <a:xfrm>
            <a:off x="5212080" y="1097280"/>
            <a:ext cx="3566160" cy="328041"/>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Domain</a:t>
            </a:r>
            <a:endParaRPr lang="en-US" sz="1000" dirty="0"/>
          </a:p>
        </p:txBody>
      </p:sp>
      <p:sp>
        <p:nvSpPr>
          <p:cNvPr id="10" name="Shape 8"/>
          <p:cNvSpPr/>
          <p:nvPr/>
        </p:nvSpPr>
        <p:spPr>
          <a:xfrm>
            <a:off x="5276088" y="1497330"/>
            <a:ext cx="3438144" cy="328041"/>
          </a:xfrm>
          <a:prstGeom prst="rect">
            <a:avLst/>
          </a:prstGeom>
          <a:solidFill>
            <a:srgbClr val="2D5A3D"/>
          </a:solidFill>
          <a:ln w="12700">
            <a:solidFill>
              <a:srgbClr val="000000"/>
            </a:solidFill>
            <a:prstDash val="solid"/>
          </a:ln>
        </p:spPr>
      </p:sp>
      <p:sp>
        <p:nvSpPr>
          <p:cNvPr id="11" name="Text 9"/>
          <p:cNvSpPr/>
          <p:nvPr/>
        </p:nvSpPr>
        <p:spPr>
          <a:xfrm>
            <a:off x="5276088" y="1497330"/>
            <a:ext cx="3438144" cy="328041"/>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Kingdom</a:t>
            </a:r>
            <a:endParaRPr lang="en-US" sz="1000" dirty="0"/>
          </a:p>
        </p:txBody>
      </p:sp>
      <p:sp>
        <p:nvSpPr>
          <p:cNvPr id="12" name="Shape 10"/>
          <p:cNvSpPr/>
          <p:nvPr/>
        </p:nvSpPr>
        <p:spPr>
          <a:xfrm>
            <a:off x="5340096" y="1897380"/>
            <a:ext cx="3310128" cy="328041"/>
          </a:xfrm>
          <a:prstGeom prst="rect">
            <a:avLst/>
          </a:prstGeom>
          <a:solidFill>
            <a:srgbClr val="3D7A52"/>
          </a:solidFill>
          <a:ln w="12700">
            <a:solidFill>
              <a:srgbClr val="000000"/>
            </a:solidFill>
            <a:prstDash val="solid"/>
          </a:ln>
        </p:spPr>
      </p:sp>
      <p:sp>
        <p:nvSpPr>
          <p:cNvPr id="13" name="Text 11"/>
          <p:cNvSpPr/>
          <p:nvPr/>
        </p:nvSpPr>
        <p:spPr>
          <a:xfrm>
            <a:off x="5340096" y="1897380"/>
            <a:ext cx="3310128" cy="328041"/>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Phylum</a:t>
            </a:r>
            <a:endParaRPr lang="en-US" sz="1000" dirty="0"/>
          </a:p>
        </p:txBody>
      </p:sp>
      <p:sp>
        <p:nvSpPr>
          <p:cNvPr id="14" name="Shape 12"/>
          <p:cNvSpPr/>
          <p:nvPr/>
        </p:nvSpPr>
        <p:spPr>
          <a:xfrm>
            <a:off x="5404104" y="2297430"/>
            <a:ext cx="3182112" cy="328041"/>
          </a:xfrm>
          <a:prstGeom prst="rect">
            <a:avLst/>
          </a:prstGeom>
          <a:solidFill>
            <a:srgbClr val="4A8C60"/>
          </a:solidFill>
          <a:ln w="12700">
            <a:solidFill>
              <a:srgbClr val="000000"/>
            </a:solidFill>
            <a:prstDash val="solid"/>
          </a:ln>
        </p:spPr>
      </p:sp>
      <p:sp>
        <p:nvSpPr>
          <p:cNvPr id="15" name="Text 13"/>
          <p:cNvSpPr/>
          <p:nvPr/>
        </p:nvSpPr>
        <p:spPr>
          <a:xfrm>
            <a:off x="5404104" y="2297430"/>
            <a:ext cx="3182112" cy="328041"/>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Class</a:t>
            </a:r>
            <a:endParaRPr lang="en-US" sz="1000" dirty="0"/>
          </a:p>
        </p:txBody>
      </p:sp>
      <p:sp>
        <p:nvSpPr>
          <p:cNvPr id="16" name="Shape 14"/>
          <p:cNvSpPr/>
          <p:nvPr/>
        </p:nvSpPr>
        <p:spPr>
          <a:xfrm>
            <a:off x="5468112" y="2697480"/>
            <a:ext cx="3054096" cy="328041"/>
          </a:xfrm>
          <a:prstGeom prst="rect">
            <a:avLst/>
          </a:prstGeom>
          <a:solidFill>
            <a:srgbClr val="5A9C70"/>
          </a:solidFill>
          <a:ln w="12700">
            <a:solidFill>
              <a:srgbClr val="000000"/>
            </a:solidFill>
            <a:prstDash val="solid"/>
          </a:ln>
        </p:spPr>
      </p:sp>
      <p:sp>
        <p:nvSpPr>
          <p:cNvPr id="17" name="Text 15"/>
          <p:cNvSpPr/>
          <p:nvPr/>
        </p:nvSpPr>
        <p:spPr>
          <a:xfrm>
            <a:off x="5468112" y="2697480"/>
            <a:ext cx="3054096" cy="328041"/>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Order</a:t>
            </a:r>
            <a:endParaRPr lang="en-US" sz="1000" dirty="0"/>
          </a:p>
        </p:txBody>
      </p:sp>
      <p:sp>
        <p:nvSpPr>
          <p:cNvPr id="18" name="Shape 16"/>
          <p:cNvSpPr/>
          <p:nvPr/>
        </p:nvSpPr>
        <p:spPr>
          <a:xfrm>
            <a:off x="5532120" y="3097530"/>
            <a:ext cx="2926080" cy="328041"/>
          </a:xfrm>
          <a:prstGeom prst="rect">
            <a:avLst/>
          </a:prstGeom>
          <a:solidFill>
            <a:srgbClr val="6AAC80"/>
          </a:solidFill>
          <a:ln w="12700">
            <a:solidFill>
              <a:srgbClr val="000000"/>
            </a:solidFill>
            <a:prstDash val="solid"/>
          </a:ln>
        </p:spPr>
      </p:sp>
      <p:sp>
        <p:nvSpPr>
          <p:cNvPr id="19" name="Text 17"/>
          <p:cNvSpPr/>
          <p:nvPr/>
        </p:nvSpPr>
        <p:spPr>
          <a:xfrm>
            <a:off x="5532120" y="3097530"/>
            <a:ext cx="2926080" cy="328041"/>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Family</a:t>
            </a:r>
            <a:endParaRPr lang="en-US" sz="1000" dirty="0"/>
          </a:p>
        </p:txBody>
      </p:sp>
      <p:sp>
        <p:nvSpPr>
          <p:cNvPr id="20" name="Shape 18"/>
          <p:cNvSpPr/>
          <p:nvPr/>
        </p:nvSpPr>
        <p:spPr>
          <a:xfrm>
            <a:off x="5596128" y="3497580"/>
            <a:ext cx="2798064" cy="328041"/>
          </a:xfrm>
          <a:prstGeom prst="rect">
            <a:avLst/>
          </a:prstGeom>
          <a:solidFill>
            <a:srgbClr val="7ABC90"/>
          </a:solidFill>
          <a:ln w="12700">
            <a:solidFill>
              <a:srgbClr val="000000"/>
            </a:solidFill>
            <a:prstDash val="solid"/>
          </a:ln>
        </p:spPr>
      </p:sp>
      <p:sp>
        <p:nvSpPr>
          <p:cNvPr id="21" name="Text 19"/>
          <p:cNvSpPr/>
          <p:nvPr/>
        </p:nvSpPr>
        <p:spPr>
          <a:xfrm>
            <a:off x="5596128" y="3497580"/>
            <a:ext cx="2798064" cy="328041"/>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Genus</a:t>
            </a:r>
            <a:endParaRPr lang="en-US" sz="1000" dirty="0"/>
          </a:p>
        </p:txBody>
      </p:sp>
      <p:sp>
        <p:nvSpPr>
          <p:cNvPr id="22" name="Shape 20"/>
          <p:cNvSpPr/>
          <p:nvPr/>
        </p:nvSpPr>
        <p:spPr>
          <a:xfrm>
            <a:off x="5660136" y="3897630"/>
            <a:ext cx="2670048" cy="328041"/>
          </a:xfrm>
          <a:prstGeom prst="rect">
            <a:avLst/>
          </a:prstGeom>
          <a:solidFill>
            <a:srgbClr val="3D8C7A"/>
          </a:solidFill>
          <a:ln w="12700">
            <a:solidFill>
              <a:srgbClr val="000000"/>
            </a:solidFill>
            <a:prstDash val="solid"/>
          </a:ln>
        </p:spPr>
      </p:sp>
      <p:sp>
        <p:nvSpPr>
          <p:cNvPr id="23" name="Text 21"/>
          <p:cNvSpPr/>
          <p:nvPr/>
        </p:nvSpPr>
        <p:spPr>
          <a:xfrm>
            <a:off x="5660136" y="3897630"/>
            <a:ext cx="2670048" cy="328041"/>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Species</a:t>
            </a:r>
            <a:endParaRPr lang="en-US" sz="1000" dirty="0"/>
          </a:p>
        </p:txBody>
      </p:sp>
      <p:sp>
        <p:nvSpPr>
          <p:cNvPr id="24" name="Shape 22"/>
          <p:cNvSpPr/>
          <p:nvPr/>
        </p:nvSpPr>
        <p:spPr>
          <a:xfrm>
            <a:off x="274320" y="4297680"/>
            <a:ext cx="8595360" cy="621792"/>
          </a:xfrm>
          <a:prstGeom prst="rect">
            <a:avLst/>
          </a:prstGeom>
          <a:solidFill>
            <a:srgbClr val="1C2B1E"/>
          </a:solidFill>
          <a:ln w="12700">
            <a:solidFill>
              <a:srgbClr val="1C2B1E"/>
            </a:solidFill>
            <a:prstDash val="solid"/>
          </a:ln>
        </p:spPr>
      </p:sp>
      <p:sp>
        <p:nvSpPr>
          <p:cNvPr id="25" name="Text 23"/>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 xml:space="preserve">Subspecies: </a:t>
            </a:r>
            <a:pPr indent="0" marL="0">
              <a:buNone/>
            </a:pPr>
            <a:r>
              <a:rPr lang="en-US" sz="1100" dirty="0">
                <a:solidFill>
                  <a:srgbClr val="F4F1EC"/>
                </a:solidFill>
                <a:latin typeface="Calibri" pitchFamily="34" charset="0"/>
                <a:ea typeface="Calibri" pitchFamily="34" charset="-122"/>
                <a:cs typeface="Calibri" pitchFamily="34" charset="-120"/>
              </a:rPr>
              <a:t>A geographically bounded, morphologically distinct population of a species that intergrades with other populations of the same species at its geographic boundary. The lowest formally named rank under the ICZN.</a:t>
            </a:r>
            <a:endParaRPr lang="en-US" sz="1100" dirty="0"/>
          </a:p>
        </p:txBody>
      </p:sp>
      <p:sp>
        <p:nvSpPr>
          <p:cNvPr id="26" name="Text 24"/>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18 / 99</a:t>
            </a:r>
            <a:endParaRPr lang="en-US" sz="900" dirty="0"/>
          </a:p>
        </p:txBody>
      </p:sp>
      <p:sp>
        <p:nvSpPr>
          <p:cNvPr id="27" name="Text 25"/>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 — Classification</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§1.3–1.9 Convergence: The Major Classification Hazard</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Convergent Evolution — Pervasive and Misleading</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Convergence: independent evolution of similar features under similar selection pressures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Streamlined body form: dolphins (mammal), ichthyosaurs (reptile), tuna (fish) — three independent origins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Camera eyes: vertebrates and cephalopods (octopus) — completely independent structural development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Colonial sociality: honey bees, army ants, termites — all evolved independently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Convergence is NOT rare — it is the rule whenever the same ecological problem has the same structural solution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Every classification decision requires testing: is this similarity homology or convergence?</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HOMOPLASY EXAMPLES</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Dolphin + ichthyosaur fins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Vertebrate + cephalopod eyes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Bat + bird + insect wings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Mole + golden mole forelimbs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Cactus + euphorb succulents</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HOW TO DETECT</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Examine developmental origin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Compare internal structure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Check molecular phylogeny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Look for shared derived characters vs shared function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If function = same, origin = different → analogy</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 xml:space="preserve">Convergent Evolution: </a:t>
            </a:r>
            <a:pPr indent="0" marL="0">
              <a:buNone/>
            </a:pPr>
            <a:r>
              <a:rPr lang="en-US" sz="1100" dirty="0">
                <a:solidFill>
                  <a:srgbClr val="F4F1EC"/>
                </a:solidFill>
                <a:latin typeface="Calibri" pitchFamily="34" charset="0"/>
                <a:ea typeface="Calibri" pitchFamily="34" charset="-122"/>
                <a:cs typeface="Calibri" pitchFamily="34" charset="-120"/>
              </a:rPr>
              <a:t>The independent evolution of similar features in unrelated lineages under similar selection pressures. Produces analogous structures. A major source of error in classification if mistaken for homology.</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19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 — Classification</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§1.7 Taxonomic Publications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Four Types of Taxonomic Publication</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(1) SPECIES DESCRIPTION: new name + diagnosis + type designation + description — minimum valid contribution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(2) TAXONOMIC REVISION: all known species in a group — key, synonymy, redescriptions, updated classification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(3) MONOGRAPH: revision + biogeography + ecology + evolutionary context — most comprehensive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(4) CHECKLIST / FAUNAL SURVEY: species inventory for a geographic area — without redescriptions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Each type feeds the others: checklists identify gaps → descriptions fill them → revisions synthesise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Together they form the cumulative, public, correctable infrastructure of systematics</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2D5A3D"/>
            </a:solidFill>
            <a:prstDash val="solid"/>
          </a:ln>
        </p:spPr>
      </p:sp>
      <p:sp>
        <p:nvSpPr>
          <p:cNvPr id="8" name="Shape 6"/>
          <p:cNvSpPr/>
          <p:nvPr/>
        </p:nvSpPr>
        <p:spPr>
          <a:xfrm>
            <a:off x="5212080" y="1097280"/>
            <a:ext cx="3566160" cy="656082"/>
          </a:xfrm>
          <a:prstGeom prst="rect">
            <a:avLst/>
          </a:prstGeom>
          <a:solidFill>
            <a:srgbClr val="C8791E"/>
          </a:solidFill>
          <a:ln w="12700">
            <a:solidFill>
              <a:srgbClr val="000000"/>
            </a:solidFill>
            <a:prstDash val="solid"/>
          </a:ln>
        </p:spPr>
      </p:sp>
      <p:sp>
        <p:nvSpPr>
          <p:cNvPr id="9" name="Text 7"/>
          <p:cNvSpPr/>
          <p:nvPr/>
        </p:nvSpPr>
        <p:spPr>
          <a:xfrm>
            <a:off x="5212080" y="1097280"/>
            <a:ext cx="3566160" cy="65608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Monograph</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(most comprehensive)</a:t>
            </a:r>
            <a:endParaRPr lang="en-US" sz="1000" dirty="0"/>
          </a:p>
        </p:txBody>
      </p:sp>
      <p:sp>
        <p:nvSpPr>
          <p:cNvPr id="10" name="Shape 8"/>
          <p:cNvSpPr/>
          <p:nvPr/>
        </p:nvSpPr>
        <p:spPr>
          <a:xfrm>
            <a:off x="5276088" y="1897380"/>
            <a:ext cx="3438144" cy="656082"/>
          </a:xfrm>
          <a:prstGeom prst="rect">
            <a:avLst/>
          </a:prstGeom>
          <a:solidFill>
            <a:srgbClr val="2D5A3D"/>
          </a:solidFill>
          <a:ln w="12700">
            <a:solidFill>
              <a:srgbClr val="000000"/>
            </a:solidFill>
            <a:prstDash val="solid"/>
          </a:ln>
        </p:spPr>
      </p:sp>
      <p:sp>
        <p:nvSpPr>
          <p:cNvPr id="11" name="Text 9"/>
          <p:cNvSpPr/>
          <p:nvPr/>
        </p:nvSpPr>
        <p:spPr>
          <a:xfrm>
            <a:off x="5276088" y="1897380"/>
            <a:ext cx="3438144" cy="65608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Taxonomic Revision</a:t>
            </a:r>
            <a:endParaRPr lang="en-US" sz="1000" dirty="0"/>
          </a:p>
        </p:txBody>
      </p:sp>
      <p:sp>
        <p:nvSpPr>
          <p:cNvPr id="12" name="Shape 10"/>
          <p:cNvSpPr/>
          <p:nvPr/>
        </p:nvSpPr>
        <p:spPr>
          <a:xfrm>
            <a:off x="5340096" y="2697480"/>
            <a:ext cx="3310128" cy="656082"/>
          </a:xfrm>
          <a:prstGeom prst="rect">
            <a:avLst/>
          </a:prstGeom>
          <a:solidFill>
            <a:srgbClr val="3D7A52"/>
          </a:solidFill>
          <a:ln w="12700">
            <a:solidFill>
              <a:srgbClr val="000000"/>
            </a:solidFill>
            <a:prstDash val="solid"/>
          </a:ln>
        </p:spPr>
      </p:sp>
      <p:sp>
        <p:nvSpPr>
          <p:cNvPr id="13" name="Text 11"/>
          <p:cNvSpPr/>
          <p:nvPr/>
        </p:nvSpPr>
        <p:spPr>
          <a:xfrm>
            <a:off x="5340096" y="2697480"/>
            <a:ext cx="3310128" cy="65608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Species Description</a:t>
            </a:r>
            <a:endParaRPr lang="en-US" sz="1000" dirty="0"/>
          </a:p>
        </p:txBody>
      </p:sp>
      <p:sp>
        <p:nvSpPr>
          <p:cNvPr id="14" name="Shape 12"/>
          <p:cNvSpPr/>
          <p:nvPr/>
        </p:nvSpPr>
        <p:spPr>
          <a:xfrm>
            <a:off x="5404104" y="3497580"/>
            <a:ext cx="3182112" cy="656082"/>
          </a:xfrm>
          <a:prstGeom prst="rect">
            <a:avLst/>
          </a:prstGeom>
          <a:solidFill>
            <a:srgbClr val="4A8C60"/>
          </a:solidFill>
          <a:ln w="12700">
            <a:solidFill>
              <a:srgbClr val="000000"/>
            </a:solidFill>
            <a:prstDash val="solid"/>
          </a:ln>
        </p:spPr>
      </p:sp>
      <p:sp>
        <p:nvSpPr>
          <p:cNvPr id="15" name="Text 13"/>
          <p:cNvSpPr/>
          <p:nvPr/>
        </p:nvSpPr>
        <p:spPr>
          <a:xfrm>
            <a:off x="5404104" y="3497580"/>
            <a:ext cx="3182112" cy="65608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Checklist / Survey</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(least comprehensive)</a:t>
            </a:r>
            <a:endParaRPr lang="en-US" sz="1000" dirty="0"/>
          </a:p>
        </p:txBody>
      </p:sp>
      <p:sp>
        <p:nvSpPr>
          <p:cNvPr id="16" name="Shape 14"/>
          <p:cNvSpPr/>
          <p:nvPr/>
        </p:nvSpPr>
        <p:spPr>
          <a:xfrm>
            <a:off x="274320" y="4297680"/>
            <a:ext cx="8595360" cy="621792"/>
          </a:xfrm>
          <a:prstGeom prst="rect">
            <a:avLst/>
          </a:prstGeom>
          <a:solidFill>
            <a:srgbClr val="1C2B1E"/>
          </a:solidFill>
          <a:ln w="12700">
            <a:solidFill>
              <a:srgbClr val="1C2B1E"/>
            </a:solidFill>
            <a:prstDash val="solid"/>
          </a:ln>
        </p:spPr>
      </p:sp>
      <p:sp>
        <p:nvSpPr>
          <p:cNvPr id="17" name="Text 15"/>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 xml:space="preserve">Taxonomic Revision: </a:t>
            </a:r>
            <a:pPr indent="0" marL="0">
              <a:buNone/>
            </a:pPr>
            <a:r>
              <a:rPr lang="en-US" sz="1100" dirty="0">
                <a:solidFill>
                  <a:srgbClr val="F4F1EC"/>
                </a:solidFill>
                <a:latin typeface="Calibri" pitchFamily="34" charset="0"/>
                <a:ea typeface="Calibri" pitchFamily="34" charset="-122"/>
                <a:cs typeface="Calibri" pitchFamily="34" charset="-120"/>
              </a:rPr>
              <a:t>A publication re-examining all known species in a group: establishing correct names, synonymies, and relationships, with a dichotomous key and updated descriptions. The most comprehensive regular contribution to a group's taxonomy.</a:t>
            </a:r>
            <a:endParaRPr lang="en-US" sz="1100" dirty="0"/>
          </a:p>
        </p:txBody>
      </p:sp>
      <p:sp>
        <p:nvSpPr>
          <p:cNvPr id="18" name="Text 16"/>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20 / 99</a:t>
            </a:r>
            <a:endParaRPr lang="en-US" sz="900" dirty="0"/>
          </a:p>
        </p:txBody>
      </p:sp>
      <p:sp>
        <p:nvSpPr>
          <p:cNvPr id="19" name="Text 17"/>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 — Classification</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§1.7 Numerical Taxonomy and Its Limits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Numerical Taxonomy: Why Equal Weighting Is Not Neutral</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Sneath &amp; Sokal (1973): use many characters, weight them all equally, cluster mathematically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Aspiration: make classification objective by removing subjective character weighting</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Product: a phenogram — a tree based on overall similarity, not evolutionary history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Fatal flaw: ancestral characters (plesiomorphies) are weighted equally with derived ones (synapomorphies)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Overall similarity ≠ evolutionary history — phenograms can group convergent taxa together</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 phenogram of sharks and dolphins would group them by body shape, not by ancestry</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PHENOGRAM</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Based on overall similarity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All characters equal weight</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Reproducible given same data</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May group convergent taxa</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No evolutionary direction</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CLADOGRAM</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Based on synapomorphies only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Derived characters prioritised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Represents branching history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Tests evolutionary hypotheses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Directional — roots have meaning</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 xml:space="preserve">Phenogram: </a:t>
            </a:r>
            <a:pPr indent="0" marL="0">
              <a:buNone/>
            </a:pPr>
            <a:r>
              <a:rPr lang="en-US" sz="1100" dirty="0">
                <a:solidFill>
                  <a:srgbClr val="F4F1EC"/>
                </a:solidFill>
                <a:latin typeface="Calibri" pitchFamily="34" charset="0"/>
                <a:ea typeface="Calibri" pitchFamily="34" charset="-122"/>
                <a:cs typeface="Calibri" pitchFamily="34" charset="-120"/>
              </a:rPr>
              <a:t>A tree produced by numerical taxonomy based on overall character similarity — may not reflect evolutionary history because it treats all characters as equally informative.</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21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 — Classification</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§1.7 Identification Keys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The Dichotomous Key as Decision Tree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 key is a binary decision tree: at each couplet, two mutually exclusive character states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Select the applicable state → directed to next couplet or terminal identification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Reaching a name in a key is a PROVISIONAL identification — a hypothesis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Must verify against the original published description and, ideally, type material images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Keys go out of date as new species are described and distributions expand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 key written for Western Ghats moths cannot identify an Odisha species not in its scope</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Couplet 1 (Char A vs B)</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Couplet 2 (Char C vs D)</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Couplet 3 (Char E vs F)</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Terminal ID reached</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Verify vs Description</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 xml:space="preserve">Dichotomous Key: </a:t>
            </a:r>
            <a:pPr indent="0" marL="0">
              <a:buNone/>
            </a:pPr>
            <a:r>
              <a:rPr lang="en-US" sz="1100" dirty="0">
                <a:solidFill>
                  <a:srgbClr val="F4F1EC"/>
                </a:solidFill>
                <a:latin typeface="Calibri" pitchFamily="34" charset="0"/>
                <a:ea typeface="Calibri" pitchFamily="34" charset="-122"/>
                <a:cs typeface="Calibri" pitchFamily="34" charset="-120"/>
              </a:rPr>
              <a:t>An identification tool using paired contrasting character statements. Correct selection at each couplet leads to a terminal identification — which is a provisional hypothesis, not a confirmed result.</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22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 — Classification</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D8C7A"/>
          </a:solidFill>
          <a:ln w="12700">
            <a:solidFill>
              <a:srgbClr val="3D8C7A"/>
            </a:solidFill>
            <a:prstDash val="solid"/>
          </a:ln>
        </p:spPr>
      </p:sp>
      <p:sp>
        <p:nvSpPr>
          <p:cNvPr id="3" name="Text 1"/>
          <p:cNvSpPr/>
          <p:nvPr/>
        </p:nvSpPr>
        <p:spPr>
          <a:xfrm>
            <a:off x="457200" y="1645920"/>
            <a:ext cx="8229600" cy="1371600"/>
          </a:xfrm>
          <a:prstGeom prst="rect">
            <a:avLst/>
          </a:prstGeom>
          <a:noFill/>
          <a:ln/>
        </p:spPr>
        <p:txBody>
          <a:bodyPr wrap="square" rtlCol="0" anchor="ctr"/>
          <a:lstStyle/>
          <a:p>
            <a:pPr algn="ctr" indent="0" marL="0">
              <a:buNone/>
            </a:pPr>
            <a:r>
              <a:rPr lang="en-US" sz="4400" b="1" dirty="0">
                <a:solidFill>
                  <a:srgbClr val="F4F1EC"/>
                </a:solidFill>
                <a:latin typeface="Georgia" pitchFamily="34" charset="0"/>
                <a:ea typeface="Georgia" pitchFamily="34" charset="-122"/>
                <a:cs typeface="Georgia" pitchFamily="34" charset="-120"/>
              </a:rPr>
              <a:t>Questions &amp; Answers</a:t>
            </a:r>
            <a:endParaRPr lang="en-US" sz="4400" dirty="0"/>
          </a:p>
        </p:txBody>
      </p:sp>
      <p:sp>
        <p:nvSpPr>
          <p:cNvPr id="4" name="Text 2"/>
          <p:cNvSpPr/>
          <p:nvPr/>
        </p:nvSpPr>
        <p:spPr>
          <a:xfrm>
            <a:off x="457200" y="3017520"/>
            <a:ext cx="8229600" cy="457200"/>
          </a:xfrm>
          <a:prstGeom prst="rect">
            <a:avLst/>
          </a:prstGeom>
          <a:noFill/>
          <a:ln/>
        </p:spPr>
        <p:txBody>
          <a:bodyPr wrap="square" rtlCol="0" anchor="ctr"/>
          <a:lstStyle/>
          <a:p>
            <a:pPr algn="ctr" indent="0" marL="0">
              <a:buNone/>
            </a:pPr>
            <a:r>
              <a:rPr lang="en-US" sz="1600" i="1" dirty="0">
                <a:solidFill>
                  <a:srgbClr val="8FA898"/>
                </a:solidFill>
                <a:latin typeface="Calibri" pitchFamily="34" charset="0"/>
                <a:ea typeface="Calibri" pitchFamily="34" charset="-122"/>
                <a:cs typeface="Calibri" pitchFamily="34" charset="-120"/>
              </a:rPr>
              <a:t>Thinking-type questions — discuss before turning to the answer slide</a:t>
            </a:r>
            <a:endParaRPr lang="en-US" sz="1600" dirty="0"/>
          </a:p>
        </p:txBody>
      </p:sp>
      <p:sp>
        <p:nvSpPr>
          <p:cNvPr id="5" name="Text 3"/>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 — Classification</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1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Analysis — Bloom's L4</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A student notices that dolphins and sharks have nearly identical streamlined body shapes and large tail fins. She argues they should be placed in the same taxonomic group. Identify the logical error in this argument. What type of similarity are the shared features, and what kind of evidence would a cladist require to correctly classify these two animals?</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 xml:space="preserve">Think:  </a:t>
            </a:r>
            <a:pPr indent="0" marL="0">
              <a:buNone/>
            </a:pPr>
            <a:r>
              <a:rPr lang="en-US" sz="1200" dirty="0">
                <a:solidFill>
                  <a:srgbClr val="F4F1EC"/>
                </a:solidFill>
                <a:latin typeface="Calibri" pitchFamily="34" charset="0"/>
                <a:ea typeface="Calibri" pitchFamily="34" charset="-122"/>
                <a:cs typeface="Calibri" pitchFamily="34" charset="-120"/>
              </a:rPr>
              <a:t>What is the difference between a shared structure that evolved independently vs one inherited from a common ancestor? Which type is valid classification evidence?</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24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 — Classification</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Q1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A student notices that dolphins and sharks have nearly identical streamlined body shapes and large tail fins. She argues they should be placed in the same taxonomic group. Identify the logical error in this argument. What type of similarity are the shared features, and what kind of evidence would a cladist require to correctly classify these two animals?</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The error is treating analogous similarity as if it were homologous. Dolphins (mammals) and sharks (cartilaginous fishes) last shared a common ancestor over 400 million years ago — their streamlined bodies and tail fins evolved independently in response to the same hydrodynamic selection pressures. This is convergent evolution: same function, different evolutionary origin. Such features are analogous, not homologous, and analogous characters are explicitly not valid evidence for classification because they reflect the environment, not shared ancestry. A cladist would require synapomorphies — shared DERIVED characters inherited from a common ancestor — to establish a grouping. For dolphins, the relevant synapomorphies are Mammalia-level features (hair, endothermy, mammary glands, modified tetrapod skeleton) that sharks entirely lack. The correct classification places dolphins in Mammalia and sharks in Chondrichthyes, reflecting their actual evolutionary relationships, not their ecological convergence.</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25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 — Classification</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2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Analysis — Bloom's L4</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Traditional classification placed lizards, snakes, turtles, crocodilians, and birds in a system where the first four formed "Reptilia" and birds formed "Aves". Molecular phylogenetics now shows that birds are more closely related to crocodilians than crocodilians are to lizards. What type of group is traditional Reptilia? What would a cladist do with it? Draw out the implication for how many valid groups can be recognised from these five lineages.</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 xml:space="preserve">Think:  </a:t>
            </a:r>
            <a:pPr indent="0" marL="0">
              <a:buNone/>
            </a:pPr>
            <a:r>
              <a:rPr lang="en-US" sz="1200" dirty="0">
                <a:solidFill>
                  <a:srgbClr val="F4F1EC"/>
                </a:solidFill>
                <a:latin typeface="Calibri" pitchFamily="34" charset="0"/>
                <a:ea typeface="Calibri" pitchFamily="34" charset="-122"/>
                <a:cs typeface="Calibri" pitchFamily="34" charset="-120"/>
              </a:rPr>
              <a:t>What makes a group valid in modern classification? What do you do when you discover that a traditional group excludes some of its closest relatives?</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26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 — Classification</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Q2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Traditional classification placed lizards, snakes, turtles, crocodilians, and birds in a system where the first four formed "Reptilia" and birds formed "Aves". Molecular phylogenetics now shows that birds are more closely related to crocodilians than crocodilians are to lizards. What type of group is traditional Reptilia? What would a cladist do with it? Draw out the implication for how many valid groups can be recognised from these five lineages.</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Traditional Reptilia is paraphyletic — it includes an ancestor (the last common ancestor of amniotes) and SOME but not ALL of its descendants. Birds are excluded despite being more closely related to crocodilians than lizards are to crocodilians. A paraphyletic group is defined by the ABSENCE of a derived character (feathers, endothermy in birds) rather than by shared derived characters — it is an evolutionary "grade", not a clade. A cladist would dissolve traditional Reptilia as a formal taxonomic name. The valid groups from these five lineages are: (1) Lepidosauria (lizards + snakes) — a real clade with synapomorphies; (2) Testudines (turtles) — a real clade; (3) Archosauria (crocodilians + birds) — a real clade supported by multiple synapomorphies (ankle structure, erect posture, etc.). The former class Aves becomes a subgroup within Archosauria, not a separate class. This is not merely renaming — it represents a fundamentally different claim about evolutionary history.</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27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 — Classification</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3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Application — Bloom's L3</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You are studying a dragonfly and record three characters: (a) it has six legs, (b) it has compound eyes, (c) its wing venation pattern is unique to species of the family Libellulidae. Which character is most useful for classifying this dragonfly WITHIN order Odonata, and why? What are the other two characters called in cladistic terminology, and why are they not useful for the same classification decision?</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 xml:space="preserve">Think:  </a:t>
            </a:r>
            <a:pPr indent="0" marL="0">
              <a:buNone/>
            </a:pPr>
            <a:r>
              <a:rPr lang="en-US" sz="1200" dirty="0">
                <a:solidFill>
                  <a:srgbClr val="F4F1EC"/>
                </a:solidFill>
                <a:latin typeface="Calibri" pitchFamily="34" charset="0"/>
                <a:ea typeface="Calibri" pitchFamily="34" charset="-122"/>
                <a:cs typeface="Calibri" pitchFamily="34" charset="-120"/>
              </a:rPr>
              <a:t>Think about which character is shared by all insects vs. which is shared by a smaller subset. Recall: what term describes a character shared by ALL members of a larger group vs one shared only within a subgroup?</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28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 — Classification</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Q3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You are studying a dragonfly and record three characters: (a) it has six legs, (b) it has compound eyes, (c) its wing venation pattern is unique to species of the family Libellulidae. Which character is most useful for classifying this dragonfly WITHIN order Odonata, and why? What are the other two characters called in cladistic terminology, and why are they not useful for the same classification decision?</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Character (c) — the wing venation pattern unique to Libellulidae — is most useful for classifying this dragonfly within Odonata. It is a synapomorphy: a shared derived character state that defines and is restricted to the family Libellulidae among all Odonata. Characters (a) six legs and (b) compound eyes are plesiomorphies at the level of Odonata — ancestral character states shared by all insects (and in the case of compound eyes, by many arthropods). Plesiomorphic characters are uninformative for distinguishing relationships WITHIN the group because every member of the group has them — they cannot place this dragonfly in Libellulidae rather than Corduliidae or Aeshnidae. In formal cladistic terminology: six legs is a symplesiomorphy at the insect level (shared ancestral character); compound eyes is likewise plesiomorphic within arthropods. The wing venation is an autapomorphy of the family (or a synapomorphy of the species group within the family). Only the synapomorphy correctly identifies the dragonfly's clade.</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29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 — Classification</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4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Application — Bloom's L3 (Odisha Scenario)</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A zoologist collecting near Hirakud reservoir samples two catfish populations: one in slow turbid reaches with normal eyes, one from rocky Sundargarh hill tributaries with vestigial eyes and an adhesive ventral disc. A colleague argues they must be the same species because both share a flattened head and barbels — characters present in all members of the catfish family. Evaluate this reasoning. Which characters should drive the classification decision, and what further data would you collect?</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 xml:space="preserve">Think:  </a:t>
            </a:r>
            <a:pPr indent="0" marL="0">
              <a:buNone/>
            </a:pPr>
            <a:r>
              <a:rPr lang="en-US" sz="1200" dirty="0">
                <a:solidFill>
                  <a:srgbClr val="F4F1EC"/>
                </a:solidFill>
                <a:latin typeface="Calibri" pitchFamily="34" charset="0"/>
                <a:ea typeface="Calibri" pitchFamily="34" charset="-122"/>
                <a:cs typeface="Calibri" pitchFamily="34" charset="-120"/>
              </a:rPr>
              <a:t>Are the shared characters informative at the level of these two populations? What term describes characters shared by all members of a larger group? What would be informative evidence here?</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30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 — Classification</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Q4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A zoologist collecting near Hirakud reservoir samples two catfish populations: one in slow turbid reaches with normal eyes, one from rocky Sundargarh hill tributaries with vestigial eyes and an adhesive ventral disc. A colleague argues they must be the same species because both share a flattened head and barbels — characters present in all members of the catfish family. Evaluate this reasoning. Which characters should drive the classification decision, and what further data would you collect?</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The colleague's reasoning fails because flattened head and barbels are plesiomorphic within catfishes — characters inherited from a distant common ancestor of all members of the family. They are shared by every catfish regardless of species, and therefore cannot distinguish the relationship between these two populations specifically. They are symplesiomorphies at the family level. The potentially informative characters are: (1) Eye reduction — possibly a derived character (apomorphy) in the hill tributary population, but must be tested for convergence (eye reduction evolves independently in cave and fast-water lineages). (2) Adhesive ventral disc — possibly a derived character for adhesion in high-current environments, but similar structures evolved independently in hillstream loaches (Balitoridae) — convergent evolution is a real risk. To reach a classification decision: (a) examine developmental origin of the disc histologically; (b) measure molecular divergence between populations using COI barcoding; (c) test reproductive compatibility in laboratory crosses; (d) examine whether eye reduction is a single derived state or variable within each population. Shared ancestral characters alone cannot demonstrate or deny conspecificity.</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31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 — Classification</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5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Evaluation — Bloom's L5</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Carl Woese proposed replacing the established five-kingdom classification system with a three-domain system based on ribosomal RNA sequences. Many biologists initially resisted this change because it disrupted a well-established and widely taught system. Evaluate the scientific basis for accepting the three-domain system. What does this episode in the history of classification tell us about how good classification should respond to new evidence?</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 xml:space="preserve">Think:  </a:t>
            </a:r>
            <a:pPr indent="0" marL="0">
              <a:buNone/>
            </a:pPr>
            <a:r>
              <a:rPr lang="en-US" sz="1200" dirty="0">
                <a:solidFill>
                  <a:srgbClr val="F4F1EC"/>
                </a:solidFill>
                <a:latin typeface="Calibri" pitchFamily="34" charset="0"/>
                <a:ea typeface="Calibri" pitchFamily="34" charset="-122"/>
                <a:cs typeface="Calibri" pitchFamily="34" charset="-120"/>
              </a:rPr>
              <a:t>What made Woese's evidence compelling? What does the episode reveal about the nature of classification — is it fixed knowledge or a working hypothesis? What makes a revision scientifically justified vs merely different?</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32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 — Classification</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Q5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Carl Woese proposed replacing the established five-kingdom classification system with a three-domain system based on ribosomal RNA sequences. Many biologists initially resisted this change because it disrupted a well-established and widely taught system. Evaluate the scientific basis for accepting the three-domain system. What does this episode in the history of classification tell us about how good classification should respond to new evidence?</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The scientific basis for accepting the three-domain system rests on multiple lines of converging molecular evidence. Woese's rRNA sequencing revealed that the two groups traditionally placed together as Monera — Bacteria and Archaea — are more different from each other at the molecular level than either is from Eukarya. This was a reproducible, quantitative result, confirmed by: (1) 16S rRNA sequences; (2) transcription and translation machinery (Archaea use TATA-box promoters and TFIIB-like factors resembling eukaryotes, unlike bacterial sigma factors); (3) membrane lipid chemistry (Archaea have ether-linked isoprenoid lipids; bacteria and eukarya have ester-linked fatty acids — independently evolved); (4) resistance to antibiotics (archaeal ribosomes, like eukaryotic ones, are insensitive to chloramphenicol and streptomycin). The convergence of multiple independent lines of evidence on the same conclusion — that Monera is paraphyletic and Archaea are a distinct domain — is what makes the revision scientifically compelling rather than merely novel. The episode illustrates three principles about classification: (1) Classification is a hypothesis about evolutionary history, not a fact — it is explicitly revisable when new evidence demands it. (2) The standard for revising a classification is evidence quality, not convention or convenience — a hundred years of a wrong classification does not make it right. (3) Resistance to a well-evidenced revision based on tradition or pedagogical inconvenience is not a scientific argument. The three-domain case is a model of how taxonomy should function: new molecular evidence was gathered, the paraphyly of Monera was demonstrated beyond reasonable doubt, and the classification was revised accordingly.</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33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 — Classification</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E8F0EB"/>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B85A1A"/>
          </a:solidFill>
          <a:ln w="12700">
            <a:solidFill>
              <a:srgbClr val="B85A1A"/>
            </a:solidFill>
            <a:prstDash val="solid"/>
          </a:ln>
        </p:spPr>
      </p:sp>
      <p:sp>
        <p:nvSpPr>
          <p:cNvPr id="3" name="Text 1"/>
          <p:cNvSpPr/>
          <p:nvPr/>
        </p:nvSpPr>
        <p:spPr>
          <a:xfrm>
            <a:off x="274320" y="0"/>
            <a:ext cx="8595360" cy="50292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  Common Misconceptions</a:t>
            </a:r>
            <a:endParaRPr lang="en-US" sz="2000" dirty="0"/>
          </a:p>
        </p:txBody>
      </p:sp>
      <p:sp>
        <p:nvSpPr>
          <p:cNvPr id="4" name="Shape 2"/>
          <p:cNvSpPr/>
          <p:nvPr/>
        </p:nvSpPr>
        <p:spPr>
          <a:xfrm>
            <a:off x="274320" y="576072"/>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576072"/>
            <a:ext cx="502920" cy="1022985"/>
          </a:xfrm>
          <a:prstGeom prst="rect">
            <a:avLst/>
          </a:prstGeom>
          <a:solidFill>
            <a:srgbClr val="C0392B"/>
          </a:solidFill>
          <a:ln w="12700">
            <a:solidFill>
              <a:srgbClr val="C0392B"/>
            </a:solidFill>
            <a:prstDash val="solid"/>
          </a:ln>
        </p:spPr>
      </p:sp>
      <p:sp>
        <p:nvSpPr>
          <p:cNvPr id="6" name="Text 4"/>
          <p:cNvSpPr/>
          <p:nvPr/>
        </p:nvSpPr>
        <p:spPr>
          <a:xfrm>
            <a:off x="274320" y="576072"/>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822960" y="630936"/>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Higher taxonomic categories (Order, Class) are more real than species.</a:t>
            </a:r>
            <a:endParaRPr lang="en-US" sz="1150" dirty="0"/>
          </a:p>
        </p:txBody>
      </p:sp>
      <p:sp>
        <p:nvSpPr>
          <p:cNvPr id="8" name="Text 6"/>
          <p:cNvSpPr/>
          <p:nvPr/>
        </p:nvSpPr>
        <p:spPr>
          <a:xfrm>
            <a:off x="822960" y="1026185"/>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Only species has a widely accepted biological definition (reproductive isolation under the BSC). Orders and classes are human-imposed conventions whose boundaries vary between authorities. Species are the only rank whose boundaries reflect a biological mechanism rather than taxonomic judgement.</a:t>
            </a:r>
            <a:endParaRPr lang="en-US" sz="1100" dirty="0"/>
          </a:p>
        </p:txBody>
      </p:sp>
      <p:sp>
        <p:nvSpPr>
          <p:cNvPr id="9" name="Shape 7"/>
          <p:cNvSpPr/>
          <p:nvPr/>
        </p:nvSpPr>
        <p:spPr>
          <a:xfrm>
            <a:off x="274320" y="1690497"/>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10" name="Shape 8"/>
          <p:cNvSpPr/>
          <p:nvPr/>
        </p:nvSpPr>
        <p:spPr>
          <a:xfrm>
            <a:off x="274320" y="1690497"/>
            <a:ext cx="502920" cy="1022985"/>
          </a:xfrm>
          <a:prstGeom prst="rect">
            <a:avLst/>
          </a:prstGeom>
          <a:solidFill>
            <a:srgbClr val="C0392B"/>
          </a:solidFill>
          <a:ln w="12700">
            <a:solidFill>
              <a:srgbClr val="C0392B"/>
            </a:solidFill>
            <a:prstDash val="solid"/>
          </a:ln>
        </p:spPr>
      </p:sp>
      <p:sp>
        <p:nvSpPr>
          <p:cNvPr id="11" name="Text 9"/>
          <p:cNvSpPr/>
          <p:nvPr/>
        </p:nvSpPr>
        <p:spPr>
          <a:xfrm>
            <a:off x="274320" y="1690497"/>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822960" y="1745361"/>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Taxonomy is just naming things — it is clerical work, not science.</a:t>
            </a:r>
            <a:endParaRPr lang="en-US" sz="1150" dirty="0"/>
          </a:p>
        </p:txBody>
      </p:sp>
      <p:sp>
        <p:nvSpPr>
          <p:cNvPr id="13" name="Text 11"/>
          <p:cNvSpPr/>
          <p:nvPr/>
        </p:nvSpPr>
        <p:spPr>
          <a:xfrm>
            <a:off x="822960" y="2140610"/>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A species description paper is a scientific argument supported by evidence (morphological measurements, molecular data, comparative analysis with related species). The naming is the final step of a hypothesis-testing process. The hypothesis — that this is a new, distinct natural group — is explicitly testable and has been wrong many times in the history of the discipline.</a:t>
            </a:r>
            <a:endParaRPr lang="en-US" sz="1100" dirty="0"/>
          </a:p>
        </p:txBody>
      </p:sp>
      <p:sp>
        <p:nvSpPr>
          <p:cNvPr id="14" name="Shape 12"/>
          <p:cNvSpPr/>
          <p:nvPr/>
        </p:nvSpPr>
        <p:spPr>
          <a:xfrm>
            <a:off x="274320" y="2804922"/>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274320" y="2804922"/>
            <a:ext cx="502920" cy="1022985"/>
          </a:xfrm>
          <a:prstGeom prst="rect">
            <a:avLst/>
          </a:prstGeom>
          <a:solidFill>
            <a:srgbClr val="C0392B"/>
          </a:solidFill>
          <a:ln w="12700">
            <a:solidFill>
              <a:srgbClr val="C0392B"/>
            </a:solidFill>
            <a:prstDash val="solid"/>
          </a:ln>
        </p:spPr>
      </p:sp>
      <p:sp>
        <p:nvSpPr>
          <p:cNvPr id="16" name="Text 14"/>
          <p:cNvSpPr/>
          <p:nvPr/>
        </p:nvSpPr>
        <p:spPr>
          <a:xfrm>
            <a:off x="274320" y="2804922"/>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822960" y="2859786"/>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Convergent features are rare exceptions in taxonomy, easily spotted and avoided.</a:t>
            </a:r>
            <a:endParaRPr lang="en-US" sz="1150" dirty="0"/>
          </a:p>
        </p:txBody>
      </p:sp>
      <p:sp>
        <p:nvSpPr>
          <p:cNvPr id="18" name="Text 16"/>
          <p:cNvSpPr/>
          <p:nvPr/>
        </p:nvSpPr>
        <p:spPr>
          <a:xfrm>
            <a:off x="822960" y="3255035"/>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Convergence is pervasive — streamlined bodies in dolphins, ichthyosaurs, and tuna; camera eyes in vertebrates and cephalopods; colonial sociality in bees, ants, and termites independently. Convergence arises whenever the same ecological problem has the same optimal structural solution. Distinguishing it from homology requires explicit character-by-character developmental and molecular analysis.</a:t>
            </a:r>
            <a:endParaRPr lang="en-US" sz="1100" dirty="0"/>
          </a:p>
        </p:txBody>
      </p:sp>
      <p:sp>
        <p:nvSpPr>
          <p:cNvPr id="19" name="Shape 17"/>
          <p:cNvSpPr/>
          <p:nvPr/>
        </p:nvSpPr>
        <p:spPr>
          <a:xfrm>
            <a:off x="274320" y="3919347"/>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274320" y="3919347"/>
            <a:ext cx="502920" cy="1022985"/>
          </a:xfrm>
          <a:prstGeom prst="rect">
            <a:avLst/>
          </a:prstGeom>
          <a:solidFill>
            <a:srgbClr val="C0392B"/>
          </a:solidFill>
          <a:ln w="12700">
            <a:solidFill>
              <a:srgbClr val="C0392B"/>
            </a:solidFill>
            <a:prstDash val="solid"/>
          </a:ln>
        </p:spPr>
      </p:sp>
      <p:sp>
        <p:nvSpPr>
          <p:cNvPr id="21" name="Text 19"/>
          <p:cNvSpPr/>
          <p:nvPr/>
        </p:nvSpPr>
        <p:spPr>
          <a:xfrm>
            <a:off x="274320" y="3919347"/>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822960" y="3974211"/>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The three-domain system replaced the five-kingdom system because Woese preferred it.</a:t>
            </a:r>
            <a:endParaRPr lang="en-US" sz="1150" dirty="0"/>
          </a:p>
        </p:txBody>
      </p:sp>
      <p:sp>
        <p:nvSpPr>
          <p:cNvPr id="23" name="Text 21"/>
          <p:cNvSpPr/>
          <p:nvPr/>
        </p:nvSpPr>
        <p:spPr>
          <a:xfrm>
            <a:off x="822960" y="4369460"/>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The three-domain system is based on ribosomal RNA sequence comparisons across hundreds of organisms. Archaea cluster consistently with Eukarya to the exclusion of Bacteria — a result that has been reproduced with every molecular marker subsequently tested. The revision was driven by data, not preference. Monera was paraphyletic — it grouped two deeply different lineages as if they were one.</a:t>
            </a:r>
            <a:endParaRPr lang="en-US" sz="1100" dirty="0"/>
          </a:p>
        </p:txBody>
      </p:sp>
      <p:sp>
        <p:nvSpPr>
          <p:cNvPr id="24" name="Text 22"/>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99 / 99</a:t>
            </a:r>
            <a:endParaRPr lang="en-US" sz="900" dirty="0"/>
          </a:p>
        </p:txBody>
      </p:sp>
      <p:sp>
        <p:nvSpPr>
          <p:cNvPr id="25" name="Text 23"/>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 — Classification</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D7A52"/>
          </a:solidFill>
          <a:ln w="12700">
            <a:solidFill>
              <a:srgbClr val="3D7A52"/>
            </a:solidFill>
            <a:prstDash val="solid"/>
          </a:ln>
        </p:spPr>
      </p:sp>
      <p:sp>
        <p:nvSpPr>
          <p:cNvPr id="3" name="Text 1"/>
          <p:cNvSpPr/>
          <p:nvPr/>
        </p:nvSpPr>
        <p:spPr>
          <a:xfrm>
            <a:off x="274320" y="182880"/>
            <a:ext cx="8595360" cy="502920"/>
          </a:xfrm>
          <a:prstGeom prst="rect">
            <a:avLst/>
          </a:prstGeom>
          <a:noFill/>
          <a:ln/>
        </p:spPr>
        <p:txBody>
          <a:bodyPr wrap="square" rtlCol="0" anchor="ctr"/>
          <a:lstStyle/>
          <a:p>
            <a:pPr indent="0" marL="0">
              <a:buNone/>
            </a:pPr>
            <a:r>
              <a:rPr lang="en-US" sz="2600" b="1" dirty="0">
                <a:solidFill>
                  <a:srgbClr val="F4F1EC"/>
                </a:solidFill>
                <a:latin typeface="Georgia" pitchFamily="34" charset="0"/>
                <a:ea typeface="Georgia" pitchFamily="34" charset="-122"/>
                <a:cs typeface="Georgia" pitchFamily="34" charset="-120"/>
              </a:rPr>
              <a:t>Chapter Summary</a:t>
            </a:r>
            <a:endParaRPr lang="en-US" sz="2600" dirty="0"/>
          </a:p>
        </p:txBody>
      </p:sp>
      <p:sp>
        <p:nvSpPr>
          <p:cNvPr id="4" name="Shape 2"/>
          <p:cNvSpPr/>
          <p:nvPr/>
        </p:nvSpPr>
        <p:spPr>
          <a:xfrm>
            <a:off x="274320" y="822960"/>
            <a:ext cx="292608" cy="384048"/>
          </a:xfrm>
          <a:prstGeom prst="rect">
            <a:avLst/>
          </a:prstGeom>
          <a:solidFill>
            <a:srgbClr val="C8791E"/>
          </a:solidFill>
          <a:ln w="12700">
            <a:solidFill>
              <a:srgbClr val="C8791E"/>
            </a:solidFill>
            <a:prstDash val="solid"/>
          </a:ln>
        </p:spPr>
      </p:sp>
      <p:sp>
        <p:nvSpPr>
          <p:cNvPr id="5" name="Text 3"/>
          <p:cNvSpPr/>
          <p:nvPr/>
        </p:nvSpPr>
        <p:spPr>
          <a:xfrm>
            <a:off x="274320" y="822960"/>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658368" y="822960"/>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Classification is possible because branching evolution produces nested similarity — taxonomy discovers this structure, it does not impose it.</a:t>
            </a:r>
            <a:endParaRPr lang="en-US" sz="1250" dirty="0"/>
          </a:p>
        </p:txBody>
      </p:sp>
      <p:sp>
        <p:nvSpPr>
          <p:cNvPr id="7" name="Shape 5"/>
          <p:cNvSpPr/>
          <p:nvPr/>
        </p:nvSpPr>
        <p:spPr>
          <a:xfrm>
            <a:off x="274320" y="1444752"/>
            <a:ext cx="292608" cy="384048"/>
          </a:xfrm>
          <a:prstGeom prst="rect">
            <a:avLst/>
          </a:prstGeom>
          <a:solidFill>
            <a:srgbClr val="C8791E"/>
          </a:solidFill>
          <a:ln w="12700">
            <a:solidFill>
              <a:srgbClr val="C8791E"/>
            </a:solidFill>
            <a:prstDash val="solid"/>
          </a:ln>
        </p:spPr>
      </p:sp>
      <p:sp>
        <p:nvSpPr>
          <p:cNvPr id="8" name="Text 6"/>
          <p:cNvSpPr/>
          <p:nvPr/>
        </p:nvSpPr>
        <p:spPr>
          <a:xfrm>
            <a:off x="274320" y="1444752"/>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658368" y="1444752"/>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Only homologous characters (especially synapomorphies) are valid evidence for classification; analogous characters produced by convergent evolution mislead groupings.</a:t>
            </a:r>
            <a:endParaRPr lang="en-US" sz="1250" dirty="0"/>
          </a:p>
        </p:txBody>
      </p:sp>
      <p:sp>
        <p:nvSpPr>
          <p:cNvPr id="10" name="Shape 8"/>
          <p:cNvSpPr/>
          <p:nvPr/>
        </p:nvSpPr>
        <p:spPr>
          <a:xfrm>
            <a:off x="274320" y="2066544"/>
            <a:ext cx="292608" cy="384048"/>
          </a:xfrm>
          <a:prstGeom prst="rect">
            <a:avLst/>
          </a:prstGeom>
          <a:solidFill>
            <a:srgbClr val="C8791E"/>
          </a:solidFill>
          <a:ln w="12700">
            <a:solidFill>
              <a:srgbClr val="C8791E"/>
            </a:solidFill>
            <a:prstDash val="solid"/>
          </a:ln>
        </p:spPr>
      </p:sp>
      <p:sp>
        <p:nvSpPr>
          <p:cNvPr id="11" name="Text 9"/>
          <p:cNvSpPr/>
          <p:nvPr/>
        </p:nvSpPr>
        <p:spPr>
          <a:xfrm>
            <a:off x="274320" y="2066544"/>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658368" y="2066544"/>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The Linnaean hierarchy labels nodes in the evolutionary tree — each rank corresponds to a real branching event; higher ranks represent more ancient common ancestors.</a:t>
            </a:r>
            <a:endParaRPr lang="en-US" sz="1250" dirty="0"/>
          </a:p>
        </p:txBody>
      </p:sp>
      <p:sp>
        <p:nvSpPr>
          <p:cNvPr id="13" name="Shape 11"/>
          <p:cNvSpPr/>
          <p:nvPr/>
        </p:nvSpPr>
        <p:spPr>
          <a:xfrm>
            <a:off x="274320" y="2688336"/>
            <a:ext cx="292608" cy="384048"/>
          </a:xfrm>
          <a:prstGeom prst="rect">
            <a:avLst/>
          </a:prstGeom>
          <a:solidFill>
            <a:srgbClr val="C8791E"/>
          </a:solidFill>
          <a:ln w="12700">
            <a:solidFill>
              <a:srgbClr val="C8791E"/>
            </a:solidFill>
            <a:prstDash val="solid"/>
          </a:ln>
        </p:spPr>
      </p:sp>
      <p:sp>
        <p:nvSpPr>
          <p:cNvPr id="14" name="Text 12"/>
          <p:cNvSpPr/>
          <p:nvPr/>
        </p:nvSpPr>
        <p:spPr>
          <a:xfrm>
            <a:off x="274320" y="2688336"/>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658368" y="2688336"/>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The three-domain system (Bacteria, Archaea, Eukarya) replaced five-kingdom classification because molecular data showed Monera was paraphyletic — Archaea are more closely related to Eukarya than to Bacteria.</a:t>
            </a:r>
            <a:endParaRPr lang="en-US" sz="1250" dirty="0"/>
          </a:p>
        </p:txBody>
      </p:sp>
      <p:sp>
        <p:nvSpPr>
          <p:cNvPr id="16" name="Shape 14"/>
          <p:cNvSpPr/>
          <p:nvPr/>
        </p:nvSpPr>
        <p:spPr>
          <a:xfrm>
            <a:off x="274320" y="3310128"/>
            <a:ext cx="292608" cy="384048"/>
          </a:xfrm>
          <a:prstGeom prst="rect">
            <a:avLst/>
          </a:prstGeom>
          <a:solidFill>
            <a:srgbClr val="C8791E"/>
          </a:solidFill>
          <a:ln w="12700">
            <a:solidFill>
              <a:srgbClr val="C8791E"/>
            </a:solidFill>
            <a:prstDash val="solid"/>
          </a:ln>
        </p:spPr>
      </p:sp>
      <p:sp>
        <p:nvSpPr>
          <p:cNvPr id="17" name="Text 15"/>
          <p:cNvSpPr/>
          <p:nvPr/>
        </p:nvSpPr>
        <p:spPr>
          <a:xfrm>
            <a:off x="274320" y="3310128"/>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658368" y="3310128"/>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The species problem is not a failure of biology — it is the inevitable consequence of asking a discrete question (where does one species end and another begin?) about a continuous evolutionary process.</a:t>
            </a:r>
            <a:endParaRPr lang="en-US" sz="1250" dirty="0"/>
          </a:p>
        </p:txBody>
      </p:sp>
      <p:sp>
        <p:nvSpPr>
          <p:cNvPr id="19" name="Shape 17"/>
          <p:cNvSpPr/>
          <p:nvPr/>
        </p:nvSpPr>
        <p:spPr>
          <a:xfrm>
            <a:off x="274320" y="4114800"/>
            <a:ext cx="8595360" cy="804672"/>
          </a:xfrm>
          <a:prstGeom prst="rect">
            <a:avLst/>
          </a:prstGeom>
          <a:solidFill>
            <a:srgbClr val="243228"/>
          </a:solidFill>
          <a:ln w="6350">
            <a:solidFill>
              <a:srgbClr val="2D5A3D"/>
            </a:solidFill>
            <a:prstDash val="solid"/>
          </a:ln>
        </p:spPr>
      </p:sp>
      <p:sp>
        <p:nvSpPr>
          <p:cNvPr id="20" name="Text 18"/>
          <p:cNvSpPr/>
          <p:nvPr/>
        </p:nvSpPr>
        <p:spPr>
          <a:xfrm>
            <a:off x="411480" y="4114800"/>
            <a:ext cx="8412480" cy="804672"/>
          </a:xfrm>
          <a:prstGeom prst="rect">
            <a:avLst/>
          </a:prstGeom>
          <a:noFill/>
          <a:ln/>
        </p:spPr>
        <p:txBody>
          <a:bodyPr wrap="square" rtlCol="0" anchor="ctr"/>
          <a:lstStyle/>
          <a:p>
            <a:pPr indent="0" marL="0">
              <a:buNone/>
            </a:pPr>
            <a:r>
              <a:rPr lang="en-US" sz="1100" b="1" dirty="0">
                <a:solidFill>
                  <a:srgbClr val="8FA898"/>
                </a:solidFill>
                <a:latin typeface="Calibri" pitchFamily="34" charset="0"/>
                <a:ea typeface="Calibri" pitchFamily="34" charset="-122"/>
                <a:cs typeface="Calibri" pitchFamily="34" charset="-120"/>
              </a:rPr>
              <a:t xml:space="preserve">← Builds on: </a:t>
            </a:r>
            <a:pPr indent="0" marL="0">
              <a:buNone/>
            </a:pPr>
            <a:r>
              <a:rPr lang="en-US" sz="1100" dirty="0">
                <a:solidFill>
                  <a:srgbClr val="F4F1EC"/>
                </a:solidFill>
                <a:latin typeface="Calibri" pitchFamily="34" charset="0"/>
                <a:ea typeface="Calibri" pitchFamily="34" charset="-122"/>
                <a:cs typeface="Calibri" pitchFamily="34" charset="-120"/>
              </a:rPr>
              <a:t xml:space="preserve">No prior chapters — this is the foundation of the entire book.   </a:t>
            </a:r>
            <a:pPr indent="0" marL="0">
              <a:buNone/>
            </a:pPr>
            <a:r>
              <a:rPr lang="en-US" sz="1100" b="1" dirty="0">
                <a:solidFill>
                  <a:srgbClr val="C8791E"/>
                </a:solidFill>
                <a:latin typeface="Calibri" pitchFamily="34" charset="0"/>
                <a:ea typeface="Calibri" pitchFamily="34" charset="-122"/>
                <a:cs typeface="Calibri" pitchFamily="34" charset="-120"/>
              </a:rPr>
              <a:t xml:space="preserve">  →  Leads to: </a:t>
            </a:r>
            <a:pPr indent="0" marL="0">
              <a:buNone/>
            </a:pPr>
            <a:r>
              <a:rPr lang="en-US" sz="1100" dirty="0">
                <a:solidFill>
                  <a:srgbClr val="F4F1EC"/>
                </a:solidFill>
                <a:latin typeface="Calibri" pitchFamily="34" charset="0"/>
                <a:ea typeface="Calibri" pitchFamily="34" charset="-122"/>
                <a:cs typeface="Calibri" pitchFamily="34" charset="-120"/>
              </a:rPr>
              <a:t>Ch. 2 (collection and preservation — the practical infrastructure of taxonomy) · Ch. 3 (nomenclature rules — the grammar governing species names) · Ch. 9 (species concepts revisited — speciation mechanisms) · Ch. 10 (phylogenetic tree construction — the quantitative version of this chapter's logic)</a:t>
            </a:r>
            <a:endParaRPr lang="en-US" sz="1100" dirty="0"/>
          </a:p>
        </p:txBody>
      </p:sp>
      <p:sp>
        <p:nvSpPr>
          <p:cNvPr id="21" name="Text 19"/>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99 / 99</a:t>
            </a:r>
            <a:endParaRPr lang="en-US" sz="900" dirty="0"/>
          </a:p>
        </p:txBody>
      </p:sp>
      <p:sp>
        <p:nvSpPr>
          <p:cNvPr id="22" name="Text 20"/>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 — Classification</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9a">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§1.3 Primitive and Derived Characters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Plesiomorphy, Apomorphy, Synapomorphy: Why Direction Matters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PLESIOMORPHY: ancestral character state inherited from a distant common ancestor — shared broadly across a large group</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APOMORPHY: derived character state that evolved from the plesiomorphic condition — present in a subset of the group</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SYNAPOMORPHY: a derived character state SHARED by two or more taxa because they inherited it from a common ancestor</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SYMPLESIOMORPHY: plesiomorphic state shared by ALL members of the group — uninformative about relationships within that group</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AUTAPOMORPHY: a derived state UNIQUE to a single lineage — diagnoses that taxon but does not establish relationships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SAME character can be a synapomorphy at one level and a symplesiomorphy at another — the reference point is the outgroup</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PLESIOMORPHIC EXAMPLE</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Vertebral column within Vertebrata</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Every vertebrate already has it</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Cannot distinguish relationships within group</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 Symplesiomorphy at this level</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UNINFORMATIVE within Vertebrata</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SYNAPOMORPHIC EXAMPLE</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Hair + mammary glands in Mammalia</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Evolved once in the mammalian ancestor</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Absent in all non-mammalian vertebrates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 Synapomorphy that defines Mammalia</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INFORMATIVE within Vertebrata</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 xml:space="preserve">Synapomorphy: </a:t>
            </a:r>
            <a:pPr indent="0" marL="0">
              <a:buNone/>
            </a:pPr>
            <a:r>
              <a:rPr lang="en-US" sz="1100" dirty="0">
                <a:solidFill>
                  <a:srgbClr val="F4F1EC"/>
                </a:solidFill>
                <a:latin typeface="Calibri" pitchFamily="34" charset="0"/>
                <a:ea typeface="Calibri" pitchFamily="34" charset="-122"/>
                <a:cs typeface="Calibri" pitchFamily="34" charset="-120"/>
              </a:rPr>
              <a:t>A shared derived character state inherited by two or more taxa from a common ancestor. The same character can be a synapomorphy at one level of comparison (relative to outgroups) and a symplesiomorphy at another (within the group where all members possess it). Only synapomorphies provide evidence of exclusive common ancestry.</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8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 — Classification</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2026-05-29T05:43:57Z</dcterms:created>
  <dcterms:modified xsi:type="dcterms:W3CDTF">2026-05-29T05:43:57Z</dcterms:modified>
</cp:coreProperties>
</file>