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4</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Before the First Cell</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The Origin of Life and the Eukaryotic Cell</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2 · Theories, Evidences of Evolution and Extinction</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"Life's origin was not a single event but a sequence of chemical transitions, each investigable by experiment. The first cell was not created — it emerged."</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4.1 The Early Earth</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4.2 Chemogeny: From Gases to Organic Molecules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4.3 Polymerisation and Protocells</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4.4 The RNA World</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4.5 Evolution of Eukaryotes: Endosymbiosis</a:t>
            </a:r>
            <a:endParaRPr lang="en-US" sz="1150" dirty="0"/>
          </a:p>
        </p:txBody>
      </p:sp>
      <p:sp>
        <p:nvSpPr>
          <p:cNvPr id="24" name="Shape 22"/>
          <p:cNvSpPr/>
          <p:nvPr/>
        </p:nvSpPr>
        <p:spPr>
          <a:xfrm>
            <a:off x="274320" y="2688336"/>
            <a:ext cx="8595360" cy="566928"/>
          </a:xfrm>
          <a:prstGeom prst="rect">
            <a:avLst/>
          </a:prstGeom>
          <a:solidFill>
            <a:srgbClr val="1C2B1E"/>
          </a:solidFill>
          <a:ln w="12700">
            <a:solidFill>
              <a:srgbClr val="1C2B1E"/>
            </a:solidFill>
            <a:prstDash val="solid"/>
          </a:ln>
        </p:spPr>
      </p:sp>
      <p:sp>
        <p:nvSpPr>
          <p:cNvPr id="25" name="Text 23"/>
          <p:cNvSpPr/>
          <p:nvPr/>
        </p:nvSpPr>
        <p:spPr>
          <a:xfrm>
            <a:off x="274320" y="2688336"/>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T3 — Deep time established: 4.54 Ga Earth, 3.5 Ga fossil record begins · T4 — Evolution operates at molecular scale before it operates at organismal scale</a:t>
            </a:r>
            <a:endParaRPr lang="en-US" sz="105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§4.1 The Hadean Earth</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Earth 4.54 Billion Years Ago</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Earth formed from solar nebula accretion 4.54 Ga — confirmed by radiometric dating of oldest minerals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Oldest known material: zircon crystals from Jack Hills, Australia — 4.4 Ga, showing liquid water already present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Hadean eon (4.54–4.0 Ga): early view was a hellish fireball — increasingly revised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Liquid water appears by 4.4 Ga — far earlier than once assumed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 free O₂ in early atmosphere — oxygen is a biological product, not a geological given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Energy sources for chemistry: UV radiation, lightning, volcanic heat, hydrothermal vents, meteorite impacts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Earth</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forms</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4.54 Ga</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Liquid water</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(zircons)</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4.4 Ga</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Late Heavy</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Bombardment</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3.9 Ga</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First fossils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(stromatolites)</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3.5 Ga</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Free O₂</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accumulates</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2.4 Ga</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Hadean Eon: </a:t>
            </a:r>
            <a:pPr indent="0" marL="0">
              <a:buNone/>
            </a:pPr>
            <a:r>
              <a:rPr lang="en-US" sz="1100" dirty="0">
                <a:solidFill>
                  <a:srgbClr val="F4F1EC"/>
                </a:solidFill>
                <a:latin typeface="Calibri" pitchFamily="34" charset="0"/>
                <a:ea typeface="Calibri" pitchFamily="34" charset="-122"/>
                <a:cs typeface="Calibri" pitchFamily="34" charset="-120"/>
              </a:rPr>
              <a:t>4.54–4.0 Ga: earliest eon of Earth history. Liquid water present by 4.4 Ga despite early assumptions of complete uninhabitability. Named for Hades — though the surface conditions were less extreme than once believed.</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§4.1 The Prebiotic Atmosphere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Was in the Early Atmosphere?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Original Oparin-Haldane model (1924–1929): highly reducing atmosphere — CH₄, NH₃, H₂, H₂O</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Current revised model: less reducing — CO₂, N₂, H₂O dominant, with some H₂ and CO</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requirement for abiotic organic synthesis: reduced carbon (C in low oxidation state)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Absence of free O₂ is critical — oxygen destroys organic molecules as fast as they form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Miller-Urey used the original reducing model; modern experiments use revised atmospheres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Both original and revised models support abiotic organic synthesis — the specific gas mixture matters less than absence of O₂</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OPARIN-HALDANE</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MODEL (1924)</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CH₄, NH₃, H₂, H₂O</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Strongly reducing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Used by Miller (1953)</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Produces amino acids readily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Now considered too reducing</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REVISED MODEL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(current)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CO₂, N₂, H₂O dominant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Less reducing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Still no free O₂</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Still supports organic synthesis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Hydrothermal vents provide reducing microenvironments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Reducing Atmosphere: </a:t>
            </a:r>
            <a:pPr indent="0" marL="0">
              <a:buNone/>
            </a:pPr>
            <a:r>
              <a:rPr lang="en-US" sz="1100" dirty="0">
                <a:solidFill>
                  <a:srgbClr val="F4F1EC"/>
                </a:solidFill>
                <a:latin typeface="Calibri" pitchFamily="34" charset="0"/>
                <a:ea typeface="Calibri" pitchFamily="34" charset="-122"/>
                <a:cs typeface="Calibri" pitchFamily="34" charset="-120"/>
              </a:rPr>
              <a:t>An atmosphere lacking free oxygen, in which carbon exists in reduced forms (CH₄, CO, organic molecules). Required for abiotic organic synthesis — free O₂ oxidises organic molecules and prevents their accumulation.</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§4.2 The Miller-Urey Experiment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Proving Abiotic Amino Acid Synthesis (1953)</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Stanley Miller (PhD student of Harold Urey) — University of Chicago, 1953</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Apparatus: sealed flask with CH₄, NH₃, H₂, H₂O — electric sparks simulate lightning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Results after 1 week: glycine, alanine, aspartic acid, and other amino acids detected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Significance: proved that amino acids can form from inorganic gases without biological enzymes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What it proved: abiotic organic synthesis is chemically feasible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What it did NOT prove: self-replication, membranes, metabolism, or life itself</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Gas mixture (CH₄ NH₃ H₂ H₂O)</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Electric sparks (lightning)</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Condenser (simulated rain)</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Water flask (simulated ocean)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Amino acids detected after 1 week</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Chemogeny: </a:t>
            </a:r>
            <a:pPr indent="0" marL="0">
              <a:buNone/>
            </a:pPr>
            <a:r>
              <a:rPr lang="en-US" sz="1100" dirty="0">
                <a:solidFill>
                  <a:srgbClr val="F4F1EC"/>
                </a:solidFill>
                <a:latin typeface="Calibri" pitchFamily="34" charset="0"/>
                <a:ea typeface="Calibri" pitchFamily="34" charset="-122"/>
                <a:cs typeface="Calibri" pitchFamily="34" charset="-120"/>
              </a:rPr>
              <a:t>The abiotic synthesis of organic molecules from inorganic precursors under early Earth conditions. Demonstrated by Miller-Urey (1953) for amino acids. The first step in the sequence leading from chemistry to biology.</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§4.2 Hydrothermal Vents as Alternative Settings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Deep-Sea Vents: A Second Origin-of-Life Environment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Alkaline hydrothermal vents (e.g. Lost City field, Mid-Atlantic): pH 9–11, 40–90°C, rich in H₂</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Provide: reducing chemistry, mineral surfaces for catalysis, thermal gradient, concentration mechanism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advantage over surface model: vents are shielded from UV radiation that destroys organic molecules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Iron-sulphur clusters (FeS, Fe₂S₂) abundant at vents — similar to active sites of modern metabolic enzymes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Günter Wächtershäuser: "iron-sulphur world" hypothesis — metabolism preceded genetics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insight: life may have begun in a chemically active mineral environment, not in a dilute "warm little pond"</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SURFACE POOLS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(Oparin/Darwin)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UV energy available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Dilute concentrations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UV also destroys molecules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Temperature variable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mineral catalyst surfaces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HYDROTHERMAL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VENTS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Shielded from UV</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Concentrating mineral surfaces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Stable redox chemistry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H₂ as electron donor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FeS clusters = proto-enzymes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Alkaline Hydrothermal Vent: </a:t>
            </a:r>
            <a:pPr indent="0" marL="0">
              <a:buNone/>
            </a:pPr>
            <a:r>
              <a:rPr lang="en-US" sz="1100" dirty="0">
                <a:solidFill>
                  <a:srgbClr val="F4F1EC"/>
                </a:solidFill>
                <a:latin typeface="Calibri" pitchFamily="34" charset="0"/>
                <a:ea typeface="Calibri" pitchFamily="34" charset="-122"/>
                <a:cs typeface="Calibri" pitchFamily="34" charset="-120"/>
              </a:rPr>
              <a:t>A submarine vent producing warm, hydrogen-rich, alkaline fluid through serpentinisation of mantle rock. Proposed as an alternative to surface pools for the origin of life — provides reducing chemistry, mineral catalysts, and UV shielding.</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§4.2 From Monomers to Polymers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Polymerisation Problem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Amino acids and nucleotides are monomers — biological function requires polymers (proteins, nucleic acids)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Polymerisation in water is thermodynamically unfavourable — water drives hydrolysis (breaks bonds), not condensation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Solutions proposed: dry-wet cycles on clay surfaces, vent mineral surfaces, ice eutectic concentrations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Clay minerals (montmorillonite): catalyse peptide bond formation — demonstrated in laboratory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Concentration mechanism essential: dilute ocean does not support polymerisation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Sidney Fox: thermal proteinoids — amino acids heated on hot rock surfaces form peptide-like polymers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Amino acid monomers (aqueous)</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Concentration (evaporation or clay)</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Polymerisation (dry-wet cycles)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Peptide bonds form (proteinoids)</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Proto- polymers with function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Polymerisation: </a:t>
            </a:r>
            <a:pPr indent="0" marL="0">
              <a:buNone/>
            </a:pPr>
            <a:r>
              <a:rPr lang="en-US" sz="1100" dirty="0">
                <a:solidFill>
                  <a:srgbClr val="F4F1EC"/>
                </a:solidFill>
                <a:latin typeface="Calibri" pitchFamily="34" charset="0"/>
                <a:ea typeface="Calibri" pitchFamily="34" charset="-122"/>
                <a:cs typeface="Calibri" pitchFamily="34" charset="-120"/>
              </a:rPr>
              <a:t>The linking of monomers (amino acids, nucleotides) into polymers (proteins, nucleic acids) by condensation reactions. Thermodynamically unfavourable in water — requires concentration mechanisms such as clay surfaces, dry-wet cycles, or vent microenvironments.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§4.3 Protocells: The Membrane Boundary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Fatty Acids Spontaneously Form Vesicles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Fatty acids (simpler than phospholipids) spontaneously form closed bilayer vesicles in water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is driven by thermodynamics — the hydrophobic effect, not biological machinery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Szostak et al. (2008): fatty acid vesicles can take up RNA molecules from their environment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These vesicles can grow by incorporating new fatty acids and divide by shear forces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membrane boundary creates individuality: chemistry inside vs outside becomes separated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protocell has three minimal requirements: membrane, hereditary molecule, proto-metabolism</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Fatty acids (amphiphilic molecules)</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Self-assembly in water (hydrophobic effect)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Bilayer vesicle forms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RNA taken up inside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Proto-cell: compartment established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Protocell: </a:t>
            </a:r>
            <a:pPr indent="0" marL="0">
              <a:buNone/>
            </a:pPr>
            <a:r>
              <a:rPr lang="en-US" sz="1100" dirty="0">
                <a:solidFill>
                  <a:srgbClr val="F4F1EC"/>
                </a:solidFill>
                <a:latin typeface="Calibri" pitchFamily="34" charset="0"/>
                <a:ea typeface="Calibri" pitchFamily="34" charset="-122"/>
                <a:cs typeface="Calibri" pitchFamily="34" charset="-120"/>
              </a:rPr>
              <a:t>A lipid vesicle enclosing a hereditary molecule. Forms spontaneously from fatty acids in water. Has a membrane boundary creating chemical individuality. The experimental step between chemistry and biology that has been partially achieved in the laboratory.</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§4.3 Biogeny: Three Requirements Simultaneously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Minimal Cell: Membrane + Heredity + Metabolism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living cell requires THREE things simultaneously — no two of three is sufficient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MEMBRANE: compartmentalisation, individuality, concentration of chemistry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HEREDITARY MOLECULE: information storage, replication, variation for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METABOLISM: energy capture and transformation to maintain order against entropy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challenge: these three components must have co-originated or co-evolved, not appeared sequentially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complete synthesis of a living cell from purely abiotic components has NOT yet been achieved in the laboratory</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MEMBRANE (Lipid bilayer vesicle)</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HEREDITY (Self-replicating molecule)</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METABOLISM (Energy capture)</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All three together = CELL</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Natural selection can begin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Biogeny: </a:t>
            </a:r>
            <a:pPr indent="0" marL="0">
              <a:buNone/>
            </a:pPr>
            <a:r>
              <a:rPr lang="en-US" sz="1100" dirty="0">
                <a:solidFill>
                  <a:srgbClr val="F4F1EC"/>
                </a:solidFill>
                <a:latin typeface="Calibri" pitchFamily="34" charset="0"/>
                <a:ea typeface="Calibri" pitchFamily="34" charset="-122"/>
                <a:cs typeface="Calibri" pitchFamily="34" charset="-120"/>
              </a:rPr>
              <a:t>The emergence of the first cell-like entities combining membrane, hereditary molecule, and proto-metabolism. Requires all three components simultaneously. The complete abiotic synthesis of a living cell remains unachieved.</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§4.4 The Chicken-and-Egg Problem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DNA Needs Proteins; Proteins Need DNA</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Modern cells use DNA for information storage and proteins for catalysis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DNA replication requires protein enzymes (DNA polymerase)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Protein synthesis requires DNA (for the sequence) and ribosomes (made of RNA + protein)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Neither DNA nor protein can exist without the other — a genuine logical circularity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"chicken-and-egg" problem blocked understanding of life's origin for decades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Solution discovered: RNA can do BOTH — store information AND catalyse reactions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THE PROBLEM</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DNA → directs protein synthesis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Proteins → needed for DNA replication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Neither can exist without the other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starting point possible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Classical paradox of origin of life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THE SOLUTION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RNA stores information (like DNA)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RNA catalyses reactions (like protein)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One molecule does both jobs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circular dependency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RNA World Hypothesis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RNA World Hypothesis: </a:t>
            </a:r>
            <a:pPr indent="0" marL="0">
              <a:buNone/>
            </a:pPr>
            <a:r>
              <a:rPr lang="en-US" sz="1100" dirty="0">
                <a:solidFill>
                  <a:srgbClr val="F4F1EC"/>
                </a:solidFill>
                <a:latin typeface="Calibri" pitchFamily="34" charset="0"/>
                <a:ea typeface="Calibri" pitchFamily="34" charset="-122"/>
                <a:cs typeface="Calibri" pitchFamily="34" charset="-120"/>
              </a:rPr>
              <a:t>The hypothesis that the earliest self-replicating systems used RNA as both information-storage molecule and catalyst — resolving the DNA-protein chicken-and-egg paradox. Supported by ribozyme discovery (Cech and Altman, 1982).</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§4.4 Ribozymes: The Experimental Proof</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Cech and Altman: RNA Can Catalyse (Nobel Prize 1989)</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Thomas Cech (1982): discovered that the ribosomal RNA of Tetrahymena splices itself — no protein enzyme needed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Sidney Altman (1983): RNase P contains an RNA subunit that is the actual catalytic component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These RNA enzymes — RIBOZYMES — perform catalysis without any protein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Nobel Prize in Chemistry 1989: "the discovery of the catalytic properties of RNA"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ribosome itself: the peptidyl transferase activity (peptide bond formation) is catalysed by rRNA — the ribosome is fundamentally a ribozyme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ribosome as a "molecular fossil": it preserves the RNA World in the core of modern protein synthesis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Evidence for the RNA World</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RIBOZYME DISCOVERY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Cech 1982: Tetrahymena rRNA self-splices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Altman 1983: RNase P is RNA-based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Nobel Prize 1989</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RIBOSOME STRUCTURE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23S rRNA catalyses peptide bond formation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Proteins surround the RNA core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ribosome is fundamentally a ribozyme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molecular fossil of the RNA World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UNIVERSALITY OF RNA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mRNA: information transfer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tRNA: adaptor molecule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rRNA: catalytic core of ribosome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RNA central to ALL gene expression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CONCLUSION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RNA World not just plausible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its fossil is in every living cell</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Ribozyme: </a:t>
            </a:r>
            <a:pPr indent="0" marL="0">
              <a:buNone/>
            </a:pPr>
            <a:r>
              <a:rPr lang="en-US" sz="1100" dirty="0">
                <a:solidFill>
                  <a:srgbClr val="F4F1EC"/>
                </a:solidFill>
                <a:latin typeface="Calibri" pitchFamily="34" charset="0"/>
                <a:ea typeface="Calibri" pitchFamily="34" charset="-122"/>
                <a:cs typeface="Calibri" pitchFamily="34" charset="-120"/>
              </a:rPr>
              <a:t>An RNA molecule with catalytic (enzymatic) activity. Discovered by Thomas Cech and Sidney Altman (1982–83, Nobel 1989). The existence of ribozymes is the experimental foundation of the RNA World hypothesis.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§4.4 Limitations of the RNA World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the RNA World Does NOT Explain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RNA World resolves the DNA-protein paradox but creates a new problem: where did RNA come from?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Nucleotides are chemically complex — their abiotic synthesis has been challenging to demonstrate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RNA is relatively unstable in water — degrades by hydrolysis rapidly at high temperatures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Self-replicating RNA systems have not been fully demonstrated abiotically from scratch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John Sutherland (2009): demonstrated plausible abiotic synthesis of pyrimidine nucleotides — partial progress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RNA World is the best current hypothesis but remains a hypothesis — not all steps have been demonstrated experimentally</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What the RNA World Explains vs What It Does Not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EXPLAINS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How information and catalysis could coexist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 one molecule without circular dependency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Why RNA is universal in gene expression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Why the ribosome is RNA-based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Why some viruses use RNA genomes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DOES NOT EXPLAIN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How RNA nucleotides formed abiotically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How RNA self-replication began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How the genetic code originated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How membranes and heredity co-originated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complete chemical pathway from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simple molecules to the first cell</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"Best available framework, not proven fact"</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Abiotic RNA Synthesis: </a:t>
            </a:r>
            <a:pPr indent="0" marL="0">
              <a:buNone/>
            </a:pPr>
            <a:r>
              <a:rPr lang="en-US" sz="1100" dirty="0">
                <a:solidFill>
                  <a:srgbClr val="F4F1EC"/>
                </a:solidFill>
                <a:latin typeface="Calibri" pitchFamily="34" charset="0"/>
                <a:ea typeface="Calibri" pitchFamily="34" charset="-122"/>
                <a:cs typeface="Calibri" pitchFamily="34" charset="-120"/>
              </a:rPr>
              <a:t>The spontaneous formation of RNA nucleotides and RNA polymers from inorganic precursors without biological enzymes. Partially demonstrated (pyrimidine nucleotides, Sutherland 2009) but the complete pathway remains unestablished.</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§4.5 The Origin of Eukaryotes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Great Divide: Prokaryote to Eukaryote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Prokaryotes (Bacteria and Archaea): no nucleus, no membrane-bound organelles, ~1–10 µm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Eukaryotes: nucleus with membrane, membrane-bound organelles (mitochondria, chloroplasts), ~10–100 µm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Eukaryotes appear in the fossil record ~1.5–2.0 Ga — more than 2 billion years after first prokaryotes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Two major questions: (1) How did the nucleus evolve? (2) Where did mitochondria come from?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Answer to (2): Lynn Margulis's endosymbiotic theory (1967) — mitochondria are former free-living bacteria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Answer to (1): internal membrane development, possibly from archaeal ancestor — still debated</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PROKARYOTE</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nuclear membrane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Circular chromosome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70S ribosomes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membrane-bound organelles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1-10 µm diameter</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EUKARYOTE</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Nuclear membrane present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Linear chromosomes (multiple)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80S cytoplasmic ribosomes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Mitochondria, chloroplasts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10-100 µm diameter</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Eukaryote: </a:t>
            </a:r>
            <a:pPr indent="0" marL="0">
              <a:buNone/>
            </a:pPr>
            <a:r>
              <a:rPr lang="en-US" sz="1100" dirty="0">
                <a:solidFill>
                  <a:srgbClr val="F4F1EC"/>
                </a:solidFill>
                <a:latin typeface="Calibri" pitchFamily="34" charset="0"/>
                <a:ea typeface="Calibri" pitchFamily="34" charset="-122"/>
                <a:cs typeface="Calibri" pitchFamily="34" charset="-120"/>
              </a:rPr>
              <a:t>An organism whose cells contain a membrane-bound nucleus and membrane-bound organelles. First appeared ~1.5–2.0 Ga. Includes all animals, plants, fungi, and protists. Distinguished from prokaryotes (Bacteria and Archaea).</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§4.5 Margulis and the Endosymbiotic Theory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Lynn Margulis (1967): The Bacterium That Stayed</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Lynn Margulis, 1967: proposed that mitochondria are derived from free-living alpha-proteobacteria engulfed by an ancestral host cell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engulfed bacterium was not digested — it survived and became a stable endosymbiont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Over evolutionary time: gene transfer from endosymbiont to host nucleus, loss of bacterial independence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Chloroplasts: similarly derived from cyanobacteria — primary endosymbiosis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Secondary endosymbiosis: some algae arose by engulfing a primary algal endosymbiont (explains double/triple membranes)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Initially controversial and rejected by mainstream biology — now universally accepted</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Free-living alpha-proteo- bacterium</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Engulfment by host cell (phagocytosis)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NOT digested — stable endosymbiosis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Gene transfer to nucleus (ongoing)</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Mitochondrion (organelle)</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Endosymbiotic Theory: </a:t>
            </a:r>
            <a:pPr indent="0" marL="0">
              <a:buNone/>
            </a:pPr>
            <a:r>
              <a:rPr lang="en-US" sz="1100" dirty="0">
                <a:solidFill>
                  <a:srgbClr val="F4F1EC"/>
                </a:solidFill>
                <a:latin typeface="Calibri" pitchFamily="34" charset="0"/>
                <a:ea typeface="Calibri" pitchFamily="34" charset="-122"/>
                <a:cs typeface="Calibri" pitchFamily="34" charset="-120"/>
              </a:rPr>
              <a:t>Margulis (1967): mitochondria and chloroplasts evolved from free-living bacteria engulfed by ancestral host cells but not digested. Initially controversial, now supported by convergent evidence from five independent lines.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§4.5 Five Lines of Evidence for Endosymbiosis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Endosymbiosis Is a Fact, Not a Hypothesis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GENOME: mitochondria have their own circular DNA — no histones, not membrane-enclosed — identical to bacterial chromosome organisation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RIBOSOMES: mitochondrial ribosomes are 70S (bacterial type), sensitive to bacterial antibiotics (chloramphenicol, streptomycin)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DIVISION: mitochondria divide by binary fission — not mitosis — and cannot be made de novo by the cell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MEMBRANES: double membrane — inner from the original bacterium, outer from the host phagocytic vacuole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PHYLOGENETICS: mitochondrial 16S rRNA sequences cluster robustly WITHIN living alpha-proteobacteria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five lines of evidence are independent — convergence on one conclusion from five different data types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Five Independent Lines of Evidence</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(1) CIRCULAR GENOME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Bacterial-type, circular, no histones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~16 kb in humans (highly reduced)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(2) 70S RIBOSOMES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Inhibited by chloramphenicol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(kills bacteria, not cytoplasmic ribosomes)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(3) BINARY FISSION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Cannot be made de novo by the cell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Must come from pre-existing mitochondrion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(4) DOUBLE MEMBRANE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Inner = original bacterial plasma membrane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Outer = host phagocytic vacuole membrane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(5) rRNA PHYLOGENETICS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16S rRNA sequences place mitochondria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WITHIN Alphaproteobacteria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(Rickettsia clade is closest living relative)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Alpha-Proteobacteria: </a:t>
            </a:r>
            <a:pPr indent="0" marL="0">
              <a:buNone/>
            </a:pPr>
            <a:r>
              <a:rPr lang="en-US" sz="1100" dirty="0">
                <a:solidFill>
                  <a:srgbClr val="F4F1EC"/>
                </a:solidFill>
                <a:latin typeface="Calibri" pitchFamily="34" charset="0"/>
                <a:ea typeface="Calibri" pitchFamily="34" charset="-122"/>
                <a:cs typeface="Calibri" pitchFamily="34" charset="-120"/>
              </a:rPr>
              <a:t>The bacterial class from which mitochondria evolved. Modern Rickettsia (intracellular parasites) represent an evolutionary intermediate between free-living bacteria and fully integrated mitochondria.</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§4.5 Gene Transfer and Mitochondrial Reduction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From Bacterium to Organelle: Losing Independence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Original endosymbiont: ~2000–4000 genes (typical free-living bacterium)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Modern mitochondria: 13 proteins encoded by mtDNA (human) — most genes transferred to nucleus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 transfer is ongoing: plant mitochondria transfer genes to nucleus more rapidly than animal mitochondria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Why is any gene retained in mitochondria? Hydrophobic proteins encoded by mtDNA cannot be imported from the cytoplasm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Mitochondrial Eve: all human mtDNA traces to a single female ancestor because mtDNA is maternally inherited with no recombination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mtDNA is the gene-as-record: Thread T2 — same molecule barcodes species identity AND traces human maternal lineage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ORIGINAL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ENDOSYMBIONT</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2000-4000 genes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Complete metabolic independence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Free-living capability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Could survive outside host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Ancestor: alpha-proteobacterium</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MODERN</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MITOCHONDRION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13 proteins (human)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Completely host-dependent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Cannot survive outside cell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Most genes in nucleus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Obligate organelle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Gene Transfer to Nucleus: </a:t>
            </a:r>
            <a:pPr indent="0" marL="0">
              <a:buNone/>
            </a:pPr>
            <a:r>
              <a:rPr lang="en-US" sz="1100" dirty="0">
                <a:solidFill>
                  <a:srgbClr val="F4F1EC"/>
                </a:solidFill>
                <a:latin typeface="Calibri" pitchFamily="34" charset="0"/>
                <a:ea typeface="Calibri" pitchFamily="34" charset="-122"/>
                <a:cs typeface="Calibri" pitchFamily="34" charset="-120"/>
              </a:rPr>
              <a:t>The evolutionary process by which genes from the original endosymbiont (bacterium) moved to the host nucleus over millions of years. Most mitochondrial genes are now nuclear-encoded. The process is ongoing in plant mitochondria.</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§4.1–4.5 The Sequence of Transitions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Four Steps from Chemistry to the Eukaryotic Cell</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1 — CHEMOGENY: abiotic synthesis of organic monomers (amino acids, nucleotides) from inorganic gases and energy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2 — BIOGENY: self-replicating RNA molecules, fatty acid vesicles, proto-metabolic chemistry — the first cells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3 — PROKARYOTE DIVERSIFICATION: bacteria and archaea diverge, occupy all available habitats, develop diverse metabolisms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4 — EUKARYOGENESIS: archaeal host cell engulfs bacterial endosymbiont → mitochondria → eukaryotic cell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step is investigable by experiment — none requires supernatural explanation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None is fully demonstrated from scratch yet — biology remains one of the great incomplete scientific projects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Chemogeny</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(monomers)</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~4.0 Ga</a:t>
            </a:r>
            <a:endParaRPr lang="en-US" sz="800" dirty="0"/>
          </a:p>
        </p:txBody>
      </p:sp>
      <p:sp>
        <p:nvSpPr>
          <p:cNvPr id="12" name="Shape 10"/>
          <p:cNvSpPr/>
          <p:nvPr/>
        </p:nvSpPr>
        <p:spPr>
          <a:xfrm>
            <a:off x="632155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9740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Biogeny</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(first cells)</a:t>
            </a:r>
            <a:endParaRPr lang="en-US" sz="900" dirty="0"/>
          </a:p>
        </p:txBody>
      </p:sp>
      <p:sp>
        <p:nvSpPr>
          <p:cNvPr id="14" name="Text 12"/>
          <p:cNvSpPr/>
          <p:nvPr/>
        </p:nvSpPr>
        <p:spPr>
          <a:xfrm>
            <a:off x="59740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3.8-3.5 Ga</a:t>
            </a:r>
            <a:endParaRPr lang="en-US" sz="800" dirty="0"/>
          </a:p>
        </p:txBody>
      </p:sp>
      <p:sp>
        <p:nvSpPr>
          <p:cNvPr id="15" name="Shape 13"/>
          <p:cNvSpPr/>
          <p:nvPr/>
        </p:nvSpPr>
        <p:spPr>
          <a:xfrm>
            <a:off x="744931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710184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Prokaryote</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diversification</a:t>
            </a:r>
            <a:endParaRPr lang="en-US" sz="900" dirty="0"/>
          </a:p>
        </p:txBody>
      </p:sp>
      <p:sp>
        <p:nvSpPr>
          <p:cNvPr id="17" name="Text 15"/>
          <p:cNvSpPr/>
          <p:nvPr/>
        </p:nvSpPr>
        <p:spPr>
          <a:xfrm>
            <a:off x="710184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3.5-2.0 Ga</a:t>
            </a:r>
            <a:endParaRPr lang="en-US" sz="800" dirty="0"/>
          </a:p>
        </p:txBody>
      </p:sp>
      <p:sp>
        <p:nvSpPr>
          <p:cNvPr id="18" name="Shape 16"/>
          <p:cNvSpPr/>
          <p:nvPr/>
        </p:nvSpPr>
        <p:spPr>
          <a:xfrm>
            <a:off x="8577072" y="2309774"/>
            <a:ext cx="219456" cy="219456"/>
          </a:xfrm>
          <a:prstGeom prst="ellipse">
            <a:avLst/>
          </a:prstGeom>
          <a:solidFill>
            <a:srgbClr val="3D8C7A"/>
          </a:solidFill>
          <a:ln w="6350">
            <a:solidFill>
              <a:srgbClr val="FFFFFF"/>
            </a:solidFill>
            <a:prstDash val="solid"/>
          </a:ln>
        </p:spPr>
      </p:sp>
      <p:sp>
        <p:nvSpPr>
          <p:cNvPr id="19" name="Text 17"/>
          <p:cNvSpPr/>
          <p:nvPr/>
        </p:nvSpPr>
        <p:spPr>
          <a:xfrm>
            <a:off x="822960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Eukaryote</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(endosymbiosis)</a:t>
            </a:r>
            <a:endParaRPr lang="en-US" sz="900" dirty="0"/>
          </a:p>
        </p:txBody>
      </p:sp>
      <p:sp>
        <p:nvSpPr>
          <p:cNvPr id="20" name="Text 18"/>
          <p:cNvSpPr/>
          <p:nvPr/>
        </p:nvSpPr>
        <p:spPr>
          <a:xfrm>
            <a:off x="822960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~1.5-2.0 Ga</a:t>
            </a:r>
            <a:endParaRPr lang="en-US" sz="800" dirty="0"/>
          </a:p>
        </p:txBody>
      </p:sp>
      <p:sp>
        <p:nvSpPr>
          <p:cNvPr id="21" name="Shape 19"/>
          <p:cNvSpPr/>
          <p:nvPr/>
        </p:nvSpPr>
        <p:spPr>
          <a:xfrm>
            <a:off x="274320" y="4297680"/>
            <a:ext cx="8595360" cy="621792"/>
          </a:xfrm>
          <a:prstGeom prst="rect">
            <a:avLst/>
          </a:prstGeom>
          <a:solidFill>
            <a:srgbClr val="1C2B1E"/>
          </a:solidFill>
          <a:ln w="12700">
            <a:solidFill>
              <a:srgbClr val="1C2B1E"/>
            </a:solidFill>
            <a:prstDash val="solid"/>
          </a:ln>
        </p:spPr>
      </p:sp>
      <p:sp>
        <p:nvSpPr>
          <p:cNvPr id="22" name="Text 2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Eukaryogenesis: </a:t>
            </a:r>
            <a:pPr indent="0" marL="0">
              <a:buNone/>
            </a:pPr>
            <a:r>
              <a:rPr lang="en-US" sz="1100" dirty="0">
                <a:solidFill>
                  <a:srgbClr val="F4F1EC"/>
                </a:solidFill>
                <a:latin typeface="Calibri" pitchFamily="34" charset="0"/>
                <a:ea typeface="Calibri" pitchFamily="34" charset="-122"/>
                <a:cs typeface="Calibri" pitchFamily="34" charset="-120"/>
              </a:rPr>
              <a:t>The evolutionary origin of the eukaryotic cell, principally through the endosymbiotic integration of a bacterial ancestor (→ mitochondria) into an archaeal or proto-eukaryotic host. A discrete evolutionary event, not a gradual transition within a single lineage.</a:t>
            </a:r>
            <a:endParaRPr lang="en-US" sz="1100" dirty="0"/>
          </a:p>
        </p:txBody>
      </p:sp>
      <p:sp>
        <p:nvSpPr>
          <p:cNvPr id="23" name="Text 2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24" name="Text 2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§4.4–4.5 What RNA World and Endosymbiosis Share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A Common Theme: Function Before Perfection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RNA World: RNA performs catalysis imperfectly compared to modern protein enzymes — but "good enough" for selection to begin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Endosymbiosis: the first endosymbiont was a complete free-living bacterium — not optimised for the host role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 both cases: a functional-but-imperfect system was the starting point for evolutionary refinement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Natural selection acts on variation in existing function — it does not wait for perfection to appear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is the Darwinian logic operating at the molecular and cellular level: the same logic as Chapter 6</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"Evolution is opportunistic — it uses what is available and modifies it gradually"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RNA WORLD</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RNA catalysis is imperfect but functional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began on variable RNA replicators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DNA + proteins refined the system over time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The ribosome preserves the original RNA core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ENDOSYMBIOSIS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First endosymbiont was a complete bacterium</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Integration and gene transfer took millions of years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Modern mitochondria are highly optimised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Rickettsia shows intermediate stage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Evolutionary Opportunism: </a:t>
            </a:r>
            <a:pPr indent="0" marL="0">
              <a:buNone/>
            </a:pPr>
            <a:r>
              <a:rPr lang="en-US" sz="1100" dirty="0">
                <a:solidFill>
                  <a:srgbClr val="F4F1EC"/>
                </a:solidFill>
                <a:latin typeface="Calibri" pitchFamily="34" charset="0"/>
                <a:ea typeface="Calibri" pitchFamily="34" charset="-122"/>
                <a:cs typeface="Calibri" pitchFamily="34" charset="-120"/>
              </a:rPr>
              <a:t>The principle that evolution acts on existing functional systems rather than designing optimal ones. Both the RNA World and endosymbiosis began with imperfect but functional systems that were progressively refined by natural selection.</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Miller-Urey experiment (1953) is often described in textbooks as "proving the origin of life in the laboratory." Evaluate this claim carefully. What did the experiment actually demonstrate? What did it not demonstrate? What are the three main criticisms of the experiment's relevance that have emerged since 1953, and how has the field responded to them?</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specific products did Miller-Urey produce? Are amino acids the same as life? What has changed in our understanding of early Earth's atmosphere since 1953? Does the criticism invalidate the experiment's core finding?</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Miller-Urey experiment (1953) is often described in textbooks as "proving the origin of life in the laboratory." Evaluate this claim carefully. What did the experiment actually demonstrate? What did it not demonstrate? What are the three main criticisms of the experiment's relevance that have emerged since 1953, and how has the field responded to them?</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claim is significantly overstated. A precise evaluation: What the experiment DID demonstrate: Amino acids (glycine, alanine, aspartic acid, and others) can form spontaneously from inorganic gases (CH₄, NH₃, H₂, H₂O) under electrical discharge simulating lightning. This demonstrated the feasibility of abiotic organic synthesis — one step in the sequence from chemistry to life. What it did NOT demonstrate: (1) polymerisation of amino acids into functional proteins; (2) self-replicating nucleic acids; (3) cell membranes; (4) metabolism; (5) life in any sense. Amino acids are building blocks — their spontaneous formation is a necessary but vastly insufficient condition for life. Three main criticisms and responses: Criticism 1 — Atmospheric composition: The Miller-Urey experiment used a strongly reducing atmosphere (CH₄, NH₃, H₂), but geochemical evidence now favours a less reducing atmosphere (CO₂, N₂, H₂O dominant). Response: experiments with less reducing gas mixtures still produce organic molecules, albeit in smaller quantities. The hydrothermal vent hypothesis provides a modern alternative with reducing chemistry in microenvironments. The core finding (abiotic organic synthesis is possible) survives even with a revised atmospheric composition. Criticism 2 — UV destruction: On the early Earth's surface, the same UV radiation that provides energy for synthesis would also rapidly destroy organic molecules. Response: hydrothermal vents are shielded from UV. Concentration in protected environments (mineral surfaces, ice, subsurface pores) provides partial protection. Criticism 3 — Dilution problem: in a vast ocean, synthesised molecules would be too dilute for polymerisation to proceed. Response: concentration mechanisms (evaporation in tidal pools, clay mineral surfaces, hydrothermal vent microchannels) are actively studied. None of these criticisms invalidates the core finding — abiotic organic synthesis occurs — but they collectively show that the full origin-of-life sequence is far more complex than Miller-Urey suggested.</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RNA World hypothesis proposes that life began with RNA molecules that could both store information and catalyse reactions. (a) What specific biological problem does the RNA World hypothesis solve? (b) What is the experimental evidence that RNA can perform catalysis? (c) What problem does the RNA World itself face, and how does finding a ribozyme inside the ribosome of every living cell bear on this question?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is the circular dependency in modern biochemistry that the RNA World resolves? Who discovered ribozymes and what did they show? Why does the ribosome's RNA core matter — what does it tell us about molecular evolutionary history?</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RNA World hypothesis proposes that life began with RNA molecules that could both store information and catalyse reactions. (a) What specific biological problem does the RNA World hypothesis solve? (b) What is the experimental evidence that RNA can perform catalysis? (c) What problem does the RNA World itself face, and how does finding a ribozyme inside the ribosome of every living cell bear on this question?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Problem the RNA World solves: In modern cells, DNA replication requires protein enzymes (DNA polymerase), and protein synthesis requires DNA (as the template for mRNA) and ribosomes (made of RNA and protein). This creates a circular dependency: neither DNA nor proteins can exist without the other already being present. No non-circular starting point seems possible. The RNA World resolves this by proposing a single molecule — RNA — that could perform both functions: store genetic information in its nucleotide sequence (as DNA does) and catalyse chemical reactions (as proteins do). One molecule, no circularity, a plausible starting point. (b) Experimental evidence for RNA catalysis: Thomas Cech (1982) discovered that the ribosomal RNA of the ciliate Tetrahymena thermophila catalyses its own splicing — it removes an intron from itself without any protein enzyme. This was the first ribozyme. Sidney Altman (1983) showed that the catalytic subunit of RNase P (a tRNA processing enzyme) is the RNA component, not the protein. Both discoveries were awarded the Nobel Prize in Chemistry in 1989. These findings proved that RNA is not merely a passive information carrier but can perform enzymatic catalysis. (c) Problem the RNA World faces and the ribosome's significance: The RNA World hypothesis faces the problem of RNA's own abiotic origin — nucleotides are chemically complex, and their spontaneous assembly into self-replicating RNA polymers has not been fully demonstrated abiotically. The ribosome bears directly on the hypothesis's plausibility: the peptidyl transferase activity of the ribosome (the reaction that forms every peptide bond in every protein ever made) is catalysed by the 23S rRNA, not by the ribosomal proteins. The proteins surround and stabilise the RNA, which is the active component. This means the ribosome — present in every living cell on Earth — IS a ribozyme. It is a molecular fossil of the RNA World: a remnant of the ancient system preserved in the core of modern protein synthesis. This strongly supports the hypothesis that RNA-based catalysis preceded protein-based catalysis, even though it does not prove that the first self-replicating system used RNA specifically.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researcher claims to have synthesised the first artificial cell in the laboratory: a fatty acid vesicle containing a strand of RNA that can self-replicate. She argues this demonstrates that life can arise spontaneously from chemistry. Evaluate her claim. Does her system qualify as a living cell? What is it missing? What would a philosopher of biology say is the minimum definition of life that any system must satisfy?</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are the minimum requirements for something to be called alive? Think about the three components needed for biogeny — does the system have all three? Is self-replication alone sufficient to qualify as life?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researcher claims to have synthesised the first artificial cell in the laboratory: a fatty acid vesicle containing a strand of RNA that can self-replicate. She argues this demonstrates that life can arise spontaneously from chemistry. Evaluate her claim. Does her system qualify as a living cell? What is it missing? What would a philosopher of biology say is the minimum definition of life that any system must satisfy?</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Evaluation of the claim: The system — a fatty acid vesicle containing a self-replicating RNA — is a significant experimental achievement and represents genuine progress toward understanding life's origin. However, it does not qualify as a living cell by most definitions of life, and the claim that it demonstrates spontaneous generation of life overstates what has been achieved. What the system has: (1) A membrane boundary — the fatty acid vesicle provides compartmentalisation, creating a chemical interior distinct from the exterior. This satisfies the membrane requirement of biogeny. (2) A hereditary molecule — the self-replicating RNA can copy itself, preserving sequence information and allowing variation and selection. This partially satisfies the heredity requirement. What it is missing: (3) Metabolism — a living cell must capture energy from the environment and use it to maintain chemical order against entropy. The vesicle-RNA system has no energy-harvesting chemistry. It cannot grow, repair itself, or maintain itself against degradation without a continuous supply of externally provided building blocks. Without metabolism, the system will eventually deplete its resources and disintegrate. What a philosopher of biology would say: The minimum definition of life is contested, but most frameworks require at least: (a) Self-maintenance through metabolism (thermodynamic openness — the cell exchanges matter and energy with its environment); (b) Self-replication with heritable variation; (c) Evolution by natural selection (which requires the previous two). The system satisfies (b) partially and may satisfy (c) if the RNA population is allowed to diversify and be selected. It does not satisfy (a). Demonstrating spontaneous life would require showing that all three components co-originate from abiotic precursors without pre-provided building blocks.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Lynn Margulis's endosymbiotic theory was initially rejected by mainstream biology when she submitted her 1967 paper — it was rejected by more than fifteen journals before publication. Today it is universally accepted. (a) What was the mainstream view of mitochondrial origin before Margulis, and why might biologists have resisted her theory? (b) Identify the SINGLE most compelling line of evidence for endosymbiosis and explain precisely why it is decisive. (c) What does this episode tell us about how scientific consensus forms and changes?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did biologists think mitochondria were before Margulis? Think about the five lines of evidence — which one is hardest to explain by any alternative hypothesis? What makes evidence decisive rather than merely supporting?</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Lynn Margulis's endosymbiotic theory was initially rejected by mainstream biology when she submitted her 1967 paper — it was rejected by more than fifteen journals before publication. Today it is universally accepted. (a) What was the mainstream view of mitochondrial origin before Margulis, and why might biologists have resisted her theory? (b) Identify the SINGLE most compelling line of evidence for endosymbiosis and explain precisely why it is decisive. (c) What does this episode tell us about how scientific consensus forms and changes?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Mainstream view before Margulis and reasons for resistance: Before Margulis, the dominant view was that mitochondria arose by internal differentiation within cells — the autogenous hypothesis. Membranes were thought to have gradually infolded, and organelles to have differentiated from a single ancestral cell type. There was no concept of a cell engulfing a separate organism and retaining it intact. Biologists resisted Margulis's theory for several reasons: (i) It proposed a mechanism — stable endosymbiosis — that seemed extraordinary; cells were known to engulf and digest bacteria, not retain them; (ii) The theory attributed the most fundamental aspect of eukaryotic cell structure (mitochondria) to what seemed like a fringe idea; (iii) Margulis was a young female scientist at a time when the field had structural barriers to such researchers being taken seriously; (iv) The molecular evidence (rRNA sequences) that would prove the theory was not yet technically feasible in 1967 — the supporting data came later. (b) Most compelling single line of evidence: The phylogenetic analysis of mitochondrial 16S rRNA sequences is the most decisive. It places mitochondria unambiguously WITHIN living alpha-proteobacteria — not as a sister group to all bacteria, not as a basal branch, but nested inside a specific bacterial clade. This is not a structural similarity, not a functional analogy, but a quantified evolutionary relationship directly comparable to how we establish any other organismal relationship. The closest living relative of the mitochondrion is Rickettsia — an obligate intracellular parasite. This is not plausible under the autogenous hypothesis by any conceivable mechanism: an internal differentiation process cannot produce a structure with 16S rRNA sequences that cluster phylogenetically within a specific group of bacteria. (c) What this tells us about scientific consensus: The episode illustrates several important principles. First, extraordinary claims require extraordinary evidence — the eventual acceptance of endosymbiosis came only after molecular evidence made the theory undeniable, not from persuasion alone. Second, good science eventually prevails even against institutional resistance, but the timeline depends on the availability of appropriate technology. Third, consensus is not determined by authority or majority vote — it is determined by the weight of convergent independent evidence. Fourth, initial rejection does not indicate that a theory is wrong — it indicates that the evidence available at the time was insufficient for the claim being made.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four major hypotheses about where life originated on Earth are: (1) the warm little pond (Darwin's original suggestion — surface pools with UV energy and periodic drying); (2) hydrothermal vents (deep sea, alkaline, hydrogen-rich); (3) ice eutectic environments (polar regions, molecules concentrated as water freezes); (4) extraterrestrial origin (panspermia — life or its precursors arrived from space). Evaluate all four. For each: what is the strongest evidence in its favour, and what is the most serious objection? Which do you consider most plausible, and why? What evidence would distinguish between them?</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each environment provide that life's chemistry needs: energy, concentration, shielding from UV, reducing chemistry, mineral catalysts? What does panspermia actually claim — does it solve the origin-of-life problem? What experiment or observation would distinguish between the terrestrial hypotheses?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four major hypotheses about where life originated on Earth are: (1) the warm little pond (Darwin's original suggestion — surface pools with UV energy and periodic drying); (2) hydrothermal vents (deep sea, alkaline, hydrogen-rich); (3) ice eutectic environments (polar regions, molecules concentrated as water freezes); (4) extraterrestrial origin (panspermia — life or its precursors arrived from space). Evaluate all four. For each: what is the strongest evidence in its favour, and what is the most serious objection? Which do you consider most plausible, and why? What evidence would distinguish between them?</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Evaluation of four hypotheses: (1) Warm little pond (Darwin / Oparin-Haldane). Strongest evidence: UV radiation provides energy for organic synthesis; tidal cycling provides wet-dry concentration mechanism for polymerisation; demonstrated by Miller-Urey that amino acids form in such conditions; clay minerals catalyse peptide bond formation. Most serious objection: UV radiation that provides synthesis energy also destroys organic molecules at comparable rates, potentially limiting accumulation; revised atmospheric composition (less reducing than assumed by Miller-Urey) reduces yield; no concentration mechanism sufficient for efficient polymerisation in a large dilute ocean. (2) Alkaline hydrothermal vents. Strongest evidence: provide a steady source of H₂ (reducing chemistry) continuously; FeS mineral structures are chemically similar to the active sites of ancient metabolic enzymes; shielded from UV; natural proton gradients across mineral membranes may have driven proto-metabolism similar to how modern mitochondria use proton gradients; Wächtershäuser's iron-sulphur world hypothesis is chemically coherent. Most serious objection: high temperatures at some vents denature RNA; concentrating RNA from vent effluent in the open ocean is problematic; the specific alkaline vent chemistry has not produced nucleotide polymerisation experimentally. (3) Ice eutectic environments. Strongest evidence: as water freezes, dissolved molecules are concentrated into liquid channels between ice crystals — effective concentration mechanism; lower temperatures reduce RNA hydrolysis; RNA polymerisation has been demonstrated in eutectic ice. Most serious objection: energy sources are limited; UV radiation at polar surfaces is severe; how life would transition from ice environments to the thermal conditions where all known biochemistry operates remains unclear. (4) Panspermia. Strongest evidence: meteorites (carbonaceous chondrites) contain amino acids, nucleobases, and other organic molecules — demonstrating that organic chemistry occurs in space; some microorganisms can survive short-term exposure to space conditions; amino acid chemistry in star-forming regions detected spectroscopically. Most serious objection: panspermia does not solve the origin-of-life problem — it merely relocates it to another planet or interstellar space. If life arose elsewhere, the question is how it arose there; (b) survival during planetary ejection, interstellar transit, and atmospheric entry is extremely challenging; (c) no direct evidence that living organisms have ever been transferred between planets. Assessment: The alkaline hydrothermal vent hypothesis currently has the most coherent chemical framework for the origin of metabolism and the most convincing answer to the energy and concentration problems. The warm little pond remains competitive for nucleotide synthesis. The two hypotheses are not mutually exclusive — synthesis of organic monomers at surface environments and metabolic chemistry at vent environments could be part of the same sequence. Panspermia is the weakest hypothesis because it fails to solve the problem it claims to address. Evidence that would distinguish between terrestrial hypotheses: (a) Detection of RNA or protein-like polymers in simulated vent or pool environments from purely abiotic precursors; (b) Identification of pre-biotic chemical networks with autocatalytic properties under vent or pool conditions specifically; (c) Isotopic signatures in the oldest sedimentary carbon distinguishing between vent-origin and surface-origin chemistry; (d) The distribution of amino acid chirality in ancient meteorites versus what is produced in each simulated environment.</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Miller-Urey experiment created life in the laboratory.</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It produced amino acids — organic monomers — from inorganic gases. Amino acids are building blocks. The experiment did not produce polymers, nucleic acids, membranes, metabolism, or self-replication. It demonstrated one step (chemogeny) in a long sequence. The full synthesis of a living cell from abiotic components has not been achieved.</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RNA World hypothesis has been proved — we know RNA was the first genetic molecule.</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RNA World is a well-supported hypothesis, not a proved fact. Ribozyme discovery (Cech and Altman) proved RNA can catalyse reactions — one of three properties the full hypothesis requires. Spontaneous formation of a self-replicating RNA system from abiotic nucleotides has not been achieved experimentally. The ribosome's rRNA core is a strong molecular fossil, but it is not direct proof of the RNA World's earliest stage.</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Mitochondria were formed gradually inside eukaryotic cells as internal membranes invaginated.</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This is the autogenous hypothesis — refuted by the evidence. Mitochondria arose by endosymbiosis: engulfment of a free-living alpha-proteobacterium. The proof is the 16S rRNA sequences of mitochondria clustering within living alpha-proteobacteria — an autogenous origin cannot produce this phylogenetic signal.</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Panspermia (life arriving from space) explains the origin of life.</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Panspermia relocates the question but does not answer it. Even if life arrived from elsewhere, the problem of how it originated there remains. Organic molecules in meteorites (amino acids, nucleobases) are interesting but do not constitute life. No confirmed transfer of living organisms between planets has been demonstrated.</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origin of life was a sequence of chemical transitions: chemogeny (abiotic organic synthesis) → biogeny (first cells with membrane, heredity, and metabolism) → prokaryote diversification → eukaryogenesis by endosymbiosis.</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Miller-Urey (1953) demonstrated abiotic amino acid synthesis from inorganic gases. The experiment is valid; the specific atmospheric composition assumed was later revised, but abiotic organic synthesis occurs under revised conditions too.</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RNA World hypothesis resolves the DNA-protein chicken-and-egg problem: RNA can store information AND catalyse reactions. The ribosomal rRNA core is a molecular fossil of the RNA World present in every living cell.</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Mitochondria arose by endosymbiosis — engulfment of a free-living alpha-proteobacterium ~1.5–2.0 Ga. Five independent lines of evidence (genome, ribosomes, binary fission, double membrane, rRNA phylogenetics) all point to the same conclusion.</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Gene transfer from mitochondria to the nucleus has progressively reduced mitochondrial genetic independence — modern human mitochondria encode only 13 proteins, compared to thousands in the original free-living bacterial ancestor.</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3 (DNA barcoding uses mtDNA — the same molecule whose origin is explained here) · Appendix A (geological time scale — the ages used in this chapter)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5 (fossil record — the earliest fossils are the products of the events described here) · Ch. 10 (mtDNA as maternal lineage marker — endosymbiotic origin explains why it is uniparentally inherited)</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4 — Origin of Life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2026-05-29T05:43:57Z</dcterms:created>
  <dcterms:modified xsi:type="dcterms:W3CDTF">2026-05-29T05:43:57Z</dcterms:modified>
</cp:coreProperties>
</file>